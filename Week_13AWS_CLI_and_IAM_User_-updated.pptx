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7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4610100" cy="3460750"/>
  <p:notesSz cx="4610100" cy="34607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10" d="100"/>
          <a:sy n="210" d="100"/>
        </p:scale>
        <p:origin x="1914" y="1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BDDADD-0C45-4F3F-B460-6F6DC92B603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DBE5A-E103-4CA8-BC5F-5BE33A016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5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85673C-CD37-4D5E-BA1D-2F9D0B2CE0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94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201" y="3230033"/>
            <a:ext cx="4608900" cy="2307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" y="3196484"/>
            <a:ext cx="4608900" cy="3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4909" y="382990"/>
            <a:ext cx="3803333" cy="179959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034" spc="-2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5956" y="2248438"/>
            <a:ext cx="3803333" cy="57679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210" cap="all" spc="101" baseline="0">
                <a:solidFill>
                  <a:schemeClr val="tx2"/>
                </a:solidFill>
                <a:latin typeface="+mj-lt"/>
              </a:defRPr>
            </a:lvl1pPr>
            <a:lvl2pPr marL="230520" indent="0" algn="ctr">
              <a:buNone/>
              <a:defRPr sz="1210"/>
            </a:lvl2pPr>
            <a:lvl3pPr marL="461040" indent="0" algn="ctr">
              <a:buNone/>
              <a:defRPr sz="1210"/>
            </a:lvl3pPr>
            <a:lvl4pPr marL="691561" indent="0" algn="ctr">
              <a:buNone/>
              <a:defRPr sz="1008"/>
            </a:lvl4pPr>
            <a:lvl5pPr marL="922081" indent="0" algn="ctr">
              <a:buNone/>
              <a:defRPr sz="1008"/>
            </a:lvl5pPr>
            <a:lvl6pPr marL="1152601" indent="0" algn="ctr">
              <a:buNone/>
              <a:defRPr sz="1008"/>
            </a:lvl6pPr>
            <a:lvl7pPr marL="1383121" indent="0" algn="ctr">
              <a:buNone/>
              <a:defRPr sz="1008"/>
            </a:lvl7pPr>
            <a:lvl8pPr marL="1613642" indent="0" algn="ctr">
              <a:buNone/>
              <a:defRPr sz="1008"/>
            </a:lvl8pPr>
            <a:lvl9pPr marL="1844162" indent="0" algn="ctr">
              <a:buNone/>
              <a:defRPr sz="1008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 smtClean="0"/>
              <a:t>Amel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lang="en-US" spc="-30" smtClean="0"/>
              <a:t>‹#›</a:t>
            </a:fld>
            <a:r>
              <a:rPr lang="en-US" spc="-55" smtClean="0"/>
              <a:t> </a:t>
            </a:r>
            <a:r>
              <a:rPr lang="en-US" spc="150" smtClean="0"/>
              <a:t>/</a:t>
            </a:r>
            <a:r>
              <a:rPr lang="en-US" spc="-55" smtClean="0"/>
              <a:t> </a:t>
            </a:r>
            <a:r>
              <a:rPr lang="en-US" spc="-35" smtClean="0"/>
              <a:t>15</a:t>
            </a:r>
            <a:endParaRPr lang="en-US" spc="-35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6646" y="2191808"/>
            <a:ext cx="3734181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990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 smtClean="0"/>
              <a:t>Amel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lang="en-US" spc="-30" smtClean="0"/>
              <a:t>‹#›</a:t>
            </a:fld>
            <a:r>
              <a:rPr lang="en-US" spc="-55" smtClean="0"/>
              <a:t> </a:t>
            </a:r>
            <a:r>
              <a:rPr lang="en-US" spc="150" smtClean="0"/>
              <a:t>/</a:t>
            </a:r>
            <a:r>
              <a:rPr lang="en-US" spc="-55" smtClean="0"/>
              <a:t> </a:t>
            </a:r>
            <a:r>
              <a:rPr lang="en-US" spc="-35" smtClean="0"/>
              <a:t>15</a:t>
            </a:r>
            <a:endParaRPr lang="en-US" spc="-35" dirty="0"/>
          </a:p>
        </p:txBody>
      </p:sp>
    </p:spTree>
    <p:extLst>
      <p:ext uri="{BB962C8B-B14F-4D97-AF65-F5344CB8AC3E}">
        <p14:creationId xmlns:p14="http://schemas.microsoft.com/office/powerpoint/2010/main" val="249760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201" y="3230033"/>
            <a:ext cx="4608900" cy="2307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" y="3196484"/>
            <a:ext cx="4608900" cy="3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09" y="382990"/>
            <a:ext cx="3803333" cy="179959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034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09" y="2247180"/>
            <a:ext cx="3803333" cy="576792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210" cap="all" spc="101" baseline="0">
                <a:solidFill>
                  <a:schemeClr val="tx2"/>
                </a:solidFill>
                <a:latin typeface="+mj-lt"/>
              </a:defRPr>
            </a:lvl1pPr>
            <a:lvl2pPr marL="23052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 smtClean="0"/>
              <a:t>Amel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lang="en-US" spc="-30" smtClean="0"/>
              <a:t>‹#›</a:t>
            </a:fld>
            <a:r>
              <a:rPr lang="en-US" spc="-55" smtClean="0"/>
              <a:t> </a:t>
            </a:r>
            <a:r>
              <a:rPr lang="en-US" spc="150" smtClean="0"/>
              <a:t>/</a:t>
            </a:r>
            <a:r>
              <a:rPr lang="en-US" spc="-55" smtClean="0"/>
              <a:t> </a:t>
            </a:r>
            <a:r>
              <a:rPr lang="en-US" spc="-35" smtClean="0"/>
              <a:t>15</a:t>
            </a:r>
            <a:endParaRPr lang="en-US" spc="-35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6646" y="2191808"/>
            <a:ext cx="3734181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083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14909" y="144629"/>
            <a:ext cx="3803333" cy="73209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909" y="931412"/>
            <a:ext cx="1867091" cy="20303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51151" y="931413"/>
            <a:ext cx="1867091" cy="20303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 smtClean="0"/>
              <a:t>Amel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lang="en-US" spc="-30" smtClean="0"/>
              <a:t>‹#›</a:t>
            </a:fld>
            <a:r>
              <a:rPr lang="en-US" spc="-55" smtClean="0"/>
              <a:t> </a:t>
            </a:r>
            <a:r>
              <a:rPr lang="en-US" spc="150" smtClean="0"/>
              <a:t>/</a:t>
            </a:r>
            <a:r>
              <a:rPr lang="en-US" spc="-55" smtClean="0"/>
              <a:t> </a:t>
            </a:r>
            <a:r>
              <a:rPr lang="en-US" spc="-35" smtClean="0"/>
              <a:t>15</a:t>
            </a:r>
            <a:endParaRPr lang="en-US" spc="-35" dirty="0"/>
          </a:p>
        </p:txBody>
      </p:sp>
    </p:spTree>
    <p:extLst>
      <p:ext uri="{BB962C8B-B14F-4D97-AF65-F5344CB8AC3E}">
        <p14:creationId xmlns:p14="http://schemas.microsoft.com/office/powerpoint/2010/main" val="420958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14909" y="144629"/>
            <a:ext cx="3803333" cy="73209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09" y="931572"/>
            <a:ext cx="1867091" cy="371550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008" b="0" cap="all" baseline="0">
                <a:solidFill>
                  <a:schemeClr val="tx2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4909" y="1303122"/>
            <a:ext cx="1867091" cy="165859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51151" y="931572"/>
            <a:ext cx="1867091" cy="371550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008" b="0" cap="all" baseline="0">
                <a:solidFill>
                  <a:schemeClr val="tx2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51151" y="1303122"/>
            <a:ext cx="1867091" cy="165859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 smtClean="0"/>
              <a:t>Amel</a:t>
            </a:r>
            <a:endParaRPr lang="en-US" spc="-2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lang="en-US" spc="-30" smtClean="0"/>
              <a:t>‹#›</a:t>
            </a:fld>
            <a:r>
              <a:rPr lang="en-US" spc="-55" smtClean="0"/>
              <a:t> </a:t>
            </a:r>
            <a:r>
              <a:rPr lang="en-US" spc="150" smtClean="0"/>
              <a:t>/</a:t>
            </a:r>
            <a:r>
              <a:rPr lang="en-US" spc="-55" smtClean="0"/>
              <a:t> </a:t>
            </a:r>
            <a:r>
              <a:rPr lang="en-US" spc="-35" smtClean="0"/>
              <a:t>15</a:t>
            </a:r>
            <a:endParaRPr lang="en-US" spc="-35" dirty="0"/>
          </a:p>
        </p:txBody>
      </p:sp>
    </p:spTree>
    <p:extLst>
      <p:ext uri="{BB962C8B-B14F-4D97-AF65-F5344CB8AC3E}">
        <p14:creationId xmlns:p14="http://schemas.microsoft.com/office/powerpoint/2010/main" val="237769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 smtClean="0"/>
              <a:t>Amel</a:t>
            </a:r>
            <a:endParaRPr lang="en-US" spc="-2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lang="en-US" spc="-30" smtClean="0"/>
              <a:t>‹#›</a:t>
            </a:fld>
            <a:r>
              <a:rPr lang="en-US" spc="-55" smtClean="0"/>
              <a:t> </a:t>
            </a:r>
            <a:r>
              <a:rPr lang="en-US" spc="150" smtClean="0"/>
              <a:t>/</a:t>
            </a:r>
            <a:r>
              <a:rPr lang="en-US" spc="-55" smtClean="0"/>
              <a:t> </a:t>
            </a:r>
            <a:r>
              <a:rPr lang="en-US" spc="-35" smtClean="0"/>
              <a:t>15</a:t>
            </a:r>
            <a:endParaRPr lang="en-US" spc="-35" dirty="0"/>
          </a:p>
        </p:txBody>
      </p:sp>
    </p:spTree>
    <p:extLst>
      <p:ext uri="{BB962C8B-B14F-4D97-AF65-F5344CB8AC3E}">
        <p14:creationId xmlns:p14="http://schemas.microsoft.com/office/powerpoint/2010/main" val="11797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01" y="3230033"/>
            <a:ext cx="4608900" cy="2307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6" y="3196484"/>
            <a:ext cx="4608900" cy="3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mtClean="0"/>
              <a:t>Amel</a:t>
            </a:r>
            <a:endParaRPr lang="en-US" spc="-2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lang="en-US" spc="-30" smtClean="0"/>
              <a:t>‹#›</a:t>
            </a:fld>
            <a:r>
              <a:rPr lang="en-US" spc="-55" smtClean="0"/>
              <a:t> </a:t>
            </a:r>
            <a:r>
              <a:rPr lang="en-US" spc="150" smtClean="0"/>
              <a:t>/</a:t>
            </a:r>
            <a:r>
              <a:rPr lang="en-US" spc="-55" smtClean="0"/>
              <a:t> </a:t>
            </a:r>
            <a:r>
              <a:rPr lang="en-US" spc="-35" smtClean="0"/>
              <a:t>15</a:t>
            </a:r>
            <a:endParaRPr lang="en-US" spc="-35" dirty="0"/>
          </a:p>
        </p:txBody>
      </p:sp>
    </p:spTree>
    <p:extLst>
      <p:ext uri="{BB962C8B-B14F-4D97-AF65-F5344CB8AC3E}">
        <p14:creationId xmlns:p14="http://schemas.microsoft.com/office/powerpoint/2010/main" val="210946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" y="0"/>
            <a:ext cx="1531705" cy="3460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27652" y="0"/>
            <a:ext cx="24203" cy="3460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99931"/>
            <a:ext cx="1210151" cy="1153583"/>
          </a:xfrm>
        </p:spPr>
        <p:txBody>
          <a:bodyPr anchor="b">
            <a:normAutofit/>
          </a:bodyPr>
          <a:lstStyle>
            <a:lvl1pPr>
              <a:defRPr sz="1815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4536" y="369147"/>
            <a:ext cx="2525569" cy="265324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2879" y="1476587"/>
            <a:ext cx="1210151" cy="1705206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756">
                <a:solidFill>
                  <a:srgbClr val="FFFFFF"/>
                </a:solidFill>
              </a:defRPr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6022" y="3259800"/>
            <a:ext cx="990124" cy="184253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15227" y="3259800"/>
            <a:ext cx="1757601" cy="184253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mtClean="0"/>
              <a:t>Amel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lang="en-US" spc="-30" smtClean="0"/>
              <a:t>‹#›</a:t>
            </a:fld>
            <a:r>
              <a:rPr lang="en-US" spc="-55" smtClean="0"/>
              <a:t> </a:t>
            </a:r>
            <a:r>
              <a:rPr lang="en-US" spc="150" smtClean="0"/>
              <a:t>/</a:t>
            </a:r>
            <a:r>
              <a:rPr lang="en-US" spc="-55" smtClean="0"/>
              <a:t> </a:t>
            </a:r>
            <a:r>
              <a:rPr lang="en-US" spc="-35" smtClean="0"/>
              <a:t>15</a:t>
            </a:r>
            <a:endParaRPr lang="en-US" spc="-35" dirty="0"/>
          </a:p>
        </p:txBody>
      </p:sp>
    </p:spTree>
    <p:extLst>
      <p:ext uri="{BB962C8B-B14F-4D97-AF65-F5344CB8AC3E}">
        <p14:creationId xmlns:p14="http://schemas.microsoft.com/office/powerpoint/2010/main" val="170021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499431"/>
            <a:ext cx="4608900" cy="9613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" y="2480293"/>
            <a:ext cx="4608900" cy="3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09" y="2560955"/>
            <a:ext cx="3826383" cy="415290"/>
          </a:xfrm>
        </p:spPr>
        <p:txBody>
          <a:bodyPr tIns="0" bIns="0" anchor="b">
            <a:noAutofit/>
          </a:bodyPr>
          <a:lstStyle>
            <a:lvl1pPr>
              <a:defRPr sz="1815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" y="0"/>
            <a:ext cx="4610094" cy="2480293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1613">
                <a:solidFill>
                  <a:schemeClr val="bg1"/>
                </a:solidFill>
              </a:defRPr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4908" y="2980859"/>
            <a:ext cx="3826383" cy="29993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303"/>
              </a:spcAft>
              <a:buNone/>
              <a:defRPr sz="756">
                <a:solidFill>
                  <a:srgbClr val="FFFFFF"/>
                </a:solidFill>
              </a:defRPr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 smtClean="0"/>
              <a:t>Amel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lang="en-US" spc="-30" smtClean="0"/>
              <a:t>‹#›</a:t>
            </a:fld>
            <a:r>
              <a:rPr lang="en-US" spc="-55" smtClean="0"/>
              <a:t> </a:t>
            </a:r>
            <a:r>
              <a:rPr lang="en-US" spc="150" smtClean="0"/>
              <a:t>/</a:t>
            </a:r>
            <a:r>
              <a:rPr lang="en-US" spc="-55" smtClean="0"/>
              <a:t> </a:t>
            </a:r>
            <a:r>
              <a:rPr lang="en-US" spc="-35" smtClean="0"/>
              <a:t>15</a:t>
            </a:r>
            <a:endParaRPr lang="en-US" spc="-35" dirty="0"/>
          </a:p>
        </p:txBody>
      </p:sp>
    </p:spTree>
    <p:extLst>
      <p:ext uri="{BB962C8B-B14F-4D97-AF65-F5344CB8AC3E}">
        <p14:creationId xmlns:p14="http://schemas.microsoft.com/office/powerpoint/2010/main" val="117378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 smtClean="0"/>
              <a:t>Amel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lang="en-US" spc="-30" smtClean="0"/>
              <a:t>‹#›</a:t>
            </a:fld>
            <a:r>
              <a:rPr lang="en-US" spc="-55" smtClean="0"/>
              <a:t> </a:t>
            </a:r>
            <a:r>
              <a:rPr lang="en-US" spc="150" smtClean="0"/>
              <a:t>/</a:t>
            </a:r>
            <a:r>
              <a:rPr lang="en-US" spc="-55" smtClean="0"/>
              <a:t> </a:t>
            </a:r>
            <a:r>
              <a:rPr lang="en-US" spc="-35" smtClean="0"/>
              <a:t>15</a:t>
            </a:r>
            <a:endParaRPr lang="en-US" spc="-35" dirty="0"/>
          </a:p>
        </p:txBody>
      </p:sp>
    </p:spTree>
    <p:extLst>
      <p:ext uri="{BB962C8B-B14F-4D97-AF65-F5344CB8AC3E}">
        <p14:creationId xmlns:p14="http://schemas.microsoft.com/office/powerpoint/2010/main" val="129686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201" y="3230033"/>
            <a:ext cx="4608900" cy="2307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" y="3196484"/>
            <a:ext cx="4608900" cy="3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209310"/>
            <a:ext cx="994053" cy="29053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6945" y="209310"/>
            <a:ext cx="2924532" cy="2905365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r>
              <a:rPr lang="en-US" smtClean="0"/>
              <a:t>Amel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lang="en-US" spc="-30" smtClean="0"/>
              <a:t>‹#›</a:t>
            </a:fld>
            <a:r>
              <a:rPr lang="en-US" spc="-55" smtClean="0"/>
              <a:t> </a:t>
            </a:r>
            <a:r>
              <a:rPr lang="en-US" spc="150" smtClean="0"/>
              <a:t>/</a:t>
            </a:r>
            <a:r>
              <a:rPr lang="en-US" spc="-55" smtClean="0"/>
              <a:t> </a:t>
            </a:r>
            <a:r>
              <a:rPr lang="en-US" spc="-35" smtClean="0"/>
              <a:t>15</a:t>
            </a:r>
            <a:endParaRPr lang="en-US" spc="-35" dirty="0"/>
          </a:p>
        </p:txBody>
      </p:sp>
    </p:spTree>
    <p:extLst>
      <p:ext uri="{BB962C8B-B14F-4D97-AF65-F5344CB8AC3E}">
        <p14:creationId xmlns:p14="http://schemas.microsoft.com/office/powerpoint/2010/main" val="1747894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8"/>
            <a:ext cx="140462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dirty="0" err="1" smtClean="0"/>
              <a:t>Amel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09461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230033"/>
            <a:ext cx="4610101" cy="2307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3196483"/>
            <a:ext cx="4610101" cy="33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909" y="144629"/>
            <a:ext cx="3803333" cy="7320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09" y="931412"/>
            <a:ext cx="3803333" cy="203030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4910" y="3259800"/>
            <a:ext cx="934827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4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93839" y="3259800"/>
            <a:ext cx="1823623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4" cap="all" baseline="0"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675"/>
              </a:lnSpc>
            </a:pPr>
            <a:r>
              <a:rPr lang="en-US" smtClean="0"/>
              <a:t>Amel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43611" y="3259800"/>
            <a:ext cx="496110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9"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lang="en-US" spc="-30" smtClean="0"/>
              <a:t>‹#›</a:t>
            </a:fld>
            <a:r>
              <a:rPr lang="en-US" spc="-55" smtClean="0"/>
              <a:t> </a:t>
            </a:r>
            <a:r>
              <a:rPr lang="en-US" spc="150" smtClean="0"/>
              <a:t>/</a:t>
            </a:r>
            <a:r>
              <a:rPr lang="en-US" spc="-55" smtClean="0"/>
              <a:t> </a:t>
            </a:r>
            <a:r>
              <a:rPr lang="en-US" spc="-35" smtClean="0"/>
              <a:t>15</a:t>
            </a:r>
            <a:endParaRPr lang="en-US" spc="-35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451304" y="876968"/>
            <a:ext cx="376875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204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461040" rtl="0" eaLnBrk="1" latinLnBrk="0" hangingPunct="1">
        <a:lnSpc>
          <a:spcPct val="85000"/>
        </a:lnSpc>
        <a:spcBef>
          <a:spcPct val="0"/>
        </a:spcBef>
        <a:buNone/>
        <a:defRPr sz="2420" kern="1200" spc="-2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46104" indent="-46104" algn="l" defTabSz="461040" rtl="0" eaLnBrk="1" latinLnBrk="0" hangingPunct="1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00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93637" indent="-92208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Calibri" pitchFamily="34" charset="0"/>
        <a:buChar char="◦"/>
        <a:defRPr sz="90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285845" indent="-92208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Calibri" pitchFamily="34" charset="0"/>
        <a:buChar char="◦"/>
        <a:defRPr sz="70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378053" indent="-92208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Calibri" pitchFamily="34" charset="0"/>
        <a:buChar char="◦"/>
        <a:defRPr sz="70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470261" indent="-92208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Calibri" pitchFamily="34" charset="0"/>
        <a:buChar char="◦"/>
        <a:defRPr sz="70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554620" indent="-115260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Calibri" pitchFamily="34" charset="0"/>
        <a:buChar char="◦"/>
        <a:defRPr sz="70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655460" indent="-115260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Calibri" pitchFamily="34" charset="0"/>
        <a:buChar char="◦"/>
        <a:defRPr sz="70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756300" indent="-115260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Calibri" pitchFamily="34" charset="0"/>
        <a:buChar char="◦"/>
        <a:defRPr sz="70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857140" indent="-115260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Calibri" pitchFamily="34" charset="0"/>
        <a:buChar char="◦"/>
        <a:defRPr sz="70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amelcharolinesgn2/AW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slide" Target="slide1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5.xml"/><Relationship Id="rId4" Type="http://schemas.openxmlformats.org/officeDocument/2006/relationships/hyperlink" Target="https://aws.amazon.com/cli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slide" Target="slide15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slide" Target="slide15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slide" Target="slide15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6" y="17604"/>
            <a:ext cx="4584964" cy="344314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20328" y="2047320"/>
            <a:ext cx="3277493" cy="190811"/>
          </a:xfrm>
          <a:prstGeom prst="rect">
            <a:avLst/>
          </a:prstGeom>
        </p:spPr>
        <p:txBody>
          <a:bodyPr vert="horz" wrap="square" lIns="0" tIns="4562" rIns="0" bIns="0" rtlCol="0">
            <a:spAutoFit/>
          </a:bodyPr>
          <a:lstStyle/>
          <a:p>
            <a:pPr marR="23769" algn="ctr"/>
            <a:r>
              <a:rPr sz="605" dirty="0">
                <a:latin typeface="Trebuchet MS"/>
                <a:cs typeface="Trebuchet MS"/>
              </a:rPr>
              <a:t>Slides</a:t>
            </a:r>
            <a:r>
              <a:rPr sz="605" spc="-81" dirty="0">
                <a:latin typeface="Trebuchet MS"/>
                <a:cs typeface="Trebuchet MS"/>
              </a:rPr>
              <a:t> </a:t>
            </a:r>
            <a:r>
              <a:rPr sz="605" spc="-34" dirty="0">
                <a:latin typeface="Trebuchet MS"/>
                <a:cs typeface="Trebuchet MS"/>
              </a:rPr>
              <a:t>are</a:t>
            </a:r>
            <a:r>
              <a:rPr sz="605" spc="-83" dirty="0">
                <a:latin typeface="Trebuchet MS"/>
                <a:cs typeface="Trebuchet MS"/>
              </a:rPr>
              <a:t> </a:t>
            </a:r>
            <a:r>
              <a:rPr sz="605" spc="-23" dirty="0">
                <a:latin typeface="Trebuchet MS"/>
                <a:cs typeface="Trebuchet MS"/>
              </a:rPr>
              <a:t>captured</a:t>
            </a:r>
            <a:r>
              <a:rPr sz="605" spc="-74" dirty="0">
                <a:latin typeface="Trebuchet MS"/>
                <a:cs typeface="Trebuchet MS"/>
              </a:rPr>
              <a:t> </a:t>
            </a:r>
            <a:r>
              <a:rPr sz="605" spc="-34" dirty="0">
                <a:latin typeface="Trebuchet MS"/>
                <a:cs typeface="Trebuchet MS"/>
              </a:rPr>
              <a:t>from</a:t>
            </a:r>
            <a:r>
              <a:rPr sz="605" spc="-77" dirty="0">
                <a:latin typeface="Trebuchet MS"/>
                <a:cs typeface="Trebuchet MS"/>
              </a:rPr>
              <a:t> </a:t>
            </a:r>
            <a:r>
              <a:rPr sz="605" spc="30" dirty="0">
                <a:latin typeface="Trebuchet MS"/>
                <a:cs typeface="Trebuchet MS"/>
              </a:rPr>
              <a:t>AWS</a:t>
            </a:r>
            <a:r>
              <a:rPr sz="605" spc="-76" dirty="0">
                <a:latin typeface="Trebuchet MS"/>
                <a:cs typeface="Trebuchet MS"/>
              </a:rPr>
              <a:t> </a:t>
            </a:r>
            <a:r>
              <a:rPr sz="605" spc="-4" dirty="0">
                <a:latin typeface="Trebuchet MS"/>
                <a:cs typeface="Trebuchet MS"/>
              </a:rPr>
              <a:t>Educate.</a:t>
            </a:r>
            <a:endParaRPr sz="605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605" spc="-21" dirty="0">
                <a:latin typeface="Trebuchet MS"/>
                <a:cs typeface="Trebuchet MS"/>
              </a:rPr>
              <a:t>This</a:t>
            </a:r>
            <a:r>
              <a:rPr sz="605" spc="-81" dirty="0">
                <a:latin typeface="Trebuchet MS"/>
                <a:cs typeface="Trebuchet MS"/>
              </a:rPr>
              <a:t> </a:t>
            </a:r>
            <a:r>
              <a:rPr sz="605" dirty="0">
                <a:latin typeface="Trebuchet MS"/>
                <a:cs typeface="Trebuchet MS"/>
              </a:rPr>
              <a:t>is</a:t>
            </a:r>
            <a:r>
              <a:rPr sz="605" spc="-81" dirty="0">
                <a:latin typeface="Trebuchet MS"/>
                <a:cs typeface="Trebuchet MS"/>
              </a:rPr>
              <a:t> </a:t>
            </a:r>
            <a:r>
              <a:rPr sz="605" spc="-21" dirty="0">
                <a:latin typeface="Trebuchet MS"/>
                <a:cs typeface="Trebuchet MS"/>
              </a:rPr>
              <a:t>only</a:t>
            </a:r>
            <a:r>
              <a:rPr sz="605" spc="-83" dirty="0">
                <a:latin typeface="Trebuchet MS"/>
                <a:cs typeface="Trebuchet MS"/>
              </a:rPr>
              <a:t> </a:t>
            </a:r>
            <a:r>
              <a:rPr sz="605" spc="-49" dirty="0">
                <a:latin typeface="Trebuchet MS"/>
                <a:cs typeface="Trebuchet MS"/>
              </a:rPr>
              <a:t>for</a:t>
            </a:r>
            <a:r>
              <a:rPr sz="605" spc="-79" dirty="0">
                <a:latin typeface="Trebuchet MS"/>
                <a:cs typeface="Trebuchet MS"/>
              </a:rPr>
              <a:t> </a:t>
            </a:r>
            <a:r>
              <a:rPr sz="605" spc="-26" dirty="0">
                <a:latin typeface="Trebuchet MS"/>
                <a:cs typeface="Trebuchet MS"/>
              </a:rPr>
              <a:t>learning</a:t>
            </a:r>
            <a:r>
              <a:rPr sz="605" spc="-83" dirty="0">
                <a:latin typeface="Trebuchet MS"/>
                <a:cs typeface="Trebuchet MS"/>
              </a:rPr>
              <a:t> </a:t>
            </a:r>
            <a:r>
              <a:rPr sz="605" spc="-8" dirty="0">
                <a:latin typeface="Trebuchet MS"/>
                <a:cs typeface="Trebuchet MS"/>
              </a:rPr>
              <a:t>tools</a:t>
            </a:r>
            <a:r>
              <a:rPr sz="605" spc="-81" dirty="0">
                <a:latin typeface="Trebuchet MS"/>
                <a:cs typeface="Trebuchet MS"/>
              </a:rPr>
              <a:t> </a:t>
            </a:r>
            <a:r>
              <a:rPr sz="605" spc="-26" dirty="0">
                <a:latin typeface="Trebuchet MS"/>
                <a:cs typeface="Trebuchet MS"/>
              </a:rPr>
              <a:t>in</a:t>
            </a:r>
            <a:r>
              <a:rPr sz="605" spc="-83" dirty="0">
                <a:latin typeface="Trebuchet MS"/>
                <a:cs typeface="Trebuchet MS"/>
              </a:rPr>
              <a:t> </a:t>
            </a:r>
            <a:r>
              <a:rPr sz="605" dirty="0">
                <a:latin typeface="Trebuchet MS"/>
                <a:cs typeface="Trebuchet MS"/>
              </a:rPr>
              <a:t>Cloud</a:t>
            </a:r>
            <a:r>
              <a:rPr sz="605" spc="-77" dirty="0">
                <a:latin typeface="Trebuchet MS"/>
                <a:cs typeface="Trebuchet MS"/>
              </a:rPr>
              <a:t> </a:t>
            </a:r>
            <a:r>
              <a:rPr sz="605" spc="-8" dirty="0">
                <a:latin typeface="Trebuchet MS"/>
                <a:cs typeface="Trebuchet MS"/>
              </a:rPr>
              <a:t>Computing</a:t>
            </a:r>
            <a:r>
              <a:rPr sz="605" spc="-76" dirty="0">
                <a:latin typeface="Trebuchet MS"/>
                <a:cs typeface="Trebuchet MS"/>
              </a:rPr>
              <a:t> </a:t>
            </a:r>
            <a:r>
              <a:rPr sz="605" spc="-4" dirty="0">
                <a:latin typeface="Trebuchet MS"/>
                <a:cs typeface="Trebuchet MS"/>
              </a:rPr>
              <a:t>Course</a:t>
            </a:r>
            <a:endParaRPr sz="605" dirty="0">
              <a:latin typeface="Trebuchet MS"/>
              <a:cs typeface="Trebuchet MS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1009650" y="318830"/>
            <a:ext cx="3131771" cy="702233"/>
          </a:xfrm>
          <a:prstGeom prst="rect">
            <a:avLst/>
          </a:prstGeom>
        </p:spPr>
        <p:txBody>
          <a:bodyPr vert="horz" wrap="square" lIns="0" tIns="4562" rIns="0" bIns="0" rtlCol="0">
            <a:spAutoFit/>
          </a:bodyPr>
          <a:lstStyle/>
          <a:p>
            <a:pPr marR="23769" algn="just"/>
            <a:endParaRPr lang="en-US" sz="1400" dirty="0">
              <a:latin typeface="Trebuchet MS"/>
              <a:cs typeface="Trebuchet MS"/>
            </a:endParaRPr>
          </a:p>
          <a:p>
            <a:pPr marR="23769" algn="just"/>
            <a:endParaRPr sz="1400" dirty="0">
              <a:latin typeface="Trebuchet MS"/>
              <a:cs typeface="Trebuchet MS"/>
            </a:endParaRPr>
          </a:p>
          <a:p>
            <a:pPr marR="93980" algn="ctr">
              <a:lnSpc>
                <a:spcPct val="100000"/>
              </a:lnSpc>
              <a:spcBef>
                <a:spcPts val="445"/>
              </a:spcBef>
            </a:pPr>
            <a:r>
              <a:rPr lang="en-US" sz="1400" b="1" spc="-65" dirty="0" err="1" smtClean="0">
                <a:solidFill>
                  <a:schemeClr val="bg1"/>
                </a:solidFill>
                <a:latin typeface="Arial MT"/>
                <a:cs typeface="Arial MT"/>
              </a:rPr>
              <a:t>Panduan</a:t>
            </a:r>
            <a:r>
              <a:rPr lang="en-US" sz="1400" b="1" spc="-3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1400" b="1" spc="-65" dirty="0" err="1" smtClean="0">
                <a:solidFill>
                  <a:schemeClr val="bg1"/>
                </a:solidFill>
                <a:latin typeface="Arial MT"/>
                <a:cs typeface="Arial MT"/>
              </a:rPr>
              <a:t>Lengkap</a:t>
            </a:r>
            <a:r>
              <a:rPr lang="en-US" sz="1400" b="1" spc="-3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1400" b="1" spc="-90" dirty="0" smtClean="0">
                <a:solidFill>
                  <a:schemeClr val="bg1"/>
                </a:solidFill>
                <a:latin typeface="Arial MT"/>
                <a:cs typeface="Arial MT"/>
              </a:rPr>
              <a:t>AWS</a:t>
            </a:r>
            <a:r>
              <a:rPr lang="en-US" sz="1400" b="1" spc="-1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1400" b="1" dirty="0" smtClean="0">
                <a:solidFill>
                  <a:schemeClr val="bg1"/>
                </a:solidFill>
                <a:latin typeface="Arial MT"/>
                <a:cs typeface="Arial MT"/>
              </a:rPr>
              <a:t>CLI</a:t>
            </a:r>
            <a:r>
              <a:rPr lang="en-US" sz="1400" b="1" spc="-6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1400" b="1" spc="-30" dirty="0" err="1" smtClean="0">
                <a:solidFill>
                  <a:schemeClr val="bg1"/>
                </a:solidFill>
                <a:latin typeface="Arial MT"/>
                <a:cs typeface="Arial MT"/>
              </a:rPr>
              <a:t>dan</a:t>
            </a:r>
            <a:r>
              <a:rPr lang="en-US" sz="1400" b="1" spc="-3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1400" b="1" spc="-25" dirty="0" smtClean="0">
                <a:solidFill>
                  <a:schemeClr val="bg1"/>
                </a:solidFill>
                <a:latin typeface="Arial MT"/>
                <a:cs typeface="Arial MT"/>
              </a:rPr>
              <a:t>IAM</a:t>
            </a:r>
            <a:endParaRPr lang="en-US" sz="1400" b="1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94514" y="2595319"/>
            <a:ext cx="1040506" cy="138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2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24388" y="2545506"/>
            <a:ext cx="702875" cy="138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2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3734" y="2652566"/>
            <a:ext cx="1181734" cy="1388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02" dirty="0"/>
              <a:t>https://github.com/amelcharolinesgn2/Cloud-Infrastructures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43740" y="2703758"/>
            <a:ext cx="1391728" cy="1388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02" dirty="0"/>
              <a:t>https://github.com/amelcharolinesgn2/ClouD-Infrastructure-SISKA-2025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4514" y="2744491"/>
            <a:ext cx="1040506" cy="138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2" dirty="0"/>
              <a:t>https://github.com/amelcharolinesgn2/CCNA1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4514" y="2793808"/>
            <a:ext cx="1040506" cy="138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2" dirty="0"/>
              <a:t>https://github.com/amelcharolinesgn2/CCNA2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94514" y="2831064"/>
            <a:ext cx="1040506" cy="185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2" dirty="0">
                <a:hlinkClick r:id="rId4"/>
              </a:rPr>
              <a:t>https://github.com/amelcharolinesgn2/AWS</a:t>
            </a:r>
            <a:r>
              <a:rPr lang="en-US" sz="302" dirty="0"/>
              <a:t> Certificate</a:t>
            </a:r>
          </a:p>
        </p:txBody>
      </p:sp>
      <p:sp>
        <p:nvSpPr>
          <p:cNvPr id="17" name="object 7"/>
          <p:cNvSpPr txBox="1"/>
          <p:nvPr/>
        </p:nvSpPr>
        <p:spPr>
          <a:xfrm>
            <a:off x="171449" y="-145430"/>
            <a:ext cx="4264343" cy="566555"/>
          </a:xfrm>
          <a:prstGeom prst="rect">
            <a:avLst/>
          </a:prstGeom>
        </p:spPr>
        <p:txBody>
          <a:bodyPr vert="horz" wrap="square" lIns="0" tIns="4562" rIns="0" bIns="0" rtlCol="0">
            <a:spAutoFit/>
          </a:bodyPr>
          <a:lstStyle/>
          <a:p>
            <a:pPr marR="23769" algn="just"/>
            <a:endParaRPr lang="en-US" sz="1059" dirty="0">
              <a:latin typeface="Trebuchet MS"/>
              <a:cs typeface="Trebuchet MS"/>
            </a:endParaRPr>
          </a:p>
          <a:p>
            <a:pPr marR="23769" algn="just"/>
            <a:endParaRPr sz="1059" dirty="0">
              <a:latin typeface="Trebuchet MS"/>
              <a:cs typeface="Trebuchet MS"/>
            </a:endParaRPr>
          </a:p>
          <a:p>
            <a:pPr marR="93980" algn="ctr">
              <a:lnSpc>
                <a:spcPct val="100000"/>
              </a:lnSpc>
              <a:spcBef>
                <a:spcPts val="445"/>
              </a:spcBef>
            </a:pPr>
            <a:r>
              <a:rPr lang="en-US" sz="1200" b="1" spc="-65" dirty="0" err="1" smtClean="0">
                <a:solidFill>
                  <a:srgbClr val="002060"/>
                </a:solidFill>
                <a:latin typeface="Arial MT"/>
                <a:cs typeface="Arial MT"/>
              </a:rPr>
              <a:t>Panduan</a:t>
            </a:r>
            <a:r>
              <a:rPr lang="en-US" sz="1200" b="1" spc="-35" dirty="0" smtClean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lang="en-US" sz="1200" b="1" spc="-65" dirty="0" err="1" smtClean="0">
                <a:solidFill>
                  <a:srgbClr val="002060"/>
                </a:solidFill>
                <a:latin typeface="Arial MT"/>
                <a:cs typeface="Arial MT"/>
              </a:rPr>
              <a:t>Lengkap</a:t>
            </a:r>
            <a:r>
              <a:rPr lang="en-US" sz="1200" b="1" spc="-30" dirty="0" smtClean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lang="en-US" sz="1200" b="1" spc="-90" dirty="0" smtClean="0">
                <a:solidFill>
                  <a:srgbClr val="002060"/>
                </a:solidFill>
                <a:latin typeface="Arial MT"/>
                <a:cs typeface="Arial MT"/>
              </a:rPr>
              <a:t>AWS</a:t>
            </a:r>
            <a:r>
              <a:rPr lang="en-US" sz="1200" b="1" spc="-10" dirty="0" smtClean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lang="en-US" sz="1200" b="1" dirty="0" smtClean="0">
                <a:solidFill>
                  <a:srgbClr val="002060"/>
                </a:solidFill>
                <a:latin typeface="Arial MT"/>
                <a:cs typeface="Arial MT"/>
              </a:rPr>
              <a:t>CLI</a:t>
            </a:r>
            <a:r>
              <a:rPr lang="en-US" sz="1200" b="1" spc="-65" dirty="0" smtClean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lang="en-US" sz="1200" b="1" spc="-30" dirty="0" err="1" smtClean="0">
                <a:solidFill>
                  <a:srgbClr val="002060"/>
                </a:solidFill>
                <a:latin typeface="Arial MT"/>
                <a:cs typeface="Arial MT"/>
              </a:rPr>
              <a:t>dan</a:t>
            </a:r>
            <a:r>
              <a:rPr lang="en-US" sz="1200" b="1" spc="-35" dirty="0" smtClean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lang="en-US" sz="1200" b="1" spc="-25" dirty="0" smtClean="0">
                <a:solidFill>
                  <a:srgbClr val="002060"/>
                </a:solidFill>
                <a:latin typeface="Arial MT"/>
                <a:cs typeface="Arial MT"/>
              </a:rPr>
              <a:t>IAM</a:t>
            </a:r>
            <a:endParaRPr lang="en-US" sz="1200" b="1" dirty="0">
              <a:solidFill>
                <a:srgbClr val="002060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0765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Tujuan</a:t>
            </a:r>
            <a:r>
              <a:rPr spc="-40" dirty="0"/>
              <a:t> </a:t>
            </a:r>
            <a:r>
              <a:rPr spc="-65" dirty="0"/>
              <a:t>Pembelajaran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4294967295"/>
          </p:nvPr>
        </p:nvSpPr>
        <p:spPr>
          <a:xfrm>
            <a:off x="0" y="3351213"/>
            <a:ext cx="482600" cy="90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err="1" smtClean="0"/>
              <a:t>Amel</a:t>
            </a:r>
            <a:endParaRPr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4294967295"/>
          </p:nvPr>
        </p:nvSpPr>
        <p:spPr>
          <a:xfrm>
            <a:off x="4356100" y="3351213"/>
            <a:ext cx="254000" cy="103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4536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118131"/>
            <a:ext cx="3985260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40105">
              <a:lnSpc>
                <a:spcPct val="125299"/>
              </a:lnSpc>
              <a:spcBef>
                <a:spcPts val="100"/>
              </a:spcBef>
            </a:pPr>
            <a:r>
              <a:rPr sz="1100" spc="-25" dirty="0">
                <a:latin typeface="Tahoma"/>
                <a:cs typeface="Tahoma"/>
              </a:rPr>
              <a:t>Memahami </a:t>
            </a:r>
            <a:r>
              <a:rPr sz="1100" spc="-60" dirty="0">
                <a:latin typeface="Tahoma"/>
                <a:cs typeface="Tahoma"/>
              </a:rPr>
              <a:t>konsep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manfaat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AWS</a:t>
            </a:r>
            <a:r>
              <a:rPr sz="1100" spc="-20" dirty="0">
                <a:latin typeface="Tahoma"/>
                <a:cs typeface="Tahoma"/>
              </a:rPr>
              <a:t> CLI. </a:t>
            </a:r>
            <a:r>
              <a:rPr sz="1100" spc="-30" dirty="0">
                <a:latin typeface="Tahoma"/>
                <a:cs typeface="Tahoma"/>
              </a:rPr>
              <a:t>Mengetahui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proses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instalasi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konfigurasi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AWS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CLI.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Mampu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membuat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menggunakan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IAM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User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dengan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akses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CLI. </a:t>
            </a:r>
            <a:r>
              <a:rPr sz="1100" dirty="0">
                <a:latin typeface="Tahoma"/>
                <a:cs typeface="Tahoma"/>
              </a:rPr>
              <a:t>Mampu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menjalankan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perintah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praktis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untuk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layanan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AWS. </a:t>
            </a:r>
            <a:r>
              <a:rPr sz="1100" spc="-30" dirty="0">
                <a:latin typeface="Tahoma"/>
                <a:cs typeface="Tahoma"/>
              </a:rPr>
              <a:t>Mengetahui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best </a:t>
            </a:r>
            <a:r>
              <a:rPr sz="1100" spc="-35" dirty="0">
                <a:latin typeface="Tahoma"/>
                <a:cs typeface="Tahoma"/>
              </a:rPr>
              <a:t>practices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penggunaan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CLI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secara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efisien.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5539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6542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75459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85492"/>
            <a:ext cx="65265" cy="6526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  <a:solidFill>
            <a:srgbClr val="00B0F0"/>
          </a:solidFill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61591" y="3351784"/>
            <a:ext cx="12852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Panduan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Lengkap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AWS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CLI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dan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IAM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Apa</a:t>
            </a:r>
            <a:r>
              <a:rPr spc="25" dirty="0"/>
              <a:t> </a:t>
            </a:r>
            <a:r>
              <a:rPr dirty="0"/>
              <a:t>itu</a:t>
            </a:r>
            <a:r>
              <a:rPr spc="35" dirty="0"/>
              <a:t> </a:t>
            </a:r>
            <a:r>
              <a:rPr spc="-90" dirty="0"/>
              <a:t>AWS</a:t>
            </a:r>
            <a:r>
              <a:rPr spc="30" dirty="0"/>
              <a:t> </a:t>
            </a:r>
            <a:r>
              <a:rPr spc="-45" dirty="0"/>
              <a:t>CLI?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err="1" smtClean="0"/>
              <a:t>Amel</a:t>
            </a:r>
            <a:endParaRPr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2937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02141"/>
            <a:ext cx="3027045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dirty="0">
                <a:latin typeface="Tahoma"/>
                <a:cs typeface="Tahoma"/>
              </a:rPr>
              <a:t>Alat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baris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perintah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untuk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berinteraksi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dengan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AWS. </a:t>
            </a:r>
            <a:r>
              <a:rPr sz="1100" spc="-35" dirty="0">
                <a:latin typeface="Tahoma"/>
                <a:cs typeface="Tahoma"/>
              </a:rPr>
              <a:t>Mendukung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hampir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semua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layanan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AWS. </a:t>
            </a:r>
            <a:r>
              <a:rPr sz="1100" spc="-35" dirty="0">
                <a:latin typeface="Tahoma"/>
                <a:cs typeface="Tahoma"/>
              </a:rPr>
              <a:t>Mendukung</a:t>
            </a:r>
            <a:r>
              <a:rPr sz="1100" spc="-25" dirty="0">
                <a:latin typeface="Tahoma"/>
                <a:cs typeface="Tahoma"/>
              </a:rPr>
              <a:t> scripting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automasi.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Tahoma"/>
                <a:cs typeface="Tahoma"/>
              </a:rPr>
              <a:t>Cocok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untuk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DevOps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pengguna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teknis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lainnya.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3940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4943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59470"/>
            <a:ext cx="65265" cy="6526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  <a:solidFill>
            <a:srgbClr val="00B0F0"/>
          </a:solidFill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61591" y="3351784"/>
            <a:ext cx="12852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Panduan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Lengkap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AWS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CLI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dan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IAM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19748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90" dirty="0">
                <a:solidFill>
                  <a:srgbClr val="FFFFFF"/>
                </a:solidFill>
                <a:latin typeface="Arial MT"/>
                <a:cs typeface="Arial MT"/>
              </a:rPr>
              <a:t>AWS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CLI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MT"/>
                <a:cs typeface="Arial MT"/>
              </a:rPr>
              <a:t>vs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Arial MT"/>
                <a:cs typeface="Arial MT"/>
              </a:rPr>
              <a:t>AWS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Arial MT"/>
                <a:cs typeface="Arial MT"/>
              </a:rPr>
              <a:t>Console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6017" y="1137691"/>
          <a:ext cx="3149599" cy="10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9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Fitur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AWS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CLI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AWS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Console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Automasi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Ya</a:t>
                      </a:r>
                      <a:r>
                        <a:rPr sz="11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(skrip)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Tidak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Logging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Mudah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Manual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Kecepatan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Tinggi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Rendah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Visualisasi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Terbatas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Sangat</a:t>
                      </a:r>
                      <a:r>
                        <a:rPr sz="11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Baik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Kemudahan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 belajar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Butuh</a:t>
                      </a:r>
                      <a:r>
                        <a:rPr sz="11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sintaks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Intuitif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  <a:solidFill>
            <a:srgbClr val="00B0F0"/>
          </a:solidFill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4356100" y="3351213"/>
            <a:ext cx="254000" cy="103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61591" y="3351784"/>
            <a:ext cx="12852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Panduan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Lengkap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AWS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CLI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dan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IAM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3639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Instalasi</a:t>
            </a:r>
            <a:r>
              <a:rPr spc="-10" dirty="0"/>
              <a:t> </a:t>
            </a:r>
            <a:r>
              <a:rPr spc="-90" dirty="0"/>
              <a:t>AWS</a:t>
            </a:r>
            <a:r>
              <a:rPr spc="-5" dirty="0"/>
              <a:t> </a:t>
            </a:r>
            <a:r>
              <a:rPr spc="-25" dirty="0"/>
              <a:t>CLI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4294967295"/>
          </p:nvPr>
        </p:nvSpPr>
        <p:spPr>
          <a:xfrm>
            <a:off x="0" y="3351213"/>
            <a:ext cx="482600" cy="90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err="1" smtClean="0"/>
              <a:t>Amel</a:t>
            </a:r>
            <a:endParaRPr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4356100" y="3351213"/>
            <a:ext cx="254000" cy="103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01978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1201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864728"/>
            <a:ext cx="274828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latin typeface="Tahoma"/>
                <a:cs typeface="Tahoma"/>
              </a:rPr>
              <a:t>Windows: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25" dirty="0">
                <a:latin typeface="Tahoma"/>
                <a:cs typeface="Tahoma"/>
              </a:rPr>
              <a:t>Unduh: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80" dirty="0">
                <a:latin typeface="Calibri"/>
                <a:cs typeface="Calibri"/>
                <a:hlinkClick r:id="rId4"/>
              </a:rPr>
              <a:t>https://aws.amazon.com/cli/</a:t>
            </a:r>
            <a:endParaRPr sz="1100">
              <a:latin typeface="Calibri"/>
              <a:cs typeface="Calibri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spc="-25" dirty="0">
                <a:latin typeface="Tahoma"/>
                <a:cs typeface="Tahoma"/>
              </a:rPr>
              <a:t>Install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seperti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biasa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10" dirty="0">
                <a:latin typeface="Tahoma"/>
                <a:cs typeface="Tahoma"/>
              </a:rPr>
              <a:t>Linux/macOS: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056" y="1780946"/>
            <a:ext cx="4411980" cy="681990"/>
          </a:xfrm>
          <a:prstGeom prst="rect">
            <a:avLst/>
          </a:prstGeom>
          <a:solidFill>
            <a:srgbClr val="F2F2F2"/>
          </a:solidFill>
          <a:ln w="5054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98450" marR="109855" indent="-250190">
              <a:lnSpc>
                <a:spcPts val="950"/>
              </a:lnSpc>
              <a:spcBef>
                <a:spcPts val="220"/>
              </a:spcBef>
            </a:pPr>
            <a:r>
              <a:rPr sz="800" spc="160" dirty="0">
                <a:latin typeface="Calibri"/>
                <a:cs typeface="Calibri"/>
              </a:rPr>
              <a:t>curl</a:t>
            </a:r>
            <a:r>
              <a:rPr sz="800" spc="450" dirty="0">
                <a:latin typeface="Calibri"/>
                <a:cs typeface="Calibri"/>
              </a:rPr>
              <a:t> </a:t>
            </a:r>
            <a:r>
              <a:rPr sz="800" spc="95" dirty="0">
                <a:latin typeface="Calibri"/>
                <a:cs typeface="Calibri"/>
              </a:rPr>
              <a:t>"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140" dirty="0">
                <a:latin typeface="Calibri"/>
                <a:cs typeface="Calibri"/>
              </a:rPr>
              <a:t>https</a:t>
            </a:r>
            <a:r>
              <a:rPr sz="800" spc="-45" dirty="0">
                <a:latin typeface="Calibri"/>
                <a:cs typeface="Calibri"/>
              </a:rPr>
              <a:t> </a:t>
            </a:r>
            <a:r>
              <a:rPr sz="800" spc="180" dirty="0">
                <a:latin typeface="Calibri"/>
                <a:cs typeface="Calibri"/>
              </a:rPr>
              <a:t>://</a:t>
            </a:r>
            <a:r>
              <a:rPr sz="800" spc="-45" dirty="0">
                <a:latin typeface="Calibri"/>
                <a:cs typeface="Calibri"/>
              </a:rPr>
              <a:t> </a:t>
            </a:r>
            <a:r>
              <a:rPr sz="800" spc="175" dirty="0">
                <a:latin typeface="Calibri"/>
                <a:cs typeface="Calibri"/>
              </a:rPr>
              <a:t>awscli.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85" dirty="0">
                <a:latin typeface="Calibri"/>
                <a:cs typeface="Calibri"/>
              </a:rPr>
              <a:t>amazonaws.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com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105" dirty="0">
                <a:latin typeface="Calibri"/>
                <a:cs typeface="Calibri"/>
              </a:rPr>
              <a:t>/</a:t>
            </a:r>
            <a:r>
              <a:rPr sz="800" spc="-75" dirty="0">
                <a:latin typeface="Calibri"/>
                <a:cs typeface="Calibri"/>
              </a:rPr>
              <a:t> </a:t>
            </a:r>
            <a:r>
              <a:rPr sz="800" spc="140" dirty="0">
                <a:latin typeface="Calibri"/>
                <a:cs typeface="Calibri"/>
              </a:rPr>
              <a:t>awscli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85" dirty="0">
                <a:latin typeface="Calibri"/>
                <a:cs typeface="Calibri"/>
              </a:rPr>
              <a:t> </a:t>
            </a:r>
            <a:r>
              <a:rPr sz="800" spc="70" dirty="0">
                <a:latin typeface="Calibri"/>
                <a:cs typeface="Calibri"/>
              </a:rPr>
              <a:t>exe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5" dirty="0">
                <a:latin typeface="Calibri"/>
                <a:cs typeface="Calibri"/>
              </a:rPr>
              <a:t> </a:t>
            </a:r>
            <a:r>
              <a:rPr sz="800" spc="150" dirty="0">
                <a:latin typeface="Calibri"/>
                <a:cs typeface="Calibri"/>
              </a:rPr>
              <a:t>linux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85" dirty="0">
                <a:latin typeface="Calibri"/>
                <a:cs typeface="Calibri"/>
              </a:rPr>
              <a:t>x86_64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220" dirty="0">
                <a:latin typeface="Calibri"/>
                <a:cs typeface="Calibri"/>
              </a:rPr>
              <a:t>.</a:t>
            </a:r>
            <a:r>
              <a:rPr sz="800" spc="-75" dirty="0">
                <a:latin typeface="Calibri"/>
                <a:cs typeface="Calibri"/>
              </a:rPr>
              <a:t> </a:t>
            </a:r>
            <a:r>
              <a:rPr sz="800" spc="150" dirty="0">
                <a:latin typeface="Calibri"/>
                <a:cs typeface="Calibri"/>
              </a:rPr>
              <a:t>zip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95" dirty="0">
                <a:latin typeface="Calibri"/>
                <a:cs typeface="Calibri"/>
              </a:rPr>
              <a:t>"</a:t>
            </a:r>
            <a:r>
              <a:rPr sz="800" spc="440" dirty="0">
                <a:latin typeface="Calibri"/>
                <a:cs typeface="Calibri"/>
              </a:rPr>
              <a:t> </a:t>
            </a:r>
            <a:r>
              <a:rPr sz="800" spc="240" dirty="0">
                <a:latin typeface="Calibri"/>
                <a:cs typeface="Calibri"/>
              </a:rPr>
              <a:t>-</a:t>
            </a:r>
            <a:r>
              <a:rPr sz="800" spc="-50" dirty="0">
                <a:latin typeface="Calibri"/>
                <a:cs typeface="Calibri"/>
              </a:rPr>
              <a:t>o</a:t>
            </a:r>
            <a:r>
              <a:rPr sz="800" spc="95" dirty="0">
                <a:latin typeface="Calibri"/>
                <a:cs typeface="Calibri"/>
              </a:rPr>
              <a:t> "</a:t>
            </a:r>
            <a:r>
              <a:rPr sz="800" spc="-55" dirty="0">
                <a:latin typeface="Calibri"/>
                <a:cs typeface="Calibri"/>
              </a:rPr>
              <a:t> </a:t>
            </a:r>
            <a:r>
              <a:rPr sz="800" spc="140" dirty="0">
                <a:latin typeface="Calibri"/>
                <a:cs typeface="Calibri"/>
              </a:rPr>
              <a:t>awscliv2</a:t>
            </a:r>
            <a:r>
              <a:rPr sz="800" spc="-55" dirty="0">
                <a:latin typeface="Calibri"/>
                <a:cs typeface="Calibri"/>
              </a:rPr>
              <a:t> </a:t>
            </a:r>
            <a:r>
              <a:rPr sz="800" spc="220" dirty="0">
                <a:latin typeface="Calibri"/>
                <a:cs typeface="Calibri"/>
              </a:rPr>
              <a:t>.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150" dirty="0">
                <a:latin typeface="Calibri"/>
                <a:cs typeface="Calibri"/>
              </a:rPr>
              <a:t>zip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45" dirty="0">
                <a:latin typeface="Calibri"/>
                <a:cs typeface="Calibri"/>
              </a:rPr>
              <a:t>"</a:t>
            </a:r>
            <a:endParaRPr sz="800">
              <a:latin typeface="Calibri"/>
              <a:cs typeface="Calibri"/>
            </a:endParaRPr>
          </a:p>
          <a:p>
            <a:pPr marL="48895">
              <a:lnSpc>
                <a:spcPts val="905"/>
              </a:lnSpc>
            </a:pPr>
            <a:r>
              <a:rPr sz="800" spc="120" dirty="0">
                <a:latin typeface="Calibri"/>
                <a:cs typeface="Calibri"/>
              </a:rPr>
              <a:t>unzip</a:t>
            </a:r>
            <a:r>
              <a:rPr sz="800" spc="480" dirty="0">
                <a:latin typeface="Calibri"/>
                <a:cs typeface="Calibri"/>
              </a:rPr>
              <a:t> </a:t>
            </a:r>
            <a:r>
              <a:rPr sz="800" spc="140" dirty="0">
                <a:latin typeface="Calibri"/>
                <a:cs typeface="Calibri"/>
              </a:rPr>
              <a:t>awscliv2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220" dirty="0">
                <a:latin typeface="Calibri"/>
                <a:cs typeface="Calibri"/>
              </a:rPr>
              <a:t>.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125" dirty="0">
                <a:latin typeface="Calibri"/>
                <a:cs typeface="Calibri"/>
              </a:rPr>
              <a:t>zip</a:t>
            </a:r>
            <a:endParaRPr sz="800">
              <a:latin typeface="Calibri"/>
              <a:cs typeface="Calibri"/>
            </a:endParaRPr>
          </a:p>
          <a:p>
            <a:pPr marL="48260" marR="3211195">
              <a:lnSpc>
                <a:spcPts val="950"/>
              </a:lnSpc>
              <a:spcBef>
                <a:spcPts val="35"/>
              </a:spcBef>
            </a:pPr>
            <a:r>
              <a:rPr sz="800" spc="70" dirty="0">
                <a:latin typeface="Calibri"/>
                <a:cs typeface="Calibri"/>
              </a:rPr>
              <a:t>sudo</a:t>
            </a:r>
            <a:r>
              <a:rPr sz="800" spc="450" dirty="0">
                <a:latin typeface="Calibri"/>
                <a:cs typeface="Calibri"/>
              </a:rPr>
              <a:t> </a:t>
            </a:r>
            <a:r>
              <a:rPr sz="800" spc="190" dirty="0">
                <a:latin typeface="Calibri"/>
                <a:cs typeface="Calibri"/>
              </a:rPr>
              <a:t>./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80" dirty="0">
                <a:latin typeface="Calibri"/>
                <a:cs typeface="Calibri"/>
              </a:rPr>
              <a:t>aws/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190" dirty="0">
                <a:latin typeface="Calibri"/>
                <a:cs typeface="Calibri"/>
              </a:rPr>
              <a:t>install </a:t>
            </a:r>
            <a:r>
              <a:rPr sz="800" dirty="0">
                <a:latin typeface="Calibri"/>
                <a:cs typeface="Calibri"/>
              </a:rPr>
              <a:t>aws</a:t>
            </a:r>
            <a:r>
              <a:rPr sz="800" spc="180" dirty="0">
                <a:latin typeface="Calibri"/>
                <a:cs typeface="Calibri"/>
              </a:rPr>
              <a:t>  </a:t>
            </a:r>
            <a:r>
              <a:rPr sz="800" spc="235" dirty="0">
                <a:latin typeface="Calibri"/>
                <a:cs typeface="Calibri"/>
              </a:rPr>
              <a:t>-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125" dirty="0">
                <a:latin typeface="Calibri"/>
                <a:cs typeface="Calibri"/>
              </a:rPr>
              <a:t>version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  <a:solidFill>
            <a:srgbClr val="00B0F0"/>
          </a:solidFill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61591" y="3351784"/>
            <a:ext cx="12852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Panduan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Lengkap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AWS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CLI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dan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IAM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025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Konfigurasi </a:t>
            </a:r>
            <a:r>
              <a:rPr spc="-20" dirty="0"/>
              <a:t>Awal</a:t>
            </a:r>
            <a:r>
              <a:rPr spc="-15" dirty="0"/>
              <a:t> </a:t>
            </a:r>
            <a:r>
              <a:rPr spc="-90" dirty="0"/>
              <a:t>AWS</a:t>
            </a:r>
            <a:r>
              <a:rPr spc="-10" dirty="0"/>
              <a:t> </a:t>
            </a:r>
            <a:r>
              <a:rPr spc="-25" dirty="0"/>
              <a:t>CLI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4294967295"/>
          </p:nvPr>
        </p:nvSpPr>
        <p:spPr>
          <a:xfrm>
            <a:off x="0" y="3351213"/>
            <a:ext cx="482600" cy="90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err="1" smtClean="0"/>
              <a:t>Amel</a:t>
            </a:r>
            <a:endParaRPr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4294967295"/>
          </p:nvPr>
        </p:nvSpPr>
        <p:spPr>
          <a:xfrm>
            <a:off x="4356100" y="3351213"/>
            <a:ext cx="254000" cy="103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056" y="1078318"/>
            <a:ext cx="4411980" cy="201295"/>
          </a:xfrm>
          <a:prstGeom prst="rect">
            <a:avLst/>
          </a:prstGeom>
          <a:solidFill>
            <a:srgbClr val="F2F2F2"/>
          </a:solidFill>
          <a:ln w="5054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80"/>
              </a:spcBef>
            </a:pPr>
            <a:r>
              <a:rPr sz="800" dirty="0">
                <a:latin typeface="Calibri"/>
                <a:cs typeface="Calibri"/>
              </a:rPr>
              <a:t>aws</a:t>
            </a:r>
            <a:r>
              <a:rPr sz="800" spc="185" dirty="0">
                <a:latin typeface="Calibri"/>
                <a:cs typeface="Calibri"/>
              </a:rPr>
              <a:t>  </a:t>
            </a:r>
            <a:r>
              <a:rPr sz="800" spc="130" dirty="0">
                <a:latin typeface="Calibri"/>
                <a:cs typeface="Calibri"/>
              </a:rPr>
              <a:t>configure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629232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3926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4929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259330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5844" y="1291981"/>
            <a:ext cx="1644014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Tahoma"/>
                <a:cs typeface="Tahoma"/>
              </a:rPr>
              <a:t>Masukkan:</a:t>
            </a:r>
            <a:endParaRPr sz="1100">
              <a:latin typeface="Tahoma"/>
              <a:cs typeface="Tahoma"/>
            </a:endParaRPr>
          </a:p>
          <a:p>
            <a:pPr marL="289560" marR="290195">
              <a:lnSpc>
                <a:spcPct val="125299"/>
              </a:lnSpc>
            </a:pPr>
            <a:r>
              <a:rPr sz="1100" spc="-25" dirty="0">
                <a:latin typeface="Tahoma"/>
                <a:cs typeface="Tahoma"/>
              </a:rPr>
              <a:t>Access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Key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ID </a:t>
            </a:r>
            <a:r>
              <a:rPr sz="1100" spc="-30" dirty="0">
                <a:latin typeface="Tahoma"/>
                <a:cs typeface="Tahoma"/>
              </a:rPr>
              <a:t>Secret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Access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Key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25299"/>
              </a:lnSpc>
            </a:pPr>
            <a:r>
              <a:rPr sz="1100" spc="-30" dirty="0">
                <a:latin typeface="Tahoma"/>
                <a:cs typeface="Tahoma"/>
              </a:rPr>
              <a:t>Region: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ap-southeast-</a:t>
            </a:r>
            <a:r>
              <a:rPr sz="1100" spc="-50" dirty="0">
                <a:latin typeface="Tahoma"/>
                <a:cs typeface="Tahoma"/>
              </a:rPr>
              <a:t>1 </a:t>
            </a:r>
            <a:r>
              <a:rPr sz="1100" spc="-25" dirty="0">
                <a:latin typeface="Tahoma"/>
                <a:cs typeface="Tahoma"/>
              </a:rPr>
              <a:t>Format: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json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  <a:solidFill>
            <a:srgbClr val="00B0F0"/>
          </a:solidFill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61591" y="3351784"/>
            <a:ext cx="12852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Panduan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Lengkap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AWS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CLI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dan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IAM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Apa</a:t>
            </a:r>
            <a:r>
              <a:rPr spc="40" dirty="0"/>
              <a:t> </a:t>
            </a:r>
            <a:r>
              <a:rPr dirty="0"/>
              <a:t>itu</a:t>
            </a:r>
            <a:r>
              <a:rPr spc="40" dirty="0"/>
              <a:t> </a:t>
            </a:r>
            <a:r>
              <a:rPr spc="-20" dirty="0"/>
              <a:t>IAM?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4294967295"/>
          </p:nvPr>
        </p:nvSpPr>
        <p:spPr>
          <a:xfrm>
            <a:off x="0" y="3351213"/>
            <a:ext cx="482600" cy="90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err="1" smtClean="0"/>
              <a:t>Amel</a:t>
            </a:r>
            <a:endParaRPr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4356100" y="3351213"/>
            <a:ext cx="254000" cy="103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13383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86152"/>
            <a:ext cx="2331085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20" dirty="0">
                <a:latin typeface="Tahoma"/>
                <a:cs typeface="Tahoma"/>
              </a:rPr>
              <a:t>Sistem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identitas</a:t>
            </a:r>
            <a:r>
              <a:rPr sz="1100" spc="18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akses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pengguna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AWS </a:t>
            </a:r>
            <a:r>
              <a:rPr sz="1100" spc="-30" dirty="0">
                <a:latin typeface="Tahoma"/>
                <a:cs typeface="Tahoma"/>
              </a:rPr>
              <a:t>Komponen: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IAM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User,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Role,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Policy </a:t>
            </a:r>
            <a:r>
              <a:rPr sz="1100" dirty="0">
                <a:latin typeface="Tahoma"/>
                <a:cs typeface="Tahoma"/>
              </a:rPr>
              <a:t>IAM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User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digunakan</a:t>
            </a:r>
            <a:r>
              <a:rPr sz="1100" spc="-10" dirty="0">
                <a:latin typeface="Tahoma"/>
                <a:cs typeface="Tahoma"/>
              </a:rPr>
              <a:t> untuk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akses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CLI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2341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33448"/>
            <a:ext cx="65265" cy="6526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  <a:solidFill>
            <a:srgbClr val="00B0F0"/>
          </a:solidFill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61591" y="3351784"/>
            <a:ext cx="12852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Panduan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Lengkap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AWS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CLI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dan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IAM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Membuat</a:t>
            </a:r>
            <a:r>
              <a:rPr spc="15" dirty="0"/>
              <a:t> </a:t>
            </a:r>
            <a:r>
              <a:rPr dirty="0"/>
              <a:t>IAM</a:t>
            </a:r>
            <a:r>
              <a:rPr spc="20" dirty="0"/>
              <a:t> </a:t>
            </a:r>
            <a:r>
              <a:rPr spc="-75" dirty="0"/>
              <a:t>User</a:t>
            </a:r>
            <a:r>
              <a:rPr spc="15" dirty="0"/>
              <a:t> </a:t>
            </a:r>
            <a:r>
              <a:rPr spc="-75" dirty="0"/>
              <a:t>dengan</a:t>
            </a:r>
            <a:r>
              <a:rPr spc="20" dirty="0"/>
              <a:t> </a:t>
            </a:r>
            <a:r>
              <a:rPr spc="-95" dirty="0"/>
              <a:t>Akses</a:t>
            </a:r>
            <a:r>
              <a:rPr spc="20" dirty="0"/>
              <a:t> </a:t>
            </a:r>
            <a:r>
              <a:rPr spc="-25" dirty="0"/>
              <a:t>CLI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4294967295"/>
          </p:nvPr>
        </p:nvSpPr>
        <p:spPr>
          <a:xfrm>
            <a:off x="0" y="3351213"/>
            <a:ext cx="482600" cy="90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err="1" smtClean="0"/>
              <a:t>Amel</a:t>
            </a:r>
            <a:endParaRPr spc="-2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4356100" y="3351213"/>
            <a:ext cx="254000" cy="103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55127"/>
            <a:ext cx="10382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Langkah-</a:t>
            </a:r>
            <a:r>
              <a:rPr sz="1100" spc="-45" dirty="0">
                <a:latin typeface="Tahoma"/>
                <a:cs typeface="Tahoma"/>
              </a:rPr>
              <a:t>langkah: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319272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1929" y="130633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221382"/>
            <a:ext cx="3169285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38885">
              <a:lnSpc>
                <a:spcPct val="125299"/>
              </a:lnSpc>
              <a:spcBef>
                <a:spcPts val="100"/>
              </a:spcBef>
            </a:pPr>
            <a:r>
              <a:rPr sz="1100" dirty="0">
                <a:latin typeface="Tahoma"/>
                <a:cs typeface="Tahoma"/>
              </a:rPr>
              <a:t>IAM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Console</a:t>
            </a:r>
            <a:r>
              <a:rPr sz="1100" dirty="0">
                <a:latin typeface="Tahoma"/>
                <a:cs typeface="Tahoma"/>
              </a:rPr>
              <a:t> ¿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Users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¿ Add </a:t>
            </a:r>
            <a:r>
              <a:rPr sz="1100" spc="-50" dirty="0">
                <a:latin typeface="Tahoma"/>
                <a:cs typeface="Tahoma"/>
              </a:rPr>
              <a:t>User </a:t>
            </a:r>
            <a:r>
              <a:rPr sz="1100" spc="-20" dirty="0">
                <a:latin typeface="Tahoma"/>
                <a:cs typeface="Tahoma"/>
              </a:rPr>
              <a:t>Nama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user: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130" dirty="0">
                <a:latin typeface="Calibri"/>
                <a:cs typeface="Calibri"/>
              </a:rPr>
              <a:t>cli-</a:t>
            </a:r>
            <a:r>
              <a:rPr sz="1100" spc="175" dirty="0">
                <a:latin typeface="Calibri"/>
                <a:cs typeface="Calibri"/>
              </a:rPr>
              <a:t>user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30" dirty="0">
                <a:latin typeface="Tahoma"/>
                <a:cs typeface="Tahoma"/>
              </a:rPr>
              <a:t>Centang: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Programmatic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Access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Attach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Policy: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S3FullAccess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atau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AdministratorAccess Download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CSV: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Access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Key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Secret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Key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529305"/>
            <a:ext cx="114214" cy="114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1917" y="151637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739338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1917" y="1726405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949370"/>
            <a:ext cx="114214" cy="114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1917" y="193643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159403"/>
            <a:ext cx="114214" cy="11421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51917" y="214647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  <a:solidFill>
            <a:srgbClr val="00B0F0"/>
          </a:solidFill>
        </p:grpSpPr>
        <p:sp>
          <p:nvSpPr>
            <p:cNvPr id="16" name="object 1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661591" y="3351784"/>
            <a:ext cx="12852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Panduan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Lengkap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AWS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CLI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dan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IAM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121453"/>
            <a:ext cx="2590750" cy="3897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Contoh</a:t>
            </a:r>
            <a:r>
              <a:rPr dirty="0"/>
              <a:t> IAM</a:t>
            </a:r>
            <a:r>
              <a:rPr spc="5" dirty="0"/>
              <a:t> </a:t>
            </a:r>
            <a:r>
              <a:rPr spc="-25" dirty="0"/>
              <a:t>Policy</a:t>
            </a:r>
            <a:r>
              <a:rPr spc="10" dirty="0"/>
              <a:t> </a:t>
            </a:r>
            <a:r>
              <a:rPr spc="-65" dirty="0"/>
              <a:t>S3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0" y="3351213"/>
            <a:ext cx="482600" cy="90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err="1" smtClean="0"/>
              <a:t>Amel</a:t>
            </a:r>
            <a:endParaRPr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4356100" y="3351213"/>
            <a:ext cx="254000" cy="103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056" y="1155395"/>
            <a:ext cx="4411980" cy="1042669"/>
          </a:xfrm>
          <a:prstGeom prst="rect">
            <a:avLst/>
          </a:prstGeom>
          <a:solidFill>
            <a:srgbClr val="F2F2F2"/>
          </a:solidFill>
          <a:ln w="5054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45720">
              <a:lnSpc>
                <a:spcPts val="955"/>
              </a:lnSpc>
              <a:spcBef>
                <a:spcPts val="180"/>
              </a:spcBef>
            </a:pPr>
            <a:r>
              <a:rPr sz="800" spc="120" dirty="0">
                <a:latin typeface="Calibri"/>
                <a:cs typeface="Calibri"/>
              </a:rPr>
              <a:t>{</a:t>
            </a:r>
            <a:endParaRPr sz="800">
              <a:latin typeface="Calibri"/>
              <a:cs typeface="Calibri"/>
            </a:endParaRPr>
          </a:p>
          <a:p>
            <a:pPr marL="174625">
              <a:lnSpc>
                <a:spcPts val="944"/>
              </a:lnSpc>
            </a:pPr>
            <a:r>
              <a:rPr sz="800" spc="95" dirty="0">
                <a:latin typeface="Calibri"/>
                <a:cs typeface="Calibri"/>
              </a:rPr>
              <a:t>"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125" dirty="0">
                <a:latin typeface="Calibri"/>
                <a:cs typeface="Calibri"/>
              </a:rPr>
              <a:t>Version</a:t>
            </a:r>
            <a:r>
              <a:rPr sz="800" spc="-50" dirty="0">
                <a:latin typeface="Calibri"/>
                <a:cs typeface="Calibri"/>
              </a:rPr>
              <a:t> </a:t>
            </a:r>
            <a:r>
              <a:rPr sz="800" spc="180" dirty="0">
                <a:latin typeface="Calibri"/>
                <a:cs typeface="Calibri"/>
              </a:rPr>
              <a:t>":</a:t>
            </a:r>
            <a:r>
              <a:rPr sz="800" spc="465" dirty="0">
                <a:latin typeface="Calibri"/>
                <a:cs typeface="Calibri"/>
              </a:rPr>
              <a:t> </a:t>
            </a:r>
            <a:r>
              <a:rPr sz="800" spc="80" dirty="0">
                <a:latin typeface="Calibri"/>
                <a:cs typeface="Calibri"/>
              </a:rPr>
              <a:t>"2012</a:t>
            </a:r>
            <a:r>
              <a:rPr sz="800" spc="-50" dirty="0">
                <a:latin typeface="Calibri"/>
                <a:cs typeface="Calibri"/>
              </a:rPr>
              <a:t> </a:t>
            </a:r>
            <a:r>
              <a:rPr sz="800" spc="229" dirty="0">
                <a:latin typeface="Calibri"/>
                <a:cs typeface="Calibri"/>
              </a:rPr>
              <a:t>-</a:t>
            </a:r>
            <a:r>
              <a:rPr sz="800" spc="50" dirty="0">
                <a:latin typeface="Calibri"/>
                <a:cs typeface="Calibri"/>
              </a:rPr>
              <a:t>10</a:t>
            </a:r>
            <a:r>
              <a:rPr sz="800" spc="-50" dirty="0">
                <a:latin typeface="Calibri"/>
                <a:cs typeface="Calibri"/>
              </a:rPr>
              <a:t> </a:t>
            </a:r>
            <a:r>
              <a:rPr sz="800" spc="229" dirty="0">
                <a:latin typeface="Calibri"/>
                <a:cs typeface="Calibri"/>
              </a:rPr>
              <a:t>-</a:t>
            </a:r>
            <a:r>
              <a:rPr sz="800" spc="85" dirty="0">
                <a:latin typeface="Calibri"/>
                <a:cs typeface="Calibri"/>
              </a:rPr>
              <a:t>17"</a:t>
            </a:r>
            <a:r>
              <a:rPr sz="800" spc="-50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,</a:t>
            </a:r>
            <a:endParaRPr sz="800">
              <a:latin typeface="Calibri"/>
              <a:cs typeface="Calibri"/>
            </a:endParaRPr>
          </a:p>
          <a:p>
            <a:pPr marL="174625">
              <a:lnSpc>
                <a:spcPts val="944"/>
              </a:lnSpc>
            </a:pPr>
            <a:r>
              <a:rPr sz="800" spc="95" dirty="0">
                <a:latin typeface="Calibri"/>
                <a:cs typeface="Calibri"/>
              </a:rPr>
              <a:t>"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110" dirty="0">
                <a:latin typeface="Calibri"/>
                <a:cs typeface="Calibri"/>
              </a:rPr>
              <a:t>Statement</a:t>
            </a:r>
            <a:r>
              <a:rPr sz="800" spc="-50" dirty="0">
                <a:latin typeface="Calibri"/>
                <a:cs typeface="Calibri"/>
              </a:rPr>
              <a:t> </a:t>
            </a:r>
            <a:r>
              <a:rPr sz="800" spc="180" dirty="0">
                <a:latin typeface="Calibri"/>
                <a:cs typeface="Calibri"/>
              </a:rPr>
              <a:t>":</a:t>
            </a:r>
            <a:r>
              <a:rPr sz="800" spc="430" dirty="0">
                <a:latin typeface="Calibri"/>
                <a:cs typeface="Calibri"/>
              </a:rPr>
              <a:t> </a:t>
            </a:r>
            <a:r>
              <a:rPr sz="800" spc="175" dirty="0">
                <a:latin typeface="Calibri"/>
                <a:cs typeface="Calibri"/>
              </a:rPr>
              <a:t>[{</a:t>
            </a:r>
            <a:endParaRPr sz="800">
              <a:latin typeface="Calibri"/>
              <a:cs typeface="Calibri"/>
            </a:endParaRPr>
          </a:p>
          <a:p>
            <a:pPr marL="303530">
              <a:lnSpc>
                <a:spcPts val="944"/>
              </a:lnSpc>
            </a:pPr>
            <a:r>
              <a:rPr sz="800" spc="95" dirty="0">
                <a:latin typeface="Calibri"/>
                <a:cs typeface="Calibri"/>
              </a:rPr>
              <a:t>"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165" dirty="0">
                <a:latin typeface="Calibri"/>
                <a:cs typeface="Calibri"/>
              </a:rPr>
              <a:t>Effect</a:t>
            </a:r>
            <a:r>
              <a:rPr sz="800" spc="-50" dirty="0">
                <a:latin typeface="Calibri"/>
                <a:cs typeface="Calibri"/>
              </a:rPr>
              <a:t> </a:t>
            </a:r>
            <a:r>
              <a:rPr sz="800" spc="180" dirty="0">
                <a:latin typeface="Calibri"/>
                <a:cs typeface="Calibri"/>
              </a:rPr>
              <a:t>":</a:t>
            </a:r>
            <a:r>
              <a:rPr sz="800" spc="430" dirty="0">
                <a:latin typeface="Calibri"/>
                <a:cs typeface="Calibri"/>
              </a:rPr>
              <a:t> </a:t>
            </a:r>
            <a:r>
              <a:rPr sz="800" spc="95" dirty="0">
                <a:latin typeface="Calibri"/>
                <a:cs typeface="Calibri"/>
              </a:rPr>
              <a:t>"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105" dirty="0">
                <a:latin typeface="Calibri"/>
                <a:cs typeface="Calibri"/>
              </a:rPr>
              <a:t>Allow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",</a:t>
            </a:r>
            <a:endParaRPr sz="800">
              <a:latin typeface="Calibri"/>
              <a:cs typeface="Calibri"/>
            </a:endParaRPr>
          </a:p>
          <a:p>
            <a:pPr marL="303530" marR="240029">
              <a:lnSpc>
                <a:spcPts val="950"/>
              </a:lnSpc>
              <a:spcBef>
                <a:spcPts val="35"/>
              </a:spcBef>
            </a:pPr>
            <a:r>
              <a:rPr sz="800" spc="95" dirty="0">
                <a:latin typeface="Calibri"/>
                <a:cs typeface="Calibri"/>
              </a:rPr>
              <a:t>"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125" dirty="0">
                <a:latin typeface="Calibri"/>
                <a:cs typeface="Calibri"/>
              </a:rPr>
              <a:t>Action</a:t>
            </a:r>
            <a:r>
              <a:rPr sz="800" spc="-50" dirty="0">
                <a:latin typeface="Calibri"/>
                <a:cs typeface="Calibri"/>
              </a:rPr>
              <a:t> </a:t>
            </a:r>
            <a:r>
              <a:rPr sz="800" spc="180" dirty="0">
                <a:latin typeface="Calibri"/>
                <a:cs typeface="Calibri"/>
              </a:rPr>
              <a:t>":</a:t>
            </a:r>
            <a:r>
              <a:rPr sz="800" spc="450" dirty="0">
                <a:latin typeface="Calibri"/>
                <a:cs typeface="Calibri"/>
              </a:rPr>
              <a:t> </a:t>
            </a:r>
            <a:r>
              <a:rPr sz="800" spc="160" dirty="0">
                <a:latin typeface="Calibri"/>
                <a:cs typeface="Calibri"/>
              </a:rPr>
              <a:t>["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90" dirty="0">
                <a:latin typeface="Calibri"/>
                <a:cs typeface="Calibri"/>
              </a:rPr>
              <a:t>s3</a:t>
            </a:r>
            <a:r>
              <a:rPr sz="800" spc="-80" dirty="0">
                <a:latin typeface="Calibri"/>
                <a:cs typeface="Calibri"/>
              </a:rPr>
              <a:t> </a:t>
            </a:r>
            <a:r>
              <a:rPr sz="800" spc="210" dirty="0">
                <a:latin typeface="Calibri"/>
                <a:cs typeface="Calibri"/>
              </a:rPr>
              <a:t>: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155" dirty="0">
                <a:latin typeface="Calibri"/>
                <a:cs typeface="Calibri"/>
              </a:rPr>
              <a:t>ListBucket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195" dirty="0">
                <a:latin typeface="Calibri"/>
                <a:cs typeface="Calibri"/>
              </a:rPr>
              <a:t>",</a:t>
            </a:r>
            <a:r>
              <a:rPr sz="800" spc="420" dirty="0">
                <a:latin typeface="Calibri"/>
                <a:cs typeface="Calibri"/>
              </a:rPr>
              <a:t> </a:t>
            </a:r>
            <a:r>
              <a:rPr sz="800" spc="95" dirty="0">
                <a:latin typeface="Calibri"/>
                <a:cs typeface="Calibri"/>
              </a:rPr>
              <a:t>"</a:t>
            </a:r>
            <a:r>
              <a:rPr sz="800" spc="-80" dirty="0">
                <a:latin typeface="Calibri"/>
                <a:cs typeface="Calibri"/>
              </a:rPr>
              <a:t> </a:t>
            </a:r>
            <a:r>
              <a:rPr sz="800" spc="90" dirty="0">
                <a:latin typeface="Calibri"/>
                <a:cs typeface="Calibri"/>
              </a:rPr>
              <a:t>s3</a:t>
            </a:r>
            <a:r>
              <a:rPr sz="800" spc="-80" dirty="0">
                <a:latin typeface="Calibri"/>
                <a:cs typeface="Calibri"/>
              </a:rPr>
              <a:t> </a:t>
            </a:r>
            <a:r>
              <a:rPr sz="800" spc="210" dirty="0">
                <a:latin typeface="Calibri"/>
                <a:cs typeface="Calibri"/>
              </a:rPr>
              <a:t>: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145" dirty="0">
                <a:latin typeface="Calibri"/>
                <a:cs typeface="Calibri"/>
              </a:rPr>
              <a:t>GetObject",</a:t>
            </a:r>
            <a:r>
              <a:rPr sz="800" spc="415" dirty="0">
                <a:latin typeface="Calibri"/>
                <a:cs typeface="Calibri"/>
              </a:rPr>
              <a:t> </a:t>
            </a:r>
            <a:r>
              <a:rPr sz="800" spc="95" dirty="0">
                <a:latin typeface="Calibri"/>
                <a:cs typeface="Calibri"/>
              </a:rPr>
              <a:t>"</a:t>
            </a:r>
            <a:r>
              <a:rPr sz="800" spc="-80" dirty="0">
                <a:latin typeface="Calibri"/>
                <a:cs typeface="Calibri"/>
              </a:rPr>
              <a:t> </a:t>
            </a:r>
            <a:r>
              <a:rPr sz="800" spc="90" dirty="0">
                <a:latin typeface="Calibri"/>
                <a:cs typeface="Calibri"/>
              </a:rPr>
              <a:t>s3</a:t>
            </a:r>
            <a:r>
              <a:rPr sz="800" spc="-80" dirty="0">
                <a:latin typeface="Calibri"/>
                <a:cs typeface="Calibri"/>
              </a:rPr>
              <a:t> </a:t>
            </a:r>
            <a:r>
              <a:rPr sz="800" spc="210" dirty="0">
                <a:latin typeface="Calibri"/>
                <a:cs typeface="Calibri"/>
              </a:rPr>
              <a:t>: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125" dirty="0">
                <a:latin typeface="Calibri"/>
                <a:cs typeface="Calibri"/>
              </a:rPr>
              <a:t>PutObject</a:t>
            </a:r>
            <a:r>
              <a:rPr sz="800" spc="-55" dirty="0">
                <a:latin typeface="Calibri"/>
                <a:cs typeface="Calibri"/>
              </a:rPr>
              <a:t> </a:t>
            </a:r>
            <a:r>
              <a:rPr sz="800" spc="185" dirty="0">
                <a:latin typeface="Calibri"/>
                <a:cs typeface="Calibri"/>
              </a:rPr>
              <a:t>"], </a:t>
            </a:r>
            <a:r>
              <a:rPr sz="800" spc="95" dirty="0">
                <a:latin typeface="Calibri"/>
                <a:cs typeface="Calibri"/>
              </a:rPr>
              <a:t>"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105" dirty="0">
                <a:latin typeface="Calibri"/>
                <a:cs typeface="Calibri"/>
              </a:rPr>
              <a:t>Resource</a:t>
            </a:r>
            <a:r>
              <a:rPr sz="800" spc="-45" dirty="0">
                <a:latin typeface="Calibri"/>
                <a:cs typeface="Calibri"/>
              </a:rPr>
              <a:t> </a:t>
            </a:r>
            <a:r>
              <a:rPr sz="800" spc="180" dirty="0">
                <a:latin typeface="Calibri"/>
                <a:cs typeface="Calibri"/>
              </a:rPr>
              <a:t>":</a:t>
            </a:r>
            <a:r>
              <a:rPr sz="800" spc="465" dirty="0">
                <a:latin typeface="Calibri"/>
                <a:cs typeface="Calibri"/>
              </a:rPr>
              <a:t> </a:t>
            </a:r>
            <a:r>
              <a:rPr sz="800" spc="85" dirty="0">
                <a:latin typeface="Calibri"/>
                <a:cs typeface="Calibri"/>
              </a:rPr>
              <a:t>"*"</a:t>
            </a:r>
            <a:endParaRPr sz="800">
              <a:latin typeface="Calibri"/>
              <a:cs typeface="Calibri"/>
            </a:endParaRPr>
          </a:p>
          <a:p>
            <a:pPr marL="176530">
              <a:lnSpc>
                <a:spcPts val="905"/>
              </a:lnSpc>
            </a:pPr>
            <a:r>
              <a:rPr sz="800" spc="175" dirty="0">
                <a:latin typeface="Calibri"/>
                <a:cs typeface="Calibri"/>
              </a:rPr>
              <a:t>}]</a:t>
            </a:r>
            <a:endParaRPr sz="800">
              <a:latin typeface="Calibri"/>
              <a:cs typeface="Calibri"/>
            </a:endParaRPr>
          </a:p>
          <a:p>
            <a:pPr marL="45720">
              <a:lnSpc>
                <a:spcPts val="955"/>
              </a:lnSpc>
            </a:pPr>
            <a:r>
              <a:rPr sz="800" spc="120" dirty="0">
                <a:latin typeface="Calibri"/>
                <a:cs typeface="Calibri"/>
              </a:rPr>
              <a:t>}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  <a:solidFill>
            <a:srgbClr val="00B0F0"/>
          </a:solidFill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61591" y="3351784"/>
            <a:ext cx="12852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Panduan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Lengkap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AWS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CLI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dan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IAM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Struktur</a:t>
            </a:r>
            <a:r>
              <a:rPr spc="-20" dirty="0"/>
              <a:t> </a:t>
            </a:r>
            <a:r>
              <a:rPr spc="-10" dirty="0"/>
              <a:t>File</a:t>
            </a:r>
            <a:r>
              <a:rPr spc="-15" dirty="0"/>
              <a:t> </a:t>
            </a:r>
            <a:r>
              <a:rPr spc="-30" dirty="0"/>
              <a:t>Konfigurasi</a:t>
            </a:r>
            <a:r>
              <a:rPr spc="-15" dirty="0"/>
              <a:t> </a:t>
            </a:r>
            <a:r>
              <a:rPr spc="-25" dirty="0"/>
              <a:t>CLI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4294967295"/>
          </p:nvPr>
        </p:nvSpPr>
        <p:spPr>
          <a:xfrm>
            <a:off x="0" y="3351213"/>
            <a:ext cx="482600" cy="90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err="1" smtClean="0"/>
              <a:t>Amel</a:t>
            </a:r>
            <a:endParaRPr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4356100" y="3351213"/>
            <a:ext cx="254000" cy="103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960626"/>
            <a:ext cx="8642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5" dirty="0">
                <a:latin typeface="Calibri"/>
                <a:cs typeface="Calibri"/>
              </a:rPr>
              <a:t>credentials</a:t>
            </a:r>
            <a:r>
              <a:rPr sz="1100" spc="95" dirty="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056" y="1202969"/>
            <a:ext cx="4411980" cy="441959"/>
          </a:xfrm>
          <a:prstGeom prst="rect">
            <a:avLst/>
          </a:prstGeom>
          <a:solidFill>
            <a:srgbClr val="F2F2F2"/>
          </a:solidFill>
          <a:ln w="5054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45720">
              <a:lnSpc>
                <a:spcPts val="955"/>
              </a:lnSpc>
              <a:spcBef>
                <a:spcPts val="180"/>
              </a:spcBef>
            </a:pPr>
            <a:r>
              <a:rPr sz="800" spc="170" dirty="0">
                <a:latin typeface="Calibri"/>
                <a:cs typeface="Calibri"/>
              </a:rPr>
              <a:t>[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155" dirty="0">
                <a:latin typeface="Calibri"/>
                <a:cs typeface="Calibri"/>
              </a:rPr>
              <a:t>default]</a:t>
            </a:r>
            <a:endParaRPr sz="800">
              <a:latin typeface="Calibri"/>
              <a:cs typeface="Calibri"/>
            </a:endParaRPr>
          </a:p>
          <a:p>
            <a:pPr marL="50165" marR="2306955" indent="-635">
              <a:lnSpc>
                <a:spcPts val="950"/>
              </a:lnSpc>
              <a:spcBef>
                <a:spcPts val="35"/>
              </a:spcBef>
            </a:pPr>
            <a:r>
              <a:rPr sz="800" spc="120" dirty="0">
                <a:latin typeface="Calibri"/>
                <a:cs typeface="Calibri"/>
              </a:rPr>
              <a:t>aws_access_key_id</a:t>
            </a:r>
            <a:r>
              <a:rPr sz="800" spc="459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</a:t>
            </a:r>
            <a:r>
              <a:rPr sz="800" spc="455" dirty="0">
                <a:latin typeface="Calibri"/>
                <a:cs typeface="Calibri"/>
              </a:rPr>
              <a:t> </a:t>
            </a:r>
            <a:r>
              <a:rPr sz="800" spc="85" dirty="0">
                <a:latin typeface="Calibri"/>
                <a:cs typeface="Calibri"/>
              </a:rPr>
              <a:t>AKIA</a:t>
            </a:r>
            <a:r>
              <a:rPr sz="800" spc="-45" dirty="0">
                <a:latin typeface="Calibri"/>
                <a:cs typeface="Calibri"/>
              </a:rPr>
              <a:t> </a:t>
            </a:r>
            <a:r>
              <a:rPr sz="800" spc="235" dirty="0">
                <a:latin typeface="Calibri"/>
                <a:cs typeface="Calibri"/>
              </a:rPr>
              <a:t>... </a:t>
            </a:r>
            <a:r>
              <a:rPr sz="800" spc="130" dirty="0">
                <a:latin typeface="Calibri"/>
                <a:cs typeface="Calibri"/>
              </a:rPr>
              <a:t>aws_secret_access_key</a:t>
            </a:r>
            <a:r>
              <a:rPr sz="800" spc="47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</a:t>
            </a:r>
            <a:r>
              <a:rPr sz="800" spc="459" dirty="0">
                <a:latin typeface="Calibri"/>
                <a:cs typeface="Calibri"/>
              </a:rPr>
              <a:t> </a:t>
            </a:r>
            <a:r>
              <a:rPr sz="800" spc="-165" dirty="0">
                <a:latin typeface="Calibri"/>
                <a:cs typeface="Calibri"/>
              </a:rPr>
              <a:t>w</a:t>
            </a:r>
            <a:r>
              <a:rPr sz="800" spc="-110" dirty="0">
                <a:latin typeface="Calibri"/>
                <a:cs typeface="Calibri"/>
              </a:rPr>
              <a:t> </a:t>
            </a:r>
            <a:r>
              <a:rPr sz="800" spc="195" dirty="0">
                <a:latin typeface="Calibri"/>
                <a:cs typeface="Calibri"/>
              </a:rPr>
              <a:t>Jalr</a:t>
            </a:r>
            <a:r>
              <a:rPr sz="800" spc="-45" dirty="0">
                <a:latin typeface="Calibri"/>
                <a:cs typeface="Calibri"/>
              </a:rPr>
              <a:t> </a:t>
            </a:r>
            <a:r>
              <a:rPr sz="800" spc="235" dirty="0">
                <a:latin typeface="Calibri"/>
                <a:cs typeface="Calibri"/>
              </a:rPr>
              <a:t>...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44" y="1700808"/>
            <a:ext cx="500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75" dirty="0">
                <a:latin typeface="Calibri"/>
                <a:cs typeface="Calibri"/>
              </a:rPr>
              <a:t>config</a:t>
            </a:r>
            <a:r>
              <a:rPr sz="1100" spc="75" dirty="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056" y="1943150"/>
            <a:ext cx="4411980" cy="441959"/>
          </a:xfrm>
          <a:prstGeom prst="rect">
            <a:avLst/>
          </a:prstGeom>
          <a:solidFill>
            <a:srgbClr val="F2F2F2"/>
          </a:solidFill>
          <a:ln w="5054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45720">
              <a:lnSpc>
                <a:spcPts val="955"/>
              </a:lnSpc>
              <a:spcBef>
                <a:spcPts val="180"/>
              </a:spcBef>
            </a:pPr>
            <a:r>
              <a:rPr sz="800" spc="170" dirty="0">
                <a:latin typeface="Calibri"/>
                <a:cs typeface="Calibri"/>
              </a:rPr>
              <a:t>[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155" dirty="0">
                <a:latin typeface="Calibri"/>
                <a:cs typeface="Calibri"/>
              </a:rPr>
              <a:t>default]</a:t>
            </a:r>
            <a:endParaRPr sz="800">
              <a:latin typeface="Calibri"/>
              <a:cs typeface="Calibri"/>
            </a:endParaRPr>
          </a:p>
          <a:p>
            <a:pPr marL="49530" marR="2886710">
              <a:lnSpc>
                <a:spcPts val="950"/>
              </a:lnSpc>
              <a:spcBef>
                <a:spcPts val="35"/>
              </a:spcBef>
            </a:pPr>
            <a:r>
              <a:rPr sz="800" spc="130" dirty="0">
                <a:latin typeface="Calibri"/>
                <a:cs typeface="Calibri"/>
              </a:rPr>
              <a:t>region</a:t>
            </a:r>
            <a:r>
              <a:rPr sz="800" spc="47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</a:t>
            </a:r>
            <a:r>
              <a:rPr sz="800" spc="44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ap</a:t>
            </a:r>
            <a:r>
              <a:rPr sz="800" spc="-45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120" dirty="0">
                <a:latin typeface="Calibri"/>
                <a:cs typeface="Calibri"/>
              </a:rPr>
              <a:t>southeast</a:t>
            </a:r>
            <a:r>
              <a:rPr sz="800" spc="25" dirty="0">
                <a:latin typeface="Calibri"/>
                <a:cs typeface="Calibri"/>
              </a:rPr>
              <a:t> </a:t>
            </a:r>
            <a:r>
              <a:rPr sz="800" spc="225" dirty="0">
                <a:latin typeface="Calibri"/>
                <a:cs typeface="Calibri"/>
              </a:rPr>
              <a:t>-</a:t>
            </a:r>
            <a:r>
              <a:rPr sz="800" spc="-50" dirty="0">
                <a:latin typeface="Calibri"/>
                <a:cs typeface="Calibri"/>
              </a:rPr>
              <a:t>1</a:t>
            </a:r>
            <a:r>
              <a:rPr sz="800" spc="105" dirty="0">
                <a:latin typeface="Calibri"/>
                <a:cs typeface="Calibri"/>
              </a:rPr>
              <a:t> output</a:t>
            </a:r>
            <a:r>
              <a:rPr sz="800" spc="45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</a:t>
            </a:r>
            <a:r>
              <a:rPr sz="800" spc="445" dirty="0">
                <a:latin typeface="Calibri"/>
                <a:cs typeface="Calibri"/>
              </a:rPr>
              <a:t> </a:t>
            </a:r>
            <a:r>
              <a:rPr sz="800" spc="110" dirty="0">
                <a:latin typeface="Calibri"/>
                <a:cs typeface="Calibri"/>
              </a:rPr>
              <a:t>json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  <a:solidFill>
            <a:srgbClr val="00B0F0"/>
          </a:solidFill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61591" y="3351784"/>
            <a:ext cx="12852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Panduan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Lengkap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AWS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CLI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dan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IAM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1804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Praktik</a:t>
            </a:r>
            <a:r>
              <a:rPr spc="-25" dirty="0"/>
              <a:t> </a:t>
            </a:r>
            <a:r>
              <a:rPr dirty="0"/>
              <a:t>CLI:</a:t>
            </a:r>
            <a:r>
              <a:rPr spc="-20" dirty="0"/>
              <a:t> </a:t>
            </a:r>
            <a:r>
              <a:rPr spc="-75" dirty="0"/>
              <a:t>S3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0" y="3351213"/>
            <a:ext cx="482600" cy="90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err="1" smtClean="0"/>
              <a:t>Amel</a:t>
            </a:r>
            <a:endParaRPr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4356100" y="3351213"/>
            <a:ext cx="254000" cy="103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056" y="1347724"/>
            <a:ext cx="4411980" cy="561975"/>
          </a:xfrm>
          <a:prstGeom prst="rect">
            <a:avLst/>
          </a:prstGeom>
          <a:solidFill>
            <a:srgbClr val="F2F2F2"/>
          </a:solidFill>
          <a:ln w="5054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48260">
              <a:lnSpc>
                <a:spcPts val="955"/>
              </a:lnSpc>
              <a:spcBef>
                <a:spcPts val="180"/>
              </a:spcBef>
            </a:pPr>
            <a:r>
              <a:rPr sz="800" dirty="0">
                <a:latin typeface="Calibri"/>
                <a:cs typeface="Calibri"/>
              </a:rPr>
              <a:t>aws</a:t>
            </a:r>
            <a:r>
              <a:rPr sz="800" spc="425" dirty="0">
                <a:latin typeface="Calibri"/>
                <a:cs typeface="Calibri"/>
              </a:rPr>
              <a:t> </a:t>
            </a:r>
            <a:r>
              <a:rPr sz="800" spc="90" dirty="0">
                <a:latin typeface="Calibri"/>
                <a:cs typeface="Calibri"/>
              </a:rPr>
              <a:t>s3</a:t>
            </a:r>
            <a:r>
              <a:rPr sz="800" spc="4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mb</a:t>
            </a:r>
            <a:r>
              <a:rPr sz="800" spc="420" dirty="0">
                <a:latin typeface="Calibri"/>
                <a:cs typeface="Calibri"/>
              </a:rPr>
              <a:t> </a:t>
            </a:r>
            <a:r>
              <a:rPr sz="800" spc="90" dirty="0">
                <a:latin typeface="Calibri"/>
                <a:cs typeface="Calibri"/>
              </a:rPr>
              <a:t>s3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180" dirty="0">
                <a:latin typeface="Calibri"/>
                <a:cs typeface="Calibri"/>
              </a:rPr>
              <a:t>://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nama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100" dirty="0">
                <a:latin typeface="Calibri"/>
                <a:cs typeface="Calibri"/>
              </a:rPr>
              <a:t>bucket</a:t>
            </a:r>
            <a:endParaRPr sz="800">
              <a:latin typeface="Calibri"/>
              <a:cs typeface="Calibri"/>
            </a:endParaRPr>
          </a:p>
          <a:p>
            <a:pPr marL="48260" marR="1852295">
              <a:lnSpc>
                <a:spcPts val="950"/>
              </a:lnSpc>
              <a:spcBef>
                <a:spcPts val="35"/>
              </a:spcBef>
            </a:pPr>
            <a:r>
              <a:rPr sz="800" dirty="0">
                <a:latin typeface="Calibri"/>
                <a:cs typeface="Calibri"/>
              </a:rPr>
              <a:t>aws</a:t>
            </a:r>
            <a:r>
              <a:rPr sz="800" spc="170" dirty="0">
                <a:latin typeface="Calibri"/>
                <a:cs typeface="Calibri"/>
              </a:rPr>
              <a:t>  </a:t>
            </a:r>
            <a:r>
              <a:rPr sz="800" spc="90" dirty="0">
                <a:latin typeface="Calibri"/>
                <a:cs typeface="Calibri"/>
              </a:rPr>
              <a:t>s3</a:t>
            </a:r>
            <a:r>
              <a:rPr sz="800" spc="165" dirty="0">
                <a:latin typeface="Calibri"/>
                <a:cs typeface="Calibri"/>
              </a:rPr>
              <a:t>  </a:t>
            </a:r>
            <a:r>
              <a:rPr sz="800" spc="65" dirty="0">
                <a:latin typeface="Calibri"/>
                <a:cs typeface="Calibri"/>
              </a:rPr>
              <a:t>cp</a:t>
            </a:r>
            <a:r>
              <a:rPr sz="800" spc="175" dirty="0">
                <a:latin typeface="Calibri"/>
                <a:cs typeface="Calibri"/>
              </a:rPr>
              <a:t>  </a:t>
            </a:r>
            <a:r>
              <a:rPr sz="800" dirty="0">
                <a:latin typeface="Calibri"/>
                <a:cs typeface="Calibri"/>
              </a:rPr>
              <a:t>dokumen</a:t>
            </a:r>
            <a:r>
              <a:rPr sz="800" spc="-45" dirty="0">
                <a:latin typeface="Calibri"/>
                <a:cs typeface="Calibri"/>
              </a:rPr>
              <a:t> </a:t>
            </a:r>
            <a:r>
              <a:rPr sz="800" spc="220" dirty="0">
                <a:latin typeface="Calibri"/>
                <a:cs typeface="Calibri"/>
              </a:rPr>
              <a:t>.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90" dirty="0">
                <a:latin typeface="Calibri"/>
                <a:cs typeface="Calibri"/>
              </a:rPr>
              <a:t>pdf</a:t>
            </a:r>
            <a:r>
              <a:rPr sz="800" spc="170" dirty="0">
                <a:latin typeface="Calibri"/>
                <a:cs typeface="Calibri"/>
              </a:rPr>
              <a:t>  </a:t>
            </a:r>
            <a:r>
              <a:rPr sz="800" spc="90" dirty="0">
                <a:latin typeface="Calibri"/>
                <a:cs typeface="Calibri"/>
              </a:rPr>
              <a:t>s3</a:t>
            </a:r>
            <a:r>
              <a:rPr sz="800" spc="-45" dirty="0">
                <a:latin typeface="Calibri"/>
                <a:cs typeface="Calibri"/>
              </a:rPr>
              <a:t> </a:t>
            </a:r>
            <a:r>
              <a:rPr sz="800" spc="180" dirty="0">
                <a:latin typeface="Calibri"/>
                <a:cs typeface="Calibri"/>
              </a:rPr>
              <a:t>://</a:t>
            </a:r>
            <a:r>
              <a:rPr sz="800" spc="-5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nama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55" dirty="0">
                <a:latin typeface="Calibri"/>
                <a:cs typeface="Calibri"/>
              </a:rPr>
              <a:t> </a:t>
            </a:r>
            <a:r>
              <a:rPr sz="800" spc="114" dirty="0">
                <a:latin typeface="Calibri"/>
                <a:cs typeface="Calibri"/>
              </a:rPr>
              <a:t>bucket/ </a:t>
            </a:r>
            <a:r>
              <a:rPr sz="800" dirty="0">
                <a:latin typeface="Calibri"/>
                <a:cs typeface="Calibri"/>
              </a:rPr>
              <a:t>aws</a:t>
            </a:r>
            <a:r>
              <a:rPr sz="800" spc="475" dirty="0">
                <a:latin typeface="Calibri"/>
                <a:cs typeface="Calibri"/>
              </a:rPr>
              <a:t> </a:t>
            </a:r>
            <a:r>
              <a:rPr sz="800" spc="90" dirty="0">
                <a:latin typeface="Calibri"/>
                <a:cs typeface="Calibri"/>
              </a:rPr>
              <a:t>s3</a:t>
            </a:r>
            <a:r>
              <a:rPr sz="800" spc="465" dirty="0">
                <a:latin typeface="Calibri"/>
                <a:cs typeface="Calibri"/>
              </a:rPr>
              <a:t> </a:t>
            </a:r>
            <a:r>
              <a:rPr sz="800" spc="195" dirty="0">
                <a:latin typeface="Calibri"/>
                <a:cs typeface="Calibri"/>
              </a:rPr>
              <a:t>ls</a:t>
            </a:r>
            <a:r>
              <a:rPr sz="800" spc="465" dirty="0">
                <a:latin typeface="Calibri"/>
                <a:cs typeface="Calibri"/>
              </a:rPr>
              <a:t> </a:t>
            </a:r>
            <a:r>
              <a:rPr sz="800" spc="90" dirty="0">
                <a:latin typeface="Calibri"/>
                <a:cs typeface="Calibri"/>
              </a:rPr>
              <a:t>s3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180" dirty="0">
                <a:latin typeface="Calibri"/>
                <a:cs typeface="Calibri"/>
              </a:rPr>
              <a:t>://</a:t>
            </a:r>
            <a:r>
              <a:rPr sz="800" spc="-5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nama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100" dirty="0">
                <a:latin typeface="Calibri"/>
                <a:cs typeface="Calibri"/>
              </a:rPr>
              <a:t>bucket</a:t>
            </a:r>
            <a:endParaRPr sz="800">
              <a:latin typeface="Calibri"/>
              <a:cs typeface="Calibri"/>
            </a:endParaRPr>
          </a:p>
          <a:p>
            <a:pPr marL="48260">
              <a:lnSpc>
                <a:spcPts val="915"/>
              </a:lnSpc>
            </a:pPr>
            <a:r>
              <a:rPr sz="800" dirty="0">
                <a:latin typeface="Calibri"/>
                <a:cs typeface="Calibri"/>
              </a:rPr>
              <a:t>aws</a:t>
            </a:r>
            <a:r>
              <a:rPr sz="800" spc="175" dirty="0">
                <a:latin typeface="Calibri"/>
                <a:cs typeface="Calibri"/>
              </a:rPr>
              <a:t>  </a:t>
            </a:r>
            <a:r>
              <a:rPr sz="800" spc="90" dirty="0">
                <a:latin typeface="Calibri"/>
                <a:cs typeface="Calibri"/>
              </a:rPr>
              <a:t>s3</a:t>
            </a:r>
            <a:r>
              <a:rPr sz="800" spc="170" dirty="0">
                <a:latin typeface="Calibri"/>
                <a:cs typeface="Calibri"/>
              </a:rPr>
              <a:t>  </a:t>
            </a:r>
            <a:r>
              <a:rPr sz="800" dirty="0">
                <a:latin typeface="Calibri"/>
                <a:cs typeface="Calibri"/>
              </a:rPr>
              <a:t>rm</a:t>
            </a:r>
            <a:r>
              <a:rPr sz="800" spc="175" dirty="0">
                <a:latin typeface="Calibri"/>
                <a:cs typeface="Calibri"/>
              </a:rPr>
              <a:t>  </a:t>
            </a:r>
            <a:r>
              <a:rPr sz="800" spc="90" dirty="0">
                <a:latin typeface="Calibri"/>
                <a:cs typeface="Calibri"/>
              </a:rPr>
              <a:t>s3</a:t>
            </a:r>
            <a:r>
              <a:rPr sz="800" spc="-45" dirty="0">
                <a:latin typeface="Calibri"/>
                <a:cs typeface="Calibri"/>
              </a:rPr>
              <a:t> </a:t>
            </a:r>
            <a:r>
              <a:rPr sz="800" spc="180" dirty="0">
                <a:latin typeface="Calibri"/>
                <a:cs typeface="Calibri"/>
              </a:rPr>
              <a:t>://</a:t>
            </a:r>
            <a:r>
              <a:rPr sz="800" spc="-5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nama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55" dirty="0">
                <a:latin typeface="Calibri"/>
                <a:cs typeface="Calibri"/>
              </a:rPr>
              <a:t> </a:t>
            </a:r>
            <a:r>
              <a:rPr sz="800" spc="125" dirty="0">
                <a:latin typeface="Calibri"/>
                <a:cs typeface="Calibri"/>
              </a:rPr>
              <a:t>bucket/</a:t>
            </a:r>
            <a:r>
              <a:rPr sz="800" spc="-5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dokumen</a:t>
            </a:r>
            <a:r>
              <a:rPr sz="800" spc="-45" dirty="0">
                <a:latin typeface="Calibri"/>
                <a:cs typeface="Calibri"/>
              </a:rPr>
              <a:t> </a:t>
            </a:r>
            <a:r>
              <a:rPr sz="800" spc="220" dirty="0">
                <a:latin typeface="Calibri"/>
                <a:cs typeface="Calibri"/>
              </a:rPr>
              <a:t>.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65" dirty="0">
                <a:latin typeface="Calibri"/>
                <a:cs typeface="Calibri"/>
              </a:rPr>
              <a:t>pdf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  <a:solidFill>
            <a:srgbClr val="00B0F0"/>
          </a:solidFill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61591" y="3351784"/>
            <a:ext cx="12852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Panduan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Lengkap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AWS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CLI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dan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IAM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3017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Praktik</a:t>
            </a:r>
            <a:r>
              <a:rPr spc="-25" dirty="0"/>
              <a:t> </a:t>
            </a:r>
            <a:r>
              <a:rPr dirty="0"/>
              <a:t>CLI:</a:t>
            </a:r>
            <a:r>
              <a:rPr spc="-20" dirty="0"/>
              <a:t> </a:t>
            </a:r>
            <a:r>
              <a:rPr spc="-75" dirty="0"/>
              <a:t>EC2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0" y="3351213"/>
            <a:ext cx="482600" cy="90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err="1" smtClean="0"/>
              <a:t>Amel</a:t>
            </a:r>
            <a:endParaRPr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4356100" y="3351213"/>
            <a:ext cx="254000" cy="103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056" y="1347724"/>
            <a:ext cx="4411980" cy="561975"/>
          </a:xfrm>
          <a:prstGeom prst="rect">
            <a:avLst/>
          </a:prstGeom>
          <a:solidFill>
            <a:srgbClr val="F2F2F2"/>
          </a:solidFill>
          <a:ln w="5054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48260">
              <a:lnSpc>
                <a:spcPts val="955"/>
              </a:lnSpc>
              <a:spcBef>
                <a:spcPts val="180"/>
              </a:spcBef>
            </a:pPr>
            <a:r>
              <a:rPr sz="800" dirty="0">
                <a:latin typeface="Calibri"/>
                <a:cs typeface="Calibri"/>
              </a:rPr>
              <a:t>aws</a:t>
            </a:r>
            <a:r>
              <a:rPr sz="800" spc="490" dirty="0">
                <a:latin typeface="Calibri"/>
                <a:cs typeface="Calibri"/>
              </a:rPr>
              <a:t> </a:t>
            </a:r>
            <a:r>
              <a:rPr sz="800" spc="80" dirty="0">
                <a:latin typeface="Calibri"/>
                <a:cs typeface="Calibri"/>
              </a:rPr>
              <a:t>ec2</a:t>
            </a:r>
            <a:r>
              <a:rPr sz="800" spc="495" dirty="0">
                <a:latin typeface="Calibri"/>
                <a:cs typeface="Calibri"/>
              </a:rPr>
              <a:t> </a:t>
            </a:r>
            <a:r>
              <a:rPr sz="800" spc="130" dirty="0">
                <a:latin typeface="Calibri"/>
                <a:cs typeface="Calibri"/>
              </a:rPr>
              <a:t>describe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55" dirty="0">
                <a:latin typeface="Calibri"/>
                <a:cs typeface="Calibri"/>
              </a:rPr>
              <a:t> </a:t>
            </a:r>
            <a:r>
              <a:rPr sz="800" spc="135" dirty="0">
                <a:latin typeface="Calibri"/>
                <a:cs typeface="Calibri"/>
              </a:rPr>
              <a:t>instances</a:t>
            </a:r>
            <a:endParaRPr sz="800">
              <a:latin typeface="Calibri"/>
              <a:cs typeface="Calibri"/>
            </a:endParaRPr>
          </a:p>
          <a:p>
            <a:pPr marL="48260" marR="1146810">
              <a:lnSpc>
                <a:spcPts val="950"/>
              </a:lnSpc>
              <a:spcBef>
                <a:spcPts val="35"/>
              </a:spcBef>
            </a:pPr>
            <a:r>
              <a:rPr sz="800" dirty="0">
                <a:latin typeface="Calibri"/>
                <a:cs typeface="Calibri"/>
              </a:rPr>
              <a:t>aws</a:t>
            </a:r>
            <a:r>
              <a:rPr sz="800" spc="470" dirty="0">
                <a:latin typeface="Calibri"/>
                <a:cs typeface="Calibri"/>
              </a:rPr>
              <a:t> </a:t>
            </a:r>
            <a:r>
              <a:rPr sz="800" spc="80" dirty="0">
                <a:latin typeface="Calibri"/>
                <a:cs typeface="Calibri"/>
              </a:rPr>
              <a:t>ec2</a:t>
            </a:r>
            <a:r>
              <a:rPr sz="800" spc="470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start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145" dirty="0">
                <a:latin typeface="Calibri"/>
                <a:cs typeface="Calibri"/>
              </a:rPr>
              <a:t>instances</a:t>
            </a:r>
            <a:r>
              <a:rPr sz="800" spc="490" dirty="0">
                <a:latin typeface="Calibri"/>
                <a:cs typeface="Calibri"/>
              </a:rPr>
              <a:t> </a:t>
            </a:r>
            <a:r>
              <a:rPr sz="800" spc="235" dirty="0">
                <a:latin typeface="Calibri"/>
                <a:cs typeface="Calibri"/>
              </a:rPr>
              <a:t>-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5" dirty="0">
                <a:latin typeface="Calibri"/>
                <a:cs typeface="Calibri"/>
              </a:rPr>
              <a:t> </a:t>
            </a:r>
            <a:r>
              <a:rPr sz="800" spc="135" dirty="0">
                <a:latin typeface="Calibri"/>
                <a:cs typeface="Calibri"/>
              </a:rPr>
              <a:t>instance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5" dirty="0">
                <a:latin typeface="Calibri"/>
                <a:cs typeface="Calibri"/>
              </a:rPr>
              <a:t> </a:t>
            </a:r>
            <a:r>
              <a:rPr sz="800" spc="150" dirty="0">
                <a:latin typeface="Calibri"/>
                <a:cs typeface="Calibri"/>
              </a:rPr>
              <a:t>ids</a:t>
            </a:r>
            <a:r>
              <a:rPr sz="800" spc="445" dirty="0">
                <a:latin typeface="Calibri"/>
                <a:cs typeface="Calibri"/>
              </a:rPr>
              <a:t> </a:t>
            </a:r>
            <a:r>
              <a:rPr sz="800" spc="229" dirty="0">
                <a:latin typeface="Calibri"/>
                <a:cs typeface="Calibri"/>
              </a:rPr>
              <a:t>i</a:t>
            </a:r>
            <a:r>
              <a:rPr sz="800" spc="-45" dirty="0">
                <a:latin typeface="Calibri"/>
                <a:cs typeface="Calibri"/>
              </a:rPr>
              <a:t> </a:t>
            </a:r>
            <a:r>
              <a:rPr sz="800" spc="245" dirty="0">
                <a:latin typeface="Calibri"/>
                <a:cs typeface="Calibri"/>
              </a:rPr>
              <a:t>-</a:t>
            </a:r>
            <a:r>
              <a:rPr sz="800" spc="80" dirty="0">
                <a:latin typeface="Calibri"/>
                <a:cs typeface="Calibri"/>
              </a:rPr>
              <a:t>012345</a:t>
            </a:r>
            <a:r>
              <a:rPr sz="800" spc="-100" dirty="0">
                <a:latin typeface="Calibri"/>
                <a:cs typeface="Calibri"/>
              </a:rPr>
              <a:t> </a:t>
            </a:r>
            <a:r>
              <a:rPr sz="800" spc="245" dirty="0">
                <a:latin typeface="Calibri"/>
                <a:cs typeface="Calibri"/>
              </a:rPr>
              <a:t>... </a:t>
            </a:r>
            <a:r>
              <a:rPr sz="800" dirty="0">
                <a:latin typeface="Calibri"/>
                <a:cs typeface="Calibri"/>
              </a:rPr>
              <a:t>aws</a:t>
            </a:r>
            <a:r>
              <a:rPr sz="800" spc="470" dirty="0">
                <a:latin typeface="Calibri"/>
                <a:cs typeface="Calibri"/>
              </a:rPr>
              <a:t> </a:t>
            </a:r>
            <a:r>
              <a:rPr sz="800" spc="80" dirty="0">
                <a:latin typeface="Calibri"/>
                <a:cs typeface="Calibri"/>
              </a:rPr>
              <a:t>ec2</a:t>
            </a:r>
            <a:r>
              <a:rPr sz="800" spc="475" dirty="0">
                <a:latin typeface="Calibri"/>
                <a:cs typeface="Calibri"/>
              </a:rPr>
              <a:t> </a:t>
            </a:r>
            <a:r>
              <a:rPr sz="800" spc="105" dirty="0">
                <a:latin typeface="Calibri"/>
                <a:cs typeface="Calibri"/>
              </a:rPr>
              <a:t>stop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55" dirty="0">
                <a:latin typeface="Calibri"/>
                <a:cs typeface="Calibri"/>
              </a:rPr>
              <a:t> </a:t>
            </a:r>
            <a:r>
              <a:rPr sz="800" spc="145" dirty="0">
                <a:latin typeface="Calibri"/>
                <a:cs typeface="Calibri"/>
              </a:rPr>
              <a:t>instances</a:t>
            </a:r>
            <a:r>
              <a:rPr sz="800" spc="490" dirty="0">
                <a:latin typeface="Calibri"/>
                <a:cs typeface="Calibri"/>
              </a:rPr>
              <a:t> </a:t>
            </a:r>
            <a:r>
              <a:rPr sz="800" spc="235" dirty="0">
                <a:latin typeface="Calibri"/>
                <a:cs typeface="Calibri"/>
              </a:rPr>
              <a:t>-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5" dirty="0">
                <a:latin typeface="Calibri"/>
                <a:cs typeface="Calibri"/>
              </a:rPr>
              <a:t> </a:t>
            </a:r>
            <a:r>
              <a:rPr sz="800" spc="135" dirty="0">
                <a:latin typeface="Calibri"/>
                <a:cs typeface="Calibri"/>
              </a:rPr>
              <a:t>instance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150" dirty="0">
                <a:latin typeface="Calibri"/>
                <a:cs typeface="Calibri"/>
              </a:rPr>
              <a:t>ids</a:t>
            </a:r>
            <a:r>
              <a:rPr sz="800" spc="445" dirty="0">
                <a:latin typeface="Calibri"/>
                <a:cs typeface="Calibri"/>
              </a:rPr>
              <a:t> </a:t>
            </a:r>
            <a:r>
              <a:rPr sz="800" spc="229" dirty="0">
                <a:latin typeface="Calibri"/>
                <a:cs typeface="Calibri"/>
              </a:rPr>
              <a:t>i</a:t>
            </a:r>
            <a:r>
              <a:rPr sz="800" spc="-45" dirty="0">
                <a:latin typeface="Calibri"/>
                <a:cs typeface="Calibri"/>
              </a:rPr>
              <a:t> </a:t>
            </a:r>
            <a:r>
              <a:rPr sz="800" spc="245" dirty="0">
                <a:latin typeface="Calibri"/>
                <a:cs typeface="Calibri"/>
              </a:rPr>
              <a:t>-</a:t>
            </a:r>
            <a:r>
              <a:rPr sz="800" spc="80" dirty="0">
                <a:latin typeface="Calibri"/>
                <a:cs typeface="Calibri"/>
              </a:rPr>
              <a:t>012345</a:t>
            </a:r>
            <a:r>
              <a:rPr sz="800" spc="-100" dirty="0">
                <a:latin typeface="Calibri"/>
                <a:cs typeface="Calibri"/>
              </a:rPr>
              <a:t> </a:t>
            </a:r>
            <a:r>
              <a:rPr sz="800" spc="245" dirty="0">
                <a:latin typeface="Calibri"/>
                <a:cs typeface="Calibri"/>
              </a:rPr>
              <a:t>...</a:t>
            </a:r>
            <a:endParaRPr sz="800">
              <a:latin typeface="Calibri"/>
              <a:cs typeface="Calibri"/>
            </a:endParaRPr>
          </a:p>
          <a:p>
            <a:pPr marL="48260">
              <a:lnSpc>
                <a:spcPts val="915"/>
              </a:lnSpc>
            </a:pPr>
            <a:r>
              <a:rPr sz="800" dirty="0">
                <a:latin typeface="Calibri"/>
                <a:cs typeface="Calibri"/>
              </a:rPr>
              <a:t>aws</a:t>
            </a:r>
            <a:r>
              <a:rPr sz="800" spc="470" dirty="0">
                <a:latin typeface="Calibri"/>
                <a:cs typeface="Calibri"/>
              </a:rPr>
              <a:t> </a:t>
            </a:r>
            <a:r>
              <a:rPr sz="800" spc="80" dirty="0">
                <a:latin typeface="Calibri"/>
                <a:cs typeface="Calibri"/>
              </a:rPr>
              <a:t>ec2</a:t>
            </a:r>
            <a:r>
              <a:rPr sz="800" spc="480" dirty="0">
                <a:latin typeface="Calibri"/>
                <a:cs typeface="Calibri"/>
              </a:rPr>
              <a:t> </a:t>
            </a:r>
            <a:r>
              <a:rPr sz="800" spc="130" dirty="0">
                <a:latin typeface="Calibri"/>
                <a:cs typeface="Calibri"/>
              </a:rPr>
              <a:t>describe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135" dirty="0">
                <a:latin typeface="Calibri"/>
                <a:cs typeface="Calibri"/>
              </a:rPr>
              <a:t>instance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150" dirty="0">
                <a:latin typeface="Calibri"/>
                <a:cs typeface="Calibri"/>
              </a:rPr>
              <a:t>status</a:t>
            </a:r>
            <a:r>
              <a:rPr sz="800" spc="484" dirty="0">
                <a:latin typeface="Calibri"/>
                <a:cs typeface="Calibri"/>
              </a:rPr>
              <a:t> </a:t>
            </a:r>
            <a:r>
              <a:rPr sz="800" spc="235" dirty="0">
                <a:latin typeface="Calibri"/>
                <a:cs typeface="Calibri"/>
              </a:rPr>
              <a:t>-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5" dirty="0">
                <a:latin typeface="Calibri"/>
                <a:cs typeface="Calibri"/>
              </a:rPr>
              <a:t> </a:t>
            </a:r>
            <a:r>
              <a:rPr sz="800" spc="135" dirty="0">
                <a:latin typeface="Calibri"/>
                <a:cs typeface="Calibri"/>
              </a:rPr>
              <a:t>instance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5" dirty="0">
                <a:latin typeface="Calibri"/>
                <a:cs typeface="Calibri"/>
              </a:rPr>
              <a:t> </a:t>
            </a:r>
            <a:r>
              <a:rPr sz="800" spc="150" dirty="0">
                <a:latin typeface="Calibri"/>
                <a:cs typeface="Calibri"/>
              </a:rPr>
              <a:t>ids</a:t>
            </a:r>
            <a:r>
              <a:rPr sz="800" spc="440" dirty="0">
                <a:latin typeface="Calibri"/>
                <a:cs typeface="Calibri"/>
              </a:rPr>
              <a:t> </a:t>
            </a:r>
            <a:r>
              <a:rPr sz="800" spc="229" dirty="0">
                <a:latin typeface="Calibri"/>
                <a:cs typeface="Calibri"/>
              </a:rPr>
              <a:t>i</a:t>
            </a:r>
            <a:r>
              <a:rPr sz="800" spc="-40" dirty="0">
                <a:latin typeface="Calibri"/>
                <a:cs typeface="Calibri"/>
              </a:rPr>
              <a:t> </a:t>
            </a:r>
            <a:r>
              <a:rPr sz="800" spc="245" dirty="0">
                <a:latin typeface="Calibri"/>
                <a:cs typeface="Calibri"/>
              </a:rPr>
              <a:t>-</a:t>
            </a:r>
            <a:r>
              <a:rPr sz="800" spc="80" dirty="0">
                <a:latin typeface="Calibri"/>
                <a:cs typeface="Calibri"/>
              </a:rPr>
              <a:t>012345</a:t>
            </a:r>
            <a:r>
              <a:rPr sz="800" spc="-100" dirty="0">
                <a:latin typeface="Calibri"/>
                <a:cs typeface="Calibri"/>
              </a:rPr>
              <a:t> </a:t>
            </a:r>
            <a:r>
              <a:rPr sz="800" spc="245" dirty="0">
                <a:latin typeface="Calibri"/>
                <a:cs typeface="Calibri"/>
              </a:rPr>
              <a:t>...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  <a:solidFill>
            <a:srgbClr val="00B0F0"/>
          </a:solidFill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61591" y="3351784"/>
            <a:ext cx="12852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Panduan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Lengkap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AWS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CLI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dan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IAM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Praktik</a:t>
            </a:r>
            <a:r>
              <a:rPr spc="-25" dirty="0"/>
              <a:t> </a:t>
            </a:r>
            <a:r>
              <a:rPr dirty="0"/>
              <a:t>CLI:</a:t>
            </a:r>
            <a:r>
              <a:rPr spc="-20" dirty="0"/>
              <a:t> </a:t>
            </a:r>
            <a:r>
              <a:rPr spc="-50" dirty="0"/>
              <a:t>Lambda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0" y="3351213"/>
            <a:ext cx="482600" cy="90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err="1" smtClean="0"/>
              <a:t>Amel</a:t>
            </a:r>
            <a:endParaRPr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4356100" y="3351213"/>
            <a:ext cx="254000" cy="103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056" y="1011161"/>
            <a:ext cx="4411980" cy="1403350"/>
          </a:xfrm>
          <a:prstGeom prst="rect">
            <a:avLst/>
          </a:prstGeom>
          <a:solidFill>
            <a:srgbClr val="F2F2F2"/>
          </a:solidFill>
          <a:ln w="5054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48260">
              <a:lnSpc>
                <a:spcPts val="955"/>
              </a:lnSpc>
              <a:spcBef>
                <a:spcPts val="180"/>
              </a:spcBef>
            </a:pPr>
            <a:r>
              <a:rPr sz="800" dirty="0">
                <a:latin typeface="Calibri"/>
                <a:cs typeface="Calibri"/>
              </a:rPr>
              <a:t>aws</a:t>
            </a:r>
            <a:r>
              <a:rPr sz="800" spc="495" dirty="0">
                <a:latin typeface="Calibri"/>
                <a:cs typeface="Calibri"/>
              </a:rPr>
              <a:t> </a:t>
            </a:r>
            <a:r>
              <a:rPr sz="800" spc="70" dirty="0">
                <a:latin typeface="Calibri"/>
                <a:cs typeface="Calibri"/>
              </a:rPr>
              <a:t>lambda</a:t>
            </a:r>
            <a:r>
              <a:rPr sz="800" spc="495" dirty="0">
                <a:latin typeface="Calibri"/>
                <a:cs typeface="Calibri"/>
              </a:rPr>
              <a:t> </a:t>
            </a:r>
            <a:r>
              <a:rPr sz="800" spc="125" dirty="0">
                <a:latin typeface="Calibri"/>
                <a:cs typeface="Calibri"/>
              </a:rPr>
              <a:t>create</a:t>
            </a:r>
            <a:r>
              <a:rPr sz="800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140" dirty="0">
                <a:latin typeface="Calibri"/>
                <a:cs typeface="Calibri"/>
              </a:rPr>
              <a:t>function</a:t>
            </a:r>
            <a:r>
              <a:rPr sz="800" spc="480" dirty="0">
                <a:latin typeface="Calibri"/>
                <a:cs typeface="Calibri"/>
              </a:rPr>
              <a:t> </a:t>
            </a:r>
            <a:r>
              <a:rPr sz="800" spc="55" dirty="0">
                <a:latin typeface="Calibri"/>
                <a:cs typeface="Calibri"/>
              </a:rPr>
              <a:t>\</a:t>
            </a:r>
            <a:endParaRPr sz="800">
              <a:latin typeface="Calibri"/>
              <a:cs typeface="Calibri"/>
            </a:endParaRPr>
          </a:p>
          <a:p>
            <a:pPr marL="48895">
              <a:lnSpc>
                <a:spcPts val="944"/>
              </a:lnSpc>
            </a:pPr>
            <a:r>
              <a:rPr sz="800" spc="235" dirty="0">
                <a:latin typeface="Calibri"/>
                <a:cs typeface="Calibri"/>
              </a:rPr>
              <a:t>-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80" dirty="0">
                <a:latin typeface="Calibri"/>
                <a:cs typeface="Calibri"/>
              </a:rPr>
              <a:t> </a:t>
            </a:r>
            <a:r>
              <a:rPr sz="800" spc="135" dirty="0">
                <a:latin typeface="Calibri"/>
                <a:cs typeface="Calibri"/>
              </a:rPr>
              <a:t>function</a:t>
            </a:r>
            <a:r>
              <a:rPr sz="800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name</a:t>
            </a:r>
            <a:r>
              <a:rPr sz="800" spc="475" dirty="0">
                <a:latin typeface="Calibri"/>
                <a:cs typeface="Calibri"/>
              </a:rPr>
              <a:t> </a:t>
            </a:r>
            <a:r>
              <a:rPr sz="800" spc="155" dirty="0">
                <a:latin typeface="Calibri"/>
                <a:cs typeface="Calibri"/>
              </a:rPr>
              <a:t>hello</a:t>
            </a:r>
            <a:r>
              <a:rPr sz="800" spc="-105" dirty="0">
                <a:latin typeface="Calibri"/>
                <a:cs typeface="Calibri"/>
              </a:rPr>
              <a:t> </a:t>
            </a:r>
            <a:r>
              <a:rPr sz="800" spc="50" dirty="0">
                <a:latin typeface="Calibri"/>
                <a:cs typeface="Calibri"/>
              </a:rPr>
              <a:t>Lambda</a:t>
            </a:r>
            <a:r>
              <a:rPr sz="800" spc="455" dirty="0">
                <a:latin typeface="Calibri"/>
                <a:cs typeface="Calibri"/>
              </a:rPr>
              <a:t> </a:t>
            </a:r>
            <a:r>
              <a:rPr sz="800" spc="55" dirty="0">
                <a:latin typeface="Calibri"/>
                <a:cs typeface="Calibri"/>
              </a:rPr>
              <a:t>\</a:t>
            </a:r>
            <a:endParaRPr sz="800">
              <a:latin typeface="Calibri"/>
              <a:cs typeface="Calibri"/>
            </a:endParaRPr>
          </a:p>
          <a:p>
            <a:pPr marL="48895">
              <a:lnSpc>
                <a:spcPts val="944"/>
              </a:lnSpc>
            </a:pPr>
            <a:r>
              <a:rPr sz="800" spc="235" dirty="0">
                <a:latin typeface="Calibri"/>
                <a:cs typeface="Calibri"/>
              </a:rPr>
              <a:t>-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100" dirty="0">
                <a:latin typeface="Calibri"/>
                <a:cs typeface="Calibri"/>
              </a:rPr>
              <a:t> </a:t>
            </a:r>
            <a:r>
              <a:rPr sz="800" spc="145" dirty="0">
                <a:latin typeface="Calibri"/>
                <a:cs typeface="Calibri"/>
              </a:rPr>
              <a:t>zip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210" dirty="0">
                <a:latin typeface="Calibri"/>
                <a:cs typeface="Calibri"/>
              </a:rPr>
              <a:t>file</a:t>
            </a:r>
            <a:r>
              <a:rPr sz="800" spc="475" dirty="0">
                <a:latin typeface="Calibri"/>
                <a:cs typeface="Calibri"/>
              </a:rPr>
              <a:t> </a:t>
            </a:r>
            <a:r>
              <a:rPr sz="800" spc="185" dirty="0">
                <a:latin typeface="Calibri"/>
                <a:cs typeface="Calibri"/>
              </a:rPr>
              <a:t>fileb</a:t>
            </a:r>
            <a:r>
              <a:rPr sz="800" spc="-45" dirty="0">
                <a:latin typeface="Calibri"/>
                <a:cs typeface="Calibri"/>
              </a:rPr>
              <a:t> </a:t>
            </a:r>
            <a:r>
              <a:rPr sz="800" spc="180" dirty="0">
                <a:latin typeface="Calibri"/>
                <a:cs typeface="Calibri"/>
              </a:rPr>
              <a:t>://</a:t>
            </a:r>
            <a:r>
              <a:rPr sz="800" spc="-40" dirty="0">
                <a:latin typeface="Calibri"/>
                <a:cs typeface="Calibri"/>
              </a:rPr>
              <a:t> </a:t>
            </a:r>
            <a:r>
              <a:rPr sz="800" spc="140" dirty="0">
                <a:latin typeface="Calibri"/>
                <a:cs typeface="Calibri"/>
              </a:rPr>
              <a:t>function</a:t>
            </a:r>
            <a:r>
              <a:rPr sz="800" spc="-55" dirty="0">
                <a:latin typeface="Calibri"/>
                <a:cs typeface="Calibri"/>
              </a:rPr>
              <a:t> </a:t>
            </a:r>
            <a:r>
              <a:rPr sz="800" spc="220" dirty="0">
                <a:latin typeface="Calibri"/>
                <a:cs typeface="Calibri"/>
              </a:rPr>
              <a:t>.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150" dirty="0">
                <a:latin typeface="Calibri"/>
                <a:cs typeface="Calibri"/>
              </a:rPr>
              <a:t>zip</a:t>
            </a:r>
            <a:r>
              <a:rPr sz="800" spc="450" dirty="0">
                <a:latin typeface="Calibri"/>
                <a:cs typeface="Calibri"/>
              </a:rPr>
              <a:t> </a:t>
            </a:r>
            <a:r>
              <a:rPr sz="800" spc="55" dirty="0">
                <a:latin typeface="Calibri"/>
                <a:cs typeface="Calibri"/>
              </a:rPr>
              <a:t>\</a:t>
            </a:r>
            <a:endParaRPr sz="800">
              <a:latin typeface="Calibri"/>
              <a:cs typeface="Calibri"/>
            </a:endParaRPr>
          </a:p>
          <a:p>
            <a:pPr marL="48895">
              <a:lnSpc>
                <a:spcPts val="944"/>
              </a:lnSpc>
            </a:pPr>
            <a:r>
              <a:rPr sz="800" spc="235" dirty="0">
                <a:latin typeface="Calibri"/>
                <a:cs typeface="Calibri"/>
              </a:rPr>
              <a:t>-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5" dirty="0">
                <a:latin typeface="Calibri"/>
                <a:cs typeface="Calibri"/>
              </a:rPr>
              <a:t> </a:t>
            </a:r>
            <a:r>
              <a:rPr sz="800" spc="120" dirty="0">
                <a:latin typeface="Calibri"/>
                <a:cs typeface="Calibri"/>
              </a:rPr>
              <a:t>handler</a:t>
            </a:r>
            <a:r>
              <a:rPr sz="800" spc="465" dirty="0">
                <a:latin typeface="Calibri"/>
                <a:cs typeface="Calibri"/>
              </a:rPr>
              <a:t> </a:t>
            </a:r>
            <a:r>
              <a:rPr sz="800" spc="150" dirty="0">
                <a:latin typeface="Calibri"/>
                <a:cs typeface="Calibri"/>
              </a:rPr>
              <a:t>index.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120" dirty="0">
                <a:latin typeface="Calibri"/>
                <a:cs typeface="Calibri"/>
              </a:rPr>
              <a:t>handler</a:t>
            </a:r>
            <a:r>
              <a:rPr sz="800" spc="445" dirty="0">
                <a:latin typeface="Calibri"/>
                <a:cs typeface="Calibri"/>
              </a:rPr>
              <a:t> </a:t>
            </a:r>
            <a:r>
              <a:rPr sz="800" spc="55" dirty="0">
                <a:latin typeface="Calibri"/>
                <a:cs typeface="Calibri"/>
              </a:rPr>
              <a:t>\</a:t>
            </a:r>
            <a:endParaRPr sz="800">
              <a:latin typeface="Calibri"/>
              <a:cs typeface="Calibri"/>
            </a:endParaRPr>
          </a:p>
          <a:p>
            <a:pPr marL="48895">
              <a:lnSpc>
                <a:spcPts val="944"/>
              </a:lnSpc>
            </a:pPr>
            <a:r>
              <a:rPr sz="800" spc="235" dirty="0">
                <a:latin typeface="Calibri"/>
                <a:cs typeface="Calibri"/>
              </a:rPr>
              <a:t>-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5" dirty="0">
                <a:latin typeface="Calibri"/>
                <a:cs typeface="Calibri"/>
              </a:rPr>
              <a:t> </a:t>
            </a:r>
            <a:r>
              <a:rPr sz="800" spc="105" dirty="0">
                <a:latin typeface="Calibri"/>
                <a:cs typeface="Calibri"/>
              </a:rPr>
              <a:t>runtime</a:t>
            </a:r>
            <a:r>
              <a:rPr sz="800" spc="484" dirty="0">
                <a:latin typeface="Calibri"/>
                <a:cs typeface="Calibri"/>
              </a:rPr>
              <a:t> </a:t>
            </a:r>
            <a:r>
              <a:rPr sz="800" spc="110" dirty="0">
                <a:latin typeface="Calibri"/>
                <a:cs typeface="Calibri"/>
              </a:rPr>
              <a:t>nodejs18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220" dirty="0">
                <a:latin typeface="Calibri"/>
                <a:cs typeface="Calibri"/>
              </a:rPr>
              <a:t>.</a:t>
            </a:r>
            <a:r>
              <a:rPr sz="800" spc="-100" dirty="0">
                <a:latin typeface="Calibri"/>
                <a:cs typeface="Calibri"/>
              </a:rPr>
              <a:t> </a:t>
            </a:r>
            <a:r>
              <a:rPr sz="800" spc="70" dirty="0">
                <a:latin typeface="Calibri"/>
                <a:cs typeface="Calibri"/>
              </a:rPr>
              <a:t>x</a:t>
            </a:r>
            <a:r>
              <a:rPr sz="800" spc="425" dirty="0">
                <a:latin typeface="Calibri"/>
                <a:cs typeface="Calibri"/>
              </a:rPr>
              <a:t> </a:t>
            </a:r>
            <a:r>
              <a:rPr sz="800" spc="55" dirty="0">
                <a:latin typeface="Calibri"/>
                <a:cs typeface="Calibri"/>
              </a:rPr>
              <a:t>\</a:t>
            </a:r>
            <a:endParaRPr sz="800">
              <a:latin typeface="Calibri"/>
              <a:cs typeface="Calibri"/>
            </a:endParaRPr>
          </a:p>
          <a:p>
            <a:pPr marL="48895">
              <a:lnSpc>
                <a:spcPts val="955"/>
              </a:lnSpc>
            </a:pPr>
            <a:r>
              <a:rPr sz="800" spc="235" dirty="0">
                <a:latin typeface="Calibri"/>
                <a:cs typeface="Calibri"/>
              </a:rPr>
              <a:t>-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5" dirty="0">
                <a:latin typeface="Calibri"/>
                <a:cs typeface="Calibri"/>
              </a:rPr>
              <a:t> </a:t>
            </a:r>
            <a:r>
              <a:rPr sz="800" spc="145" dirty="0">
                <a:latin typeface="Calibri"/>
                <a:cs typeface="Calibri"/>
              </a:rPr>
              <a:t>role</a:t>
            </a:r>
            <a:r>
              <a:rPr sz="800" spc="475" dirty="0">
                <a:latin typeface="Calibri"/>
                <a:cs typeface="Calibri"/>
              </a:rPr>
              <a:t> </a:t>
            </a:r>
            <a:r>
              <a:rPr sz="800" spc="95" dirty="0">
                <a:latin typeface="Calibri"/>
                <a:cs typeface="Calibri"/>
              </a:rPr>
              <a:t>arn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210" dirty="0">
                <a:latin typeface="Calibri"/>
                <a:cs typeface="Calibri"/>
              </a:rPr>
              <a:t>:</a:t>
            </a:r>
            <a:r>
              <a:rPr sz="800" spc="-75" dirty="0">
                <a:latin typeface="Calibri"/>
                <a:cs typeface="Calibri"/>
              </a:rPr>
              <a:t> </a:t>
            </a:r>
            <a:r>
              <a:rPr sz="800" spc="105" dirty="0">
                <a:latin typeface="Calibri"/>
                <a:cs typeface="Calibri"/>
              </a:rPr>
              <a:t>aws: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55" dirty="0">
                <a:latin typeface="Calibri"/>
                <a:cs typeface="Calibri"/>
              </a:rPr>
              <a:t>iam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spc="114" dirty="0">
                <a:latin typeface="Calibri"/>
                <a:cs typeface="Calibri"/>
              </a:rPr>
              <a:t>::123456789012</a:t>
            </a:r>
            <a:r>
              <a:rPr sz="800" spc="-100" dirty="0">
                <a:latin typeface="Calibri"/>
                <a:cs typeface="Calibri"/>
              </a:rPr>
              <a:t> </a:t>
            </a:r>
            <a:r>
              <a:rPr sz="800" spc="210" dirty="0">
                <a:latin typeface="Calibri"/>
                <a:cs typeface="Calibri"/>
              </a:rPr>
              <a:t>: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145" dirty="0">
                <a:latin typeface="Calibri"/>
                <a:cs typeface="Calibri"/>
              </a:rPr>
              <a:t>role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105" dirty="0">
                <a:latin typeface="Calibri"/>
                <a:cs typeface="Calibri"/>
              </a:rPr>
              <a:t>/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60" dirty="0">
                <a:latin typeface="Calibri"/>
                <a:cs typeface="Calibri"/>
              </a:rPr>
              <a:t>lambda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spc="125" dirty="0">
                <a:latin typeface="Calibri"/>
                <a:cs typeface="Calibri"/>
              </a:rPr>
              <a:t>role</a:t>
            </a:r>
            <a:endParaRPr sz="800">
              <a:latin typeface="Calibri"/>
              <a:cs typeface="Calibri"/>
            </a:endParaRPr>
          </a:p>
          <a:p>
            <a:pPr marL="48260">
              <a:lnSpc>
                <a:spcPts val="955"/>
              </a:lnSpc>
              <a:spcBef>
                <a:spcPts val="935"/>
              </a:spcBef>
            </a:pPr>
            <a:r>
              <a:rPr sz="800" dirty="0">
                <a:latin typeface="Calibri"/>
                <a:cs typeface="Calibri"/>
              </a:rPr>
              <a:t>aws</a:t>
            </a:r>
            <a:r>
              <a:rPr sz="800" spc="490" dirty="0">
                <a:latin typeface="Calibri"/>
                <a:cs typeface="Calibri"/>
              </a:rPr>
              <a:t> </a:t>
            </a:r>
            <a:r>
              <a:rPr sz="800" spc="70" dirty="0">
                <a:latin typeface="Calibri"/>
                <a:cs typeface="Calibri"/>
              </a:rPr>
              <a:t>lambda</a:t>
            </a:r>
            <a:r>
              <a:rPr sz="800" spc="495" dirty="0">
                <a:latin typeface="Calibri"/>
                <a:cs typeface="Calibri"/>
              </a:rPr>
              <a:t> </a:t>
            </a:r>
            <a:r>
              <a:rPr sz="800" spc="114" dirty="0">
                <a:latin typeface="Calibri"/>
                <a:cs typeface="Calibri"/>
              </a:rPr>
              <a:t>invoke</a:t>
            </a:r>
            <a:r>
              <a:rPr sz="800" spc="475" dirty="0">
                <a:latin typeface="Calibri"/>
                <a:cs typeface="Calibri"/>
              </a:rPr>
              <a:t> </a:t>
            </a:r>
            <a:r>
              <a:rPr sz="800" spc="55" dirty="0">
                <a:latin typeface="Calibri"/>
                <a:cs typeface="Calibri"/>
              </a:rPr>
              <a:t>\</a:t>
            </a:r>
            <a:endParaRPr sz="800">
              <a:latin typeface="Calibri"/>
              <a:cs typeface="Calibri"/>
            </a:endParaRPr>
          </a:p>
          <a:p>
            <a:pPr marL="48895">
              <a:lnSpc>
                <a:spcPts val="944"/>
              </a:lnSpc>
            </a:pPr>
            <a:r>
              <a:rPr sz="800" spc="235" dirty="0">
                <a:latin typeface="Calibri"/>
                <a:cs typeface="Calibri"/>
              </a:rPr>
              <a:t>-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80" dirty="0">
                <a:latin typeface="Calibri"/>
                <a:cs typeface="Calibri"/>
              </a:rPr>
              <a:t> </a:t>
            </a:r>
            <a:r>
              <a:rPr sz="800" spc="135" dirty="0">
                <a:latin typeface="Calibri"/>
                <a:cs typeface="Calibri"/>
              </a:rPr>
              <a:t>function</a:t>
            </a:r>
            <a:r>
              <a:rPr sz="800" dirty="0">
                <a:latin typeface="Calibri"/>
                <a:cs typeface="Calibri"/>
              </a:rPr>
              <a:t> 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name</a:t>
            </a:r>
            <a:r>
              <a:rPr sz="800" spc="475" dirty="0">
                <a:latin typeface="Calibri"/>
                <a:cs typeface="Calibri"/>
              </a:rPr>
              <a:t> </a:t>
            </a:r>
            <a:r>
              <a:rPr sz="800" spc="155" dirty="0">
                <a:latin typeface="Calibri"/>
                <a:cs typeface="Calibri"/>
              </a:rPr>
              <a:t>hello</a:t>
            </a:r>
            <a:r>
              <a:rPr sz="800" spc="-105" dirty="0">
                <a:latin typeface="Calibri"/>
                <a:cs typeface="Calibri"/>
              </a:rPr>
              <a:t> </a:t>
            </a:r>
            <a:r>
              <a:rPr sz="800" spc="50" dirty="0">
                <a:latin typeface="Calibri"/>
                <a:cs typeface="Calibri"/>
              </a:rPr>
              <a:t>Lambda</a:t>
            </a:r>
            <a:r>
              <a:rPr sz="800" spc="455" dirty="0">
                <a:latin typeface="Calibri"/>
                <a:cs typeface="Calibri"/>
              </a:rPr>
              <a:t> </a:t>
            </a:r>
            <a:r>
              <a:rPr sz="800" spc="55" dirty="0">
                <a:latin typeface="Calibri"/>
                <a:cs typeface="Calibri"/>
              </a:rPr>
              <a:t>\</a:t>
            </a:r>
            <a:endParaRPr sz="800">
              <a:latin typeface="Calibri"/>
              <a:cs typeface="Calibri"/>
            </a:endParaRPr>
          </a:p>
          <a:p>
            <a:pPr marL="49530" marR="2433320" indent="-635">
              <a:lnSpc>
                <a:spcPts val="950"/>
              </a:lnSpc>
              <a:spcBef>
                <a:spcPts val="30"/>
              </a:spcBef>
            </a:pPr>
            <a:r>
              <a:rPr sz="800" spc="235" dirty="0">
                <a:latin typeface="Calibri"/>
                <a:cs typeface="Calibri"/>
              </a:rPr>
              <a:t>-</a:t>
            </a:r>
            <a:r>
              <a:rPr sz="800" spc="170" dirty="0">
                <a:latin typeface="Calibri"/>
                <a:cs typeface="Calibri"/>
              </a:rPr>
              <a:t>-</a:t>
            </a:r>
            <a:r>
              <a:rPr sz="800" spc="-75" dirty="0">
                <a:latin typeface="Calibri"/>
                <a:cs typeface="Calibri"/>
              </a:rPr>
              <a:t> </a:t>
            </a:r>
            <a:r>
              <a:rPr sz="800" spc="105" dirty="0">
                <a:latin typeface="Calibri"/>
                <a:cs typeface="Calibri"/>
              </a:rPr>
              <a:t>payload</a:t>
            </a:r>
            <a:r>
              <a:rPr sz="800" spc="165" dirty="0">
                <a:latin typeface="Calibri"/>
                <a:cs typeface="Calibri"/>
              </a:rPr>
              <a:t>  </a:t>
            </a:r>
            <a:r>
              <a:rPr sz="800" spc="195" dirty="0">
                <a:latin typeface="Calibri"/>
                <a:cs typeface="Calibri"/>
              </a:rPr>
              <a:t>’{"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85" dirty="0">
                <a:latin typeface="Calibri"/>
                <a:cs typeface="Calibri"/>
              </a:rPr>
              <a:t>key</a:t>
            </a:r>
            <a:r>
              <a:rPr sz="800" spc="-60" dirty="0">
                <a:latin typeface="Calibri"/>
                <a:cs typeface="Calibri"/>
              </a:rPr>
              <a:t> </a:t>
            </a:r>
            <a:r>
              <a:rPr sz="800" spc="180" dirty="0">
                <a:latin typeface="Calibri"/>
                <a:cs typeface="Calibri"/>
              </a:rPr>
              <a:t>":</a:t>
            </a:r>
            <a:r>
              <a:rPr sz="800" spc="434" dirty="0">
                <a:latin typeface="Calibri"/>
                <a:cs typeface="Calibri"/>
              </a:rPr>
              <a:t> </a:t>
            </a:r>
            <a:r>
              <a:rPr sz="800" spc="95" dirty="0">
                <a:latin typeface="Calibri"/>
                <a:cs typeface="Calibri"/>
              </a:rPr>
              <a:t>"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120" dirty="0">
                <a:latin typeface="Calibri"/>
                <a:cs typeface="Calibri"/>
              </a:rPr>
              <a:t>value</a:t>
            </a:r>
            <a:r>
              <a:rPr sz="800" spc="-55" dirty="0">
                <a:latin typeface="Calibri"/>
                <a:cs typeface="Calibri"/>
              </a:rPr>
              <a:t> </a:t>
            </a:r>
            <a:r>
              <a:rPr sz="800" spc="210" dirty="0">
                <a:latin typeface="Calibri"/>
                <a:cs typeface="Calibri"/>
              </a:rPr>
              <a:t>"}’</a:t>
            </a:r>
            <a:r>
              <a:rPr sz="800" spc="425" dirty="0">
                <a:latin typeface="Calibri"/>
                <a:cs typeface="Calibri"/>
              </a:rPr>
              <a:t> </a:t>
            </a:r>
            <a:r>
              <a:rPr sz="800" spc="55" dirty="0">
                <a:latin typeface="Calibri"/>
                <a:cs typeface="Calibri"/>
              </a:rPr>
              <a:t>\ </a:t>
            </a:r>
            <a:r>
              <a:rPr sz="800" spc="140" dirty="0">
                <a:latin typeface="Calibri"/>
                <a:cs typeface="Calibri"/>
              </a:rPr>
              <a:t>output.</a:t>
            </a:r>
            <a:r>
              <a:rPr sz="800" spc="-65" dirty="0">
                <a:latin typeface="Calibri"/>
                <a:cs typeface="Calibri"/>
              </a:rPr>
              <a:t> </a:t>
            </a:r>
            <a:r>
              <a:rPr sz="800" spc="110" dirty="0">
                <a:latin typeface="Calibri"/>
                <a:cs typeface="Calibri"/>
              </a:rPr>
              <a:t>json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  <a:solidFill>
            <a:srgbClr val="00B0F0"/>
          </a:solidFill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61591" y="3351784"/>
            <a:ext cx="12852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Panduan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Lengkap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AWS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CLI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dan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IAM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Best</a:t>
            </a:r>
            <a:r>
              <a:rPr spc="-45" dirty="0"/>
              <a:t> Practices</a:t>
            </a:r>
            <a:r>
              <a:rPr spc="-25" dirty="0"/>
              <a:t> </a:t>
            </a:r>
            <a:r>
              <a:rPr spc="-90" dirty="0"/>
              <a:t>AWS</a:t>
            </a:r>
            <a:r>
              <a:rPr spc="-5" dirty="0"/>
              <a:t> </a:t>
            </a:r>
            <a:r>
              <a:rPr spc="-25" dirty="0"/>
              <a:t>CLI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2875">
              <a:lnSpc>
                <a:spcPct val="125299"/>
              </a:lnSpc>
              <a:spcBef>
                <a:spcPts val="100"/>
              </a:spcBef>
            </a:pPr>
            <a:r>
              <a:rPr spc="-30" dirty="0"/>
              <a:t>Jangan</a:t>
            </a:r>
            <a:r>
              <a:rPr spc="-60" dirty="0"/>
              <a:t> </a:t>
            </a:r>
            <a:r>
              <a:rPr spc="-45" dirty="0"/>
              <a:t>gunakan</a:t>
            </a:r>
            <a:r>
              <a:rPr spc="-40" dirty="0"/>
              <a:t> </a:t>
            </a:r>
            <a:r>
              <a:rPr dirty="0"/>
              <a:t>root</a:t>
            </a:r>
            <a:r>
              <a:rPr spc="-55" dirty="0"/>
              <a:t> </a:t>
            </a:r>
            <a:r>
              <a:rPr spc="-40" dirty="0"/>
              <a:t>account Gunakan</a:t>
            </a:r>
            <a:r>
              <a:rPr spc="-45" dirty="0"/>
              <a:t> </a:t>
            </a:r>
            <a:r>
              <a:rPr spc="-20" dirty="0"/>
              <a:t>least</a:t>
            </a:r>
            <a:r>
              <a:rPr spc="-40" dirty="0"/>
              <a:t> </a:t>
            </a:r>
            <a:r>
              <a:rPr spc="-10" dirty="0"/>
              <a:t>privilege</a:t>
            </a:r>
          </a:p>
          <a:p>
            <a:pPr marL="12700" marR="5080">
              <a:lnSpc>
                <a:spcPct val="125299"/>
              </a:lnSpc>
            </a:pPr>
            <a:r>
              <a:rPr spc="-10" dirty="0"/>
              <a:t>Rotasi</a:t>
            </a:r>
            <a:r>
              <a:rPr spc="-15" dirty="0"/>
              <a:t> </a:t>
            </a:r>
            <a:r>
              <a:rPr spc="-60" dirty="0"/>
              <a:t>access</a:t>
            </a:r>
            <a:r>
              <a:rPr spc="-15" dirty="0"/>
              <a:t> </a:t>
            </a:r>
            <a:r>
              <a:rPr spc="-50" dirty="0"/>
              <a:t>key</a:t>
            </a:r>
            <a:r>
              <a:rPr spc="-15" dirty="0"/>
              <a:t> </a:t>
            </a:r>
            <a:r>
              <a:rPr spc="-60" dirty="0"/>
              <a:t>secara</a:t>
            </a:r>
            <a:r>
              <a:rPr spc="-15" dirty="0"/>
              <a:t> </a:t>
            </a:r>
            <a:r>
              <a:rPr spc="-45" dirty="0"/>
              <a:t>berkala </a:t>
            </a:r>
            <a:r>
              <a:rPr spc="-10" dirty="0"/>
              <a:t>Aktifkan </a:t>
            </a:r>
            <a:r>
              <a:rPr spc="-25" dirty="0"/>
              <a:t>MFA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/>
              <a:t>Audit</a:t>
            </a:r>
            <a:r>
              <a:rPr spc="15" dirty="0"/>
              <a:t> </a:t>
            </a:r>
            <a:r>
              <a:rPr spc="-60" dirty="0"/>
              <a:t>dengan</a:t>
            </a:r>
            <a:r>
              <a:rPr spc="20" dirty="0"/>
              <a:t> </a:t>
            </a:r>
            <a:r>
              <a:rPr spc="-10" dirty="0"/>
              <a:t>CloudTrail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4294967295"/>
          </p:nvPr>
        </p:nvSpPr>
        <p:spPr>
          <a:xfrm>
            <a:off x="0" y="3351213"/>
            <a:ext cx="482600" cy="90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err="1" smtClean="0"/>
              <a:t>Amel</a:t>
            </a:r>
            <a:endParaRPr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4294967295"/>
          </p:nvPr>
        </p:nvSpPr>
        <p:spPr>
          <a:xfrm>
            <a:off x="4356100" y="3351213"/>
            <a:ext cx="254000" cy="103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45362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5539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6542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75459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85492"/>
            <a:ext cx="65265" cy="6526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  <a:solidFill>
            <a:srgbClr val="00B0F0"/>
          </a:solidFill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61591" y="3351784"/>
            <a:ext cx="12852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Panduan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Lengkap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AWS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CLI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dan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IAM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Kesimpulan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4294967295"/>
          </p:nvPr>
        </p:nvSpPr>
        <p:spPr>
          <a:xfrm>
            <a:off x="0" y="3351213"/>
            <a:ext cx="482600" cy="90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dirty="0" err="1" smtClean="0"/>
              <a:t>Amel</a:t>
            </a:r>
            <a:endParaRPr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4356100" y="3351213"/>
            <a:ext cx="254000" cy="103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24165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96934"/>
            <a:ext cx="2461895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dirty="0">
                <a:latin typeface="Tahoma"/>
                <a:cs typeface="Tahoma"/>
              </a:rPr>
              <a:t>AWS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CLI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mempercepat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pengelolaan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cloud </a:t>
            </a:r>
            <a:r>
              <a:rPr sz="1100" dirty="0">
                <a:latin typeface="Tahoma"/>
                <a:cs typeface="Tahoma"/>
              </a:rPr>
              <a:t>IAM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adalah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fondasi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keamanan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akses </a:t>
            </a:r>
            <a:r>
              <a:rPr sz="1100" spc="-40" dirty="0">
                <a:latin typeface="Tahoma"/>
                <a:cs typeface="Tahoma"/>
              </a:rPr>
              <a:t>Gunakan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CLI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secara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efisien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34197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44230"/>
            <a:ext cx="65265" cy="6526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  <a:solidFill>
            <a:srgbClr val="00B0F0"/>
          </a:solidFill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61591" y="3351784"/>
            <a:ext cx="128524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Panduan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Lengkap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AWS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CLI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dan</a:t>
            </a:r>
            <a:r>
              <a:rPr sz="600" spc="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IAM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</TotalTime>
  <Words>736</Words>
  <Application>Microsoft Office PowerPoint</Application>
  <PresentationFormat>Custom</PresentationFormat>
  <Paragraphs>147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 MT</vt:lpstr>
      <vt:lpstr>Calibri</vt:lpstr>
      <vt:lpstr>Calibri Light</vt:lpstr>
      <vt:lpstr>Tahoma</vt:lpstr>
      <vt:lpstr>Trebuchet MS</vt:lpstr>
      <vt:lpstr>Retrospect</vt:lpstr>
      <vt:lpstr>PowerPoint Presentation</vt:lpstr>
      <vt:lpstr>Tujuan Pembelajaran</vt:lpstr>
      <vt:lpstr>Apa itu AWS CLI?</vt:lpstr>
      <vt:lpstr>PowerPoint Presentation</vt:lpstr>
      <vt:lpstr>Instalasi AWS CLI</vt:lpstr>
      <vt:lpstr>Konfigurasi Awal AWS CLI</vt:lpstr>
      <vt:lpstr>Apa itu IAM?</vt:lpstr>
      <vt:lpstr>Membuat IAM User dengan Akses CLI</vt:lpstr>
      <vt:lpstr>Contoh IAM Policy S3</vt:lpstr>
      <vt:lpstr>Struktur File Konfigurasi CLI</vt:lpstr>
      <vt:lpstr>Praktik CLI: S3</vt:lpstr>
      <vt:lpstr>Praktik CLI: EC2</vt:lpstr>
      <vt:lpstr>Praktik CLI: Lambda</vt:lpstr>
      <vt:lpstr>Best Practices AWS CLI</vt:lpstr>
      <vt:lpstr>Kesimpulan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Lengkap AWS CLI dan IAM</dc:title>
  <dc:creator>pds</dc:creator>
  <cp:lastModifiedBy>PDS</cp:lastModifiedBy>
  <cp:revision>3</cp:revision>
  <dcterms:created xsi:type="dcterms:W3CDTF">2026-09-17T08:37:59Z</dcterms:created>
  <dcterms:modified xsi:type="dcterms:W3CDTF">2026-09-17T09:31:54Z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2025-04-23T00:00:00Z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2026-09-17T00:00:00Z</vt:filetime>
  </property>
  <property fmtid="{D5CDD505-2E9C-101B-9397-08002B2CF9AE}" pid="6" name="PTEX.Fullbanner">
    <vt:lpwstr>This is pdfTeX, Version 3.141592653-2.6-1.40.26 (TeX Live 2024) kpathsea version 6.4.0</vt:lpwstr>
  </property>
  <property fmtid="{D5CDD505-2E9C-101B-9397-08002B2CF9AE}" pid="7" name="Producer">
    <vt:lpwstr>pdfTeX-1.40.26</vt:lpwstr>
  </property>
</Properties>
</file>