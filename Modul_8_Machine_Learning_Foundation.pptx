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1A1A1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1111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1A1A1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1111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1588" y="254603"/>
            <a:ext cx="1623695" cy="0"/>
          </a:xfrm>
          <a:custGeom>
            <a:avLst/>
            <a:gdLst/>
            <a:ahLst/>
            <a:cxnLst/>
            <a:rect l="l" t="t" r="r" b="b"/>
            <a:pathLst>
              <a:path w="1623695">
                <a:moveTo>
                  <a:pt x="0" y="0"/>
                </a:moveTo>
                <a:lnTo>
                  <a:pt x="1623101" y="0"/>
                </a:lnTo>
              </a:path>
            </a:pathLst>
          </a:custGeom>
          <a:ln w="21118">
            <a:solidFill>
              <a:srgbClr val="CC6B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1A1A1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1A1A1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7627" y="324065"/>
            <a:ext cx="7798000" cy="5029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1A1A1A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9689" y="2037788"/>
            <a:ext cx="6362700" cy="2067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1111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elcharolinesgn2/AW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7" Type="http://schemas.openxmlformats.org/officeDocument/2006/relationships/image" Target="../media/image47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jp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jpg"/><Relationship Id="rId5" Type="http://schemas.openxmlformats.org/officeDocument/2006/relationships/image" Target="../media/image67.jp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jpg"/><Relationship Id="rId4" Type="http://schemas.openxmlformats.org/officeDocument/2006/relationships/image" Target="../media/image88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5.jpg"/><Relationship Id="rId7" Type="http://schemas.openxmlformats.org/officeDocument/2006/relationships/image" Target="../media/image98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jpg"/><Relationship Id="rId5" Type="http://schemas.openxmlformats.org/officeDocument/2006/relationships/image" Target="../media/image80.png"/><Relationship Id="rId4" Type="http://schemas.openxmlformats.org/officeDocument/2006/relationships/image" Target="../media/image9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g"/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jp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g"/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jpg"/><Relationship Id="rId5" Type="http://schemas.openxmlformats.org/officeDocument/2006/relationships/image" Target="../media/image120.png"/><Relationship Id="rId4" Type="http://schemas.openxmlformats.org/officeDocument/2006/relationships/image" Target="../media/image119.jp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3.jpg"/><Relationship Id="rId7" Type="http://schemas.openxmlformats.org/officeDocument/2006/relationships/image" Target="../media/image127.jpg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jpg"/><Relationship Id="rId7" Type="http://schemas.openxmlformats.org/officeDocument/2006/relationships/image" Target="../media/image139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jpg"/><Relationship Id="rId5" Type="http://schemas.openxmlformats.org/officeDocument/2006/relationships/image" Target="../media/image137.jpg"/><Relationship Id="rId4" Type="http://schemas.openxmlformats.org/officeDocument/2006/relationships/image" Target="../media/image13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jp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04"/>
            <a:ext cx="12166864" cy="684039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308222" y="258571"/>
            <a:ext cx="1378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3735" algn="l"/>
              </a:tabLst>
            </a:pPr>
            <a:r>
              <a:rPr sz="1800" spc="-25" dirty="0">
                <a:solidFill>
                  <a:srgbClr val="262626"/>
                </a:solidFill>
                <a:latin typeface="Arial MT"/>
                <a:cs typeface="Arial MT"/>
              </a:rPr>
              <a:t>aWS</a:t>
            </a:r>
            <a:r>
              <a:rPr sz="1800" dirty="0">
                <a:solidFill>
                  <a:srgbClr val="262626"/>
                </a:solidFill>
                <a:latin typeface="Arial MT"/>
                <a:cs typeface="Arial MT"/>
              </a:rPr>
              <a:t>	</a:t>
            </a:r>
            <a:r>
              <a:rPr sz="1800" spc="-135" dirty="0">
                <a:solidFill>
                  <a:srgbClr val="484848"/>
                </a:solidFill>
                <a:latin typeface="Arial MT"/>
                <a:cs typeface="Arial MT"/>
              </a:rPr>
              <a:t>educate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667000" y="996691"/>
            <a:ext cx="407035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50" baseline="1207" dirty="0">
                <a:solidFill>
                  <a:schemeClr val="bg1"/>
                </a:solidFill>
                <a:latin typeface="Arial MT"/>
                <a:cs typeface="Arial MT"/>
              </a:rPr>
              <a:t>M</a:t>
            </a:r>
            <a:r>
              <a:rPr sz="2300" dirty="0">
                <a:solidFill>
                  <a:schemeClr val="bg1"/>
                </a:solidFill>
                <a:latin typeface="Arial MT"/>
                <a:cs typeface="Arial MT"/>
              </a:rPr>
              <a:t>achine</a:t>
            </a:r>
            <a:r>
              <a:rPr sz="2300" spc="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chemeClr val="bg1"/>
                </a:solidFill>
                <a:latin typeface="Arial MT"/>
                <a:cs typeface="Arial MT"/>
              </a:rPr>
              <a:t>Learning</a:t>
            </a:r>
            <a:r>
              <a:rPr sz="2300" spc="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chemeClr val="bg1"/>
                </a:solidFill>
                <a:latin typeface="Arial MT"/>
                <a:cs typeface="Arial MT"/>
              </a:rPr>
              <a:t>Foundations</a:t>
            </a:r>
            <a:endParaRPr sz="23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97" y="560678"/>
            <a:ext cx="2979420" cy="415498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100" dirty="0">
                <a:solidFill>
                  <a:srgbClr val="0E0E0E"/>
                </a:solidFill>
                <a:latin typeface="Calibri"/>
                <a:cs typeface="Calibri"/>
              </a:rPr>
              <a:t>Module</a:t>
            </a:r>
            <a:r>
              <a:rPr sz="2100" spc="16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2100" spc="35" dirty="0" smtClean="0">
                <a:solidFill>
                  <a:srgbClr val="1C1C1C"/>
                </a:solidFill>
                <a:latin typeface="Calibri"/>
                <a:cs typeface="Calibri"/>
              </a:rPr>
              <a:t>3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9400" y="2895600"/>
            <a:ext cx="8534400" cy="1802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769" marR="490220" indent="-6985">
              <a:lnSpc>
                <a:spcPct val="105900"/>
              </a:lnSpc>
              <a:spcBef>
                <a:spcPts val="100"/>
              </a:spcBef>
            </a:pPr>
            <a:r>
              <a:rPr sz="1700" dirty="0">
                <a:latin typeface="Arial MT"/>
                <a:cs typeface="Arial MT"/>
              </a:rPr>
              <a:t>This</a:t>
            </a:r>
            <a:r>
              <a:rPr sz="1700" spc="1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slide</a:t>
            </a:r>
            <a:r>
              <a:rPr sz="1700" spc="12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was</a:t>
            </a:r>
            <a:r>
              <a:rPr sz="1700" spc="-204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captured</a:t>
            </a:r>
            <a:r>
              <a:rPr sz="1700" spc="1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from</a:t>
            </a:r>
            <a:r>
              <a:rPr sz="1700" spc="60" dirty="0">
                <a:latin typeface="Arial MT"/>
                <a:cs typeface="Arial MT"/>
              </a:rPr>
              <a:t> </a:t>
            </a:r>
            <a:r>
              <a:rPr sz="1700" spc="-114" dirty="0">
                <a:latin typeface="Arial MT"/>
                <a:cs typeface="Arial MT"/>
              </a:rPr>
              <a:t>AWS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Educate </a:t>
            </a:r>
            <a:r>
              <a:rPr sz="1700" dirty="0">
                <a:latin typeface="Arial MT"/>
                <a:cs typeface="Arial MT"/>
              </a:rPr>
              <a:t>Presented</a:t>
            </a:r>
            <a:r>
              <a:rPr sz="1700" spc="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Amel</a:t>
            </a:r>
            <a:endParaRPr sz="17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 dirty="0">
              <a:latin typeface="Arial MT"/>
              <a:cs typeface="Arial MT"/>
            </a:endParaRPr>
          </a:p>
          <a:p>
            <a:pPr marL="26034" marR="5080" indent="-13970">
              <a:lnSpc>
                <a:spcPct val="93100"/>
              </a:lnSpc>
            </a:pPr>
            <a:r>
              <a:rPr sz="1600" i="1" spc="-125" dirty="0">
                <a:solidFill>
                  <a:srgbClr val="1F1F1F"/>
                </a:solidFill>
                <a:latin typeface="Arial"/>
                <a:cs typeface="Arial"/>
              </a:rPr>
              <a:t>Slides</a:t>
            </a:r>
            <a:r>
              <a:rPr sz="1600" i="1" spc="-4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1600" i="1" spc="-10" dirty="0">
                <a:solidFill>
                  <a:srgbClr val="1A1A1A"/>
                </a:solidFill>
                <a:latin typeface="Arial"/>
                <a:cs typeface="Arial"/>
              </a:rPr>
              <a:t>will</a:t>
            </a:r>
            <a:r>
              <a:rPr sz="1600" i="1" spc="-7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600" i="1" spc="-60" dirty="0">
                <a:solidFill>
                  <a:srgbClr val="212121"/>
                </a:solidFill>
                <a:latin typeface="Arial"/>
                <a:cs typeface="Arial"/>
              </a:rPr>
              <a:t>automatically</a:t>
            </a:r>
            <a:r>
              <a:rPr sz="1600" i="1" spc="2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600" i="1" spc="-120" dirty="0">
                <a:solidFill>
                  <a:srgbClr val="0C0C0C"/>
                </a:solidFill>
                <a:latin typeface="Arial"/>
                <a:cs typeface="Arial"/>
              </a:rPr>
              <a:t>play.</a:t>
            </a:r>
            <a:r>
              <a:rPr sz="1600" i="1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i="1" spc="-30" dirty="0">
                <a:solidFill>
                  <a:srgbClr val="2B2B2B"/>
                </a:solidFill>
                <a:latin typeface="Arial"/>
                <a:cs typeface="Arial"/>
              </a:rPr>
              <a:t>If</a:t>
            </a:r>
            <a:r>
              <a:rPr sz="1600" i="1" spc="-8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600" i="1" spc="-95" dirty="0">
                <a:solidFill>
                  <a:srgbClr val="2F2F2F"/>
                </a:solidFill>
                <a:latin typeface="Arial"/>
                <a:cs typeface="Arial"/>
              </a:rPr>
              <a:t>you</a:t>
            </a:r>
            <a:r>
              <a:rPr sz="1600" i="1" spc="-11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600" i="1" spc="-95" dirty="0">
                <a:solidFill>
                  <a:srgbClr val="111111"/>
                </a:solidFill>
                <a:latin typeface="Arial"/>
                <a:cs typeface="Arial"/>
              </a:rPr>
              <a:t>would</a:t>
            </a:r>
            <a:r>
              <a:rPr sz="1600" i="1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600" i="1" spc="-65" dirty="0">
                <a:solidFill>
                  <a:srgbClr val="212121"/>
                </a:solidFill>
                <a:latin typeface="Arial"/>
                <a:cs typeface="Arial"/>
              </a:rPr>
              <a:t>like</a:t>
            </a:r>
            <a:r>
              <a:rPr sz="1600" i="1" spc="-8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600" i="1" spc="-25" dirty="0">
                <a:solidFill>
                  <a:srgbClr val="2D2D2D"/>
                </a:solidFill>
                <a:latin typeface="Arial"/>
                <a:cs typeface="Arial"/>
              </a:rPr>
              <a:t>to</a:t>
            </a:r>
            <a:r>
              <a:rPr sz="1600" i="1" spc="-15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600" i="1" spc="-110" dirty="0">
                <a:solidFill>
                  <a:srgbClr val="262626"/>
                </a:solidFill>
                <a:latin typeface="Arial"/>
                <a:cs typeface="Arial"/>
              </a:rPr>
              <a:t>stop</a:t>
            </a:r>
            <a:r>
              <a:rPr sz="1600" i="1" spc="-6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600" i="1" spc="-25" dirty="0">
                <a:solidFill>
                  <a:srgbClr val="282828"/>
                </a:solidFill>
                <a:latin typeface="Arial"/>
                <a:cs typeface="Arial"/>
              </a:rPr>
              <a:t>the </a:t>
            </a:r>
            <a:r>
              <a:rPr sz="1600" i="1" spc="-75" dirty="0">
                <a:solidFill>
                  <a:srgbClr val="181818"/>
                </a:solidFill>
                <a:latin typeface="Arial"/>
                <a:cs typeface="Arial"/>
              </a:rPr>
              <a:t>outoplay</a:t>
            </a:r>
            <a:r>
              <a:rPr sz="1600" i="1" spc="4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1600" i="1" spc="-85" dirty="0">
                <a:solidFill>
                  <a:srgbClr val="1C1C1C"/>
                </a:solidFill>
                <a:latin typeface="Arial"/>
                <a:cs typeface="Arial"/>
              </a:rPr>
              <a:t>feature</a:t>
            </a:r>
            <a:r>
              <a:rPr sz="1600" i="1" spc="-6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600" i="1" spc="-114" dirty="0">
                <a:solidFill>
                  <a:srgbClr val="1C1C1C"/>
                </a:solidFill>
                <a:latin typeface="Arial"/>
                <a:cs typeface="Arial"/>
              </a:rPr>
              <a:t>seleR</a:t>
            </a:r>
            <a:r>
              <a:rPr sz="1600" i="1" spc="-8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600" i="1" spc="-70" dirty="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sz="1600" i="1" spc="-5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600" i="1" spc="-85" dirty="0">
                <a:solidFill>
                  <a:srgbClr val="0E0E0E"/>
                </a:solidFill>
                <a:latin typeface="Arial"/>
                <a:cs typeface="Arial"/>
              </a:rPr>
              <a:t>autoploy</a:t>
            </a:r>
            <a:r>
              <a:rPr sz="1600" i="1" spc="15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600" i="1" spc="-85" dirty="0">
                <a:solidFill>
                  <a:srgbClr val="1C1C1C"/>
                </a:solidFill>
                <a:latin typeface="Arial"/>
                <a:cs typeface="Arial"/>
              </a:rPr>
              <a:t>toggle.</a:t>
            </a:r>
            <a:r>
              <a:rPr sz="1600" i="1" spc="-14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600" i="1" spc="-190" dirty="0">
                <a:solidFill>
                  <a:srgbClr val="1C1C1C"/>
                </a:solidFill>
                <a:latin typeface="Arial"/>
                <a:cs typeface="Arial"/>
              </a:rPr>
              <a:t>Some</a:t>
            </a:r>
            <a:r>
              <a:rPr sz="1600" i="1" spc="-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600" i="1" spc="-105" dirty="0">
                <a:solidFill>
                  <a:srgbClr val="1F1F1F"/>
                </a:solidFill>
                <a:latin typeface="Arial"/>
                <a:cs typeface="Arial"/>
              </a:rPr>
              <a:t>elements </a:t>
            </a:r>
            <a:r>
              <a:rPr sz="1600" i="1" spc="-114" dirty="0">
                <a:solidFill>
                  <a:srgbClr val="212121"/>
                </a:solidFill>
                <a:latin typeface="Arial"/>
                <a:cs typeface="Arial"/>
              </a:rPr>
              <a:t>on</a:t>
            </a:r>
            <a:r>
              <a:rPr sz="1600" i="1" spc="-8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600" i="1" spc="-180" dirty="0">
                <a:solidFill>
                  <a:srgbClr val="0C0C0C"/>
                </a:solidFill>
                <a:latin typeface="Arial"/>
                <a:cs typeface="Arial"/>
              </a:rPr>
              <a:t>sñdes</a:t>
            </a:r>
            <a:r>
              <a:rPr sz="1600" i="1" spc="-6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i="1" spc="-160" dirty="0">
                <a:solidFill>
                  <a:srgbClr val="212121"/>
                </a:solidFill>
                <a:latin typeface="Arial"/>
                <a:cs typeface="Arial"/>
              </a:rPr>
              <a:t>moy</a:t>
            </a:r>
            <a:r>
              <a:rPr sz="1600" i="1" spc="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600" i="1" spc="-160" dirty="0">
                <a:solidFill>
                  <a:srgbClr val="2A2A2A"/>
                </a:solidFill>
                <a:latin typeface="Arial"/>
                <a:cs typeface="Arial"/>
              </a:rPr>
              <a:t>be</a:t>
            </a:r>
            <a:r>
              <a:rPr sz="1600" i="1" spc="-15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600" i="1" spc="-114" dirty="0">
                <a:solidFill>
                  <a:srgbClr val="161616"/>
                </a:solidFill>
                <a:latin typeface="Arial"/>
                <a:cs typeface="Arial"/>
              </a:rPr>
              <a:t>hidden</a:t>
            </a:r>
            <a:r>
              <a:rPr sz="1600" i="1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600" i="1" spc="-10" dirty="0">
                <a:solidFill>
                  <a:srgbClr val="161616"/>
                </a:solidFill>
                <a:latin typeface="Arial"/>
                <a:cs typeface="Arial"/>
              </a:rPr>
              <a:t>until</a:t>
            </a:r>
            <a:r>
              <a:rPr sz="1600" i="1" spc="-6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600" i="1" spc="-65" dirty="0">
                <a:solidFill>
                  <a:srgbClr val="1A1A1A"/>
                </a:solidFill>
                <a:latin typeface="Arial"/>
                <a:cs typeface="Arial"/>
              </a:rPr>
              <a:t>manually</a:t>
            </a:r>
            <a:r>
              <a:rPr sz="1600" i="1" spc="5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600" i="1" spc="-10" dirty="0">
                <a:solidFill>
                  <a:srgbClr val="242424"/>
                </a:solidFill>
                <a:latin typeface="Arial"/>
                <a:cs typeface="Arial"/>
              </a:rPr>
              <a:t>ployed.</a:t>
            </a:r>
            <a:endParaRPr sz="1600" dirty="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1795"/>
              </a:spcBef>
            </a:pPr>
            <a:r>
              <a:rPr sz="1700" spc="-20" dirty="0">
                <a:solidFill>
                  <a:srgbClr val="0F0F0F"/>
                </a:solidFill>
                <a:latin typeface="Arial MT"/>
                <a:cs typeface="Arial MT"/>
              </a:rPr>
              <a:t>Autoplay</a:t>
            </a:r>
            <a:r>
              <a:rPr sz="1700" spc="-5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31313"/>
                </a:solidFill>
                <a:latin typeface="Arial MT"/>
                <a:cs typeface="Arial MT"/>
              </a:rPr>
              <a:t>slides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41690" y="5716454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https://www.youtube.com/@AmelOline/videos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14085" y="5584717"/>
            <a:ext cx="185884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https://github.com/siagianp</a:t>
            </a:r>
          </a:p>
        </p:txBody>
      </p:sp>
      <p:sp>
        <p:nvSpPr>
          <p:cNvPr id="9" name="Rectangle 8"/>
          <p:cNvSpPr/>
          <p:nvPr/>
        </p:nvSpPr>
        <p:spPr>
          <a:xfrm>
            <a:off x="9246758" y="5867853"/>
            <a:ext cx="27478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681" y="6003237"/>
            <a:ext cx="321594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41690" y="6110959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</a:t>
            </a:r>
            <a:r>
              <a:rPr lang="en-US" sz="800" dirty="0" smtClean="0"/>
              <a:t>github.com/amelcharolinesgn2/CCNA1</a:t>
            </a:r>
            <a:endParaRPr lang="en-US" sz="800" dirty="0"/>
          </a:p>
        </p:txBody>
      </p:sp>
      <p:sp>
        <p:nvSpPr>
          <p:cNvPr id="12" name="Rectangle 11"/>
          <p:cNvSpPr/>
          <p:nvPr/>
        </p:nvSpPr>
        <p:spPr>
          <a:xfrm>
            <a:off x="9241690" y="6241384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/>
              <a:t>https://</a:t>
            </a:r>
            <a:r>
              <a:rPr lang="en-US" sz="800" dirty="0" smtClean="0"/>
              <a:t>github.com/amelcharolinesgn2/CCNA2</a:t>
            </a:r>
            <a:endParaRPr lang="en-US" sz="800" dirty="0"/>
          </a:p>
        </p:txBody>
      </p:sp>
      <p:sp>
        <p:nvSpPr>
          <p:cNvPr id="13" name="Rectangle 12"/>
          <p:cNvSpPr/>
          <p:nvPr/>
        </p:nvSpPr>
        <p:spPr>
          <a:xfrm>
            <a:off x="9241690" y="6339914"/>
            <a:ext cx="275175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" dirty="0">
                <a:hlinkClick r:id="rId3"/>
              </a:rPr>
              <a:t>https://</a:t>
            </a:r>
            <a:r>
              <a:rPr lang="en-US" sz="800" dirty="0" smtClean="0">
                <a:hlinkClick r:id="rId3"/>
              </a:rPr>
              <a:t>github.com/amelcharolinesgn2/AWS</a:t>
            </a:r>
            <a:r>
              <a:rPr lang="en-US" sz="800" dirty="0" smtClean="0"/>
              <a:t> Certificate</a:t>
            </a:r>
            <a:endParaRPr lang="en-US" sz="800" dirty="0"/>
          </a:p>
        </p:txBody>
      </p:sp>
      <p:sp>
        <p:nvSpPr>
          <p:cNvPr id="14" name="object 4"/>
          <p:cNvSpPr txBox="1"/>
          <p:nvPr/>
        </p:nvSpPr>
        <p:spPr>
          <a:xfrm>
            <a:off x="2667000" y="1722081"/>
            <a:ext cx="2979420" cy="438582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665"/>
              </a:spcBef>
            </a:pPr>
            <a:r>
              <a:rPr sz="2250" i="1" spc="-75" dirty="0" smtClean="0">
                <a:solidFill>
                  <a:schemeClr val="bg1"/>
                </a:solidFill>
                <a:latin typeface="Calibri"/>
                <a:cs typeface="Calibri"/>
              </a:rPr>
              <a:t>Machine</a:t>
            </a:r>
            <a:r>
              <a:rPr sz="2250" i="1" spc="-55" dirty="0" smtClean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250" i="1" spc="-30" dirty="0">
                <a:solidFill>
                  <a:srgbClr val="0C0C0C"/>
                </a:solidFill>
                <a:latin typeface="Calibri"/>
                <a:cs typeface="Calibri"/>
              </a:rPr>
              <a:t>Learning</a:t>
            </a:r>
            <a:r>
              <a:rPr sz="2250" i="1" spc="9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2250" i="1" spc="-10" dirty="0">
                <a:solidFill>
                  <a:srgbClr val="111111"/>
                </a:solidFill>
                <a:latin typeface="Calibri"/>
                <a:cs typeface="Calibri"/>
              </a:rPr>
              <a:t>Pipeline</a:t>
            </a:r>
            <a:endParaRPr sz="225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728" y="2951999"/>
            <a:ext cx="7577933" cy="308694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51731" y="259548"/>
            <a:ext cx="1587500" cy="0"/>
          </a:xfrm>
          <a:custGeom>
            <a:avLst/>
            <a:gdLst/>
            <a:ahLst/>
            <a:cxnLst/>
            <a:rect l="l" t="t" r="r" b="b"/>
            <a:pathLst>
              <a:path w="1587500">
                <a:moveTo>
                  <a:pt x="0" y="0"/>
                </a:moveTo>
                <a:lnTo>
                  <a:pt x="1586985" y="0"/>
                </a:lnTo>
              </a:path>
            </a:pathLst>
          </a:custGeom>
          <a:ln w="3175">
            <a:solidFill>
              <a:srgbClr val="E464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72655" y="5228957"/>
            <a:ext cx="2358390" cy="909319"/>
          </a:xfrm>
          <a:prstGeom prst="rect">
            <a:avLst/>
          </a:prstGeom>
          <a:solidFill>
            <a:srgbClr val="163B4D"/>
          </a:solidFill>
        </p:spPr>
        <p:txBody>
          <a:bodyPr vert="horz" wrap="square" lIns="0" tIns="194945" rIns="0" bIns="0" rtlCol="0">
            <a:spAutoFit/>
          </a:bodyPr>
          <a:lstStyle/>
          <a:p>
            <a:pPr marL="262255" marR="266700" indent="19685">
              <a:lnSpc>
                <a:spcPts val="1980"/>
              </a:lnSpc>
              <a:spcBef>
                <a:spcPts val="1535"/>
              </a:spcBef>
            </a:pPr>
            <a:r>
              <a:rPr sz="1800" spc="-200" dirty="0">
                <a:solidFill>
                  <a:srgbClr val="567E90"/>
                </a:solidFill>
                <a:latin typeface="Arial MT"/>
                <a:cs typeface="Arial MT"/>
              </a:rPr>
              <a:t>To</a:t>
            </a:r>
            <a:r>
              <a:rPr sz="1800" spc="-55" dirty="0">
                <a:solidFill>
                  <a:srgbClr val="567E90"/>
                </a:solidFill>
                <a:latin typeface="Arial MT"/>
                <a:cs typeface="Arial MT"/>
              </a:rPr>
              <a:t> </a:t>
            </a:r>
            <a:r>
              <a:rPr sz="1800" spc="-130" dirty="0">
                <a:solidFill>
                  <a:srgbClr val="3D7C93"/>
                </a:solidFill>
                <a:latin typeface="Arial MT"/>
                <a:cs typeface="Arial MT"/>
              </a:rPr>
              <a:t>read</a:t>
            </a:r>
            <a:r>
              <a:rPr sz="1800" spc="-5" dirty="0">
                <a:solidFill>
                  <a:srgbClr val="3D7C93"/>
                </a:solidFill>
                <a:latin typeface="Arial MT"/>
                <a:cs typeface="Arial MT"/>
              </a:rPr>
              <a:t> </a:t>
            </a:r>
            <a:r>
              <a:rPr sz="1800" spc="-45" dirty="0">
                <a:solidFill>
                  <a:srgbClr val="365B6B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365B6B"/>
                </a:solidFill>
                <a:latin typeface="Arial MT"/>
                <a:cs typeface="Arial MT"/>
              </a:rPr>
              <a:t> </a:t>
            </a:r>
            <a:r>
              <a:rPr sz="1800" spc="-60" dirty="0">
                <a:solidFill>
                  <a:srgbClr val="C4F0FB"/>
                </a:solidFill>
                <a:latin typeface="Arial MT"/>
                <a:cs typeface="Arial MT"/>
              </a:rPr>
              <a:t>module </a:t>
            </a:r>
            <a:r>
              <a:rPr sz="1800" spc="-90" dirty="0">
                <a:solidFill>
                  <a:srgbClr val="FFFFFF"/>
                </a:solidFill>
                <a:latin typeface="Arial MT"/>
                <a:cs typeface="Arial MT"/>
              </a:rPr>
              <a:t>objectives</a:t>
            </a:r>
            <a:r>
              <a:rPr sz="18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85" dirty="0">
                <a:solidFill>
                  <a:srgbClr val="95AAC3"/>
                </a:solidFill>
                <a:latin typeface="Arial MT"/>
                <a:cs typeface="Arial MT"/>
              </a:rPr>
              <a:t>click</a:t>
            </a:r>
            <a:r>
              <a:rPr sz="1800" spc="-25" dirty="0">
                <a:solidFill>
                  <a:srgbClr val="95AAC3"/>
                </a:solidFill>
                <a:latin typeface="Arial MT"/>
                <a:cs typeface="Arial MT"/>
              </a:rPr>
              <a:t> </a:t>
            </a:r>
            <a:r>
              <a:rPr sz="1800" spc="-130" dirty="0">
                <a:solidFill>
                  <a:srgbClr val="26505E"/>
                </a:solidFill>
                <a:latin typeface="Arial MT"/>
                <a:cs typeface="Arial MT"/>
              </a:rPr>
              <a:t>here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10"/>
              </a:spcBef>
            </a:pPr>
            <a:r>
              <a:rPr sz="2400" spc="-10" dirty="0">
                <a:solidFill>
                  <a:srgbClr val="1C1C1C"/>
                </a:solidFill>
                <a:latin typeface="Calibri"/>
                <a:cs typeface="Calibri"/>
              </a:rPr>
              <a:t>Introduction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30" y="1191582"/>
            <a:ext cx="11218545" cy="131762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5240" marR="5080" indent="-2540">
              <a:lnSpc>
                <a:spcPts val="1980"/>
              </a:lnSpc>
              <a:spcBef>
                <a:spcPts val="335"/>
              </a:spcBef>
            </a:pPr>
            <a:r>
              <a:rPr sz="1800" dirty="0">
                <a:solidFill>
                  <a:srgbClr val="212121"/>
                </a:solidFill>
                <a:latin typeface="Calibri"/>
                <a:cs typeface="Calibri"/>
              </a:rPr>
              <a:t>To</a:t>
            </a:r>
            <a:r>
              <a:rPr sz="1800" spc="-1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F2F2F"/>
                </a:solidFill>
                <a:latin typeface="Calibri"/>
                <a:cs typeface="Calibri"/>
              </a:rPr>
              <a:t>begin</a:t>
            </a:r>
            <a:r>
              <a:rPr sz="1800" spc="-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A1A1A"/>
                </a:solidFill>
                <a:latin typeface="Calibri"/>
                <a:cs typeface="Calibri"/>
              </a:rPr>
              <a:t>your</a:t>
            </a:r>
            <a:r>
              <a:rPr sz="1800" spc="-5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00" spc="-40" dirty="0">
                <a:solidFill>
                  <a:srgbClr val="1A1A1A"/>
                </a:solidFill>
                <a:latin typeface="Calibri"/>
                <a:cs typeface="Calibri"/>
              </a:rPr>
              <a:t>journey,</a:t>
            </a:r>
            <a:r>
              <a:rPr sz="1800" spc="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61616"/>
                </a:solidFill>
                <a:latin typeface="Calibri"/>
                <a:cs typeface="Calibri"/>
              </a:rPr>
              <a:t>it's</a:t>
            </a:r>
            <a:r>
              <a:rPr sz="1800" spc="-7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A1A1A"/>
                </a:solidFill>
                <a:latin typeface="Calibri"/>
                <a:cs typeface="Calibri"/>
              </a:rPr>
              <a:t>important</a:t>
            </a:r>
            <a:r>
              <a:rPr sz="1800" spc="-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D2D2D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111111"/>
                </a:solidFill>
                <a:latin typeface="Calibri"/>
                <a:cs typeface="Calibri"/>
              </a:rPr>
              <a:t>understand</a:t>
            </a:r>
            <a:r>
              <a:rPr sz="1800" spc="6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131313"/>
                </a:solidFill>
                <a:latin typeface="Calibri"/>
                <a:cs typeface="Calibri"/>
              </a:rPr>
              <a:t>components</a:t>
            </a:r>
            <a:r>
              <a:rPr sz="1800" spc="2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11111"/>
                </a:solidFill>
                <a:latin typeface="Calibri"/>
                <a:cs typeface="Calibri"/>
              </a:rPr>
              <a:t>that</a:t>
            </a:r>
            <a:r>
              <a:rPr sz="1800" spc="-5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Calibri"/>
                <a:cs typeface="Calibri"/>
              </a:rPr>
              <a:t>make</a:t>
            </a:r>
            <a:r>
              <a:rPr sz="1800" spc="-6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12121"/>
                </a:solidFill>
                <a:latin typeface="Calibri"/>
                <a:cs typeface="Calibri"/>
              </a:rPr>
              <a:t>up</a:t>
            </a:r>
            <a:r>
              <a:rPr sz="1800" spc="-7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sz="1800" spc="-9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81818"/>
                </a:solidFill>
                <a:latin typeface="Calibri"/>
                <a:cs typeface="Calibri"/>
              </a:rPr>
              <a:t>machine</a:t>
            </a:r>
            <a:r>
              <a:rPr sz="1800" spc="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61616"/>
                </a:solidFill>
                <a:latin typeface="Calibri"/>
                <a:cs typeface="Calibri"/>
              </a:rPr>
              <a:t>learning</a:t>
            </a:r>
            <a:r>
              <a:rPr sz="1800" spc="8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800" spc="-55" dirty="0">
                <a:solidFill>
                  <a:srgbClr val="1F1F1F"/>
                </a:solidFill>
                <a:latin typeface="Calibri"/>
                <a:cs typeface="Calibri"/>
              </a:rPr>
              <a:t>(ML)</a:t>
            </a:r>
            <a:r>
              <a:rPr sz="18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C0C0C"/>
                </a:solidFill>
                <a:latin typeface="Calibri"/>
                <a:cs typeface="Calibri"/>
              </a:rPr>
              <a:t>pipeline.</a:t>
            </a:r>
            <a:r>
              <a:rPr sz="1800" spc="5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32323"/>
                </a:solidFill>
                <a:latin typeface="Calibri"/>
                <a:cs typeface="Calibri"/>
              </a:rPr>
              <a:t>The </a:t>
            </a:r>
            <a:r>
              <a:rPr sz="1800" spc="-30" dirty="0">
                <a:solidFill>
                  <a:srgbClr val="1F1F1F"/>
                </a:solidFill>
                <a:latin typeface="Calibri"/>
                <a:cs typeface="Calibri"/>
              </a:rPr>
              <a:t>machine</a:t>
            </a:r>
            <a:r>
              <a:rPr sz="18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11111"/>
                </a:solidFill>
                <a:latin typeface="Calibri"/>
                <a:cs typeface="Calibri"/>
              </a:rPr>
              <a:t>learning</a:t>
            </a:r>
            <a:r>
              <a:rPr sz="1800" spc="3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A1A1A"/>
                </a:solidFill>
                <a:latin typeface="Calibri"/>
                <a:cs typeface="Calibri"/>
              </a:rPr>
              <a:t>pipeline</a:t>
            </a:r>
            <a:r>
              <a:rPr sz="1800" spc="4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42424"/>
                </a:solidFill>
                <a:latin typeface="Calibri"/>
                <a:cs typeface="Calibri"/>
              </a:rPr>
              <a:t>is</a:t>
            </a:r>
            <a:r>
              <a:rPr sz="1800" spc="-7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81818"/>
                </a:solidFill>
                <a:latin typeface="Calibri"/>
                <a:cs typeface="Calibri"/>
              </a:rPr>
              <a:t>the</a:t>
            </a:r>
            <a:r>
              <a:rPr sz="1800" spc="-5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31313"/>
                </a:solidFill>
                <a:latin typeface="Calibri"/>
                <a:cs typeface="Calibri"/>
              </a:rPr>
              <a:t>typical</a:t>
            </a:r>
            <a:r>
              <a:rPr sz="1800" spc="-2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11111"/>
                </a:solidFill>
                <a:latin typeface="Calibri"/>
                <a:cs typeface="Calibri"/>
              </a:rPr>
              <a:t>workflow</a:t>
            </a:r>
            <a:r>
              <a:rPr sz="1800" spc="5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1C1C"/>
                </a:solidFill>
                <a:latin typeface="Calibri"/>
                <a:cs typeface="Calibri"/>
              </a:rPr>
              <a:t>for</a:t>
            </a:r>
            <a:r>
              <a:rPr sz="1800" spc="-6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C0C0C"/>
                </a:solidFill>
                <a:latin typeface="Calibri"/>
                <a:cs typeface="Calibri"/>
              </a:rPr>
              <a:t>solving</a:t>
            </a:r>
            <a:r>
              <a:rPr sz="1800" spc="8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42424"/>
                </a:solidFill>
                <a:latin typeface="Calibri"/>
                <a:cs typeface="Calibri"/>
              </a:rPr>
              <a:t>a</a:t>
            </a:r>
            <a:r>
              <a:rPr sz="1800" spc="-9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11111"/>
                </a:solidFill>
                <a:latin typeface="Calibri"/>
                <a:cs typeface="Calibri"/>
              </a:rPr>
              <a:t>business</a:t>
            </a:r>
            <a:r>
              <a:rPr sz="1800" spc="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0F0F"/>
                </a:solidFill>
                <a:latin typeface="Calibri"/>
                <a:cs typeface="Calibri"/>
              </a:rPr>
              <a:t>problem.</a:t>
            </a:r>
            <a:endParaRPr sz="1800">
              <a:latin typeface="Calibri"/>
              <a:cs typeface="Calibri"/>
            </a:endParaRPr>
          </a:p>
          <a:p>
            <a:pPr marL="18415" marR="1196340" indent="-6350">
              <a:lnSpc>
                <a:spcPts val="1980"/>
              </a:lnSpc>
              <a:spcBef>
                <a:spcPts val="2065"/>
              </a:spcBef>
            </a:pPr>
            <a:r>
              <a:rPr sz="1700" dirty="0">
                <a:solidFill>
                  <a:srgbClr val="2A2A2A"/>
                </a:solidFill>
                <a:latin typeface="Arial MT"/>
                <a:cs typeface="Arial MT"/>
              </a:rPr>
              <a:t>In</a:t>
            </a:r>
            <a:r>
              <a:rPr sz="1700" spc="-12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this</a:t>
            </a:r>
            <a:r>
              <a:rPr sz="1700" spc="-1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1A1A1A"/>
                </a:solidFill>
                <a:latin typeface="Arial MT"/>
                <a:cs typeface="Arial MT"/>
              </a:rPr>
              <a:t>section,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212121"/>
                </a:solidFill>
                <a:latin typeface="Arial MT"/>
                <a:cs typeface="Arial MT"/>
              </a:rPr>
              <a:t>you</a:t>
            </a:r>
            <a:r>
              <a:rPr sz="17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will</a:t>
            </a:r>
            <a:r>
              <a:rPr sz="1700" spc="-130" dirty="0"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get</a:t>
            </a:r>
            <a:r>
              <a:rPr sz="17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235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700" spc="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0F0F0F"/>
                </a:solidFill>
                <a:latin typeface="Arial MT"/>
                <a:cs typeface="Arial MT"/>
              </a:rPr>
              <a:t>high-</a:t>
            </a:r>
            <a:r>
              <a:rPr sz="1700" dirty="0">
                <a:solidFill>
                  <a:srgbClr val="0F0F0F"/>
                </a:solidFill>
                <a:latin typeface="Arial MT"/>
                <a:cs typeface="Arial MT"/>
              </a:rPr>
              <a:t>level</a:t>
            </a:r>
            <a:r>
              <a:rPr sz="1700" spc="3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151515"/>
                </a:solidFill>
                <a:latin typeface="Arial MT"/>
                <a:cs typeface="Arial MT"/>
              </a:rPr>
              <a:t>overview</a:t>
            </a:r>
            <a:r>
              <a:rPr sz="1700" spc="8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of</a:t>
            </a:r>
            <a:r>
              <a:rPr sz="1700" spc="-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the</a:t>
            </a:r>
            <a:r>
              <a:rPr sz="1700" spc="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51515"/>
                </a:solidFill>
                <a:latin typeface="Arial MT"/>
                <a:cs typeface="Arial MT"/>
              </a:rPr>
              <a:t>workflow</a:t>
            </a:r>
            <a:r>
              <a:rPr sz="1700" spc="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282828"/>
                </a:solidFill>
                <a:latin typeface="Arial MT"/>
                <a:cs typeface="Arial MT"/>
              </a:rPr>
              <a:t>and</a:t>
            </a:r>
            <a:r>
              <a:rPr sz="1700" spc="-1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700" spc="-125" dirty="0">
                <a:solidFill>
                  <a:srgbClr val="1F1F1F"/>
                </a:solidFill>
                <a:latin typeface="Arial MT"/>
                <a:cs typeface="Arial MT"/>
              </a:rPr>
              <a:t>an</a:t>
            </a:r>
            <a:r>
              <a:rPr sz="1700" spc="-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understanding</a:t>
            </a:r>
            <a:r>
              <a:rPr sz="1700" spc="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of</a:t>
            </a:r>
            <a:r>
              <a:rPr sz="1700" spc="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95" dirty="0">
                <a:solidFill>
                  <a:srgbClr val="0C0C0C"/>
                </a:solidFill>
                <a:latin typeface="Arial MT"/>
                <a:cs typeface="Arial MT"/>
              </a:rPr>
              <a:t>basic</a:t>
            </a:r>
            <a:r>
              <a:rPr sz="1700" spc="7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spc="-85" dirty="0">
                <a:solidFill>
                  <a:srgbClr val="111111"/>
                </a:solidFill>
                <a:latin typeface="Arial MT"/>
                <a:cs typeface="Arial MT"/>
              </a:rPr>
              <a:t>steps</a:t>
            </a:r>
            <a:r>
              <a:rPr sz="17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for </a:t>
            </a:r>
            <a:r>
              <a:rPr sz="1700" spc="-10" dirty="0">
                <a:solidFill>
                  <a:srgbClr val="0F0F0F"/>
                </a:solidFill>
                <a:latin typeface="Arial MT"/>
                <a:cs typeface="Arial MT"/>
              </a:rPr>
              <a:t>implementation.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5854" y="2883050"/>
            <a:ext cx="121856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dirty="0">
                <a:solidFill>
                  <a:srgbClr val="212121"/>
                </a:solidFill>
                <a:latin typeface="Calibri"/>
                <a:cs typeface="Calibri"/>
              </a:rPr>
              <a:t>Business</a:t>
            </a:r>
            <a:r>
              <a:rPr sz="1300" spc="-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63636"/>
                </a:solidFill>
                <a:latin typeface="Calibri"/>
                <a:cs typeface="Calibri"/>
              </a:rPr>
              <a:t>problem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94399" y="2901800"/>
            <a:ext cx="141605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65" dirty="0">
                <a:solidFill>
                  <a:srgbClr val="232323"/>
                </a:solidFill>
                <a:latin typeface="Calibri"/>
                <a:cs typeface="Calibri"/>
              </a:rPr>
              <a:t>New</a:t>
            </a:r>
            <a:r>
              <a:rPr sz="1150" spc="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50" spc="50" dirty="0">
                <a:solidFill>
                  <a:srgbClr val="313131"/>
                </a:solidFill>
                <a:latin typeface="Calibri"/>
                <a:cs typeface="Calibri"/>
              </a:rPr>
              <a:t>data,</a:t>
            </a:r>
            <a:r>
              <a:rPr sz="1150" spc="17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F1F1F"/>
                </a:solidFill>
                <a:latin typeface="Calibri"/>
                <a:cs typeface="Calibri"/>
              </a:rPr>
              <a:t>retraining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79821" y="5358004"/>
            <a:ext cx="154686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0" dirty="0">
                <a:solidFill>
                  <a:srgbClr val="181818"/>
                </a:solidFill>
                <a:latin typeface="Calibri"/>
                <a:cs typeface="Calibri"/>
              </a:rPr>
              <a:t>Feature </a:t>
            </a:r>
            <a:r>
              <a:rPr sz="1300" spc="-10" dirty="0">
                <a:solidFill>
                  <a:srgbClr val="1A1A1A"/>
                </a:solidFill>
                <a:latin typeface="Calibri"/>
                <a:cs typeface="Calibri"/>
              </a:rPr>
              <a:t>augmentation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19831" y="5699998"/>
            <a:ext cx="134874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dirty="0">
                <a:solidFill>
                  <a:srgbClr val="1F1F1F"/>
                </a:solidFill>
                <a:latin typeface="Calibri"/>
                <a:cs typeface="Calibri"/>
              </a:rPr>
              <a:t>Data</a:t>
            </a:r>
            <a:r>
              <a:rPr sz="1300" spc="8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C1C1C"/>
                </a:solidFill>
                <a:latin typeface="Calibri"/>
                <a:cs typeface="Calibri"/>
              </a:rPr>
              <a:t>augmentation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72426" y="3864032"/>
            <a:ext cx="246379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25" dirty="0">
                <a:solidFill>
                  <a:srgbClr val="282828"/>
                </a:solidFill>
                <a:latin typeface="Calibri"/>
                <a:cs typeface="Calibri"/>
              </a:rPr>
              <a:t>Yes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014" y="983725"/>
            <a:ext cx="0" cy="5286375"/>
          </a:xfrm>
          <a:custGeom>
            <a:avLst/>
            <a:gdLst/>
            <a:ahLst/>
            <a:cxnLst/>
            <a:rect l="l" t="t" r="r" b="b"/>
            <a:pathLst>
              <a:path h="5286375">
                <a:moveTo>
                  <a:pt x="0" y="5286309"/>
                </a:moveTo>
                <a:lnTo>
                  <a:pt x="0" y="0"/>
                </a:lnTo>
              </a:path>
            </a:pathLst>
          </a:custGeom>
          <a:ln w="3175">
            <a:solidFill>
              <a:srgbClr val="444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08501" y="811246"/>
            <a:ext cx="11541125" cy="5459095"/>
            <a:chOff x="408501" y="811246"/>
            <a:chExt cx="11541125" cy="5459095"/>
          </a:xfrm>
        </p:grpSpPr>
        <p:sp>
          <p:nvSpPr>
            <p:cNvPr id="4" name="object 4"/>
            <p:cNvSpPr/>
            <p:nvPr/>
          </p:nvSpPr>
          <p:spPr>
            <a:xfrm>
              <a:off x="11820814" y="811246"/>
              <a:ext cx="0" cy="5459095"/>
            </a:xfrm>
            <a:custGeom>
              <a:avLst/>
              <a:gdLst/>
              <a:ahLst/>
              <a:cxnLst/>
              <a:rect l="l" t="t" r="r" b="b"/>
              <a:pathLst>
                <a:path h="5459095">
                  <a:moveTo>
                    <a:pt x="0" y="54587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44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8501" y="6259443"/>
              <a:ext cx="11432540" cy="0"/>
            </a:xfrm>
            <a:custGeom>
              <a:avLst/>
              <a:gdLst/>
              <a:ahLst/>
              <a:cxnLst/>
              <a:rect l="l" t="t" r="r" b="b"/>
              <a:pathLst>
                <a:path w="11432540">
                  <a:moveTo>
                    <a:pt x="0" y="0"/>
                  </a:moveTo>
                  <a:lnTo>
                    <a:pt x="11431984" y="0"/>
                  </a:lnTo>
                </a:path>
              </a:pathLst>
            </a:custGeom>
            <a:ln w="3175">
              <a:solidFill>
                <a:srgbClr val="444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8501" y="958004"/>
              <a:ext cx="11541125" cy="0"/>
            </a:xfrm>
            <a:custGeom>
              <a:avLst/>
              <a:gdLst/>
              <a:ahLst/>
              <a:cxnLst/>
              <a:rect l="l" t="t" r="r" b="b"/>
              <a:pathLst>
                <a:path w="11541125">
                  <a:moveTo>
                    <a:pt x="0" y="0"/>
                  </a:moveTo>
                  <a:lnTo>
                    <a:pt x="11540918" y="0"/>
                  </a:lnTo>
                </a:path>
              </a:pathLst>
            </a:custGeom>
            <a:ln w="3175">
              <a:solidFill>
                <a:srgbClr val="444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462968" y="277170"/>
            <a:ext cx="1655445" cy="0"/>
          </a:xfrm>
          <a:custGeom>
            <a:avLst/>
            <a:gdLst/>
            <a:ahLst/>
            <a:cxnLst/>
            <a:rect l="l" t="t" r="r" b="b"/>
            <a:pathLst>
              <a:path w="1655445">
                <a:moveTo>
                  <a:pt x="0" y="0"/>
                </a:moveTo>
                <a:lnTo>
                  <a:pt x="1655186" y="0"/>
                </a:lnTo>
              </a:path>
            </a:pathLst>
          </a:custGeom>
          <a:ln w="21181">
            <a:solidFill>
              <a:srgbClr val="AC57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823" y="6587757"/>
            <a:ext cx="3077376" cy="81700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30"/>
              </a:spcBef>
            </a:pPr>
            <a:r>
              <a:rPr sz="2300" spc="50" dirty="0">
                <a:solidFill>
                  <a:srgbClr val="1D1D1D"/>
                </a:solidFill>
                <a:latin typeface="Arial MT"/>
                <a:cs typeface="Arial MT"/>
              </a:rPr>
              <a:t>Introduction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1312" y="1126608"/>
            <a:ext cx="4114165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solidFill>
                  <a:srgbClr val="1A1A1A"/>
                </a:solidFill>
                <a:latin typeface="Calibri"/>
                <a:cs typeface="Calibri"/>
              </a:rPr>
              <a:t>By</a:t>
            </a:r>
            <a:r>
              <a:rPr sz="1800" spc="-8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1C1C"/>
                </a:solidFill>
                <a:latin typeface="Calibri"/>
                <a:cs typeface="Calibri"/>
              </a:rPr>
              <a:t>end</a:t>
            </a:r>
            <a:r>
              <a:rPr sz="1800" spc="-5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A2A2A"/>
                </a:solidFill>
                <a:latin typeface="Calibri"/>
                <a:cs typeface="Calibri"/>
              </a:rPr>
              <a:t>of</a:t>
            </a:r>
            <a:r>
              <a:rPr sz="1800" spc="-2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A1A1A"/>
                </a:solidFill>
                <a:latin typeface="Calibri"/>
                <a:cs typeface="Calibri"/>
              </a:rPr>
              <a:t>this </a:t>
            </a:r>
            <a:r>
              <a:rPr sz="1800" spc="-25" dirty="0">
                <a:solidFill>
                  <a:srgbClr val="282828"/>
                </a:solidFill>
                <a:latin typeface="Calibri"/>
                <a:cs typeface="Calibri"/>
              </a:rPr>
              <a:t>course</a:t>
            </a:r>
            <a:r>
              <a:rPr sz="1800" spc="8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61616"/>
                </a:solidFill>
                <a:latin typeface="Calibri"/>
                <a:cs typeface="Calibri"/>
              </a:rPr>
              <a:t>you</a:t>
            </a:r>
            <a:r>
              <a:rPr sz="1800" spc="-2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31313"/>
                </a:solidFill>
                <a:latin typeface="Calibri"/>
                <a:cs typeface="Calibri"/>
              </a:rPr>
              <a:t>will</a:t>
            </a:r>
            <a:r>
              <a:rPr sz="1800" spc="-10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61616"/>
                </a:solidFill>
                <a:latin typeface="Calibri"/>
                <a:cs typeface="Calibri"/>
              </a:rPr>
              <a:t>be</a:t>
            </a:r>
            <a:r>
              <a:rPr sz="1800" spc="-2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61616"/>
                </a:solidFill>
                <a:latin typeface="Calibri"/>
                <a:cs typeface="Calibri"/>
              </a:rPr>
              <a:t>able</a:t>
            </a:r>
            <a:r>
              <a:rPr sz="1800" spc="5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81818"/>
                </a:solidFill>
                <a:latin typeface="Calibri"/>
                <a:cs typeface="Calibri"/>
              </a:rPr>
              <a:t>to: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8824" y="1647574"/>
            <a:ext cx="6396355" cy="18256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1290" indent="-148590">
              <a:lnSpc>
                <a:spcPts val="2020"/>
              </a:lnSpc>
              <a:spcBef>
                <a:spcPts val="135"/>
              </a:spcBef>
              <a:buClr>
                <a:srgbClr val="232323"/>
              </a:buClr>
              <a:buChar char="•"/>
              <a:tabLst>
                <a:tab pos="161290" algn="l"/>
              </a:tabLst>
            </a:pPr>
            <a:r>
              <a:rPr sz="1700" spc="-105" dirty="0">
                <a:solidFill>
                  <a:srgbClr val="1A1A1A"/>
                </a:solidFill>
                <a:latin typeface="Arial MT"/>
                <a:cs typeface="Arial MT"/>
              </a:rPr>
              <a:t>Discuss</a:t>
            </a:r>
            <a:r>
              <a:rPr sz="17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700" spc="-8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machine</a:t>
            </a:r>
            <a:r>
              <a:rPr sz="1700" spc="-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learning</a:t>
            </a:r>
            <a:r>
              <a:rPr sz="1700" spc="-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0F0F"/>
                </a:solidFill>
                <a:latin typeface="Arial MT"/>
                <a:cs typeface="Arial MT"/>
              </a:rPr>
              <a:t>pipeline</a:t>
            </a:r>
            <a:endParaRPr sz="1700">
              <a:latin typeface="Arial MT"/>
              <a:cs typeface="Arial MT"/>
            </a:endParaRPr>
          </a:p>
          <a:p>
            <a:pPr marL="161290" indent="-148590">
              <a:lnSpc>
                <a:spcPts val="2010"/>
              </a:lnSpc>
              <a:buClr>
                <a:srgbClr val="2A2A2A"/>
              </a:buClr>
              <a:buChar char="•"/>
              <a:tabLst>
                <a:tab pos="161290" algn="l"/>
              </a:tabLst>
            </a:pPr>
            <a:r>
              <a:rPr sz="1700" spc="-80" dirty="0">
                <a:solidFill>
                  <a:srgbClr val="1D1D1D"/>
                </a:solidFill>
                <a:latin typeface="Arial MT"/>
                <a:cs typeface="Arial MT"/>
              </a:rPr>
              <a:t>Describe</a:t>
            </a:r>
            <a:r>
              <a:rPr sz="1700" spc="-3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C0C0C"/>
                </a:solidFill>
                <a:latin typeface="Arial MT"/>
                <a:cs typeface="Arial MT"/>
              </a:rPr>
              <a:t>problem</a:t>
            </a:r>
            <a:r>
              <a:rPr sz="1700" spc="-2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D1D1D"/>
                </a:solidFill>
                <a:latin typeface="Arial MT"/>
                <a:cs typeface="Arial MT"/>
              </a:rPr>
              <a:t>formulation</a:t>
            </a:r>
            <a:endParaRPr sz="1700">
              <a:latin typeface="Arial MT"/>
              <a:cs typeface="Arial MT"/>
            </a:endParaRPr>
          </a:p>
          <a:p>
            <a:pPr marL="161290" indent="-148590">
              <a:lnSpc>
                <a:spcPts val="2090"/>
              </a:lnSpc>
              <a:buClr>
                <a:srgbClr val="181818"/>
              </a:buClr>
              <a:buChar char="•"/>
              <a:tabLst>
                <a:tab pos="161290" algn="l"/>
              </a:tabLst>
            </a:pPr>
            <a:r>
              <a:rPr sz="1750" spc="-100" dirty="0">
                <a:solidFill>
                  <a:srgbClr val="0F0F0F"/>
                </a:solidFill>
                <a:latin typeface="Arial MT"/>
                <a:cs typeface="Arial MT"/>
              </a:rPr>
              <a:t>Describe</a:t>
            </a:r>
            <a:r>
              <a:rPr sz="1750" spc="-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r>
              <a:rPr sz="1750" spc="-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0E0E0E"/>
                </a:solidFill>
                <a:latin typeface="Arial MT"/>
                <a:cs typeface="Arial MT"/>
              </a:rPr>
              <a:t>preparation</a:t>
            </a:r>
            <a:r>
              <a:rPr sz="1750" spc="6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sz="175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1F1F1F"/>
                </a:solidFill>
                <a:latin typeface="Arial MT"/>
                <a:cs typeface="Arial MT"/>
              </a:rPr>
              <a:t>preprocessing</a:t>
            </a:r>
            <a:endParaRPr sz="1750">
              <a:latin typeface="Arial MT"/>
              <a:cs typeface="Arial MT"/>
            </a:endParaRPr>
          </a:p>
          <a:p>
            <a:pPr marL="172085" indent="-158750">
              <a:lnSpc>
                <a:spcPts val="1964"/>
              </a:lnSpc>
              <a:buClr>
                <a:srgbClr val="363636"/>
              </a:buClr>
              <a:buChar char="•"/>
              <a:tabLst>
                <a:tab pos="172085" algn="l"/>
              </a:tabLst>
            </a:pPr>
            <a:r>
              <a:rPr sz="1650" spc="-45" dirty="0">
                <a:solidFill>
                  <a:srgbClr val="131313"/>
                </a:solidFill>
                <a:latin typeface="Arial MT"/>
                <a:cs typeface="Arial MT"/>
              </a:rPr>
              <a:t>Describe</a:t>
            </a:r>
            <a:r>
              <a:rPr sz="1650" spc="114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11111"/>
                </a:solidFill>
                <a:latin typeface="Arial MT"/>
                <a:cs typeface="Arial MT"/>
              </a:rPr>
              <a:t>model</a:t>
            </a:r>
            <a:r>
              <a:rPr sz="1650" spc="-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C1C1C"/>
                </a:solidFill>
                <a:latin typeface="Arial MT"/>
                <a:cs typeface="Arial MT"/>
              </a:rPr>
              <a:t>training</a:t>
            </a:r>
            <a:r>
              <a:rPr sz="1650" spc="6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D1D1D"/>
                </a:solidFill>
                <a:latin typeface="Arial MT"/>
                <a:cs typeface="Arial MT"/>
              </a:rPr>
              <a:t>and</a:t>
            </a:r>
            <a:r>
              <a:rPr sz="1650" spc="5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1A1A1A"/>
                </a:solidFill>
                <a:latin typeface="Arial MT"/>
                <a:cs typeface="Arial MT"/>
              </a:rPr>
              <a:t>tuning</a:t>
            </a:r>
            <a:endParaRPr sz="1650">
              <a:latin typeface="Arial MT"/>
              <a:cs typeface="Arial MT"/>
            </a:endParaRPr>
          </a:p>
          <a:p>
            <a:pPr marL="161290" indent="-148590">
              <a:lnSpc>
                <a:spcPts val="2005"/>
              </a:lnSpc>
              <a:buClr>
                <a:srgbClr val="212121"/>
              </a:buClr>
              <a:buChar char="•"/>
              <a:tabLst>
                <a:tab pos="161290" algn="l"/>
              </a:tabLst>
            </a:pPr>
            <a:r>
              <a:rPr sz="1700" spc="-80" dirty="0">
                <a:solidFill>
                  <a:srgbClr val="131313"/>
                </a:solidFill>
                <a:latin typeface="Arial MT"/>
                <a:cs typeface="Arial MT"/>
              </a:rPr>
              <a:t>Describe</a:t>
            </a:r>
            <a:r>
              <a:rPr sz="1700" spc="4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model</a:t>
            </a:r>
            <a:r>
              <a:rPr sz="1700" spc="-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111"/>
                </a:solidFill>
                <a:latin typeface="Arial MT"/>
                <a:cs typeface="Arial MT"/>
              </a:rPr>
              <a:t>evaluation</a:t>
            </a:r>
            <a:endParaRPr sz="1700">
              <a:latin typeface="Arial MT"/>
              <a:cs typeface="Arial MT"/>
            </a:endParaRPr>
          </a:p>
          <a:p>
            <a:pPr marL="170815" indent="-158115">
              <a:lnSpc>
                <a:spcPts val="1975"/>
              </a:lnSpc>
              <a:buClr>
                <a:srgbClr val="363636"/>
              </a:buClr>
              <a:buChar char="•"/>
              <a:tabLst>
                <a:tab pos="170815" algn="l"/>
              </a:tabLst>
            </a:pPr>
            <a:r>
              <a:rPr sz="1700" spc="-90" dirty="0">
                <a:solidFill>
                  <a:srgbClr val="111111"/>
                </a:solidFill>
                <a:latin typeface="Arial MT"/>
                <a:cs typeface="Arial MT"/>
              </a:rPr>
              <a:t>Describe</a:t>
            </a:r>
            <a:r>
              <a:rPr sz="1700" spc="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11111"/>
                </a:solidFill>
                <a:latin typeface="Arial MT"/>
                <a:cs typeface="Arial MT"/>
              </a:rPr>
              <a:t>model</a:t>
            </a:r>
            <a:r>
              <a:rPr sz="1700" spc="-8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deployment</a:t>
            </a:r>
            <a:endParaRPr sz="1700">
              <a:latin typeface="Arial MT"/>
              <a:cs typeface="Arial MT"/>
            </a:endParaRPr>
          </a:p>
          <a:p>
            <a:pPr marL="160655" indent="-147955">
              <a:lnSpc>
                <a:spcPts val="2055"/>
              </a:lnSpc>
              <a:buClr>
                <a:srgbClr val="212121"/>
              </a:buClr>
              <a:buChar char="•"/>
              <a:tabLst>
                <a:tab pos="160655" algn="l"/>
              </a:tabLst>
            </a:pPr>
            <a:r>
              <a:rPr sz="1750" spc="-180" dirty="0">
                <a:solidFill>
                  <a:srgbClr val="1C1C1C"/>
                </a:solidFill>
                <a:latin typeface="Arial MT"/>
                <a:cs typeface="Arial MT"/>
              </a:rPr>
              <a:t>Use</a:t>
            </a:r>
            <a:r>
              <a:rPr sz="1750" spc="5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0F0F0F"/>
                </a:solidFill>
                <a:latin typeface="Arial MT"/>
                <a:cs typeface="Arial MT"/>
              </a:rPr>
              <a:t>an</a:t>
            </a:r>
            <a:r>
              <a:rPr sz="1750" spc="-4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161616"/>
                </a:solidFill>
                <a:latin typeface="Arial MT"/>
                <a:cs typeface="Arial MT"/>
              </a:rPr>
              <a:t>example</a:t>
            </a:r>
            <a:r>
              <a:rPr sz="1750" spc="-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750" spc="-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151515"/>
                </a:solidFill>
                <a:latin typeface="Arial MT"/>
                <a:cs typeface="Arial MT"/>
              </a:rPr>
              <a:t>apply</a:t>
            </a:r>
            <a:r>
              <a:rPr sz="1750" spc="-8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D1D1D"/>
                </a:solidFill>
                <a:latin typeface="Arial MT"/>
                <a:cs typeface="Arial MT"/>
              </a:rPr>
              <a:t>the</a:t>
            </a:r>
            <a:r>
              <a:rPr sz="1750" spc="-4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181818"/>
                </a:solidFill>
                <a:latin typeface="Arial MT"/>
                <a:cs typeface="Arial MT"/>
              </a:rPr>
              <a:t>steps</a:t>
            </a:r>
            <a:r>
              <a:rPr sz="1750" spc="-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31313"/>
                </a:solidFill>
                <a:latin typeface="Arial MT"/>
                <a:cs typeface="Arial MT"/>
              </a:rPr>
              <a:t>of</a:t>
            </a:r>
            <a:r>
              <a:rPr sz="1750" spc="1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D1D1D"/>
                </a:solidFill>
                <a:latin typeface="Arial MT"/>
                <a:cs typeface="Arial MT"/>
              </a:rPr>
              <a:t>the</a:t>
            </a:r>
            <a:r>
              <a:rPr sz="1750" spc="-3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32323"/>
                </a:solidFill>
                <a:latin typeface="Arial MT"/>
                <a:cs typeface="Arial MT"/>
              </a:rPr>
              <a:t>machine</a:t>
            </a:r>
            <a:r>
              <a:rPr sz="175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0E0E0E"/>
                </a:solidFill>
                <a:latin typeface="Arial MT"/>
                <a:cs typeface="Arial MT"/>
              </a:rPr>
              <a:t>learning</a:t>
            </a:r>
            <a:r>
              <a:rPr sz="1750" spc="-2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181818"/>
                </a:solidFill>
                <a:latin typeface="Arial MT"/>
                <a:cs typeface="Arial MT"/>
              </a:rPr>
              <a:t>pipeline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96248" y="634642"/>
            <a:ext cx="6496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07365" algn="l"/>
              </a:tabLst>
            </a:pPr>
            <a:r>
              <a:rPr sz="2750" spc="-50" dirty="0">
                <a:latin typeface="Calibri"/>
                <a:cs typeface="Calibri"/>
              </a:rPr>
              <a:t>J</a:t>
            </a:r>
            <a:r>
              <a:rPr sz="2750" dirty="0">
                <a:latin typeface="Calibri"/>
                <a:cs typeface="Calibri"/>
              </a:rPr>
              <a:t>	</a:t>
            </a:r>
            <a:r>
              <a:rPr sz="2750" spc="-425" dirty="0">
                <a:latin typeface="Calibri"/>
                <a:cs typeface="Calibri"/>
              </a:rPr>
              <a:t>•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801833" y="897898"/>
            <a:ext cx="15240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30" dirty="0">
                <a:latin typeface="Arial MT"/>
                <a:cs typeface="Arial MT"/>
              </a:rPr>
              <a:t>r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435" y="1896557"/>
            <a:ext cx="11308325" cy="41899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7562" y="220579"/>
            <a:ext cx="1639931" cy="6307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14"/>
              </a:spcBef>
            </a:pPr>
            <a:r>
              <a:rPr dirty="0">
                <a:solidFill>
                  <a:srgbClr val="161616"/>
                </a:solidFill>
                <a:latin typeface="Arial MT"/>
                <a:cs typeface="Arial MT"/>
              </a:rPr>
              <a:t>Machine</a:t>
            </a:r>
            <a:r>
              <a:rPr spc="27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31313"/>
                </a:solidFill>
                <a:latin typeface="Arial MT"/>
                <a:cs typeface="Arial MT"/>
              </a:rPr>
              <a:t>learning</a:t>
            </a:r>
            <a:r>
              <a:rPr spc="17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pc="40" dirty="0">
                <a:solidFill>
                  <a:srgbClr val="131313"/>
                </a:solidFill>
                <a:latin typeface="Arial MT"/>
                <a:cs typeface="Arial MT"/>
              </a:rPr>
              <a:t>pipeline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1223" y="1582001"/>
            <a:ext cx="161290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spc="-140" dirty="0">
                <a:solidFill>
                  <a:srgbClr val="212121"/>
                </a:solidFill>
                <a:latin typeface="Arial MT"/>
                <a:cs typeface="Arial MT"/>
              </a:rPr>
              <a:t>Business</a:t>
            </a:r>
            <a:r>
              <a:rPr sz="1750" spc="6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151515"/>
                </a:solidFill>
                <a:latin typeface="Arial MT"/>
                <a:cs typeface="Arial MT"/>
              </a:rPr>
              <a:t>problem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46086" y="1598020"/>
            <a:ext cx="18859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1C1C1C"/>
                </a:solidFill>
                <a:latin typeface="Arial MT"/>
                <a:cs typeface="Arial MT"/>
              </a:rPr>
              <a:t>New</a:t>
            </a:r>
            <a:r>
              <a:rPr sz="1550" spc="1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61616"/>
                </a:solidFill>
                <a:latin typeface="Arial MT"/>
                <a:cs typeface="Arial MT"/>
              </a:rPr>
              <a:t>data,</a:t>
            </a:r>
            <a:r>
              <a:rPr sz="1550" spc="9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42424"/>
                </a:solidFill>
                <a:latin typeface="Arial MT"/>
                <a:cs typeface="Arial MT"/>
              </a:rPr>
              <a:t>retraining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30939" y="5228554"/>
            <a:ext cx="3896995" cy="804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61185">
              <a:lnSpc>
                <a:spcPct val="100000"/>
              </a:lnSpc>
              <a:spcBef>
                <a:spcPts val="125"/>
              </a:spcBef>
            </a:pPr>
            <a:r>
              <a:rPr sz="1700" spc="-70" dirty="0">
                <a:solidFill>
                  <a:srgbClr val="161616"/>
                </a:solidFill>
                <a:latin typeface="Arial MT"/>
                <a:cs typeface="Arial MT"/>
              </a:rPr>
              <a:t>Feature</a:t>
            </a:r>
            <a:r>
              <a:rPr sz="1700" spc="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0A0A0A"/>
                </a:solidFill>
                <a:latin typeface="Arial MT"/>
                <a:cs typeface="Arial MT"/>
              </a:rPr>
              <a:t>augmentation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1800" dirty="0">
                <a:solidFill>
                  <a:srgbClr val="151515"/>
                </a:solidFill>
                <a:latin typeface="Calibri"/>
                <a:cs typeface="Calibri"/>
              </a:rPr>
              <a:t>Data</a:t>
            </a:r>
            <a:r>
              <a:rPr sz="1800" spc="-2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augmentation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47119" y="3027206"/>
            <a:ext cx="322580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155" dirty="0">
                <a:solidFill>
                  <a:srgbClr val="232323"/>
                </a:solidFill>
                <a:latin typeface="Arial MT"/>
                <a:cs typeface="Arial MT"/>
              </a:rPr>
              <a:t>Yes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9508" y="2210118"/>
            <a:ext cx="4981275" cy="36818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274" y="242878"/>
            <a:ext cx="1633353" cy="7219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93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20"/>
              </a:spcBef>
            </a:pPr>
            <a:r>
              <a:rPr sz="2200" dirty="0">
                <a:solidFill>
                  <a:srgbClr val="161616"/>
                </a:solidFill>
                <a:latin typeface="Arial MT"/>
                <a:cs typeface="Arial MT"/>
              </a:rPr>
              <a:t>Problem</a:t>
            </a:r>
            <a:r>
              <a:rPr sz="2200" spc="50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200" spc="100" dirty="0">
                <a:solidFill>
                  <a:srgbClr val="0F0F0F"/>
                </a:solidFill>
                <a:latin typeface="Arial MT"/>
                <a:cs typeface="Arial MT"/>
              </a:rPr>
              <a:t>formulation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1409" y="1215552"/>
            <a:ext cx="10933430" cy="357124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3970" marR="5080" indent="-1905">
              <a:lnSpc>
                <a:spcPts val="1989"/>
              </a:lnSpc>
              <a:spcBef>
                <a:spcPts val="235"/>
              </a:spcBef>
            </a:pPr>
            <a:r>
              <a:rPr sz="1700" spc="-130" dirty="0">
                <a:solidFill>
                  <a:srgbClr val="313131"/>
                </a:solidFill>
                <a:latin typeface="Arial MT"/>
                <a:cs typeface="Arial MT"/>
              </a:rPr>
              <a:t>To</a:t>
            </a:r>
            <a:r>
              <a:rPr sz="1700" spc="-2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F1F1F"/>
                </a:solidFill>
                <a:latin typeface="Arial MT"/>
                <a:cs typeface="Arial MT"/>
              </a:rPr>
              <a:t>begin,</a:t>
            </a:r>
            <a:r>
              <a:rPr sz="1700" spc="-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1D1D1D"/>
                </a:solidFill>
                <a:latin typeface="Arial MT"/>
                <a:cs typeface="Arial MT"/>
              </a:rPr>
              <a:t>you</a:t>
            </a:r>
            <a:r>
              <a:rPr sz="1700" spc="-9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0F0F0F"/>
                </a:solidFill>
                <a:latin typeface="Arial MT"/>
                <a:cs typeface="Arial MT"/>
              </a:rPr>
              <a:t>should</a:t>
            </a:r>
            <a:r>
              <a:rPr sz="1700" spc="-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85" dirty="0">
                <a:solidFill>
                  <a:srgbClr val="161616"/>
                </a:solidFill>
                <a:latin typeface="Arial MT"/>
                <a:cs typeface="Arial MT"/>
              </a:rPr>
              <a:t>atways</a:t>
            </a:r>
            <a:r>
              <a:rPr sz="1700" spc="-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start</a:t>
            </a:r>
            <a:r>
              <a:rPr sz="1700" spc="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with</a:t>
            </a:r>
            <a:r>
              <a:rPr sz="1700" spc="-9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700" spc="-6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85" dirty="0">
                <a:solidFill>
                  <a:srgbClr val="161616"/>
                </a:solidFill>
                <a:latin typeface="Arial MT"/>
                <a:cs typeface="Arial MT"/>
              </a:rPr>
              <a:t>business</a:t>
            </a:r>
            <a:r>
              <a:rPr sz="1700" spc="-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0F0F"/>
                </a:solidFill>
                <a:latin typeface="Arial MT"/>
                <a:cs typeface="Arial MT"/>
              </a:rPr>
              <a:t>problem</a:t>
            </a:r>
            <a:r>
              <a:rPr sz="1700" spc="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62626"/>
                </a:solidFill>
                <a:latin typeface="Arial MT"/>
                <a:cs typeface="Arial MT"/>
              </a:rPr>
              <a:t>that</a:t>
            </a:r>
            <a:r>
              <a:rPr sz="170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C1C1C"/>
                </a:solidFill>
                <a:latin typeface="Arial MT"/>
                <a:cs typeface="Arial MT"/>
              </a:rPr>
              <a:t>you</a:t>
            </a:r>
            <a:r>
              <a:rPr sz="1700" spc="-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or</a:t>
            </a:r>
            <a:r>
              <a:rPr sz="1700" spc="-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your</a:t>
            </a:r>
            <a:r>
              <a:rPr sz="1700" spc="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81818"/>
                </a:solidFill>
                <a:latin typeface="Arial MT"/>
                <a:cs typeface="Arial MT"/>
              </a:rPr>
              <a:t>team</a:t>
            </a:r>
            <a:r>
              <a:rPr sz="17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0C0C0C"/>
                </a:solidFill>
                <a:latin typeface="Arial MT"/>
                <a:cs typeface="Arial MT"/>
              </a:rPr>
              <a:t>believes</a:t>
            </a:r>
            <a:r>
              <a:rPr sz="1700" spc="-2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spc="-95" dirty="0">
                <a:solidFill>
                  <a:srgbClr val="131313"/>
                </a:solidFill>
                <a:latin typeface="Arial MT"/>
                <a:cs typeface="Arial MT"/>
              </a:rPr>
              <a:t>can</a:t>
            </a:r>
            <a:r>
              <a:rPr sz="1700" spc="-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E0E0E"/>
                </a:solidFill>
                <a:latin typeface="Arial MT"/>
                <a:cs typeface="Arial MT"/>
              </a:rPr>
              <a:t>benefit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from</a:t>
            </a:r>
            <a:r>
              <a:rPr sz="170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80" dirty="0">
                <a:solidFill>
                  <a:srgbClr val="0F0F0F"/>
                </a:solidFill>
                <a:latin typeface="Arial MT"/>
                <a:cs typeface="Arial MT"/>
              </a:rPr>
              <a:t>ML.</a:t>
            </a:r>
            <a:r>
              <a:rPr sz="1700" spc="-5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51515"/>
                </a:solidFill>
                <a:latin typeface="Arial MT"/>
                <a:cs typeface="Arial MT"/>
              </a:rPr>
              <a:t>From </a:t>
            </a:r>
            <a:r>
              <a:rPr sz="1700" spc="-20" dirty="0">
                <a:solidFill>
                  <a:srgbClr val="262626"/>
                </a:solidFill>
                <a:latin typeface="Arial MT"/>
                <a:cs typeface="Arial MT"/>
              </a:rPr>
              <a:t>there,</a:t>
            </a:r>
            <a:r>
              <a:rPr sz="1700" spc="-9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2A2A2A"/>
                </a:solidFill>
                <a:latin typeface="Arial MT"/>
                <a:cs typeface="Arial MT"/>
              </a:rPr>
              <a:t>you</a:t>
            </a:r>
            <a:r>
              <a:rPr sz="1700" spc="-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want</a:t>
            </a:r>
            <a:r>
              <a:rPr sz="1700" spc="-1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1F1F1F"/>
                </a:solidFill>
                <a:latin typeface="Arial MT"/>
                <a:cs typeface="Arial MT"/>
              </a:rPr>
              <a:t>to</a:t>
            </a:r>
            <a:r>
              <a:rPr sz="1700" spc="-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do</a:t>
            </a:r>
            <a:r>
              <a:rPr sz="1700" spc="-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85" dirty="0">
                <a:solidFill>
                  <a:srgbClr val="212121"/>
                </a:solidFill>
                <a:latin typeface="Arial MT"/>
                <a:cs typeface="Arial MT"/>
              </a:rPr>
              <a:t>some </a:t>
            </a:r>
            <a:r>
              <a:rPr sz="1700" dirty="0">
                <a:solidFill>
                  <a:srgbClr val="0E0E0E"/>
                </a:solidFill>
                <a:latin typeface="Arial MT"/>
                <a:cs typeface="Arial MT"/>
              </a:rPr>
              <a:t>problem</a:t>
            </a:r>
            <a:r>
              <a:rPr sz="1700" spc="-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11111"/>
                </a:solidFill>
                <a:latin typeface="Arial MT"/>
                <a:cs typeface="Arial MT"/>
              </a:rPr>
              <a:t>formulation.</a:t>
            </a:r>
            <a:r>
              <a:rPr sz="17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0C0C0C"/>
                </a:solidFill>
                <a:latin typeface="Arial MT"/>
                <a:cs typeface="Arial MT"/>
              </a:rPr>
              <a:t>This</a:t>
            </a:r>
            <a:r>
              <a:rPr sz="1700" spc="-4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spc="-95" dirty="0">
                <a:latin typeface="Arial MT"/>
                <a:cs typeface="Arial MT"/>
              </a:rPr>
              <a:t>phase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212121"/>
                </a:solidFill>
                <a:latin typeface="Arial MT"/>
                <a:cs typeface="Arial MT"/>
              </a:rPr>
              <a:t>entails,</a:t>
            </a:r>
            <a:r>
              <a:rPr sz="17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B2B2B"/>
                </a:solidFill>
                <a:latin typeface="Arial MT"/>
                <a:cs typeface="Arial MT"/>
              </a:rPr>
              <a:t>in</a:t>
            </a:r>
            <a:r>
              <a:rPr sz="1700" spc="-114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31313"/>
                </a:solidFill>
                <a:latin typeface="Arial MT"/>
                <a:cs typeface="Arial MT"/>
              </a:rPr>
              <a:t>part,</a:t>
            </a:r>
            <a:r>
              <a:rPr sz="1700" spc="-10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0F0F"/>
                </a:solidFill>
                <a:latin typeface="Arial MT"/>
                <a:cs typeface="Arial MT"/>
              </a:rPr>
              <a:t>articulating</a:t>
            </a:r>
            <a:r>
              <a:rPr sz="1700" spc="-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D1D1D"/>
                </a:solidFill>
                <a:latin typeface="Arial MT"/>
                <a:cs typeface="Arial MT"/>
              </a:rPr>
              <a:t>your</a:t>
            </a:r>
            <a:r>
              <a:rPr sz="1700" spc="-2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spc="-85" dirty="0">
                <a:solidFill>
                  <a:srgbClr val="131313"/>
                </a:solidFill>
                <a:latin typeface="Arial MT"/>
                <a:cs typeface="Arial MT"/>
              </a:rPr>
              <a:t>business</a:t>
            </a:r>
            <a:r>
              <a:rPr sz="1700" spc="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problem</a:t>
            </a:r>
            <a:r>
              <a:rPr sz="1700" spc="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61616"/>
                </a:solidFill>
                <a:latin typeface="Arial MT"/>
                <a:cs typeface="Arial MT"/>
              </a:rPr>
              <a:t>and 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converting</a:t>
            </a:r>
            <a:r>
              <a:rPr sz="1700" spc="-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it</a:t>
            </a:r>
            <a:r>
              <a:rPr sz="1700" spc="204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7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0A0A0A"/>
                </a:solidFill>
                <a:latin typeface="Arial MT"/>
                <a:cs typeface="Arial MT"/>
              </a:rPr>
              <a:t>an</a:t>
            </a:r>
            <a:r>
              <a:rPr sz="1700" spc="-3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700" spc="-105" dirty="0">
                <a:solidFill>
                  <a:srgbClr val="161616"/>
                </a:solidFill>
                <a:latin typeface="Arial MT"/>
                <a:cs typeface="Arial MT"/>
              </a:rPr>
              <a:t>ML</a:t>
            </a:r>
            <a:r>
              <a:rPr sz="1700" spc="-8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problem.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70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</a:pP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Next,</a:t>
            </a:r>
            <a:r>
              <a:rPr sz="1600" spc="1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C1C1C"/>
                </a:solidFill>
                <a:latin typeface="Arial MT"/>
                <a:cs typeface="Arial MT"/>
              </a:rPr>
              <a:t>you'll</a:t>
            </a:r>
            <a:r>
              <a:rPr sz="1600" spc="-10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review</a:t>
            </a:r>
            <a:r>
              <a:rPr sz="1600" spc="7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some</a:t>
            </a:r>
            <a:r>
              <a:rPr sz="16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critical</a:t>
            </a:r>
            <a:r>
              <a:rPr sz="1600" spc="-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questions</a:t>
            </a:r>
            <a:r>
              <a:rPr sz="1600" spc="7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to</a:t>
            </a:r>
            <a:r>
              <a:rPr sz="1600" spc="17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ask.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600">
              <a:latin typeface="Arial MT"/>
              <a:cs typeface="Arial MT"/>
            </a:endParaRPr>
          </a:p>
          <a:p>
            <a:pPr marL="612140">
              <a:lnSpc>
                <a:spcPct val="100000"/>
              </a:lnSpc>
            </a:pP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Critical</a:t>
            </a:r>
            <a:r>
              <a:rPr sz="1600" spc="-1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questions</a:t>
            </a:r>
            <a:r>
              <a:rPr sz="1600" spc="114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1F1F1F"/>
                </a:solidFill>
                <a:latin typeface="Arial MT"/>
                <a:cs typeface="Arial MT"/>
              </a:rPr>
              <a:t>to</a:t>
            </a:r>
            <a:r>
              <a:rPr sz="1600" spc="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ask:</a:t>
            </a:r>
            <a:endParaRPr sz="1600">
              <a:latin typeface="Arial MT"/>
              <a:cs typeface="Arial MT"/>
            </a:endParaRPr>
          </a:p>
          <a:p>
            <a:pPr marL="894080" indent="-238125">
              <a:lnSpc>
                <a:spcPct val="100000"/>
              </a:lnSpc>
              <a:spcBef>
                <a:spcPts val="140"/>
              </a:spcBef>
              <a:buClr>
                <a:srgbClr val="000000"/>
              </a:buClr>
              <a:buChar char="•"/>
              <a:tabLst>
                <a:tab pos="894080" algn="l"/>
              </a:tabLst>
            </a:pP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How</a:t>
            </a:r>
            <a:r>
              <a:rPr sz="1600" spc="11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343434"/>
                </a:solidFill>
                <a:latin typeface="Arial MT"/>
                <a:cs typeface="Arial MT"/>
              </a:rPr>
              <a:t>is</a:t>
            </a:r>
            <a:r>
              <a:rPr sz="1600" spc="2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this</a:t>
            </a:r>
            <a:r>
              <a:rPr sz="1600" spc="-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task</a:t>
            </a:r>
            <a:r>
              <a:rPr sz="1600" spc="8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done</a:t>
            </a:r>
            <a:r>
              <a:rPr sz="160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today?</a:t>
            </a:r>
            <a:endParaRPr sz="1600">
              <a:latin typeface="Arial MT"/>
              <a:cs typeface="Arial MT"/>
            </a:endParaRPr>
          </a:p>
          <a:p>
            <a:pPr marL="894080" indent="-238125">
              <a:lnSpc>
                <a:spcPct val="100000"/>
              </a:lnSpc>
              <a:spcBef>
                <a:spcPts val="70"/>
              </a:spcBef>
              <a:buClr>
                <a:srgbClr val="000000"/>
              </a:buClr>
              <a:buChar char="•"/>
              <a:tabLst>
                <a:tab pos="894080" algn="l"/>
              </a:tabLst>
            </a:pP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How</a:t>
            </a:r>
            <a:r>
              <a:rPr sz="1600" spc="9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C1C1C"/>
                </a:solidFill>
                <a:latin typeface="Arial MT"/>
                <a:cs typeface="Arial MT"/>
              </a:rPr>
              <a:t>will</a:t>
            </a:r>
            <a:r>
              <a:rPr sz="1600" spc="-1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C1C1C"/>
                </a:solidFill>
                <a:latin typeface="Arial MT"/>
                <a:cs typeface="Arial MT"/>
              </a:rPr>
              <a:t>business</a:t>
            </a:r>
            <a:r>
              <a:rPr sz="1600" spc="-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61616"/>
                </a:solidFill>
                <a:latin typeface="Arial MT"/>
                <a:cs typeface="Arial MT"/>
              </a:rPr>
              <a:t>measure</a:t>
            </a:r>
            <a:r>
              <a:rPr sz="1600" spc="5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61616"/>
                </a:solidFill>
                <a:latin typeface="Arial MT"/>
                <a:cs typeface="Arial MT"/>
              </a:rPr>
              <a:t>success?</a:t>
            </a:r>
            <a:endParaRPr sz="1600">
              <a:latin typeface="Arial MT"/>
              <a:cs typeface="Arial MT"/>
            </a:endParaRPr>
          </a:p>
          <a:p>
            <a:pPr marL="894080" indent="-238125">
              <a:lnSpc>
                <a:spcPct val="100000"/>
              </a:lnSpc>
              <a:spcBef>
                <a:spcPts val="70"/>
              </a:spcBef>
              <a:buClr>
                <a:srgbClr val="000000"/>
              </a:buClr>
              <a:buChar char="•"/>
              <a:tabLst>
                <a:tab pos="894080" algn="l"/>
              </a:tabLst>
            </a:pP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How</a:t>
            </a:r>
            <a:r>
              <a:rPr sz="1600" spc="22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0F0F0F"/>
                </a:solidFill>
                <a:latin typeface="Arial MT"/>
                <a:cs typeface="Arial MT"/>
              </a:rPr>
              <a:t>will</a:t>
            </a:r>
            <a:r>
              <a:rPr sz="1600" spc="-7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sz="1600" spc="6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solution</a:t>
            </a:r>
            <a:r>
              <a:rPr sz="1600" spc="15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be</a:t>
            </a:r>
            <a:r>
              <a:rPr sz="16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used?</a:t>
            </a:r>
            <a:endParaRPr sz="1600">
              <a:latin typeface="Arial MT"/>
              <a:cs typeface="Arial MT"/>
            </a:endParaRPr>
          </a:p>
          <a:p>
            <a:pPr marL="894715" indent="-238760">
              <a:lnSpc>
                <a:spcPct val="100000"/>
              </a:lnSpc>
              <a:spcBef>
                <a:spcPts val="70"/>
              </a:spcBef>
              <a:buClr>
                <a:srgbClr val="000000"/>
              </a:buClr>
              <a:buChar char="•"/>
              <a:tabLst>
                <a:tab pos="894715" algn="l"/>
              </a:tabLst>
            </a:pP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Do</a:t>
            </a:r>
            <a:r>
              <a:rPr sz="1600" spc="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similar</a:t>
            </a:r>
            <a:r>
              <a:rPr sz="1600" spc="114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solutions</a:t>
            </a:r>
            <a:r>
              <a:rPr sz="1600" spc="8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exist,</a:t>
            </a:r>
            <a:r>
              <a:rPr sz="1600" spc="1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which</a:t>
            </a:r>
            <a:r>
              <a:rPr sz="1600" spc="4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</a:t>
            </a:r>
            <a:r>
              <a:rPr sz="1600" spc="75" dirty="0"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A1A1A"/>
                </a:solidFill>
                <a:latin typeface="Arial MT"/>
                <a:cs typeface="Arial MT"/>
              </a:rPr>
              <a:t>might</a:t>
            </a:r>
            <a:r>
              <a:rPr sz="1600" spc="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learn</a:t>
            </a:r>
            <a:r>
              <a:rPr sz="1600" spc="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from?</a:t>
            </a:r>
            <a:endParaRPr sz="1600">
              <a:latin typeface="Arial MT"/>
              <a:cs typeface="Arial MT"/>
            </a:endParaRPr>
          </a:p>
          <a:p>
            <a:pPr marL="890269" indent="-234315">
              <a:lnSpc>
                <a:spcPct val="100000"/>
              </a:lnSpc>
              <a:spcBef>
                <a:spcPts val="70"/>
              </a:spcBef>
              <a:buClr>
                <a:srgbClr val="000000"/>
              </a:buClr>
              <a:buChar char="•"/>
              <a:tabLst>
                <a:tab pos="890269" algn="l"/>
              </a:tabLst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What</a:t>
            </a:r>
            <a:r>
              <a:rPr sz="1600" spc="-5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assumptions</a:t>
            </a:r>
            <a:r>
              <a:rPr sz="1600" spc="10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have</a:t>
            </a:r>
            <a:r>
              <a:rPr sz="1600" spc="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been</a:t>
            </a:r>
            <a:r>
              <a:rPr sz="1600" spc="-5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11111"/>
                </a:solidFill>
                <a:latin typeface="Arial MT"/>
                <a:cs typeface="Arial MT"/>
              </a:rPr>
              <a:t>made*</a:t>
            </a:r>
            <a:endParaRPr sz="1600">
              <a:latin typeface="Arial MT"/>
              <a:cs typeface="Arial MT"/>
            </a:endParaRPr>
          </a:p>
          <a:p>
            <a:pPr marL="890269" indent="-234315">
              <a:lnSpc>
                <a:spcPct val="100000"/>
              </a:lnSpc>
              <a:spcBef>
                <a:spcPts val="140"/>
              </a:spcBef>
              <a:buClr>
                <a:srgbClr val="1F1F1F"/>
              </a:buClr>
              <a:buChar char="•"/>
              <a:tabLst>
                <a:tab pos="890269" algn="l"/>
              </a:tabLst>
            </a:pP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Who</a:t>
            </a:r>
            <a:r>
              <a:rPr sz="1600" spc="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51515"/>
                </a:solidFill>
                <a:latin typeface="Arial MT"/>
                <a:cs typeface="Arial MT"/>
              </a:rPr>
              <a:t>are</a:t>
            </a:r>
            <a:r>
              <a:rPr sz="1600" spc="-2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600" spc="10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domain</a:t>
            </a:r>
            <a:r>
              <a:rPr sz="1600" spc="114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 MT"/>
                <a:cs typeface="Arial MT"/>
              </a:rPr>
              <a:t>experts?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9005" y="2301099"/>
            <a:ext cx="4274811" cy="40656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5640" y="200079"/>
            <a:ext cx="1655352" cy="6366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35"/>
              </a:spcBef>
            </a:pPr>
            <a:r>
              <a:rPr sz="2200" spc="50" dirty="0">
                <a:solidFill>
                  <a:srgbClr val="181818"/>
                </a:solidFill>
                <a:latin typeface="Arial MT"/>
                <a:cs typeface="Arial MT"/>
              </a:rPr>
              <a:t>Framing</a:t>
            </a:r>
            <a:r>
              <a:rPr sz="2200" spc="9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A0A0A"/>
                </a:solidFill>
                <a:latin typeface="Arial MT"/>
                <a:cs typeface="Arial MT"/>
              </a:rPr>
              <a:t>the</a:t>
            </a:r>
            <a:r>
              <a:rPr sz="2200" spc="29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200" spc="90" dirty="0">
                <a:solidFill>
                  <a:srgbClr val="161616"/>
                </a:solidFill>
                <a:latin typeface="Arial MT"/>
                <a:cs typeface="Arial MT"/>
              </a:rPr>
              <a:t>problem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9959" y="1197718"/>
            <a:ext cx="8372475" cy="283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0"/>
              </a:spcBef>
            </a:pPr>
            <a:r>
              <a:rPr sz="1650" dirty="0">
                <a:solidFill>
                  <a:srgbClr val="0E0E0E"/>
                </a:solidFill>
                <a:latin typeface="Arial MT"/>
                <a:cs typeface="Arial MT"/>
              </a:rPr>
              <a:t>With</a:t>
            </a:r>
            <a:r>
              <a:rPr sz="1650" spc="5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E0E0E"/>
                </a:solidFill>
                <a:latin typeface="Arial MT"/>
                <a:cs typeface="Arial MT"/>
              </a:rPr>
              <a:t>more</a:t>
            </a:r>
            <a:r>
              <a:rPr sz="1650" spc="2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51515"/>
                </a:solidFill>
                <a:latin typeface="Arial MT"/>
                <a:cs typeface="Arial MT"/>
              </a:rPr>
              <a:t>information</a:t>
            </a:r>
            <a:r>
              <a:rPr sz="1650" spc="13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61616"/>
                </a:solidFill>
                <a:latin typeface="Arial MT"/>
                <a:cs typeface="Arial MT"/>
              </a:rPr>
              <a:t>about</a:t>
            </a:r>
            <a:r>
              <a:rPr sz="1650" spc="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sz="1650" spc="1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61616"/>
                </a:solidFill>
                <a:latin typeface="Arial MT"/>
                <a:cs typeface="Arial MT"/>
              </a:rPr>
              <a:t>problem,</a:t>
            </a:r>
            <a:r>
              <a:rPr sz="1650" spc="1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61616"/>
                </a:solidFill>
                <a:latin typeface="Arial MT"/>
                <a:cs typeface="Arial MT"/>
              </a:rPr>
              <a:t>you</a:t>
            </a:r>
            <a:r>
              <a:rPr sz="1650" spc="3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50" spc="-40" dirty="0">
                <a:solidFill>
                  <a:srgbClr val="181818"/>
                </a:solidFill>
                <a:latin typeface="Arial MT"/>
                <a:cs typeface="Arial MT"/>
              </a:rPr>
              <a:t>can</a:t>
            </a:r>
            <a:r>
              <a:rPr sz="1650" spc="-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A1A1A"/>
                </a:solidFill>
                <a:latin typeface="Arial MT"/>
                <a:cs typeface="Arial MT"/>
              </a:rPr>
              <a:t>begin </a:t>
            </a:r>
            <a:r>
              <a:rPr sz="1650" dirty="0">
                <a:solidFill>
                  <a:srgbClr val="1D1D1D"/>
                </a:solidFill>
                <a:latin typeface="Arial MT"/>
                <a:cs typeface="Arial MT"/>
              </a:rPr>
              <a:t>to</a:t>
            </a:r>
            <a:r>
              <a:rPr sz="1650" spc="17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262626"/>
                </a:solidFill>
                <a:latin typeface="Arial MT"/>
                <a:cs typeface="Arial MT"/>
              </a:rPr>
              <a:t>design</a:t>
            </a:r>
            <a:r>
              <a:rPr sz="1650" spc="6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C1C1C"/>
                </a:solidFill>
                <a:latin typeface="Arial MT"/>
                <a:cs typeface="Arial MT"/>
              </a:rPr>
              <a:t>an</a:t>
            </a:r>
            <a:r>
              <a:rPr sz="1650" spc="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161616"/>
                </a:solidFill>
                <a:latin typeface="Arial MT"/>
                <a:cs typeface="Arial MT"/>
              </a:rPr>
              <a:t>approach.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50">
              <a:latin typeface="Arial MT"/>
              <a:cs typeface="Arial MT"/>
            </a:endParaRPr>
          </a:p>
          <a:p>
            <a:pPr marL="19050" marR="5080" indent="-1905">
              <a:lnSpc>
                <a:spcPct val="104900"/>
              </a:lnSpc>
            </a:pPr>
            <a:r>
              <a:rPr sz="1650" spc="-10" dirty="0">
                <a:solidFill>
                  <a:srgbClr val="161616"/>
                </a:solidFill>
                <a:latin typeface="Arial MT"/>
                <a:cs typeface="Arial MT"/>
              </a:rPr>
              <a:t>First,</a:t>
            </a:r>
            <a:r>
              <a:rPr sz="1650" spc="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50" spc="-40" dirty="0">
                <a:solidFill>
                  <a:srgbClr val="212121"/>
                </a:solidFill>
                <a:latin typeface="Arial MT"/>
                <a:cs typeface="Arial MT"/>
              </a:rPr>
              <a:t>can</a:t>
            </a:r>
            <a:r>
              <a:rPr sz="1650" spc="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0C0C0C"/>
                </a:solidFill>
                <a:latin typeface="Arial MT"/>
                <a:cs typeface="Arial MT"/>
              </a:rPr>
              <a:t>machine</a:t>
            </a:r>
            <a:r>
              <a:rPr sz="1650" spc="7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C1C1C"/>
                </a:solidFill>
                <a:latin typeface="Arial MT"/>
                <a:cs typeface="Arial MT"/>
              </a:rPr>
              <a:t>learning</a:t>
            </a:r>
            <a:r>
              <a:rPr sz="1650" spc="8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50" spc="-20" dirty="0">
                <a:solidFill>
                  <a:srgbClr val="161616"/>
                </a:solidFill>
                <a:latin typeface="Arial MT"/>
                <a:cs typeface="Arial MT"/>
              </a:rPr>
              <a:t>solve</a:t>
            </a:r>
            <a:r>
              <a:rPr sz="1650" spc="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D1D1D"/>
                </a:solidFill>
                <a:latin typeface="Arial MT"/>
                <a:cs typeface="Arial MT"/>
              </a:rPr>
              <a:t>the</a:t>
            </a:r>
            <a:r>
              <a:rPr sz="1650" spc="-1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61616"/>
                </a:solidFill>
                <a:latin typeface="Arial MT"/>
                <a:cs typeface="Arial MT"/>
              </a:rPr>
              <a:t>problem,</a:t>
            </a:r>
            <a:r>
              <a:rPr sz="1650" spc="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12121"/>
                </a:solidFill>
                <a:latin typeface="Arial MT"/>
                <a:cs typeface="Arial MT"/>
              </a:rPr>
              <a:t>or</a:t>
            </a:r>
            <a:r>
              <a:rPr sz="1650" spc="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61616"/>
                </a:solidFill>
                <a:latin typeface="Arial MT"/>
                <a:cs typeface="Arial MT"/>
              </a:rPr>
              <a:t>would</a:t>
            </a:r>
            <a:r>
              <a:rPr sz="1650" spc="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50" spc="-110" dirty="0">
                <a:solidFill>
                  <a:srgbClr val="2D2D2D"/>
                </a:solidFill>
                <a:latin typeface="Arial MT"/>
                <a:cs typeface="Arial MT"/>
              </a:rPr>
              <a:t>a</a:t>
            </a:r>
            <a:r>
              <a:rPr sz="1650" spc="-1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F0F0F"/>
                </a:solidFill>
                <a:latin typeface="Arial MT"/>
                <a:cs typeface="Arial MT"/>
              </a:rPr>
              <a:t>traditional </a:t>
            </a:r>
            <a:r>
              <a:rPr sz="1650" spc="-20" dirty="0">
                <a:solidFill>
                  <a:srgbClr val="181818"/>
                </a:solidFill>
                <a:latin typeface="Arial MT"/>
                <a:cs typeface="Arial MT"/>
              </a:rPr>
              <a:t>approach</a:t>
            </a:r>
            <a:r>
              <a:rPr sz="1650" spc="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50" spc="-20" dirty="0">
                <a:solidFill>
                  <a:srgbClr val="212121"/>
                </a:solidFill>
                <a:latin typeface="Arial MT"/>
                <a:cs typeface="Arial MT"/>
              </a:rPr>
              <a:t>make</a:t>
            </a:r>
            <a:r>
              <a:rPr sz="1650" spc="-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50" spc="-20" dirty="0">
                <a:solidFill>
                  <a:srgbClr val="1D1D1D"/>
                </a:solidFill>
                <a:latin typeface="Arial MT"/>
                <a:cs typeface="Arial MT"/>
              </a:rPr>
              <a:t>more </a:t>
            </a:r>
            <a:r>
              <a:rPr sz="1650" spc="-10" dirty="0">
                <a:solidFill>
                  <a:srgbClr val="1F1F1F"/>
                </a:solidFill>
                <a:latin typeface="Arial MT"/>
                <a:cs typeface="Arial MT"/>
              </a:rPr>
              <a:t>sense?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650">
              <a:latin typeface="Arial MT"/>
              <a:cs typeface="Arial MT"/>
            </a:endParaRPr>
          </a:p>
          <a:p>
            <a:pPr marL="15875" marR="877569" indent="1270">
              <a:lnSpc>
                <a:spcPts val="2010"/>
              </a:lnSpc>
            </a:pPr>
            <a:r>
              <a:rPr sz="1750" dirty="0">
                <a:solidFill>
                  <a:srgbClr val="161616"/>
                </a:solidFill>
                <a:latin typeface="Calibri"/>
                <a:cs typeface="Calibri"/>
              </a:rPr>
              <a:t>Second,</a:t>
            </a:r>
            <a:r>
              <a:rPr sz="1750" spc="10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175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62626"/>
                </a:solidFill>
                <a:latin typeface="Calibri"/>
                <a:cs typeface="Calibri"/>
              </a:rPr>
              <a:t>this</a:t>
            </a:r>
            <a:r>
              <a:rPr sz="1750" spc="-3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C1C1C"/>
                </a:solidFill>
                <a:latin typeface="Calibri"/>
                <a:cs typeface="Calibri"/>
              </a:rPr>
              <a:t>problem</a:t>
            </a:r>
            <a:r>
              <a:rPr sz="1750" spc="9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81818"/>
                </a:solidFill>
                <a:latin typeface="Calibri"/>
                <a:cs typeface="Calibri"/>
              </a:rPr>
              <a:t>a</a:t>
            </a:r>
            <a:r>
              <a:rPr sz="1750" spc="-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C1C1C"/>
                </a:solidFill>
                <a:latin typeface="Calibri"/>
                <a:cs typeface="Calibri"/>
              </a:rPr>
              <a:t>supervised</a:t>
            </a:r>
            <a:r>
              <a:rPr sz="1750" spc="15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62626"/>
                </a:solidFill>
                <a:latin typeface="Calibri"/>
                <a:cs typeface="Calibri"/>
              </a:rPr>
              <a:t>or</a:t>
            </a:r>
            <a:r>
              <a:rPr sz="1750" spc="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A1A1A"/>
                </a:solidFill>
                <a:latin typeface="Calibri"/>
                <a:cs typeface="Calibri"/>
              </a:rPr>
              <a:t>unsupervised</a:t>
            </a:r>
            <a:r>
              <a:rPr sz="1750" spc="16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C1C1C"/>
                </a:solidFill>
                <a:latin typeface="Calibri"/>
                <a:cs typeface="Calibri"/>
              </a:rPr>
              <a:t>machine</a:t>
            </a:r>
            <a:r>
              <a:rPr sz="1750" spc="1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82828"/>
                </a:solidFill>
                <a:latin typeface="Calibri"/>
                <a:cs typeface="Calibri"/>
              </a:rPr>
              <a:t>learning</a:t>
            </a:r>
            <a:r>
              <a:rPr sz="1750" spc="22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1A1A1A"/>
                </a:solidFill>
                <a:latin typeface="Calibri"/>
                <a:cs typeface="Calibri"/>
              </a:rPr>
              <a:t>problem? </a:t>
            </a:r>
            <a:r>
              <a:rPr sz="1750" dirty="0">
                <a:solidFill>
                  <a:srgbClr val="131313"/>
                </a:solidFill>
                <a:latin typeface="Calibri"/>
                <a:cs typeface="Calibri"/>
              </a:rPr>
              <a:t>Do</a:t>
            </a:r>
            <a:r>
              <a:rPr sz="1750" spc="6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A1A1A"/>
                </a:solidFill>
                <a:latin typeface="Calibri"/>
                <a:cs typeface="Calibri"/>
              </a:rPr>
              <a:t>you</a:t>
            </a:r>
            <a:r>
              <a:rPr sz="175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31313"/>
                </a:solidFill>
                <a:latin typeface="Calibri"/>
                <a:cs typeface="Calibri"/>
              </a:rPr>
              <a:t>have</a:t>
            </a:r>
            <a:r>
              <a:rPr sz="1750" spc="7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61616"/>
                </a:solidFill>
                <a:latin typeface="Calibri"/>
                <a:cs typeface="Calibri"/>
              </a:rPr>
              <a:t>labeled</a:t>
            </a:r>
            <a:r>
              <a:rPr sz="1750" spc="9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F1F1F"/>
                </a:solidFill>
                <a:latin typeface="Calibri"/>
                <a:cs typeface="Calibri"/>
              </a:rPr>
              <a:t>data</a:t>
            </a:r>
            <a:r>
              <a:rPr sz="1750" spc="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81818"/>
                </a:solidFill>
                <a:latin typeface="Calibri"/>
                <a:cs typeface="Calibri"/>
              </a:rPr>
              <a:t>to</a:t>
            </a:r>
            <a:r>
              <a:rPr sz="1750" spc="4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51515"/>
                </a:solidFill>
                <a:latin typeface="Calibri"/>
                <a:cs typeface="Calibri"/>
              </a:rPr>
              <a:t>train</a:t>
            </a:r>
            <a:r>
              <a:rPr sz="1750" spc="4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sz="1750" spc="8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A1A1A"/>
                </a:solidFill>
                <a:latin typeface="Calibri"/>
                <a:cs typeface="Calibri"/>
              </a:rPr>
              <a:t>supervised</a:t>
            </a:r>
            <a:r>
              <a:rPr sz="1750" spc="18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1F1F1F"/>
                </a:solidFill>
                <a:latin typeface="Calibri"/>
                <a:cs typeface="Calibri"/>
              </a:rPr>
              <a:t>model*</a:t>
            </a:r>
            <a:endParaRPr sz="1750">
              <a:latin typeface="Calibri"/>
              <a:cs typeface="Calibri"/>
            </a:endParaRPr>
          </a:p>
          <a:p>
            <a:pPr marL="12700" marR="805180" indent="3175">
              <a:lnSpc>
                <a:spcPts val="2010"/>
              </a:lnSpc>
              <a:spcBef>
                <a:spcPts val="2070"/>
              </a:spcBef>
            </a:pPr>
            <a:r>
              <a:rPr sz="1750" spc="-150" dirty="0">
                <a:solidFill>
                  <a:srgbClr val="0A0A0A"/>
                </a:solidFill>
                <a:latin typeface="Arial MT"/>
                <a:cs typeface="Arial MT"/>
              </a:rPr>
              <a:t>You</a:t>
            </a:r>
            <a:r>
              <a:rPr sz="175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181818"/>
                </a:solidFill>
                <a:latin typeface="Arial MT"/>
                <a:cs typeface="Arial MT"/>
              </a:rPr>
              <a:t>have</a:t>
            </a:r>
            <a:r>
              <a:rPr sz="1750" spc="-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161616"/>
                </a:solidFill>
                <a:latin typeface="Arial MT"/>
                <a:cs typeface="Arial MT"/>
              </a:rPr>
              <a:t>many</a:t>
            </a:r>
            <a:r>
              <a:rPr sz="1750" spc="-5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181818"/>
                </a:solidFill>
                <a:latin typeface="Arial MT"/>
                <a:cs typeface="Arial MT"/>
              </a:rPr>
              <a:t>questions</a:t>
            </a:r>
            <a:r>
              <a:rPr sz="1750" spc="-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750" spc="-1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181818"/>
                </a:solidFill>
                <a:latin typeface="Arial MT"/>
                <a:cs typeface="Arial MT"/>
              </a:rPr>
              <a:t>ask</a:t>
            </a:r>
            <a:r>
              <a:rPr sz="175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1A1A1A"/>
                </a:solidFill>
                <a:latin typeface="Arial MT"/>
                <a:cs typeface="Arial MT"/>
              </a:rPr>
              <a:t>yourself</a:t>
            </a:r>
            <a:r>
              <a:rPr sz="1750" spc="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0A0A0A"/>
                </a:solidFill>
                <a:latin typeface="Arial MT"/>
                <a:cs typeface="Arial MT"/>
              </a:rPr>
              <a:t>and</a:t>
            </a:r>
            <a:r>
              <a:rPr sz="1750" spc="-9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C1C1C"/>
                </a:solidFill>
                <a:latin typeface="Arial MT"/>
                <a:cs typeface="Arial MT"/>
              </a:rPr>
              <a:t>the</a:t>
            </a:r>
            <a:r>
              <a:rPr sz="1750" spc="-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111111"/>
                </a:solidFill>
                <a:latin typeface="Arial MT"/>
                <a:cs typeface="Arial MT"/>
              </a:rPr>
              <a:t>business.</a:t>
            </a:r>
            <a:r>
              <a:rPr sz="1750" spc="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131313"/>
                </a:solidFill>
                <a:latin typeface="Arial MT"/>
                <a:cs typeface="Arial MT"/>
              </a:rPr>
              <a:t>Ultimately,</a:t>
            </a:r>
            <a:r>
              <a:rPr sz="1750" spc="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161616"/>
                </a:solidFill>
                <a:latin typeface="Arial MT"/>
                <a:cs typeface="Arial MT"/>
              </a:rPr>
              <a:t>you</a:t>
            </a:r>
            <a:r>
              <a:rPr sz="1750" spc="-10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131313"/>
                </a:solidFill>
                <a:latin typeface="Arial MT"/>
                <a:cs typeface="Arial MT"/>
              </a:rPr>
              <a:t>should </a:t>
            </a:r>
            <a:r>
              <a:rPr sz="1750" dirty="0">
                <a:solidFill>
                  <a:srgbClr val="181818"/>
                </a:solidFill>
                <a:latin typeface="Arial MT"/>
                <a:cs typeface="Arial MT"/>
              </a:rPr>
              <a:t>try</a:t>
            </a:r>
            <a:r>
              <a:rPr sz="1750" spc="-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61616"/>
                </a:solidFill>
                <a:latin typeface="Arial MT"/>
                <a:cs typeface="Arial MT"/>
              </a:rPr>
              <a:t>to</a:t>
            </a:r>
            <a:r>
              <a:rPr sz="1750" spc="-6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111111"/>
                </a:solidFill>
                <a:latin typeface="Arial MT"/>
                <a:cs typeface="Arial MT"/>
              </a:rPr>
              <a:t>validate</a:t>
            </a:r>
            <a:r>
              <a:rPr sz="1750" spc="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750" spc="-5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62626"/>
                </a:solidFill>
                <a:latin typeface="Arial MT"/>
                <a:cs typeface="Arial MT"/>
              </a:rPr>
              <a:t>use</a:t>
            </a:r>
            <a:r>
              <a:rPr sz="17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32323"/>
                </a:solidFill>
                <a:latin typeface="Arial MT"/>
                <a:cs typeface="Arial MT"/>
              </a:rPr>
              <a:t>of</a:t>
            </a:r>
            <a:r>
              <a:rPr sz="1750" spc="-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111111"/>
                </a:solidFill>
                <a:latin typeface="Arial MT"/>
                <a:cs typeface="Arial MT"/>
              </a:rPr>
              <a:t>machine</a:t>
            </a:r>
            <a:r>
              <a:rPr sz="1750" spc="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181818"/>
                </a:solidFill>
                <a:latin typeface="Arial MT"/>
                <a:cs typeface="Arial MT"/>
              </a:rPr>
              <a:t>learning</a:t>
            </a:r>
            <a:r>
              <a:rPr sz="1750" spc="-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181818"/>
                </a:solidFill>
                <a:latin typeface="Arial MT"/>
                <a:cs typeface="Arial MT"/>
              </a:rPr>
              <a:t>and</a:t>
            </a:r>
            <a:r>
              <a:rPr sz="175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181818"/>
                </a:solidFill>
                <a:latin typeface="Arial MT"/>
                <a:cs typeface="Arial MT"/>
              </a:rPr>
              <a:t>confirm</a:t>
            </a:r>
            <a:r>
              <a:rPr sz="1750" spc="-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D1D1D"/>
                </a:solidFill>
                <a:latin typeface="Arial MT"/>
                <a:cs typeface="Arial MT"/>
              </a:rPr>
              <a:t>that</a:t>
            </a:r>
            <a:r>
              <a:rPr sz="1750" spc="-4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42424"/>
                </a:solidFill>
                <a:latin typeface="Arial MT"/>
                <a:cs typeface="Arial MT"/>
              </a:rPr>
              <a:t>you</a:t>
            </a:r>
            <a:r>
              <a:rPr sz="1750" spc="-9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0C0C0C"/>
                </a:solidFill>
                <a:latin typeface="Arial MT"/>
                <a:cs typeface="Arial MT"/>
              </a:rPr>
              <a:t>have</a:t>
            </a:r>
            <a:r>
              <a:rPr sz="1750" spc="3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50" spc="-180" dirty="0">
                <a:solidFill>
                  <a:srgbClr val="1F1F1F"/>
                </a:solidFill>
                <a:latin typeface="Arial MT"/>
                <a:cs typeface="Arial MT"/>
              </a:rPr>
              <a:t>access</a:t>
            </a:r>
            <a:r>
              <a:rPr sz="1750" spc="-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50" spc="25" dirty="0">
                <a:solidFill>
                  <a:srgbClr val="232323"/>
                </a:solidFill>
                <a:latin typeface="Arial MT"/>
                <a:cs typeface="Arial MT"/>
              </a:rPr>
              <a:t>to </a:t>
            </a:r>
            <a:r>
              <a:rPr sz="1750" dirty="0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sz="1750" spc="-12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C1C1C"/>
                </a:solidFill>
                <a:latin typeface="Arial MT"/>
                <a:cs typeface="Arial MT"/>
              </a:rPr>
              <a:t>right</a:t>
            </a:r>
            <a:r>
              <a:rPr sz="1750" spc="-7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111111"/>
                </a:solidFill>
                <a:latin typeface="Arial MT"/>
                <a:cs typeface="Arial MT"/>
              </a:rPr>
              <a:t>people</a:t>
            </a:r>
            <a:r>
              <a:rPr sz="1750" spc="-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131313"/>
                </a:solidFill>
                <a:latin typeface="Arial MT"/>
                <a:cs typeface="Arial MT"/>
              </a:rPr>
              <a:t>and</a:t>
            </a:r>
            <a:r>
              <a:rPr sz="1750" spc="-7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0E0E0E"/>
                </a:solidFill>
                <a:latin typeface="Arial MT"/>
                <a:cs typeface="Arial MT"/>
              </a:rPr>
              <a:t>data.</a:t>
            </a:r>
            <a:r>
              <a:rPr sz="1750" spc="-9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1A1A1A"/>
                </a:solidFill>
                <a:latin typeface="Arial MT"/>
                <a:cs typeface="Arial MT"/>
              </a:rPr>
              <a:t>Then,</a:t>
            </a:r>
            <a:r>
              <a:rPr sz="1750" spc="-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0F0F0F"/>
                </a:solidFill>
                <a:latin typeface="Arial MT"/>
                <a:cs typeface="Arial MT"/>
              </a:rPr>
              <a:t>devise</a:t>
            </a:r>
            <a:r>
              <a:rPr sz="1750" spc="-1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161616"/>
                </a:solidFill>
                <a:latin typeface="Arial MT"/>
                <a:cs typeface="Arial MT"/>
              </a:rPr>
              <a:t>simplest</a:t>
            </a:r>
            <a:r>
              <a:rPr sz="1750" spc="7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181818"/>
                </a:solidFill>
                <a:latin typeface="Arial MT"/>
                <a:cs typeface="Arial MT"/>
              </a:rPr>
              <a:t>solution</a:t>
            </a:r>
            <a:r>
              <a:rPr sz="175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750" spc="-1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sz="1750" spc="-8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131313"/>
                </a:solidFill>
                <a:latin typeface="Arial MT"/>
                <a:cs typeface="Arial MT"/>
              </a:rPr>
              <a:t>problem.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6971" y="4795170"/>
            <a:ext cx="823318" cy="9499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8398" y="3021862"/>
            <a:ext cx="769033" cy="9590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7452" y="1257600"/>
            <a:ext cx="1519971" cy="8595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4598" y="199044"/>
            <a:ext cx="1646636" cy="72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5551" y="5876345"/>
            <a:ext cx="1773299" cy="73737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25"/>
              </a:spcBef>
            </a:pPr>
            <a:r>
              <a:rPr sz="2200" dirty="0">
                <a:solidFill>
                  <a:srgbClr val="000000"/>
                </a:solidFill>
                <a:latin typeface="Arial MT"/>
                <a:cs typeface="Arial MT"/>
              </a:rPr>
              <a:t>Example:</a:t>
            </a:r>
            <a:r>
              <a:rPr sz="2200" spc="19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200" spc="55" dirty="0">
                <a:solidFill>
                  <a:srgbClr val="0A0A0A"/>
                </a:solidFill>
                <a:latin typeface="Arial MT"/>
                <a:cs typeface="Arial MT"/>
              </a:rPr>
              <a:t>Probtem</a:t>
            </a:r>
            <a:r>
              <a:rPr sz="2200" spc="18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200" spc="110" dirty="0">
                <a:solidFill>
                  <a:srgbClr val="161616"/>
                </a:solidFill>
                <a:latin typeface="Arial MT"/>
                <a:cs typeface="Arial MT"/>
              </a:rPr>
              <a:t>formulation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5605" y="2308734"/>
            <a:ext cx="1195705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The</a:t>
            </a:r>
            <a:r>
              <a:rPr sz="16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problem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3988" y="4091090"/>
            <a:ext cx="17094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Intended</a:t>
            </a:r>
            <a:r>
              <a:rPr sz="1600" spc="2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Arial MT"/>
                <a:cs typeface="Arial MT"/>
              </a:rPr>
              <a:t>outcome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59460" y="1183327"/>
            <a:ext cx="8836660" cy="8051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 indent="1270">
              <a:lnSpc>
                <a:spcPct val="99500"/>
              </a:lnSpc>
              <a:spcBef>
                <a:spcPts val="140"/>
              </a:spcBef>
            </a:pPr>
            <a:r>
              <a:rPr sz="1700" spc="-60" dirty="0">
                <a:latin typeface="Arial MT"/>
                <a:cs typeface="Arial MT"/>
              </a:rPr>
              <a:t>Let's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080808"/>
                </a:solidFill>
                <a:latin typeface="Arial MT"/>
                <a:cs typeface="Arial MT"/>
              </a:rPr>
              <a:t>review</a:t>
            </a:r>
            <a:r>
              <a:rPr sz="1700" spc="2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1D1D1D"/>
                </a:solidFill>
                <a:latin typeface="Arial MT"/>
                <a:cs typeface="Arial MT"/>
              </a:rPr>
              <a:t>an </a:t>
            </a:r>
            <a:r>
              <a:rPr sz="1700" spc="-60" dirty="0">
                <a:solidFill>
                  <a:srgbClr val="1A1A1A"/>
                </a:solidFill>
                <a:latin typeface="Arial MT"/>
                <a:cs typeface="Arial MT"/>
              </a:rPr>
              <a:t>example.</a:t>
            </a:r>
            <a:r>
              <a:rPr sz="1700" spc="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70" dirty="0">
                <a:solidFill>
                  <a:srgbClr val="131313"/>
                </a:solidFill>
                <a:latin typeface="Arial MT"/>
                <a:cs typeface="Arial MT"/>
              </a:rPr>
              <a:t>Reviewing</a:t>
            </a:r>
            <a:r>
              <a:rPr sz="1700" spc="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61616"/>
                </a:solidFill>
                <a:latin typeface="Arial MT"/>
                <a:cs typeface="Arial MT"/>
              </a:rPr>
              <a:t>the</a:t>
            </a:r>
            <a:r>
              <a:rPr sz="1700" spc="-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0F0F"/>
                </a:solidFill>
                <a:latin typeface="Arial MT"/>
                <a:cs typeface="Arial MT"/>
              </a:rPr>
              <a:t>monthly</a:t>
            </a:r>
            <a:r>
              <a:rPr sz="1700" spc="-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1D1D1D"/>
                </a:solidFill>
                <a:latin typeface="Arial MT"/>
                <a:cs typeface="Arial MT"/>
              </a:rPr>
              <a:t>membership</a:t>
            </a:r>
            <a:r>
              <a:rPr sz="1700" spc="8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1C1C1C"/>
                </a:solidFill>
                <a:latin typeface="Arial MT"/>
                <a:cs typeface="Arial MT"/>
              </a:rPr>
              <a:t>numbers</a:t>
            </a:r>
            <a:r>
              <a:rPr sz="1700" spc="-45" dirty="0">
                <a:solidFill>
                  <a:srgbClr val="1C1C1C"/>
                </a:solidFill>
                <a:latin typeface="Arial MT"/>
                <a:cs typeface="Arial MT"/>
              </a:rPr>
              <a:t> you</a:t>
            </a:r>
            <a:r>
              <a:rPr sz="1700" spc="-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61616"/>
                </a:solidFill>
                <a:latin typeface="Arial MT"/>
                <a:cs typeface="Arial MT"/>
              </a:rPr>
              <a:t>notice</a:t>
            </a:r>
            <a:r>
              <a:rPr sz="1700" spc="-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that</a:t>
            </a:r>
            <a:r>
              <a:rPr sz="1700" spc="-6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212121"/>
                </a:solidFill>
                <a:latin typeface="Arial MT"/>
                <a:cs typeface="Arial MT"/>
              </a:rPr>
              <a:t>more </a:t>
            </a:r>
            <a:r>
              <a:rPr sz="1700" spc="-55" dirty="0">
                <a:solidFill>
                  <a:srgbClr val="161616"/>
                </a:solidFill>
                <a:latin typeface="Arial MT"/>
                <a:cs typeface="Arial MT"/>
              </a:rPr>
              <a:t>customers</a:t>
            </a:r>
            <a:r>
              <a:rPr sz="1700" spc="-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131313"/>
                </a:solidFill>
                <a:latin typeface="Arial MT"/>
                <a:cs typeface="Arial MT"/>
              </a:rPr>
              <a:t>are</a:t>
            </a:r>
            <a:r>
              <a:rPr sz="1700" spc="-4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C1C1C"/>
                </a:solidFill>
                <a:latin typeface="Arial MT"/>
                <a:cs typeface="Arial MT"/>
              </a:rPr>
              <a:t>ending</a:t>
            </a:r>
            <a:r>
              <a:rPr sz="1700" spc="-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their</a:t>
            </a:r>
            <a:r>
              <a:rPr sz="1700" spc="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credit </a:t>
            </a:r>
            <a:r>
              <a:rPr sz="1700" spc="-65" dirty="0">
                <a:solidFill>
                  <a:srgbClr val="212121"/>
                </a:solidFill>
                <a:latin typeface="Arial MT"/>
                <a:cs typeface="Arial MT"/>
              </a:rPr>
              <a:t>card</a:t>
            </a:r>
            <a:r>
              <a:rPr sz="17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181818"/>
                </a:solidFill>
                <a:latin typeface="Arial MT"/>
                <a:cs typeface="Arial MT"/>
              </a:rPr>
              <a:t>membership</a:t>
            </a:r>
            <a:r>
              <a:rPr sz="1700" spc="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B2B2B"/>
                </a:solidFill>
                <a:latin typeface="Arial MT"/>
                <a:cs typeface="Arial MT"/>
              </a:rPr>
              <a:t>than</a:t>
            </a:r>
            <a:r>
              <a:rPr sz="1700" spc="-10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700" spc="50" dirty="0">
                <a:solidFill>
                  <a:srgbClr val="2A2A2A"/>
                </a:solidFill>
                <a:latin typeface="Arial MT"/>
                <a:cs typeface="Arial MT"/>
              </a:rPr>
              <a:t>in</a:t>
            </a:r>
            <a:r>
              <a:rPr sz="1700" spc="-12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sz="1700" spc="-7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080808"/>
                </a:solidFill>
                <a:latin typeface="Arial MT"/>
                <a:cs typeface="Arial MT"/>
              </a:rPr>
              <a:t>past.</a:t>
            </a:r>
            <a:r>
              <a:rPr sz="170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700" spc="-125" dirty="0">
                <a:solidFill>
                  <a:srgbClr val="181818"/>
                </a:solidFill>
                <a:latin typeface="Arial MT"/>
                <a:cs typeface="Arial MT"/>
              </a:rPr>
              <a:t>You</a:t>
            </a:r>
            <a:r>
              <a:rPr sz="1700" spc="-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70" dirty="0">
                <a:solidFill>
                  <a:srgbClr val="1C1C1C"/>
                </a:solidFill>
                <a:latin typeface="Arial MT"/>
                <a:cs typeface="Arial MT"/>
              </a:rPr>
              <a:t>discover</a:t>
            </a:r>
            <a:r>
              <a:rPr sz="1700" spc="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that</a:t>
            </a:r>
            <a:r>
              <a:rPr sz="1700" spc="-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F1F1F"/>
                </a:solidFill>
                <a:latin typeface="Arial MT"/>
                <a:cs typeface="Arial MT"/>
              </a:rPr>
              <a:t>there</a:t>
            </a:r>
            <a:r>
              <a:rPr sz="1700" spc="-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2A2A2A"/>
                </a:solidFill>
                <a:latin typeface="Arial MT"/>
                <a:cs typeface="Arial MT"/>
              </a:rPr>
              <a:t>has </a:t>
            </a:r>
            <a:r>
              <a:rPr sz="1700" spc="-75" dirty="0">
                <a:solidFill>
                  <a:srgbClr val="1C1C1C"/>
                </a:solidFill>
                <a:latin typeface="Arial MT"/>
                <a:cs typeface="Arial MT"/>
              </a:rPr>
              <a:t>also</a:t>
            </a:r>
            <a:r>
              <a:rPr sz="1700" spc="-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181818"/>
                </a:solidFill>
                <a:latin typeface="Arial MT"/>
                <a:cs typeface="Arial MT"/>
              </a:rPr>
              <a:t>been</a:t>
            </a:r>
            <a:r>
              <a:rPr sz="17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latin typeface="Arial MT"/>
                <a:cs typeface="Arial MT"/>
              </a:rPr>
              <a:t>an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151515"/>
                </a:solidFill>
                <a:latin typeface="Arial MT"/>
                <a:cs typeface="Arial MT"/>
              </a:rPr>
              <a:t>increase</a:t>
            </a:r>
            <a:r>
              <a:rPr sz="1700" spc="-4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spc="50" dirty="0">
                <a:solidFill>
                  <a:srgbClr val="232323"/>
                </a:solidFill>
                <a:latin typeface="Arial MT"/>
                <a:cs typeface="Arial MT"/>
              </a:rPr>
              <a:t>in</a:t>
            </a:r>
            <a:r>
              <a:rPr sz="1700" spc="-114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C0C0C"/>
                </a:solidFill>
                <a:latin typeface="Arial MT"/>
                <a:cs typeface="Arial MT"/>
              </a:rPr>
              <a:t>fraudulent</a:t>
            </a:r>
            <a:r>
              <a:rPr sz="1700" spc="4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C0C0C"/>
                </a:solidFill>
                <a:latin typeface="Arial MT"/>
                <a:cs typeface="Arial MT"/>
              </a:rPr>
              <a:t>credit </a:t>
            </a:r>
            <a:r>
              <a:rPr sz="1700" spc="-70" dirty="0">
                <a:solidFill>
                  <a:srgbClr val="1C1C1C"/>
                </a:solidFill>
                <a:latin typeface="Arial MT"/>
                <a:cs typeface="Arial MT"/>
              </a:rPr>
              <a:t>card</a:t>
            </a:r>
            <a:r>
              <a:rPr sz="1700" spc="-114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111"/>
                </a:solidFill>
                <a:latin typeface="Arial MT"/>
                <a:cs typeface="Arial MT"/>
              </a:rPr>
              <a:t>transactions.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51621" y="2199411"/>
            <a:ext cx="8809355" cy="5492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510">
              <a:lnSpc>
                <a:spcPts val="2070"/>
              </a:lnSpc>
              <a:spcBef>
                <a:spcPts val="130"/>
              </a:spcBef>
            </a:pPr>
            <a:r>
              <a:rPr sz="1750" dirty="0">
                <a:solidFill>
                  <a:srgbClr val="1F1F1F"/>
                </a:solidFill>
                <a:latin typeface="Calibri"/>
                <a:cs typeface="Calibri"/>
              </a:rPr>
              <a:t>You</a:t>
            </a:r>
            <a:r>
              <a:rPr sz="1750" spc="8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0C0C0C"/>
                </a:solidFill>
                <a:latin typeface="Calibri"/>
                <a:cs typeface="Calibri"/>
              </a:rPr>
              <a:t>want</a:t>
            </a:r>
            <a:r>
              <a:rPr sz="1750" spc="15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750" spc="1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50" spc="50" dirty="0">
                <a:solidFill>
                  <a:srgbClr val="181818"/>
                </a:solidFill>
                <a:latin typeface="Calibri"/>
                <a:cs typeface="Calibri"/>
              </a:rPr>
              <a:t>identify</a:t>
            </a:r>
            <a:r>
              <a:rPr sz="1750" spc="19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0E0E0E"/>
                </a:solidFill>
                <a:latin typeface="Calibri"/>
                <a:cs typeface="Calibri"/>
              </a:rPr>
              <a:t>fraudulent</a:t>
            </a:r>
            <a:r>
              <a:rPr sz="1750" spc="23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0A0A0A"/>
                </a:solidFill>
                <a:latin typeface="Calibri"/>
                <a:cs typeface="Calibri"/>
              </a:rPr>
              <a:t>credit</a:t>
            </a:r>
            <a:r>
              <a:rPr sz="1750" spc="195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0A0A0A"/>
                </a:solidFill>
                <a:latin typeface="Calibri"/>
                <a:cs typeface="Calibri"/>
              </a:rPr>
              <a:t>card</a:t>
            </a:r>
            <a:r>
              <a:rPr sz="1750" spc="12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31313"/>
                </a:solidFill>
                <a:latin typeface="Calibri"/>
                <a:cs typeface="Calibri"/>
              </a:rPr>
              <a:t>transactions</a:t>
            </a:r>
            <a:r>
              <a:rPr sz="1750" spc="13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750" spc="70" dirty="0">
                <a:solidFill>
                  <a:srgbClr val="1D1D1D"/>
                </a:solidFill>
                <a:latin typeface="Calibri"/>
                <a:cs typeface="Calibri"/>
              </a:rPr>
              <a:t>so</a:t>
            </a:r>
            <a:r>
              <a:rPr sz="1750" spc="5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A1A1A"/>
                </a:solidFill>
                <a:latin typeface="Calibri"/>
                <a:cs typeface="Calibri"/>
              </a:rPr>
              <a:t>that</a:t>
            </a:r>
            <a:r>
              <a:rPr sz="1750" spc="1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61616"/>
                </a:solidFill>
                <a:latin typeface="Calibri"/>
                <a:cs typeface="Calibri"/>
              </a:rPr>
              <a:t>you</a:t>
            </a:r>
            <a:r>
              <a:rPr sz="1750" spc="12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32323"/>
                </a:solidFill>
                <a:latin typeface="Calibri"/>
                <a:cs typeface="Calibri"/>
              </a:rPr>
              <a:t>can</a:t>
            </a:r>
            <a:r>
              <a:rPr sz="1750" spc="1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81818"/>
                </a:solidFill>
                <a:latin typeface="Calibri"/>
                <a:cs typeface="Calibri"/>
              </a:rPr>
              <a:t>stop</a:t>
            </a:r>
            <a:r>
              <a:rPr sz="1750" spc="10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50" spc="50" dirty="0">
                <a:solidFill>
                  <a:srgbClr val="1C1C1C"/>
                </a:solidFill>
                <a:latin typeface="Calibri"/>
                <a:cs typeface="Calibri"/>
              </a:rPr>
              <a:t>the</a:t>
            </a:r>
            <a:r>
              <a:rPr sz="1750" spc="6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161616"/>
                </a:solidFill>
                <a:latin typeface="Calibri"/>
                <a:cs typeface="Calibri"/>
              </a:rPr>
              <a:t>transaction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ts val="2010"/>
              </a:lnSpc>
            </a:pPr>
            <a:r>
              <a:rPr sz="1700" spc="55" dirty="0">
                <a:solidFill>
                  <a:srgbClr val="151515"/>
                </a:solidFill>
                <a:latin typeface="Calibri"/>
                <a:cs typeface="Calibri"/>
              </a:rPr>
              <a:t>before</a:t>
            </a:r>
            <a:r>
              <a:rPr sz="1700" spc="14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1C1C"/>
                </a:solidFill>
                <a:latin typeface="Calibri"/>
                <a:cs typeface="Calibri"/>
              </a:rPr>
              <a:t>it</a:t>
            </a:r>
            <a:r>
              <a:rPr sz="1700" spc="15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31313"/>
                </a:solidFill>
                <a:latin typeface="Calibri"/>
                <a:cs typeface="Calibri"/>
              </a:rPr>
              <a:t>processes.</a:t>
            </a:r>
            <a:r>
              <a:rPr sz="1700" spc="18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A1A1A"/>
                </a:solidFill>
                <a:latin typeface="Calibri"/>
                <a:cs typeface="Calibri"/>
              </a:rPr>
              <a:t>That‘s</a:t>
            </a:r>
            <a:r>
              <a:rPr sz="1700" spc="1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700" spc="50" dirty="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sz="1700" spc="9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F1F1F"/>
                </a:solidFill>
                <a:latin typeface="Calibri"/>
                <a:cs typeface="Calibri"/>
              </a:rPr>
              <a:t>stated</a:t>
            </a:r>
            <a:r>
              <a:rPr sz="1700" spc="10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31313"/>
                </a:solidFill>
                <a:latin typeface="Calibri"/>
                <a:cs typeface="Calibri"/>
              </a:rPr>
              <a:t>problem.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96390" y="3120495"/>
            <a:ext cx="7915909" cy="5524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415">
              <a:lnSpc>
                <a:spcPts val="2085"/>
              </a:lnSpc>
              <a:spcBef>
                <a:spcPts val="130"/>
              </a:spcBef>
            </a:pPr>
            <a:r>
              <a:rPr sz="180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1800" spc="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800" spc="55" dirty="0">
                <a:solidFill>
                  <a:srgbClr val="1D1D1D"/>
                </a:solidFill>
                <a:latin typeface="Calibri"/>
                <a:cs typeface="Calibri"/>
              </a:rPr>
              <a:t>goal</a:t>
            </a:r>
            <a:r>
              <a:rPr sz="1800" spc="-6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1C1C"/>
                </a:solidFill>
                <a:latin typeface="Calibri"/>
                <a:cs typeface="Calibri"/>
              </a:rPr>
              <a:t>or</a:t>
            </a:r>
            <a:r>
              <a:rPr sz="1800" spc="-1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31313"/>
                </a:solidFill>
                <a:latin typeface="Calibri"/>
                <a:cs typeface="Calibri"/>
              </a:rPr>
              <a:t>intended</a:t>
            </a:r>
            <a:r>
              <a:rPr sz="1800" spc="8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A1A1A"/>
                </a:solidFill>
                <a:latin typeface="Calibri"/>
                <a:cs typeface="Calibri"/>
              </a:rPr>
              <a:t>outcome</a:t>
            </a:r>
            <a:r>
              <a:rPr sz="1800" spc="4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12121"/>
                </a:solidFill>
                <a:latin typeface="Calibri"/>
                <a:cs typeface="Calibri"/>
              </a:rPr>
              <a:t>is</a:t>
            </a:r>
            <a:r>
              <a:rPr sz="1800" spc="16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F1F1F"/>
                </a:solidFill>
                <a:latin typeface="Calibri"/>
                <a:cs typeface="Calibri"/>
              </a:rPr>
              <a:t>to</a:t>
            </a:r>
            <a:r>
              <a:rPr sz="1800" spc="-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C0C0C"/>
                </a:solidFill>
                <a:latin typeface="Calibri"/>
                <a:cs typeface="Calibri"/>
              </a:rPr>
              <a:t>reduce</a:t>
            </a:r>
            <a:r>
              <a:rPr sz="1800" spc="3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sz="1800" spc="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1C1C"/>
                </a:solidFill>
                <a:latin typeface="Calibri"/>
                <a:cs typeface="Calibri"/>
              </a:rPr>
              <a:t>number</a:t>
            </a:r>
            <a:r>
              <a:rPr sz="1800" spc="4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sz="1800" spc="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81818"/>
                </a:solidFill>
                <a:latin typeface="Calibri"/>
                <a:cs typeface="Calibri"/>
              </a:rPr>
              <a:t>customers</a:t>
            </a:r>
            <a:r>
              <a:rPr sz="1800" spc="8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81818"/>
                </a:solidFill>
                <a:latin typeface="Calibri"/>
                <a:cs typeface="Calibri"/>
              </a:rPr>
              <a:t>who</a:t>
            </a:r>
            <a:r>
              <a:rPr sz="1800" spc="8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0F0F"/>
                </a:solidFill>
                <a:latin typeface="Calibri"/>
                <a:cs typeface="Calibri"/>
              </a:rPr>
              <a:t>end</a:t>
            </a:r>
            <a:r>
              <a:rPr sz="1800" spc="-10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Calibri"/>
                <a:cs typeface="Calibri"/>
              </a:rPr>
              <a:t>their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25"/>
              </a:lnSpc>
            </a:pPr>
            <a:r>
              <a:rPr sz="1750" dirty="0">
                <a:solidFill>
                  <a:srgbClr val="1D1D1D"/>
                </a:solidFill>
                <a:latin typeface="Calibri"/>
                <a:cs typeface="Calibri"/>
              </a:rPr>
              <a:t>membership</a:t>
            </a:r>
            <a:r>
              <a:rPr sz="1750" spc="23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11111"/>
                </a:solidFill>
                <a:latin typeface="Calibri"/>
                <a:cs typeface="Calibri"/>
              </a:rPr>
              <a:t>because</a:t>
            </a:r>
            <a:r>
              <a:rPr sz="1750" spc="21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750" spc="60" dirty="0">
                <a:solidFill>
                  <a:srgbClr val="1C1C1C"/>
                </a:solidFill>
                <a:latin typeface="Calibri"/>
                <a:cs typeface="Calibri"/>
              </a:rPr>
              <a:t>of</a:t>
            </a:r>
            <a:r>
              <a:rPr sz="1750" spc="8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1A1A1A"/>
                </a:solidFill>
                <a:latin typeface="Calibri"/>
                <a:cs typeface="Calibri"/>
              </a:rPr>
              <a:t>fraud.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98191" y="4060430"/>
            <a:ext cx="8832215" cy="131445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indent="635">
              <a:lnSpc>
                <a:spcPct val="96800"/>
              </a:lnSpc>
              <a:spcBef>
                <a:spcPts val="195"/>
              </a:spcBef>
            </a:pPr>
            <a:r>
              <a:rPr sz="1700" spc="-125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700" spc="-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0F0F0F"/>
                </a:solidFill>
                <a:latin typeface="Arial MT"/>
                <a:cs typeface="Arial MT"/>
              </a:rPr>
              <a:t>solve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this</a:t>
            </a:r>
            <a:r>
              <a:rPr sz="1700" spc="-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C0C0C"/>
                </a:solidFill>
                <a:latin typeface="Arial MT"/>
                <a:cs typeface="Arial MT"/>
              </a:rPr>
              <a:t>problem</a:t>
            </a:r>
            <a:r>
              <a:rPr sz="1700" spc="-9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61616"/>
                </a:solidFill>
                <a:latin typeface="Arial MT"/>
                <a:cs typeface="Arial MT"/>
              </a:rPr>
              <a:t>with</a:t>
            </a:r>
            <a:r>
              <a:rPr sz="1700" spc="-1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181818"/>
                </a:solidFill>
                <a:latin typeface="Arial MT"/>
                <a:cs typeface="Arial MT"/>
              </a:rPr>
              <a:t>machine</a:t>
            </a:r>
            <a:r>
              <a:rPr sz="1700" spc="-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learning</a:t>
            </a:r>
            <a:r>
              <a:rPr sz="1700" spc="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282828"/>
                </a:solidFill>
                <a:latin typeface="Arial MT"/>
                <a:cs typeface="Arial MT"/>
              </a:rPr>
              <a:t>you </a:t>
            </a:r>
            <a:r>
              <a:rPr sz="1700" spc="-60" dirty="0">
                <a:solidFill>
                  <a:srgbClr val="181818"/>
                </a:solidFill>
                <a:latin typeface="Arial MT"/>
                <a:cs typeface="Arial MT"/>
              </a:rPr>
              <a:t>need </a:t>
            </a:r>
            <a:r>
              <a:rPr sz="1700" spc="65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700" spc="-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181818"/>
                </a:solidFill>
                <a:latin typeface="Arial MT"/>
                <a:cs typeface="Arial MT"/>
              </a:rPr>
              <a:t>be</a:t>
            </a:r>
            <a:r>
              <a:rPr sz="17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able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700" spc="-1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1D1D1D"/>
                </a:solidFill>
                <a:latin typeface="Arial MT"/>
                <a:cs typeface="Arial MT"/>
              </a:rPr>
              <a:t>easily</a:t>
            </a:r>
            <a:r>
              <a:rPr sz="1700" spc="-1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spc="-90" dirty="0">
                <a:solidFill>
                  <a:srgbClr val="1C1C1C"/>
                </a:solidFill>
                <a:latin typeface="Arial MT"/>
                <a:cs typeface="Arial MT"/>
              </a:rPr>
              <a:t>measure</a:t>
            </a:r>
            <a:r>
              <a:rPr sz="1700" spc="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it.</a:t>
            </a:r>
            <a:r>
              <a:rPr sz="1700" spc="114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31313"/>
                </a:solidFill>
                <a:latin typeface="Arial MT"/>
                <a:cs typeface="Arial MT"/>
              </a:rPr>
              <a:t>That </a:t>
            </a:r>
            <a:r>
              <a:rPr sz="1700" spc="-75" dirty="0">
                <a:solidFill>
                  <a:srgbClr val="1C1C1C"/>
                </a:solidFill>
                <a:latin typeface="Arial MT"/>
                <a:cs typeface="Arial MT"/>
              </a:rPr>
              <a:t>means</a:t>
            </a:r>
            <a:r>
              <a:rPr sz="1700" spc="-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262626"/>
                </a:solidFill>
                <a:latin typeface="Arial MT"/>
                <a:cs typeface="Arial MT"/>
              </a:rPr>
              <a:t>you</a:t>
            </a:r>
            <a:r>
              <a:rPr sz="1700" spc="-8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Arial MT"/>
                <a:cs typeface="Arial MT"/>
              </a:rPr>
              <a:t>must</a:t>
            </a:r>
            <a:r>
              <a:rPr sz="1700" spc="-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161616"/>
                </a:solidFill>
                <a:latin typeface="Arial MT"/>
                <a:cs typeface="Arial MT"/>
              </a:rPr>
              <a:t>move</a:t>
            </a:r>
            <a:r>
              <a:rPr sz="1700" spc="-7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61616"/>
                </a:solidFill>
                <a:latin typeface="Arial MT"/>
                <a:cs typeface="Arial MT"/>
              </a:rPr>
              <a:t>from</a:t>
            </a:r>
            <a:r>
              <a:rPr sz="1700" spc="-6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31313"/>
                </a:solidFill>
                <a:latin typeface="Arial MT"/>
                <a:cs typeface="Arial MT"/>
              </a:rPr>
              <a:t>qualitative</a:t>
            </a:r>
            <a:r>
              <a:rPr sz="1700" spc="-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212121"/>
                </a:solidFill>
                <a:latin typeface="Arial MT"/>
                <a:cs typeface="Arial MT"/>
              </a:rPr>
              <a:t>statements</a:t>
            </a:r>
            <a:r>
              <a:rPr sz="1700" spc="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700" spc="-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E0E0E"/>
                </a:solidFill>
                <a:latin typeface="Arial MT"/>
                <a:cs typeface="Arial MT"/>
              </a:rPr>
              <a:t>quantitative</a:t>
            </a:r>
            <a:r>
              <a:rPr sz="1700" spc="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0F0F"/>
                </a:solidFill>
                <a:latin typeface="Arial MT"/>
                <a:cs typeface="Arial MT"/>
              </a:rPr>
              <a:t>statement.</a:t>
            </a:r>
            <a:r>
              <a:rPr sz="1700" spc="4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130" dirty="0">
                <a:solidFill>
                  <a:srgbClr val="1C1C1C"/>
                </a:solidFill>
                <a:latin typeface="Arial MT"/>
                <a:cs typeface="Arial MT"/>
              </a:rPr>
              <a:t>You</a:t>
            </a:r>
            <a:r>
              <a:rPr sz="1700" spc="-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51515"/>
                </a:solidFill>
                <a:latin typeface="Arial MT"/>
                <a:cs typeface="Arial MT"/>
              </a:rPr>
              <a:t>might</a:t>
            </a:r>
            <a:r>
              <a:rPr sz="1700" spc="1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define </a:t>
            </a:r>
            <a:r>
              <a:rPr sz="1700" spc="-150" dirty="0">
                <a:solidFill>
                  <a:srgbClr val="0A0A0A"/>
                </a:solidFill>
                <a:latin typeface="Arial MT"/>
                <a:cs typeface="Arial MT"/>
              </a:rPr>
              <a:t>success</a:t>
            </a:r>
            <a:r>
              <a:rPr sz="1700" spc="1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B2B2B"/>
                </a:solidFill>
                <a:latin typeface="Arial MT"/>
                <a:cs typeface="Arial MT"/>
              </a:rPr>
              <a:t>for</a:t>
            </a:r>
            <a:r>
              <a:rPr sz="1700" spc="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this</a:t>
            </a:r>
            <a:r>
              <a:rPr sz="1700" spc="-10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11111"/>
                </a:solidFill>
                <a:latin typeface="Arial MT"/>
                <a:cs typeface="Arial MT"/>
              </a:rPr>
              <a:t>problem</a:t>
            </a:r>
            <a:r>
              <a:rPr sz="1700" spc="6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31313"/>
                </a:solidFill>
                <a:latin typeface="Arial MT"/>
                <a:cs typeface="Arial MT"/>
              </a:rPr>
              <a:t>with</a:t>
            </a:r>
            <a:r>
              <a:rPr sz="1700" spc="-5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D1D1D"/>
                </a:solidFill>
                <a:latin typeface="Arial MT"/>
                <a:cs typeface="Arial MT"/>
              </a:rPr>
              <a:t>the</a:t>
            </a:r>
            <a:r>
              <a:rPr sz="1700" spc="-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following</a:t>
            </a:r>
            <a:r>
              <a:rPr sz="1700" spc="-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metric:</a:t>
            </a:r>
            <a:r>
              <a:rPr sz="17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65" dirty="0">
                <a:solidFill>
                  <a:srgbClr val="282828"/>
                </a:solidFill>
                <a:latin typeface="Arial MT"/>
                <a:cs typeface="Arial MT"/>
              </a:rPr>
              <a:t>a</a:t>
            </a:r>
            <a:r>
              <a:rPr sz="1700" spc="-7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111111"/>
                </a:solidFill>
                <a:latin typeface="Arial MT"/>
                <a:cs typeface="Arial MT"/>
              </a:rPr>
              <a:t>successful</a:t>
            </a:r>
            <a:r>
              <a:rPr sz="1700" spc="-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outcome</a:t>
            </a:r>
            <a:r>
              <a:rPr sz="1700" spc="30" dirty="0"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is</a:t>
            </a:r>
            <a:r>
              <a:rPr sz="17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150" dirty="0">
                <a:solidFill>
                  <a:srgbClr val="262626"/>
                </a:solidFill>
                <a:latin typeface="Arial MT"/>
                <a:cs typeface="Arial MT"/>
              </a:rPr>
              <a:t>a</a:t>
            </a:r>
            <a:r>
              <a:rPr sz="1700" spc="-4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10</a:t>
            </a:r>
            <a:r>
              <a:rPr sz="1700" spc="-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61616"/>
                </a:solidFill>
                <a:latin typeface="Arial MT"/>
                <a:cs typeface="Arial MT"/>
              </a:rPr>
              <a:t>percent </a:t>
            </a:r>
            <a:r>
              <a:rPr sz="1800" spc="-25" dirty="0">
                <a:solidFill>
                  <a:srgbClr val="111111"/>
                </a:solidFill>
                <a:latin typeface="Arial MT"/>
                <a:cs typeface="Arial MT"/>
              </a:rPr>
              <a:t>reduction</a:t>
            </a:r>
            <a:r>
              <a:rPr sz="1800" spc="-10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51515"/>
                </a:solidFill>
                <a:latin typeface="Arial MT"/>
                <a:cs typeface="Arial MT"/>
              </a:rPr>
              <a:t>in</a:t>
            </a:r>
            <a:r>
              <a:rPr sz="1800" spc="-4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800" spc="-1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161616"/>
                </a:solidFill>
                <a:latin typeface="Arial MT"/>
                <a:cs typeface="Arial MT"/>
              </a:rPr>
              <a:t>number</a:t>
            </a:r>
            <a:r>
              <a:rPr sz="1800" spc="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sz="1800" spc="-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spc="-70" dirty="0">
                <a:solidFill>
                  <a:srgbClr val="151515"/>
                </a:solidFill>
                <a:latin typeface="Arial MT"/>
                <a:cs typeface="Arial MT"/>
              </a:rPr>
              <a:t>customers</a:t>
            </a:r>
            <a:r>
              <a:rPr sz="1800" spc="5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800" spc="-45" dirty="0">
                <a:latin typeface="Arial MT"/>
                <a:cs typeface="Arial MT"/>
              </a:rPr>
              <a:t>who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file</a:t>
            </a:r>
            <a:r>
              <a:rPr sz="1800" spc="-1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ctaims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0F0F"/>
                </a:solidFill>
                <a:latin typeface="Arial MT"/>
                <a:cs typeface="Arial MT"/>
              </a:rPr>
              <a:t>fraudulent</a:t>
            </a:r>
            <a:r>
              <a:rPr sz="1800" spc="5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800" spc="-45" dirty="0">
                <a:solidFill>
                  <a:srgbClr val="080808"/>
                </a:solidFill>
                <a:latin typeface="Arial MT"/>
                <a:cs typeface="Arial MT"/>
              </a:rPr>
              <a:t>transactions</a:t>
            </a:r>
            <a:r>
              <a:rPr sz="1800" spc="5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81818"/>
                </a:solidFill>
                <a:latin typeface="Arial MT"/>
                <a:cs typeface="Arial MT"/>
              </a:rPr>
              <a:t>within</a:t>
            </a:r>
            <a:r>
              <a:rPr sz="1800" spc="-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C0C0C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  <a:p>
            <a:pPr marL="19050">
              <a:lnSpc>
                <a:spcPts val="2030"/>
              </a:lnSpc>
            </a:pPr>
            <a:r>
              <a:rPr sz="1800" spc="-30" dirty="0">
                <a:solidFill>
                  <a:srgbClr val="131313"/>
                </a:solidFill>
                <a:latin typeface="Arial MT"/>
                <a:cs typeface="Arial MT"/>
              </a:rPr>
              <a:t>6-</a:t>
            </a:r>
            <a:r>
              <a:rPr sz="1800" spc="-10" dirty="0">
                <a:solidFill>
                  <a:srgbClr val="131313"/>
                </a:solidFill>
                <a:latin typeface="Arial MT"/>
                <a:cs typeface="Arial MT"/>
              </a:rPr>
              <a:t>month</a:t>
            </a:r>
            <a:r>
              <a:rPr sz="1800" spc="-7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0F0F"/>
                </a:solidFill>
                <a:latin typeface="Arial MT"/>
                <a:cs typeface="Arial MT"/>
              </a:rPr>
              <a:t>period.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99618" y="5602022"/>
            <a:ext cx="8385809" cy="5276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3810">
              <a:lnSpc>
                <a:spcPct val="103899"/>
              </a:lnSpc>
              <a:spcBef>
                <a:spcPts val="55"/>
              </a:spcBef>
            </a:pPr>
            <a:r>
              <a:rPr sz="1600" spc="-45" dirty="0">
                <a:solidFill>
                  <a:srgbClr val="1F1F1F"/>
                </a:solidFill>
                <a:latin typeface="Arial MT"/>
                <a:cs typeface="Arial MT"/>
              </a:rPr>
              <a:t>You</a:t>
            </a:r>
            <a:r>
              <a:rPr sz="1600" spc="-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have</a:t>
            </a:r>
            <a:r>
              <a:rPr sz="1600" spc="8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now</a:t>
            </a:r>
            <a:r>
              <a:rPr sz="1600" spc="8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defined</a:t>
            </a:r>
            <a:r>
              <a:rPr sz="1600" spc="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62626"/>
                </a:solidFill>
                <a:latin typeface="Arial MT"/>
                <a:cs typeface="Arial MT"/>
              </a:rPr>
              <a:t>the</a:t>
            </a:r>
            <a:r>
              <a:rPr sz="1600" spc="2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Arial MT"/>
                <a:cs typeface="Arial MT"/>
              </a:rPr>
              <a:t>business</a:t>
            </a:r>
            <a:r>
              <a:rPr sz="1600" spc="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end</a:t>
            </a:r>
            <a:r>
              <a:rPr sz="1600" spc="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61616"/>
                </a:solidFill>
                <a:latin typeface="Arial MT"/>
                <a:cs typeface="Arial MT"/>
              </a:rPr>
              <a:t>of</a:t>
            </a:r>
            <a:r>
              <a:rPr sz="1600" spc="7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your</a:t>
            </a:r>
            <a:r>
              <a:rPr sz="1600" spc="7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problem.</a:t>
            </a:r>
            <a:r>
              <a:rPr sz="1600" spc="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Next</a:t>
            </a:r>
            <a:r>
              <a:rPr sz="1600" spc="1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you</a:t>
            </a:r>
            <a:r>
              <a:rPr sz="1600" spc="10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A1A1A"/>
                </a:solidFill>
                <a:latin typeface="Arial MT"/>
                <a:cs typeface="Arial MT"/>
              </a:rPr>
              <a:t>will</a:t>
            </a:r>
            <a:r>
              <a:rPr sz="16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learn</a:t>
            </a:r>
            <a:r>
              <a:rPr sz="1600" spc="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to</a:t>
            </a:r>
            <a:r>
              <a:rPr sz="1600" spc="229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make</a:t>
            </a:r>
            <a:r>
              <a:rPr sz="1600" spc="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this </a:t>
            </a:r>
            <a:r>
              <a:rPr sz="1600" spc="-50" dirty="0">
                <a:solidFill>
                  <a:srgbClr val="1F1F1F"/>
                </a:solidFill>
                <a:latin typeface="Arial MT"/>
                <a:cs typeface="Arial MT"/>
              </a:rPr>
              <a:t>a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machine</a:t>
            </a:r>
            <a:r>
              <a:rPr sz="1600" spc="1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learning</a:t>
            </a:r>
            <a:r>
              <a:rPr sz="1600" spc="10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61616"/>
                </a:solidFill>
                <a:latin typeface="Arial MT"/>
                <a:cs typeface="Arial MT"/>
              </a:rPr>
              <a:t>problem.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0282" y="4220611"/>
            <a:ext cx="1656288" cy="16562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2537" y="247379"/>
            <a:ext cx="1638186" cy="7240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9680" y="3985294"/>
            <a:ext cx="2036445" cy="805815"/>
          </a:xfrm>
          <a:prstGeom prst="rect">
            <a:avLst/>
          </a:prstGeom>
          <a:solidFill>
            <a:srgbClr val="4F4BA8"/>
          </a:solidFill>
        </p:spPr>
        <p:txBody>
          <a:bodyPr vert="horz" wrap="square" lIns="0" tIns="189865" rIns="0" bIns="0" rtlCol="0">
            <a:spAutoFit/>
          </a:bodyPr>
          <a:lstStyle/>
          <a:p>
            <a:pPr marL="662940">
              <a:lnSpc>
                <a:spcPct val="100000"/>
              </a:lnSpc>
              <a:spcBef>
                <a:spcPts val="1495"/>
              </a:spcBef>
            </a:pPr>
            <a:r>
              <a:rPr sz="2350" spc="-10" dirty="0">
                <a:solidFill>
                  <a:srgbClr val="FFFFFF"/>
                </a:solidFill>
                <a:latin typeface="Arial MT"/>
                <a:cs typeface="Arial MT"/>
              </a:rPr>
              <a:t>Fraud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9680" y="5270486"/>
            <a:ext cx="2036445" cy="814705"/>
          </a:xfrm>
          <a:prstGeom prst="rect">
            <a:avLst/>
          </a:prstGeom>
          <a:solidFill>
            <a:srgbClr val="564FA3"/>
          </a:solidFill>
        </p:spPr>
        <p:txBody>
          <a:bodyPr vert="horz" wrap="square" lIns="0" tIns="183515" rIns="0" bIns="0" rtlCol="0">
            <a:spAutoFit/>
          </a:bodyPr>
          <a:lstStyle/>
          <a:p>
            <a:pPr marL="419734">
              <a:lnSpc>
                <a:spcPct val="100000"/>
              </a:lnSpc>
              <a:spcBef>
                <a:spcPts val="1445"/>
              </a:spcBef>
            </a:pP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2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fraud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6164" y="386277"/>
            <a:ext cx="11241405" cy="33712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860" algn="just">
              <a:lnSpc>
                <a:spcPct val="100000"/>
              </a:lnSpc>
              <a:spcBef>
                <a:spcPts val="125"/>
              </a:spcBef>
            </a:pPr>
            <a:r>
              <a:rPr sz="2200" dirty="0">
                <a:solidFill>
                  <a:srgbClr val="212121"/>
                </a:solidFill>
                <a:latin typeface="Arial MT"/>
                <a:cs typeface="Arial MT"/>
              </a:rPr>
              <a:t>Make</a:t>
            </a:r>
            <a:r>
              <a:rPr sz="22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A1A1A"/>
                </a:solidFill>
                <a:latin typeface="Arial MT"/>
                <a:cs typeface="Arial MT"/>
              </a:rPr>
              <a:t>it</a:t>
            </a:r>
            <a:r>
              <a:rPr sz="2200" spc="4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A2A2A"/>
                </a:solidFill>
                <a:latin typeface="Arial MT"/>
                <a:cs typeface="Arial MT"/>
              </a:rPr>
              <a:t>a</a:t>
            </a:r>
            <a:r>
              <a:rPr sz="2200" spc="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12121"/>
                </a:solidFill>
                <a:latin typeface="Arial MT"/>
                <a:cs typeface="Arial MT"/>
              </a:rPr>
              <a:t>machine</a:t>
            </a:r>
            <a:r>
              <a:rPr sz="2200" spc="1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200" spc="70" dirty="0">
                <a:solidFill>
                  <a:srgbClr val="181818"/>
                </a:solidFill>
                <a:latin typeface="Arial MT"/>
                <a:cs typeface="Arial MT"/>
              </a:rPr>
              <a:t>learning</a:t>
            </a:r>
            <a:r>
              <a:rPr sz="2200" spc="1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200" spc="105" dirty="0">
                <a:solidFill>
                  <a:srgbClr val="1D1D1D"/>
                </a:solidFill>
                <a:latin typeface="Arial MT"/>
                <a:cs typeface="Arial MT"/>
              </a:rPr>
              <a:t>model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2200">
              <a:latin typeface="Arial MT"/>
              <a:cs typeface="Arial MT"/>
            </a:endParaRPr>
          </a:p>
          <a:p>
            <a:pPr marL="12700" marR="252729" indent="3810" algn="just">
              <a:lnSpc>
                <a:spcPct val="103899"/>
              </a:lnSpc>
            </a:pPr>
            <a:r>
              <a:rPr sz="1600" spc="-55" dirty="0">
                <a:solidFill>
                  <a:srgbClr val="1F1F1F"/>
                </a:solidFill>
                <a:latin typeface="Arial MT"/>
                <a:cs typeface="Arial MT"/>
              </a:rPr>
              <a:t>You</a:t>
            </a:r>
            <a:r>
              <a:rPr sz="1600" spc="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1C1C1C"/>
                </a:solidFill>
                <a:latin typeface="Arial MT"/>
                <a:cs typeface="Arial MT"/>
              </a:rPr>
              <a:t>start</a:t>
            </a:r>
            <a:r>
              <a:rPr sz="1600" spc="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0F0F0F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82828"/>
                </a:solidFill>
                <a:latin typeface="Arial MT"/>
                <a:cs typeface="Arial MT"/>
              </a:rPr>
              <a:t>think</a:t>
            </a:r>
            <a:r>
              <a:rPr sz="1600" spc="3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1F1F1F"/>
                </a:solidFill>
                <a:latin typeface="Arial MT"/>
                <a:cs typeface="Arial MT"/>
              </a:rPr>
              <a:t>about</a:t>
            </a:r>
            <a:r>
              <a:rPr sz="1600" spc="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40" dirty="0">
                <a:solidFill>
                  <a:srgbClr val="212121"/>
                </a:solidFill>
                <a:latin typeface="Arial MT"/>
                <a:cs typeface="Arial MT"/>
              </a:rPr>
              <a:t>problem</a:t>
            </a:r>
            <a:r>
              <a:rPr sz="1600" spc="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25" dirty="0">
                <a:solidFill>
                  <a:srgbClr val="262626"/>
                </a:solidFill>
                <a:latin typeface="Arial MT"/>
                <a:cs typeface="Arial MT"/>
              </a:rPr>
              <a:t>in</a:t>
            </a:r>
            <a:r>
              <a:rPr sz="1600" spc="3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20" dirty="0">
                <a:solidFill>
                  <a:srgbClr val="232323"/>
                </a:solidFill>
                <a:latin typeface="Arial MT"/>
                <a:cs typeface="Arial MT"/>
              </a:rPr>
              <a:t>terms</a:t>
            </a:r>
            <a:r>
              <a:rPr sz="1600" spc="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15" dirty="0">
                <a:solidFill>
                  <a:srgbClr val="1C1C1C"/>
                </a:solidFill>
                <a:latin typeface="Arial MT"/>
                <a:cs typeface="Arial MT"/>
              </a:rPr>
              <a:t>of</a:t>
            </a:r>
            <a:r>
              <a:rPr sz="1600" spc="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20" dirty="0">
                <a:latin typeface="Arial MT"/>
                <a:cs typeface="Arial MT"/>
              </a:rPr>
              <a:t>your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90" dirty="0">
                <a:solidFill>
                  <a:srgbClr val="131313"/>
                </a:solidFill>
                <a:latin typeface="Arial MT"/>
                <a:cs typeface="Arial MT"/>
              </a:rPr>
              <a:t>NIL</a:t>
            </a:r>
            <a:r>
              <a:rPr sz="1600" spc="-1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25" dirty="0">
                <a:solidFill>
                  <a:srgbClr val="212121"/>
                </a:solidFill>
                <a:latin typeface="Arial MT"/>
                <a:cs typeface="Arial MT"/>
              </a:rPr>
              <a:t>model.</a:t>
            </a:r>
            <a:r>
              <a:rPr sz="16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5" dirty="0">
                <a:solidFill>
                  <a:srgbClr val="1D1D1D"/>
                </a:solidFill>
                <a:latin typeface="Arial MT"/>
                <a:cs typeface="Arial MT"/>
              </a:rPr>
              <a:t>What</a:t>
            </a:r>
            <a:r>
              <a:rPr sz="1600" spc="6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output</a:t>
            </a:r>
            <a:r>
              <a:rPr sz="1600" spc="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40" dirty="0">
                <a:solidFill>
                  <a:srgbClr val="232323"/>
                </a:solidFill>
                <a:latin typeface="Arial MT"/>
                <a:cs typeface="Arial MT"/>
              </a:rPr>
              <a:t>do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20" dirty="0">
                <a:solidFill>
                  <a:srgbClr val="1D1D1D"/>
                </a:solidFill>
                <a:latin typeface="Arial MT"/>
                <a:cs typeface="Arial MT"/>
              </a:rPr>
              <a:t>you</a:t>
            </a:r>
            <a:r>
              <a:rPr sz="1600" spc="-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45" dirty="0">
                <a:solidFill>
                  <a:srgbClr val="212121"/>
                </a:solidFill>
                <a:latin typeface="Arial MT"/>
                <a:cs typeface="Arial MT"/>
              </a:rPr>
              <a:t>want</a:t>
            </a:r>
            <a:r>
              <a:rPr sz="1600" spc="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30" dirty="0">
                <a:solidFill>
                  <a:srgbClr val="282828"/>
                </a:solidFill>
                <a:latin typeface="Arial MT"/>
                <a:cs typeface="Arial MT"/>
              </a:rPr>
              <a:t>to</a:t>
            </a:r>
            <a:r>
              <a:rPr sz="1600" spc="11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-85" dirty="0">
                <a:solidFill>
                  <a:srgbClr val="1F1F1F"/>
                </a:solidFill>
                <a:latin typeface="Arial MT"/>
                <a:cs typeface="Arial MT"/>
              </a:rPr>
              <a:t>see</a:t>
            </a:r>
            <a:r>
              <a:rPr sz="1600" spc="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C1C1C"/>
                </a:solidFill>
                <a:latin typeface="Arial MT"/>
                <a:cs typeface="Arial MT"/>
              </a:rPr>
              <a:t>from</a:t>
            </a:r>
            <a:r>
              <a:rPr sz="1600" spc="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5" dirty="0">
                <a:solidFill>
                  <a:srgbClr val="1C1C1C"/>
                </a:solidFill>
                <a:latin typeface="Arial MT"/>
                <a:cs typeface="Arial MT"/>
              </a:rPr>
              <a:t>your</a:t>
            </a:r>
            <a:r>
              <a:rPr sz="1600" spc="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model?</a:t>
            </a:r>
            <a:r>
              <a:rPr sz="1600" spc="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95" dirty="0">
                <a:solidFill>
                  <a:srgbClr val="232323"/>
                </a:solidFill>
                <a:latin typeface="Arial MT"/>
                <a:cs typeface="Arial MT"/>
              </a:rPr>
              <a:t>Be</a:t>
            </a:r>
            <a:r>
              <a:rPr sz="1600" spc="-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C1C1C"/>
                </a:solidFill>
                <a:latin typeface="Arial MT"/>
                <a:cs typeface="Arial MT"/>
              </a:rPr>
              <a:t>specific—</a:t>
            </a:r>
            <a:r>
              <a:rPr sz="1600" spc="5" dirty="0">
                <a:solidFill>
                  <a:srgbClr val="1C1C1C"/>
                </a:solidFill>
                <a:latin typeface="Arial MT"/>
                <a:cs typeface="Arial MT"/>
              </a:rPr>
              <a:t>it</a:t>
            </a:r>
            <a:r>
              <a:rPr sz="1600" spc="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15" dirty="0">
                <a:solidFill>
                  <a:srgbClr val="0C0C0C"/>
                </a:solidFill>
                <a:latin typeface="Arial MT"/>
                <a:cs typeface="Arial MT"/>
              </a:rPr>
              <a:t>should</a:t>
            </a:r>
            <a:r>
              <a:rPr sz="1600" spc="-2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30" dirty="0">
                <a:solidFill>
                  <a:srgbClr val="1F1F1F"/>
                </a:solidFill>
                <a:latin typeface="Arial MT"/>
                <a:cs typeface="Arial MT"/>
              </a:rPr>
              <a:t>be</a:t>
            </a:r>
            <a:r>
              <a:rPr sz="1600" spc="-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80" dirty="0">
                <a:solidFill>
                  <a:srgbClr val="0F0F0F"/>
                </a:solidFill>
                <a:latin typeface="Arial MT"/>
                <a:cs typeface="Arial MT"/>
              </a:rPr>
              <a:t>a</a:t>
            </a:r>
            <a:r>
              <a:rPr sz="1600" spc="-3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25" dirty="0">
                <a:solidFill>
                  <a:srgbClr val="0F0F0F"/>
                </a:solidFill>
                <a:latin typeface="Arial MT"/>
                <a:cs typeface="Arial MT"/>
              </a:rPr>
              <a:t>statement</a:t>
            </a:r>
            <a:r>
              <a:rPr sz="1600" spc="4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0E0E0E"/>
                </a:solidFill>
                <a:latin typeface="Arial MT"/>
                <a:cs typeface="Arial MT"/>
              </a:rPr>
              <a:t>that</a:t>
            </a:r>
            <a:r>
              <a:rPr sz="1600" spc="-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spc="25" dirty="0">
                <a:solidFill>
                  <a:srgbClr val="1A1A1A"/>
                </a:solidFill>
                <a:latin typeface="Arial MT"/>
                <a:cs typeface="Arial MT"/>
              </a:rPr>
              <a:t>reflects</a:t>
            </a:r>
            <a:r>
              <a:rPr sz="16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45" dirty="0">
                <a:solidFill>
                  <a:srgbClr val="151515"/>
                </a:solidFill>
                <a:latin typeface="Arial MT"/>
                <a:cs typeface="Arial MT"/>
              </a:rPr>
              <a:t>what</a:t>
            </a:r>
            <a:r>
              <a:rPr sz="1600" spc="5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161616"/>
                </a:solidFill>
                <a:latin typeface="Arial MT"/>
                <a:cs typeface="Arial MT"/>
              </a:rPr>
              <a:t>a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n</a:t>
            </a:r>
            <a:r>
              <a:rPr sz="1600" spc="-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A2A2A"/>
                </a:solidFill>
                <a:latin typeface="Arial MT"/>
                <a:cs typeface="Arial MT"/>
              </a:rPr>
              <a:t>ML</a:t>
            </a:r>
            <a:r>
              <a:rPr sz="1600" spc="-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31313"/>
                </a:solidFill>
                <a:latin typeface="Arial MT"/>
                <a:cs typeface="Arial MT"/>
              </a:rPr>
              <a:t>modet</a:t>
            </a:r>
            <a:r>
              <a:rPr sz="1600" spc="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40" dirty="0">
                <a:solidFill>
                  <a:srgbClr val="0C0C0C"/>
                </a:solidFill>
                <a:latin typeface="Arial MT"/>
                <a:cs typeface="Arial MT"/>
              </a:rPr>
              <a:t>can</a:t>
            </a:r>
            <a:r>
              <a:rPr sz="1600" spc="8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0E0E0E"/>
                </a:solidFill>
                <a:latin typeface="Arial MT"/>
                <a:cs typeface="Arial MT"/>
              </a:rPr>
              <a:t>output.</a:t>
            </a:r>
            <a:r>
              <a:rPr sz="1600" spc="-2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0F0F0F"/>
                </a:solidFill>
                <a:latin typeface="Arial MT"/>
                <a:cs typeface="Arial MT"/>
              </a:rPr>
              <a:t>An</a:t>
            </a:r>
            <a:r>
              <a:rPr sz="1600" spc="-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1A1A1A"/>
                </a:solidFill>
                <a:latin typeface="Arial MT"/>
                <a:cs typeface="Arial MT"/>
              </a:rPr>
              <a:t>exampl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e</a:t>
            </a:r>
            <a:r>
              <a:rPr sz="16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0E0E0E"/>
                </a:solidFill>
                <a:latin typeface="Arial MT"/>
                <a:cs typeface="Arial MT"/>
              </a:rPr>
              <a:t>might</a:t>
            </a:r>
            <a:r>
              <a:rPr sz="1600" spc="2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82828"/>
                </a:solidFill>
                <a:latin typeface="Arial MT"/>
                <a:cs typeface="Arial MT"/>
              </a:rPr>
              <a:t>b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e</a:t>
            </a:r>
            <a:r>
              <a:rPr sz="1600" spc="-1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62626"/>
                </a:solidFill>
                <a:latin typeface="Arial MT"/>
                <a:cs typeface="Arial MT"/>
              </a:rPr>
              <a:t>the</a:t>
            </a:r>
            <a:r>
              <a:rPr sz="160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45" dirty="0">
                <a:solidFill>
                  <a:srgbClr val="0C0C0C"/>
                </a:solidFill>
                <a:latin typeface="Arial MT"/>
                <a:cs typeface="Arial MT"/>
              </a:rPr>
              <a:t>following:</a:t>
            </a:r>
            <a:r>
              <a:rPr sz="1600" spc="2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1A1A1A"/>
                </a:solidFill>
                <a:latin typeface="Arial MT"/>
                <a:cs typeface="Arial MT"/>
              </a:rPr>
              <a:t>The </a:t>
            </a:r>
            <a:r>
              <a:rPr sz="1600" spc="65" dirty="0">
                <a:solidFill>
                  <a:srgbClr val="242424"/>
                </a:solidFill>
                <a:latin typeface="Arial MT"/>
                <a:cs typeface="Arial MT"/>
              </a:rPr>
              <a:t>model</a:t>
            </a:r>
            <a:r>
              <a:rPr sz="1600" spc="-7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spc="105" dirty="0">
                <a:solidFill>
                  <a:srgbClr val="232323"/>
                </a:solidFill>
                <a:latin typeface="Arial MT"/>
                <a:cs typeface="Arial MT"/>
              </a:rPr>
              <a:t>will</a:t>
            </a:r>
            <a:r>
              <a:rPr sz="1600" spc="-8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A1A1A"/>
                </a:solidFill>
                <a:latin typeface="Arial MT"/>
                <a:cs typeface="Arial MT"/>
              </a:rPr>
              <a:t>output</a:t>
            </a:r>
            <a:r>
              <a:rPr sz="16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30" dirty="0">
                <a:solidFill>
                  <a:srgbClr val="0A0A0A"/>
                </a:solidFill>
                <a:latin typeface="Arial MT"/>
                <a:cs typeface="Arial MT"/>
              </a:rPr>
              <a:t>whether</a:t>
            </a:r>
            <a:r>
              <a:rPr sz="1600" spc="6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-80" dirty="0">
                <a:solidFill>
                  <a:srgbClr val="262626"/>
                </a:solidFill>
                <a:latin typeface="Arial MT"/>
                <a:cs typeface="Arial MT"/>
              </a:rPr>
              <a:t>a</a:t>
            </a:r>
            <a:r>
              <a:rPr sz="1600" spc="2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1C1C1C"/>
                </a:solidFill>
                <a:latin typeface="Arial MT"/>
                <a:cs typeface="Arial MT"/>
              </a:rPr>
              <a:t>credit</a:t>
            </a:r>
            <a:r>
              <a:rPr sz="1600" spc="-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161616"/>
                </a:solidFill>
                <a:latin typeface="Arial MT"/>
                <a:cs typeface="Arial MT"/>
              </a:rPr>
              <a:t>car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d</a:t>
            </a:r>
            <a:r>
              <a:rPr sz="1600" spc="-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20" dirty="0">
                <a:solidFill>
                  <a:srgbClr val="212121"/>
                </a:solidFill>
                <a:latin typeface="Arial MT"/>
                <a:cs typeface="Arial MT"/>
              </a:rPr>
              <a:t>transaction </a:t>
            </a:r>
            <a:r>
              <a:rPr sz="1600" spc="-10" dirty="0">
                <a:solidFill>
                  <a:srgbClr val="212121"/>
                </a:solidFill>
                <a:latin typeface="Arial MT"/>
                <a:cs typeface="Arial MT"/>
              </a:rPr>
              <a:t>is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30" dirty="0">
                <a:solidFill>
                  <a:srgbClr val="1A1A1A"/>
                </a:solidFill>
                <a:latin typeface="Arial MT"/>
                <a:cs typeface="Arial MT"/>
              </a:rPr>
              <a:t>fraudulent</a:t>
            </a:r>
            <a:r>
              <a:rPr sz="1600" spc="1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25" dirty="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B2B2B"/>
                </a:solidFill>
                <a:latin typeface="Arial MT"/>
                <a:cs typeface="Arial MT"/>
              </a:rPr>
              <a:t>not</a:t>
            </a:r>
            <a:r>
              <a:rPr sz="160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600" spc="40" dirty="0">
                <a:solidFill>
                  <a:srgbClr val="131313"/>
                </a:solidFill>
                <a:latin typeface="Arial MT"/>
                <a:cs typeface="Arial MT"/>
              </a:rPr>
              <a:t>fraudulent.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600">
              <a:latin typeface="Arial MT"/>
              <a:cs typeface="Arial MT"/>
            </a:endParaRPr>
          </a:p>
          <a:p>
            <a:pPr marL="13335" marR="223520" indent="4445" algn="just">
              <a:lnSpc>
                <a:spcPct val="100000"/>
              </a:lnSpc>
            </a:pPr>
            <a:r>
              <a:rPr sz="1700" spc="-65" dirty="0">
                <a:solidFill>
                  <a:srgbClr val="1D1D1D"/>
                </a:solidFill>
                <a:latin typeface="Arial MT"/>
                <a:cs typeface="Arial MT"/>
              </a:rPr>
              <a:t>Now</a:t>
            </a:r>
            <a:r>
              <a:rPr sz="1700" spc="-5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sz="1700" spc="-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262626"/>
                </a:solidFill>
                <a:latin typeface="Arial MT"/>
                <a:cs typeface="Arial MT"/>
              </a:rPr>
              <a:t>you</a:t>
            </a:r>
            <a:r>
              <a:rPr sz="1700" spc="-7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know</a:t>
            </a:r>
            <a:r>
              <a:rPr sz="1700" spc="-114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what</a:t>
            </a:r>
            <a:r>
              <a:rPr sz="1700" spc="-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F1F1F"/>
                </a:solidFill>
                <a:latin typeface="Arial MT"/>
                <a:cs typeface="Arial MT"/>
              </a:rPr>
              <a:t>your</a:t>
            </a:r>
            <a:r>
              <a:rPr sz="1700" spc="-1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165" dirty="0">
                <a:solidFill>
                  <a:srgbClr val="1F1F1F"/>
                </a:solidFill>
                <a:latin typeface="Arial MT"/>
                <a:cs typeface="Arial MT"/>
              </a:rPr>
              <a:t>ML</a:t>
            </a:r>
            <a:r>
              <a:rPr sz="170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A0A0A"/>
                </a:solidFill>
                <a:latin typeface="Arial MT"/>
                <a:cs typeface="Arial MT"/>
              </a:rPr>
              <a:t>model</a:t>
            </a:r>
            <a:r>
              <a:rPr sz="1700" spc="-6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should</a:t>
            </a:r>
            <a:r>
              <a:rPr sz="1700" spc="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111111"/>
                </a:solidFill>
                <a:latin typeface="Arial MT"/>
                <a:cs typeface="Arial MT"/>
              </a:rPr>
              <a:t>achieve,</a:t>
            </a:r>
            <a:r>
              <a:rPr sz="1700" spc="8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you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95" dirty="0">
                <a:solidFill>
                  <a:srgbClr val="131313"/>
                </a:solidFill>
                <a:latin typeface="Arial MT"/>
                <a:cs typeface="Arial MT"/>
              </a:rPr>
              <a:t>can</a:t>
            </a:r>
            <a:r>
              <a:rPr sz="1700" spc="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135" dirty="0">
                <a:solidFill>
                  <a:srgbClr val="1C1C1C"/>
                </a:solidFill>
                <a:latin typeface="Arial MT"/>
                <a:cs typeface="Arial MT"/>
              </a:rPr>
              <a:t>use</a:t>
            </a:r>
            <a:r>
              <a:rPr sz="1700" spc="1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this</a:t>
            </a: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61616"/>
                </a:solidFill>
                <a:latin typeface="Arial MT"/>
                <a:cs typeface="Arial MT"/>
              </a:rPr>
              <a:t>information</a:t>
            </a:r>
            <a:r>
              <a:rPr sz="1700" spc="10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700" spc="-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F1F1F"/>
                </a:solidFill>
                <a:latin typeface="Arial MT"/>
                <a:cs typeface="Arial MT"/>
              </a:rPr>
              <a:t>determine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type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sz="17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155" dirty="0">
                <a:solidFill>
                  <a:srgbClr val="0C0C0C"/>
                </a:solidFill>
                <a:latin typeface="Arial MT"/>
                <a:cs typeface="Arial MT"/>
              </a:rPr>
              <a:t>ML</a:t>
            </a:r>
            <a:r>
              <a:rPr sz="1700" spc="4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61616"/>
                </a:solidFill>
                <a:latin typeface="Arial MT"/>
                <a:cs typeface="Arial MT"/>
              </a:rPr>
              <a:t>that 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you</a:t>
            </a:r>
            <a:r>
              <a:rPr sz="1700" spc="-1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131313"/>
                </a:solidFill>
                <a:latin typeface="Arial MT"/>
                <a:cs typeface="Arial MT"/>
              </a:rPr>
              <a:t>will</a:t>
            </a:r>
            <a:r>
              <a:rPr sz="1700" spc="-1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11111"/>
                </a:solidFill>
                <a:latin typeface="Arial MT"/>
                <a:cs typeface="Arial MT"/>
              </a:rPr>
              <a:t>work</a:t>
            </a:r>
            <a:r>
              <a:rPr sz="170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31313"/>
                </a:solidFill>
                <a:latin typeface="Arial MT"/>
                <a:cs typeface="Arial MT"/>
              </a:rPr>
              <a:t>with.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Arial MT"/>
              <a:cs typeface="Arial MT"/>
            </a:endParaRPr>
          </a:p>
          <a:p>
            <a:pPr marL="13970" marR="5080" indent="3810">
              <a:lnSpc>
                <a:spcPct val="98700"/>
              </a:lnSpc>
            </a:pPr>
            <a:r>
              <a:rPr sz="1700" spc="-85" dirty="0">
                <a:solidFill>
                  <a:srgbClr val="0C0C0C"/>
                </a:solidFill>
                <a:latin typeface="Arial MT"/>
                <a:cs typeface="Arial MT"/>
              </a:rPr>
              <a:t>Recall</a:t>
            </a:r>
            <a:r>
              <a:rPr sz="1700" spc="-3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700" spc="-1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50505"/>
                </a:solidFill>
                <a:latin typeface="Arial MT"/>
                <a:cs typeface="Arial MT"/>
              </a:rPr>
              <a:t>two</a:t>
            </a:r>
            <a:r>
              <a:rPr sz="1700" spc="-120" dirty="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51515"/>
                </a:solidFill>
                <a:latin typeface="Arial MT"/>
                <a:cs typeface="Arial MT"/>
              </a:rPr>
              <a:t>types</a:t>
            </a:r>
            <a:r>
              <a:rPr sz="1700" spc="-8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D2D2D"/>
                </a:solidFill>
                <a:latin typeface="Arial MT"/>
                <a:cs typeface="Arial MT"/>
              </a:rPr>
              <a:t>of</a:t>
            </a:r>
            <a:r>
              <a:rPr sz="1700" spc="-4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supervised</a:t>
            </a:r>
            <a:r>
              <a:rPr sz="1700" spc="50" dirty="0">
                <a:latin typeface="Arial MT"/>
                <a:cs typeface="Arial MT"/>
              </a:rPr>
              <a:t> </a:t>
            </a:r>
            <a:r>
              <a:rPr sz="1700" spc="-90" dirty="0">
                <a:solidFill>
                  <a:srgbClr val="181818"/>
                </a:solidFill>
                <a:latin typeface="Arial MT"/>
                <a:cs typeface="Arial MT"/>
              </a:rPr>
              <a:t>ML:</a:t>
            </a:r>
            <a:r>
              <a:rPr sz="1700" spc="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161616"/>
                </a:solidFill>
                <a:latin typeface="Arial MT"/>
                <a:cs typeface="Arial MT"/>
              </a:rPr>
              <a:t>classification</a:t>
            </a:r>
            <a:r>
              <a:rPr sz="1700" spc="-10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7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65" dirty="0">
                <a:solidFill>
                  <a:srgbClr val="181818"/>
                </a:solidFill>
                <a:latin typeface="Arial MT"/>
                <a:cs typeface="Arial MT"/>
              </a:rPr>
              <a:t>regression.</a:t>
            </a:r>
            <a:r>
              <a:rPr sz="17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61616"/>
                </a:solidFill>
                <a:latin typeface="Arial MT"/>
                <a:cs typeface="Arial MT"/>
              </a:rPr>
              <a:t>In</a:t>
            </a:r>
            <a:r>
              <a:rPr sz="1700" spc="-1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70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0F0F"/>
                </a:solidFill>
                <a:latin typeface="Arial MT"/>
                <a:cs typeface="Arial MT"/>
              </a:rPr>
              <a:t>credit</a:t>
            </a:r>
            <a:r>
              <a:rPr sz="1700" spc="-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70" dirty="0">
                <a:solidFill>
                  <a:srgbClr val="1C1C1C"/>
                </a:solidFill>
                <a:latin typeface="Arial MT"/>
                <a:cs typeface="Arial MT"/>
              </a:rPr>
              <a:t>card</a:t>
            </a:r>
            <a:r>
              <a:rPr sz="1700" spc="-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161616"/>
                </a:solidFill>
                <a:latin typeface="Arial MT"/>
                <a:cs typeface="Arial MT"/>
              </a:rPr>
              <a:t>example,</a:t>
            </a:r>
            <a:r>
              <a:rPr sz="1700" spc="5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31313"/>
                </a:solidFill>
                <a:latin typeface="Arial MT"/>
                <a:cs typeface="Arial MT"/>
              </a:rPr>
              <a:t>your</a:t>
            </a:r>
            <a:r>
              <a:rPr sz="1700" spc="-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D1D1D"/>
                </a:solidFill>
                <a:latin typeface="Arial MT"/>
                <a:cs typeface="Arial MT"/>
              </a:rPr>
              <a:t>intended</a:t>
            </a:r>
            <a:r>
              <a:rPr sz="1700" spc="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output</a:t>
            </a:r>
            <a:r>
              <a:rPr sz="1700" spc="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212121"/>
                </a:solidFill>
                <a:latin typeface="Arial MT"/>
                <a:cs typeface="Arial MT"/>
              </a:rPr>
              <a:t>is</a:t>
            </a:r>
            <a:r>
              <a:rPr sz="1700" spc="-10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40" dirty="0">
                <a:solidFill>
                  <a:srgbClr val="262626"/>
                </a:solidFill>
                <a:latin typeface="Arial MT"/>
                <a:cs typeface="Arial MT"/>
              </a:rPr>
              <a:t>to </a:t>
            </a:r>
            <a:r>
              <a:rPr sz="1700" spc="-40" dirty="0">
                <a:solidFill>
                  <a:srgbClr val="111111"/>
                </a:solidFill>
                <a:latin typeface="Arial MT"/>
                <a:cs typeface="Arial MT"/>
              </a:rPr>
              <a:t>classify</a:t>
            </a:r>
            <a:r>
              <a:rPr sz="1700" spc="-8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150" dirty="0">
                <a:solidFill>
                  <a:srgbClr val="161616"/>
                </a:solidFill>
                <a:latin typeface="Arial MT"/>
                <a:cs typeface="Arial MT"/>
              </a:rPr>
              <a:t>a</a:t>
            </a:r>
            <a:r>
              <a:rPr sz="1700" spc="-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0F0F"/>
                </a:solidFill>
                <a:latin typeface="Arial MT"/>
                <a:cs typeface="Arial MT"/>
              </a:rPr>
              <a:t>transaction</a:t>
            </a:r>
            <a:r>
              <a:rPr sz="1700" spc="-3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160" dirty="0">
                <a:solidFill>
                  <a:srgbClr val="1F1F1F"/>
                </a:solidFill>
                <a:latin typeface="Arial MT"/>
                <a:cs typeface="Arial MT"/>
              </a:rPr>
              <a:t>as</a:t>
            </a:r>
            <a:r>
              <a:rPr sz="1700" spc="-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0F0F"/>
                </a:solidFill>
                <a:latin typeface="Arial MT"/>
                <a:cs typeface="Arial MT"/>
              </a:rPr>
              <a:t>either</a:t>
            </a:r>
            <a:r>
              <a:rPr sz="1700" spc="-6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i="1" dirty="0">
                <a:solidFill>
                  <a:srgbClr val="232323"/>
                </a:solidFill>
                <a:latin typeface="Arial"/>
                <a:cs typeface="Arial"/>
              </a:rPr>
              <a:t>frot/d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sz="1700" spc="-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i="1" dirty="0">
                <a:solidFill>
                  <a:srgbClr val="1C1C1C"/>
                </a:solidFill>
                <a:latin typeface="Arial"/>
                <a:cs typeface="Arial"/>
              </a:rPr>
              <a:t>not</a:t>
            </a:r>
            <a:r>
              <a:rPr sz="1700" i="1" spc="3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700" i="1" spc="-35" dirty="0">
                <a:solidFill>
                  <a:srgbClr val="111111"/>
                </a:solidFill>
                <a:latin typeface="Arial"/>
                <a:cs typeface="Arial"/>
              </a:rPr>
              <a:t>froud.</a:t>
            </a:r>
            <a:r>
              <a:rPr sz="1700" i="1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700" spc="-40" dirty="0">
                <a:solidFill>
                  <a:srgbClr val="131313"/>
                </a:solidFill>
                <a:latin typeface="Arial MT"/>
                <a:cs typeface="Arial MT"/>
              </a:rPr>
              <a:t>Therefore,</a:t>
            </a:r>
            <a:r>
              <a:rPr sz="1700" spc="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62626"/>
                </a:solidFill>
                <a:latin typeface="Arial MT"/>
                <a:cs typeface="Arial MT"/>
              </a:rPr>
              <a:t>in</a:t>
            </a:r>
            <a:r>
              <a:rPr sz="1700" spc="-12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this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-125" dirty="0">
                <a:solidFill>
                  <a:srgbClr val="0A0A0A"/>
                </a:solidFill>
                <a:latin typeface="Arial MT"/>
                <a:cs typeface="Arial MT"/>
              </a:rPr>
              <a:t>case,</a:t>
            </a:r>
            <a:r>
              <a:rPr sz="1700" spc="2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212121"/>
                </a:solidFill>
                <a:latin typeface="Arial MT"/>
                <a:cs typeface="Arial MT"/>
              </a:rPr>
              <a:t>you</a:t>
            </a:r>
            <a:r>
              <a:rPr sz="1700" spc="-6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100" dirty="0">
                <a:solidFill>
                  <a:srgbClr val="161616"/>
                </a:solidFill>
                <a:latin typeface="Arial MT"/>
                <a:cs typeface="Arial MT"/>
              </a:rPr>
              <a:t>can</a:t>
            </a:r>
            <a:r>
              <a:rPr sz="1700" spc="-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150" dirty="0">
                <a:solidFill>
                  <a:srgbClr val="2A2A2A"/>
                </a:solidFill>
                <a:latin typeface="Arial MT"/>
                <a:cs typeface="Arial MT"/>
              </a:rPr>
              <a:t>see</a:t>
            </a:r>
            <a:r>
              <a:rPr sz="1700" spc="1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that</a:t>
            </a:r>
            <a:r>
              <a:rPr sz="1700" spc="-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you're</a:t>
            </a:r>
            <a:r>
              <a:rPr sz="170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C1C1C"/>
                </a:solidFill>
                <a:latin typeface="Arial MT"/>
                <a:cs typeface="Arial MT"/>
              </a:rPr>
              <a:t>dealing</a:t>
            </a:r>
            <a:r>
              <a:rPr sz="1700" spc="7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</a:rPr>
              <a:t>with</a:t>
            </a:r>
            <a:r>
              <a:rPr sz="1700" spc="-7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00" spc="-150" dirty="0">
                <a:solidFill>
                  <a:srgbClr val="2F2F2F"/>
                </a:solidFill>
                <a:latin typeface="Arial MT"/>
                <a:cs typeface="Arial MT"/>
              </a:rPr>
              <a:t>a</a:t>
            </a:r>
            <a:r>
              <a:rPr sz="1700" spc="-6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700" i="1" spc="-10" dirty="0">
                <a:solidFill>
                  <a:srgbClr val="232323"/>
                </a:solidFill>
                <a:latin typeface="Arial"/>
                <a:cs typeface="Arial"/>
              </a:rPr>
              <a:t>binary </a:t>
            </a:r>
            <a:r>
              <a:rPr sz="1700" i="1" spc="-40" dirty="0">
                <a:solidFill>
                  <a:srgbClr val="161616"/>
                </a:solidFill>
                <a:latin typeface="Arial"/>
                <a:cs typeface="Arial"/>
              </a:rPr>
              <a:t>classification</a:t>
            </a:r>
            <a:r>
              <a:rPr sz="1700" i="1" spc="-2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1F1F1F"/>
                </a:solidFill>
                <a:latin typeface="Arial"/>
                <a:cs typeface="Arial"/>
              </a:rPr>
              <a:t>problem.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69702" y="4784638"/>
            <a:ext cx="300355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solidFill>
                  <a:srgbClr val="0F0F0F"/>
                </a:solidFill>
                <a:latin typeface="Calibri"/>
                <a:cs typeface="Calibri"/>
              </a:rPr>
              <a:t>Binary</a:t>
            </a:r>
            <a:r>
              <a:rPr sz="1950" spc="29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11111"/>
                </a:solidFill>
                <a:latin typeface="Calibri"/>
                <a:cs typeface="Calibri"/>
              </a:rPr>
              <a:t>classification</a:t>
            </a:r>
            <a:r>
              <a:rPr sz="1950" spc="13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61616"/>
                </a:solidFill>
                <a:latin typeface="Calibri"/>
                <a:cs typeface="Calibri"/>
              </a:rPr>
              <a:t>problem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362" y="1908971"/>
            <a:ext cx="11488017" cy="419298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017" y="15367"/>
            <a:ext cx="0" cy="6835140"/>
          </a:xfrm>
          <a:custGeom>
            <a:avLst/>
            <a:gdLst/>
            <a:ahLst/>
            <a:cxnLst/>
            <a:rect l="l" t="t" r="r" b="b"/>
            <a:pathLst>
              <a:path h="6835140">
                <a:moveTo>
                  <a:pt x="0" y="6835009"/>
                </a:moveTo>
                <a:lnTo>
                  <a:pt x="0" y="0"/>
                </a:lnTo>
              </a:path>
            </a:pathLst>
          </a:custGeom>
          <a:ln w="18034">
            <a:solidFill>
              <a:srgbClr val="161F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30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20"/>
              </a:spcBef>
            </a:pPr>
            <a:r>
              <a:rPr sz="2100" spc="70" dirty="0">
                <a:solidFill>
                  <a:srgbClr val="1F1F1F"/>
                </a:solidFill>
                <a:latin typeface="Arial MT"/>
                <a:cs typeface="Arial MT"/>
              </a:rPr>
              <a:t>Machine</a:t>
            </a:r>
            <a:r>
              <a:rPr sz="2100" spc="19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100" spc="114" dirty="0">
                <a:solidFill>
                  <a:srgbClr val="181818"/>
                </a:solidFill>
                <a:latin typeface="Arial MT"/>
                <a:cs typeface="Arial MT"/>
              </a:rPr>
              <a:t>learning</a:t>
            </a:r>
            <a:r>
              <a:rPr sz="2100" spc="1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100" spc="120" dirty="0">
                <a:latin typeface="Arial MT"/>
                <a:cs typeface="Arial MT"/>
              </a:rPr>
              <a:t>pipeline</a:t>
            </a:r>
            <a:r>
              <a:rPr sz="2100" spc="190" dirty="0">
                <a:latin typeface="Arial MT"/>
                <a:cs typeface="Arial MT"/>
              </a:rPr>
              <a:t> </a:t>
            </a:r>
            <a:r>
              <a:rPr sz="2100" spc="-1050" dirty="0">
                <a:solidFill>
                  <a:srgbClr val="2D2D2D"/>
                </a:solidFill>
                <a:latin typeface="Arial MT"/>
                <a:cs typeface="Arial MT"/>
              </a:rPr>
              <a:t>—</a:t>
            </a:r>
            <a:r>
              <a:rPr sz="2100" spc="4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100" spc="50" dirty="0">
                <a:solidFill>
                  <a:srgbClr val="1C1C1C"/>
                </a:solidFill>
                <a:latin typeface="Arial MT"/>
                <a:cs typeface="Arial MT"/>
              </a:rPr>
              <a:t>Data</a:t>
            </a:r>
            <a:r>
              <a:rPr sz="2100" spc="18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100" spc="114" dirty="0">
                <a:solidFill>
                  <a:srgbClr val="111111"/>
                </a:solidFill>
                <a:latin typeface="Arial MT"/>
                <a:cs typeface="Arial MT"/>
              </a:rPr>
              <a:t>collection</a:t>
            </a:r>
            <a:r>
              <a:rPr sz="2100" spc="17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100" spc="85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2100" spc="114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100" spc="105" dirty="0">
                <a:solidFill>
                  <a:srgbClr val="181818"/>
                </a:solidFill>
                <a:latin typeface="Arial MT"/>
                <a:cs typeface="Arial MT"/>
              </a:rPr>
              <a:t>evaluation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002" y="1578917"/>
            <a:ext cx="1627505" cy="303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-160" dirty="0">
                <a:solidFill>
                  <a:srgbClr val="1A1A1A"/>
                </a:solidFill>
                <a:latin typeface="Arial MT"/>
                <a:cs typeface="Arial MT"/>
              </a:rPr>
              <a:t>Business</a:t>
            </a:r>
            <a:r>
              <a:rPr sz="18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spc="-70" dirty="0">
                <a:solidFill>
                  <a:srgbClr val="161616"/>
                </a:solidFill>
                <a:latin typeface="Arial MT"/>
                <a:cs typeface="Arial MT"/>
              </a:rPr>
              <a:t>problem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53385" y="1597703"/>
            <a:ext cx="1891030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145" dirty="0">
                <a:solidFill>
                  <a:srgbClr val="111111"/>
                </a:solidFill>
                <a:latin typeface="Consolas"/>
                <a:cs typeface="Consolas"/>
              </a:rPr>
              <a:t>Nevvdata,retraining</a:t>
            </a:r>
            <a:endParaRPr sz="165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6309" y="5249655"/>
            <a:ext cx="3881754" cy="7874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42135">
              <a:lnSpc>
                <a:spcPct val="100000"/>
              </a:lnSpc>
              <a:spcBef>
                <a:spcPts val="125"/>
              </a:spcBef>
            </a:pPr>
            <a:r>
              <a:rPr sz="1650" spc="-40" dirty="0">
                <a:solidFill>
                  <a:srgbClr val="181818"/>
                </a:solidFill>
                <a:latin typeface="Arial MT"/>
                <a:cs typeface="Arial MT"/>
              </a:rPr>
              <a:t>Feature</a:t>
            </a:r>
            <a:r>
              <a:rPr sz="1650" spc="-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111111"/>
                </a:solidFill>
                <a:latin typeface="Arial MT"/>
                <a:cs typeface="Arial MT"/>
              </a:rPr>
              <a:t>augmentation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51515"/>
                </a:solidFill>
                <a:latin typeface="Arial MT"/>
                <a:cs typeface="Arial MT"/>
              </a:rPr>
              <a:t>Data</a:t>
            </a:r>
            <a:r>
              <a:rPr sz="1700" spc="-6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111"/>
                </a:solidFill>
                <a:latin typeface="Arial MT"/>
                <a:cs typeface="Arial MT"/>
              </a:rPr>
              <a:t>augmentation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54927" y="3040450"/>
            <a:ext cx="315595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175" dirty="0">
                <a:solidFill>
                  <a:srgbClr val="1F1F1F"/>
                </a:solidFill>
                <a:latin typeface="Arial MT"/>
                <a:cs typeface="Arial MT"/>
              </a:rPr>
              <a:t>Yes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6805" y="2243997"/>
            <a:ext cx="1007657" cy="79886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75450" y="1626689"/>
            <a:ext cx="3249922" cy="19790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15158" y="1617610"/>
            <a:ext cx="3249922" cy="19880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5743" y="201434"/>
            <a:ext cx="1643117" cy="7262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35"/>
              </a:spcBef>
            </a:pPr>
            <a:r>
              <a:rPr sz="2150" spc="60" dirty="0">
                <a:solidFill>
                  <a:srgbClr val="1F1F1F"/>
                </a:solidFill>
                <a:latin typeface="Arial MT"/>
                <a:cs typeface="Arial MT"/>
              </a:rPr>
              <a:t>Data</a:t>
            </a:r>
            <a:r>
              <a:rPr sz="2150" spc="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150" spc="-10" dirty="0">
                <a:solidFill>
                  <a:srgbClr val="151515"/>
                </a:solidFill>
                <a:latin typeface="Arial MT"/>
                <a:cs typeface="Arial MT"/>
              </a:rPr>
              <a:t>sources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100" y="1652410"/>
            <a:ext cx="3241040" cy="1970405"/>
          </a:xfrm>
          <a:prstGeom prst="rect">
            <a:avLst/>
          </a:prstGeom>
          <a:ln w="15129">
            <a:solidFill>
              <a:srgbClr val="1C4B6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1750">
              <a:latin typeface="Times New Roman"/>
              <a:cs typeface="Times New Roman"/>
            </a:endParaRPr>
          </a:p>
          <a:p>
            <a:pPr marL="1006475">
              <a:lnSpc>
                <a:spcPct val="100000"/>
              </a:lnSpc>
            </a:pPr>
            <a:r>
              <a:rPr sz="1750" dirty="0">
                <a:solidFill>
                  <a:srgbClr val="111111"/>
                </a:solidFill>
                <a:latin typeface="Arial MT"/>
                <a:cs typeface="Arial MT"/>
              </a:rPr>
              <a:t>Private</a:t>
            </a:r>
            <a:r>
              <a:rPr sz="1750" spc="2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1C1C1C"/>
                </a:solidFill>
                <a:latin typeface="Arial MT"/>
                <a:cs typeface="Arial MT"/>
              </a:rPr>
              <a:t>data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04919" y="3134563"/>
            <a:ext cx="5867400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997960" algn="l"/>
              </a:tabLst>
            </a:pPr>
            <a:r>
              <a:rPr sz="1750" dirty="0">
                <a:solidFill>
                  <a:srgbClr val="151515"/>
                </a:solidFill>
                <a:latin typeface="Arial MT"/>
                <a:cs typeface="Arial MT"/>
              </a:rPr>
              <a:t>Commercial</a:t>
            </a:r>
            <a:r>
              <a:rPr sz="1750" spc="204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151515"/>
                </a:solidFill>
                <a:latin typeface="Arial MT"/>
                <a:cs typeface="Arial MT"/>
              </a:rPr>
              <a:t>data</a:t>
            </a:r>
            <a:r>
              <a:rPr sz="1750" dirty="0">
                <a:solidFill>
                  <a:srgbClr val="151515"/>
                </a:solidFill>
                <a:latin typeface="Arial MT"/>
                <a:cs typeface="Arial MT"/>
              </a:rPr>
              <a:t>	</a:t>
            </a:r>
            <a:r>
              <a:rPr sz="1750" dirty="0">
                <a:solidFill>
                  <a:srgbClr val="1A1A1A"/>
                </a:solidFill>
                <a:latin typeface="Arial MT"/>
                <a:cs typeface="Arial MT"/>
              </a:rPr>
              <a:t>Open-source</a:t>
            </a:r>
            <a:r>
              <a:rPr sz="1750" spc="26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181818"/>
                </a:solidFill>
                <a:latin typeface="Arial MT"/>
                <a:cs typeface="Arial MT"/>
              </a:rPr>
              <a:t>data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8322" y="3757166"/>
            <a:ext cx="10911205" cy="156019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indent="3810">
              <a:lnSpc>
                <a:spcPct val="105500"/>
              </a:lnSpc>
              <a:spcBef>
                <a:spcPts val="30"/>
              </a:spcBef>
            </a:pP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After</a:t>
            </a:r>
            <a:r>
              <a:rPr sz="16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61616"/>
                </a:solidFill>
                <a:latin typeface="Arial MT"/>
                <a:cs typeface="Arial MT"/>
              </a:rPr>
              <a:t>the</a:t>
            </a:r>
            <a:r>
              <a:rPr sz="1600" spc="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12121"/>
                </a:solidFill>
                <a:latin typeface="Arial MT"/>
                <a:cs typeface="Arial MT"/>
              </a:rPr>
              <a:t>business</a:t>
            </a:r>
            <a:r>
              <a:rPr sz="1600" spc="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problem</a:t>
            </a:r>
            <a:r>
              <a:rPr sz="16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is</a:t>
            </a:r>
            <a:r>
              <a:rPr sz="160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31313"/>
                </a:solidFill>
                <a:latin typeface="Arial MT"/>
                <a:cs typeface="Arial MT"/>
              </a:rPr>
              <a:t>fully</a:t>
            </a:r>
            <a:r>
              <a:rPr sz="1600" spc="8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developed,</a:t>
            </a:r>
            <a:r>
              <a:rPr sz="1600" spc="1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you</a:t>
            </a:r>
            <a:r>
              <a:rPr sz="16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must</a:t>
            </a:r>
            <a:r>
              <a:rPr sz="1600" spc="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61616"/>
                </a:solidFill>
                <a:latin typeface="Arial MT"/>
                <a:cs typeface="Arial MT"/>
              </a:rPr>
              <a:t>ask</a:t>
            </a:r>
            <a:r>
              <a:rPr sz="1600" spc="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yourself</a:t>
            </a:r>
            <a:r>
              <a:rPr sz="1600" spc="1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some</a:t>
            </a:r>
            <a:r>
              <a:rPr sz="1600" spc="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questions.</a:t>
            </a:r>
            <a:r>
              <a:rPr sz="1600" spc="1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Which</a:t>
            </a:r>
            <a:r>
              <a:rPr sz="1600" spc="10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data</a:t>
            </a:r>
            <a:r>
              <a:rPr sz="1600" spc="9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do</a:t>
            </a:r>
            <a:r>
              <a:rPr sz="1600" spc="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you</a:t>
            </a:r>
            <a:r>
              <a:rPr sz="16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need</a:t>
            </a:r>
            <a:r>
              <a:rPr sz="1600" spc="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to</a:t>
            </a:r>
            <a:r>
              <a:rPr sz="1600" spc="19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45" dirty="0">
                <a:latin typeface="Arial MT"/>
                <a:cs typeface="Arial MT"/>
              </a:rPr>
              <a:t>train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your</a:t>
            </a:r>
            <a:r>
              <a:rPr sz="1600" spc="6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model</a:t>
            </a:r>
            <a:r>
              <a:rPr sz="1600" spc="-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B2B2B"/>
                </a:solidFill>
                <a:latin typeface="Arial MT"/>
                <a:cs typeface="Arial MT"/>
              </a:rPr>
              <a:t>to</a:t>
            </a:r>
            <a:r>
              <a:rPr sz="1600" spc="16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reach</a:t>
            </a:r>
            <a:r>
              <a:rPr sz="1600" spc="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82828"/>
                </a:solidFill>
                <a:latin typeface="Arial MT"/>
                <a:cs typeface="Arial MT"/>
              </a:rPr>
              <a:t>the</a:t>
            </a:r>
            <a:r>
              <a:rPr sz="1600" spc="1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intended</a:t>
            </a:r>
            <a:r>
              <a:rPr sz="1600" spc="9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1F1F1F"/>
                </a:solidFill>
                <a:latin typeface="Arial MT"/>
                <a:cs typeface="Arial MT"/>
              </a:rPr>
              <a:t>output</a:t>
            </a:r>
            <a:r>
              <a:rPr sz="1600" spc="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and,</a:t>
            </a:r>
            <a:r>
              <a:rPr sz="1600" spc="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subsequently,</a:t>
            </a:r>
            <a:r>
              <a:rPr sz="1600" spc="8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your</a:t>
            </a:r>
            <a:r>
              <a:rPr sz="1600" spc="5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specified</a:t>
            </a:r>
            <a:r>
              <a:rPr sz="1600" spc="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61616"/>
                </a:solidFill>
                <a:latin typeface="Arial MT"/>
                <a:cs typeface="Arial MT"/>
              </a:rPr>
              <a:t>business</a:t>
            </a:r>
            <a:r>
              <a:rPr sz="1600" spc="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outcome?</a:t>
            </a:r>
            <a:r>
              <a:rPr sz="1600" spc="11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Do</a:t>
            </a:r>
            <a:r>
              <a:rPr sz="16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you</a:t>
            </a:r>
            <a:r>
              <a:rPr sz="1600" spc="-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have</a:t>
            </a:r>
            <a:r>
              <a:rPr sz="1600" spc="1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90" dirty="0">
                <a:solidFill>
                  <a:srgbClr val="1A1A1A"/>
                </a:solidFill>
                <a:latin typeface="Arial MT"/>
                <a:cs typeface="Arial MT"/>
              </a:rPr>
              <a:t>access</a:t>
            </a:r>
            <a:r>
              <a:rPr sz="1600" spc="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42424"/>
                </a:solidFill>
                <a:latin typeface="Arial MT"/>
                <a:cs typeface="Arial MT"/>
              </a:rPr>
              <a:t>to </a:t>
            </a:r>
            <a:r>
              <a:rPr sz="1600" spc="75" dirty="0">
                <a:solidFill>
                  <a:srgbClr val="161616"/>
                </a:solidFill>
                <a:latin typeface="Arial MT"/>
                <a:cs typeface="Arial MT"/>
              </a:rPr>
              <a:t>that</a:t>
            </a:r>
            <a:r>
              <a:rPr sz="1600" spc="5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80808"/>
                </a:solidFill>
                <a:latin typeface="Arial MT"/>
                <a:cs typeface="Arial MT"/>
              </a:rPr>
              <a:t>data?</a:t>
            </a:r>
            <a:r>
              <a:rPr sz="1600" spc="-2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If</a:t>
            </a:r>
            <a:r>
              <a:rPr sz="1600" spc="1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82828"/>
                </a:solidFill>
                <a:latin typeface="Arial MT"/>
                <a:cs typeface="Arial MT"/>
              </a:rPr>
              <a:t>so,</a:t>
            </a:r>
            <a:r>
              <a:rPr sz="1600" spc="-5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C1C1C"/>
                </a:solidFill>
                <a:latin typeface="Arial MT"/>
                <a:cs typeface="Arial MT"/>
              </a:rPr>
              <a:t>how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much</a:t>
            </a:r>
            <a:r>
              <a:rPr sz="1600" spc="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data</a:t>
            </a:r>
            <a:r>
              <a:rPr sz="1600" spc="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do</a:t>
            </a:r>
            <a:r>
              <a:rPr sz="1600" spc="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you</a:t>
            </a:r>
            <a:r>
              <a:rPr sz="1600" spc="-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have,</a:t>
            </a:r>
            <a:r>
              <a:rPr sz="1600" spc="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and</a:t>
            </a:r>
            <a:r>
              <a:rPr sz="1600" spc="-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where</a:t>
            </a:r>
            <a:r>
              <a:rPr sz="1600" spc="-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343434"/>
                </a:solidFill>
                <a:latin typeface="Arial MT"/>
                <a:cs typeface="Arial MT"/>
              </a:rPr>
              <a:t>is</a:t>
            </a:r>
            <a:r>
              <a:rPr sz="1600" spc="1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it?</a:t>
            </a:r>
            <a:r>
              <a:rPr sz="1600" spc="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What</a:t>
            </a:r>
            <a:r>
              <a:rPr sz="1600" spc="10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solution</a:t>
            </a:r>
            <a:r>
              <a:rPr sz="1600" spc="6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can</a:t>
            </a:r>
            <a:r>
              <a:rPr sz="1600" spc="-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B2B2B"/>
                </a:solidFill>
                <a:latin typeface="Arial MT"/>
                <a:cs typeface="Arial MT"/>
              </a:rPr>
              <a:t>you</a:t>
            </a:r>
            <a:r>
              <a:rPr sz="1600" spc="6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600" spc="-40" dirty="0">
                <a:solidFill>
                  <a:srgbClr val="232323"/>
                </a:solidFill>
                <a:latin typeface="Arial MT"/>
                <a:cs typeface="Arial MT"/>
              </a:rPr>
              <a:t>use</a:t>
            </a:r>
            <a:r>
              <a:rPr sz="1600" spc="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to</a:t>
            </a:r>
            <a:r>
              <a:rPr sz="1600" spc="3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bring</a:t>
            </a:r>
            <a:r>
              <a:rPr sz="1600" spc="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0A0A0A"/>
                </a:solidFill>
                <a:latin typeface="Arial MT"/>
                <a:cs typeface="Arial MT"/>
              </a:rPr>
              <a:t>all</a:t>
            </a:r>
            <a:r>
              <a:rPr sz="1600" spc="-12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D1D1D"/>
                </a:solidFill>
                <a:latin typeface="Arial MT"/>
                <a:cs typeface="Arial MT"/>
              </a:rPr>
              <a:t>this</a:t>
            </a:r>
            <a:r>
              <a:rPr sz="1600" spc="-1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sz="1600" spc="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D1D1D"/>
                </a:solidFill>
                <a:latin typeface="Arial MT"/>
                <a:cs typeface="Arial MT"/>
              </a:rPr>
              <a:t>into</a:t>
            </a:r>
            <a:r>
              <a:rPr sz="1600" spc="7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82828"/>
                </a:solidFill>
                <a:latin typeface="Arial MT"/>
                <a:cs typeface="Arial MT"/>
              </a:rPr>
              <a:t>one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centralized</a:t>
            </a:r>
            <a:r>
              <a:rPr sz="1600" spc="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repository?</a:t>
            </a:r>
            <a:r>
              <a:rPr sz="1600" spc="18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Answering</a:t>
            </a:r>
            <a:r>
              <a:rPr sz="1600" spc="6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these</a:t>
            </a:r>
            <a:r>
              <a:rPr sz="1600" spc="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questions</a:t>
            </a:r>
            <a:r>
              <a:rPr sz="1600" spc="9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is</a:t>
            </a:r>
            <a:r>
              <a:rPr sz="1600" spc="-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essential</a:t>
            </a:r>
            <a:r>
              <a:rPr sz="1600" spc="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at</a:t>
            </a:r>
            <a:r>
              <a:rPr sz="1600" spc="-1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282828"/>
                </a:solidFill>
                <a:latin typeface="Arial MT"/>
                <a:cs typeface="Arial MT"/>
              </a:rPr>
              <a:t>this</a:t>
            </a:r>
            <a:r>
              <a:rPr sz="1600" spc="-8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stage.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</a:pPr>
            <a:r>
              <a:rPr sz="1800" spc="-20" dirty="0">
                <a:solidFill>
                  <a:srgbClr val="212121"/>
                </a:solidFill>
                <a:latin typeface="Calibri"/>
                <a:cs typeface="Calibri"/>
              </a:rPr>
              <a:t>There</a:t>
            </a:r>
            <a:r>
              <a:rPr sz="1800" spc="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32323"/>
                </a:solidFill>
                <a:latin typeface="Calibri"/>
                <a:cs typeface="Calibri"/>
              </a:rPr>
              <a:t>are</a:t>
            </a:r>
            <a:r>
              <a:rPr sz="18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A1A1A"/>
                </a:solidFill>
                <a:latin typeface="Calibri"/>
                <a:cs typeface="Calibri"/>
              </a:rPr>
              <a:t>three</a:t>
            </a:r>
            <a:r>
              <a:rPr sz="1800" spc="-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major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A1A1A"/>
                </a:solidFill>
                <a:latin typeface="Calibri"/>
                <a:cs typeface="Calibri"/>
              </a:rPr>
              <a:t>types</a:t>
            </a:r>
            <a:r>
              <a:rPr sz="1800" spc="-5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8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D1D"/>
                </a:solidFill>
                <a:latin typeface="Calibri"/>
                <a:cs typeface="Calibri"/>
              </a:rPr>
              <a:t>data</a:t>
            </a:r>
            <a:r>
              <a:rPr sz="1800" spc="-7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42424"/>
                </a:solidFill>
                <a:latin typeface="Calibri"/>
                <a:cs typeface="Calibri"/>
              </a:rPr>
              <a:t>to</a:t>
            </a:r>
            <a:r>
              <a:rPr sz="1800" spc="-9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800" spc="-40" dirty="0">
                <a:solidFill>
                  <a:srgbClr val="181818"/>
                </a:solidFill>
                <a:latin typeface="Calibri"/>
                <a:cs typeface="Calibri"/>
              </a:rPr>
              <a:t>consider.</a:t>
            </a:r>
            <a:r>
              <a:rPr sz="1800" spc="1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00" i="1" spc="-30" dirty="0">
                <a:solidFill>
                  <a:srgbClr val="1C1C1C"/>
                </a:solidFill>
                <a:latin typeface="Calibri"/>
                <a:cs typeface="Calibri"/>
              </a:rPr>
              <a:t>Choose</a:t>
            </a:r>
            <a:r>
              <a:rPr sz="1800" i="1" spc="-2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D2D2D"/>
                </a:solidFill>
                <a:latin typeface="Calibri"/>
                <a:cs typeface="Calibri"/>
              </a:rPr>
              <a:t>the</a:t>
            </a:r>
            <a:r>
              <a:rPr sz="1800" i="1" spc="-9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161616"/>
                </a:solidFill>
                <a:latin typeface="Calibri"/>
                <a:cs typeface="Calibri"/>
              </a:rPr>
              <a:t>buttons</a:t>
            </a:r>
            <a:r>
              <a:rPr sz="1800" i="1" spc="-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42424"/>
                </a:solidFill>
                <a:latin typeface="Calibri"/>
                <a:cs typeface="Calibri"/>
              </a:rPr>
              <a:t>to</a:t>
            </a:r>
            <a:r>
              <a:rPr sz="1800" i="1" spc="-6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800" i="1" spc="-35" dirty="0">
                <a:solidFill>
                  <a:srgbClr val="131313"/>
                </a:solidFill>
                <a:latin typeface="Calibri"/>
                <a:cs typeface="Calibri"/>
              </a:rPr>
              <a:t>read</a:t>
            </a:r>
            <a:r>
              <a:rPr sz="1800" i="1" spc="-3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1C1C1C"/>
                </a:solidFill>
                <a:latin typeface="Calibri"/>
                <a:cs typeface="Calibri"/>
              </a:rPr>
              <a:t>more.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830" y="1423737"/>
            <a:ext cx="11528945" cy="458070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35396" y="252104"/>
            <a:ext cx="1609090" cy="0"/>
          </a:xfrm>
          <a:custGeom>
            <a:avLst/>
            <a:gdLst/>
            <a:ahLst/>
            <a:cxnLst/>
            <a:rect l="l" t="t" r="r" b="b"/>
            <a:pathLst>
              <a:path w="1609089">
                <a:moveTo>
                  <a:pt x="0" y="0"/>
                </a:moveTo>
                <a:lnTo>
                  <a:pt x="1608549" y="0"/>
                </a:lnTo>
              </a:path>
            </a:pathLst>
          </a:custGeom>
          <a:ln w="21164">
            <a:solidFill>
              <a:srgbClr val="B86B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30"/>
              </a:spcBef>
            </a:pPr>
            <a:r>
              <a:rPr sz="2350" spc="100" dirty="0">
                <a:solidFill>
                  <a:srgbClr val="1D1D1D"/>
                </a:solidFill>
                <a:latin typeface="Calibri"/>
                <a:cs typeface="Calibri"/>
              </a:rPr>
              <a:t>Data</a:t>
            </a:r>
            <a:r>
              <a:rPr sz="2350" spc="2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350" spc="-10" dirty="0">
                <a:solidFill>
                  <a:srgbClr val="111111"/>
                </a:solidFill>
                <a:latin typeface="Calibri"/>
                <a:cs typeface="Calibri"/>
              </a:rPr>
              <a:t>sources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4538" y="1680639"/>
            <a:ext cx="10857230" cy="13582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solidFill>
                  <a:srgbClr val="1A1A1A"/>
                </a:solidFill>
                <a:latin typeface="Calibri"/>
                <a:cs typeface="Calibri"/>
              </a:rPr>
              <a:t>Private</a:t>
            </a:r>
            <a:r>
              <a:rPr sz="1950" spc="1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950" spc="-20" dirty="0">
                <a:solidFill>
                  <a:srgbClr val="131313"/>
                </a:solidFill>
                <a:latin typeface="Calibri"/>
                <a:cs typeface="Calibri"/>
              </a:rPr>
              <a:t>data</a:t>
            </a:r>
            <a:endParaRPr sz="1950">
              <a:latin typeface="Calibri"/>
              <a:cs typeface="Calibri"/>
            </a:endParaRPr>
          </a:p>
          <a:p>
            <a:pPr marL="13970" marR="5080" indent="-1905">
              <a:lnSpc>
                <a:spcPct val="94200"/>
              </a:lnSpc>
              <a:spcBef>
                <a:spcPts val="2010"/>
              </a:spcBef>
            </a:pPr>
            <a:r>
              <a:rPr sz="1800" dirty="0">
                <a:solidFill>
                  <a:srgbClr val="161616"/>
                </a:solidFill>
                <a:latin typeface="Calibri"/>
                <a:cs typeface="Calibri"/>
              </a:rPr>
              <a:t>Private</a:t>
            </a:r>
            <a:r>
              <a:rPr sz="1800" spc="-1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E0E0E"/>
                </a:solidFill>
                <a:latin typeface="Calibri"/>
                <a:cs typeface="Calibri"/>
              </a:rPr>
              <a:t>data</a:t>
            </a:r>
            <a:r>
              <a:rPr sz="1800" spc="-5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A2A2A"/>
                </a:solidFill>
                <a:latin typeface="Calibri"/>
                <a:cs typeface="Calibri"/>
              </a:rPr>
              <a:t>is</a:t>
            </a:r>
            <a:r>
              <a:rPr sz="1800" spc="-5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81818"/>
                </a:solidFill>
                <a:latin typeface="Calibri"/>
                <a:cs typeface="Calibri"/>
              </a:rPr>
              <a:t>data</a:t>
            </a:r>
            <a:r>
              <a:rPr sz="1800" spc="-9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A0A0A"/>
                </a:solidFill>
                <a:latin typeface="Calibri"/>
                <a:cs typeface="Calibri"/>
              </a:rPr>
              <a:t>that</a:t>
            </a:r>
            <a:r>
              <a:rPr sz="1800" spc="-3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81818"/>
                </a:solidFill>
                <a:latin typeface="Calibri"/>
                <a:cs typeface="Calibri"/>
              </a:rPr>
              <a:t>you</a:t>
            </a:r>
            <a:r>
              <a:rPr sz="1800" spc="-5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1C1C"/>
                </a:solidFill>
                <a:latin typeface="Calibri"/>
                <a:cs typeface="Calibri"/>
              </a:rPr>
              <a:t>have</a:t>
            </a:r>
            <a:r>
              <a:rPr sz="1800" spc="-5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12121"/>
                </a:solidFill>
                <a:latin typeface="Calibri"/>
                <a:cs typeface="Calibri"/>
              </a:rPr>
              <a:t>in</a:t>
            </a:r>
            <a:r>
              <a:rPr sz="1800" spc="-5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81818"/>
                </a:solidFill>
                <a:latin typeface="Calibri"/>
                <a:cs typeface="Calibri"/>
              </a:rPr>
              <a:t>various</a:t>
            </a:r>
            <a:r>
              <a:rPr sz="1800" spc="1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Calibri"/>
                <a:cs typeface="Calibri"/>
              </a:rPr>
              <a:t>existing</a:t>
            </a:r>
            <a:r>
              <a:rPr sz="1800" spc="7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32323"/>
                </a:solidFill>
                <a:latin typeface="Calibri"/>
                <a:cs typeface="Calibri"/>
              </a:rPr>
              <a:t>systems.</a:t>
            </a:r>
            <a:r>
              <a:rPr sz="1800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E0E0E"/>
                </a:solidFill>
                <a:latin typeface="Calibri"/>
                <a:cs typeface="Calibri"/>
              </a:rPr>
              <a:t>Everything</a:t>
            </a:r>
            <a:r>
              <a:rPr sz="1800" spc="5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0F0F"/>
                </a:solidFill>
                <a:latin typeface="Calibri"/>
                <a:cs typeface="Calibri"/>
              </a:rPr>
              <a:t>from</a:t>
            </a:r>
            <a:r>
              <a:rPr sz="1800" spc="-4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32323"/>
                </a:solidFill>
                <a:latin typeface="Calibri"/>
                <a:cs typeface="Calibri"/>
              </a:rPr>
              <a:t>log</a:t>
            </a:r>
            <a:r>
              <a:rPr sz="18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61616"/>
                </a:solidFill>
                <a:latin typeface="Calibri"/>
                <a:cs typeface="Calibri"/>
              </a:rPr>
              <a:t>files</a:t>
            </a:r>
            <a:r>
              <a:rPr sz="1800" spc="-3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81818"/>
                </a:solidFill>
                <a:latin typeface="Calibri"/>
                <a:cs typeface="Calibri"/>
              </a:rPr>
              <a:t>to</a:t>
            </a:r>
            <a:r>
              <a:rPr sz="1800" spc="1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151515"/>
                </a:solidFill>
                <a:latin typeface="Calibri"/>
                <a:cs typeface="Calibri"/>
              </a:rPr>
              <a:t>customer</a:t>
            </a:r>
            <a:r>
              <a:rPr sz="1800" spc="4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81818"/>
                </a:solidFill>
                <a:latin typeface="Calibri"/>
                <a:cs typeface="Calibri"/>
              </a:rPr>
              <a:t>invoice</a:t>
            </a:r>
            <a:r>
              <a:rPr sz="1800" spc="-1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11111"/>
                </a:solidFill>
                <a:latin typeface="Calibri"/>
                <a:cs typeface="Calibri"/>
              </a:rPr>
              <a:t>databases </a:t>
            </a:r>
            <a:r>
              <a:rPr sz="1800" spc="-20" dirty="0">
                <a:solidFill>
                  <a:srgbClr val="232323"/>
                </a:solidFill>
                <a:latin typeface="Calibri"/>
                <a:cs typeface="Calibri"/>
              </a:rPr>
              <a:t>can</a:t>
            </a:r>
            <a:r>
              <a:rPr sz="18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1C1C"/>
                </a:solidFill>
                <a:latin typeface="Calibri"/>
                <a:cs typeface="Calibri"/>
              </a:rPr>
              <a:t>be</a:t>
            </a:r>
            <a:r>
              <a:rPr sz="1800" spc="-2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61616"/>
                </a:solidFill>
                <a:latin typeface="Calibri"/>
                <a:cs typeface="Calibri"/>
              </a:rPr>
              <a:t>useful,</a:t>
            </a:r>
            <a:r>
              <a:rPr sz="1800" spc="1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Calibri"/>
                <a:cs typeface="Calibri"/>
              </a:rPr>
              <a:t>depending</a:t>
            </a:r>
            <a:r>
              <a:rPr sz="1800" spc="16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82828"/>
                </a:solidFill>
                <a:latin typeface="Calibri"/>
                <a:cs typeface="Calibri"/>
              </a:rPr>
              <a:t>on</a:t>
            </a:r>
            <a:r>
              <a:rPr sz="1800" spc="-4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0F0F"/>
                </a:solidFill>
                <a:latin typeface="Calibri"/>
                <a:cs typeface="Calibri"/>
              </a:rPr>
              <a:t>the</a:t>
            </a:r>
            <a:r>
              <a:rPr sz="1800" spc="-7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81818"/>
                </a:solidFill>
                <a:latin typeface="Calibri"/>
                <a:cs typeface="Calibri"/>
              </a:rPr>
              <a:t>problem</a:t>
            </a:r>
            <a:r>
              <a:rPr sz="1800" spc="2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E0E0E"/>
                </a:solidFill>
                <a:latin typeface="Calibri"/>
                <a:cs typeface="Calibri"/>
              </a:rPr>
              <a:t>that</a:t>
            </a:r>
            <a:r>
              <a:rPr sz="1800" spc="-9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E0E0E"/>
                </a:solidFill>
                <a:latin typeface="Calibri"/>
                <a:cs typeface="Calibri"/>
              </a:rPr>
              <a:t>you</a:t>
            </a:r>
            <a:r>
              <a:rPr sz="1800" spc="-4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F0F0F"/>
                </a:solidFill>
                <a:latin typeface="Calibri"/>
                <a:cs typeface="Calibri"/>
              </a:rPr>
              <a:t>want</a:t>
            </a:r>
            <a:r>
              <a:rPr sz="1800" spc="-7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42424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solve.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81818"/>
                </a:solidFill>
                <a:latin typeface="Calibri"/>
                <a:cs typeface="Calibri"/>
              </a:rPr>
              <a:t>In</a:t>
            </a:r>
            <a:r>
              <a:rPr sz="1800" spc="-2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A1A1A"/>
                </a:solidFill>
                <a:latin typeface="Calibri"/>
                <a:cs typeface="Calibri"/>
              </a:rPr>
              <a:t>some </a:t>
            </a:r>
            <a:r>
              <a:rPr sz="1800" spc="-30" dirty="0">
                <a:solidFill>
                  <a:srgbClr val="131313"/>
                </a:solidFill>
                <a:latin typeface="Calibri"/>
                <a:cs typeface="Calibri"/>
              </a:rPr>
              <a:t>cases,</a:t>
            </a:r>
            <a:r>
              <a:rPr sz="1800" spc="3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C1C1C"/>
                </a:solidFill>
                <a:latin typeface="Calibri"/>
                <a:cs typeface="Calibri"/>
              </a:rPr>
              <a:t>data</a:t>
            </a:r>
            <a:r>
              <a:rPr sz="1800" spc="-4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F2F2F"/>
                </a:solidFill>
                <a:latin typeface="Calibri"/>
                <a:cs typeface="Calibri"/>
              </a:rPr>
              <a:t>is</a:t>
            </a:r>
            <a:r>
              <a:rPr sz="1800" spc="-6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81818"/>
                </a:solidFill>
                <a:latin typeface="Calibri"/>
                <a:cs typeface="Calibri"/>
              </a:rPr>
              <a:t>found</a:t>
            </a:r>
            <a:r>
              <a:rPr sz="1800" spc="-1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B2B2B"/>
                </a:solidFill>
                <a:latin typeface="Calibri"/>
                <a:cs typeface="Calibri"/>
              </a:rPr>
              <a:t>in</a:t>
            </a:r>
            <a:r>
              <a:rPr sz="1800" spc="-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11111"/>
                </a:solidFill>
                <a:latin typeface="Calibri"/>
                <a:cs typeface="Calibri"/>
              </a:rPr>
              <a:t>many</a:t>
            </a:r>
            <a:r>
              <a:rPr sz="1800" spc="4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61616"/>
                </a:solidFill>
                <a:latin typeface="Calibri"/>
                <a:cs typeface="Calibri"/>
              </a:rPr>
              <a:t>different </a:t>
            </a:r>
            <a:r>
              <a:rPr sz="1800" spc="-10" dirty="0">
                <a:solidFill>
                  <a:srgbClr val="181818"/>
                </a:solidFill>
                <a:latin typeface="Calibri"/>
                <a:cs typeface="Calibri"/>
              </a:rPr>
              <a:t>systems.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69933" y="1586355"/>
            <a:ext cx="370267" cy="37930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0577" y="240733"/>
            <a:ext cx="1643627" cy="6321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689253" y="3672520"/>
            <a:ext cx="0" cy="1054100"/>
          </a:xfrm>
          <a:custGeom>
            <a:avLst/>
            <a:gdLst/>
            <a:ahLst/>
            <a:cxnLst/>
            <a:rect l="l" t="t" r="r" b="b"/>
            <a:pathLst>
              <a:path h="1054100">
                <a:moveTo>
                  <a:pt x="0" y="1053618"/>
                </a:moveTo>
                <a:lnTo>
                  <a:pt x="0" y="0"/>
                </a:lnTo>
              </a:path>
            </a:pathLst>
          </a:custGeom>
          <a:ln w="15051">
            <a:solidFill>
              <a:srgbClr val="444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681727" y="3672520"/>
            <a:ext cx="1405890" cy="836930"/>
            <a:chOff x="8681727" y="3672520"/>
            <a:chExt cx="1405890" cy="836930"/>
          </a:xfrm>
        </p:grpSpPr>
        <p:sp>
          <p:nvSpPr>
            <p:cNvPr id="6" name="object 6"/>
            <p:cNvSpPr/>
            <p:nvPr/>
          </p:nvSpPr>
          <p:spPr>
            <a:xfrm>
              <a:off x="10080014" y="3672520"/>
              <a:ext cx="0" cy="836930"/>
            </a:xfrm>
            <a:custGeom>
              <a:avLst/>
              <a:gdLst/>
              <a:ahLst/>
              <a:cxnLst/>
              <a:rect l="l" t="t" r="r" b="b"/>
              <a:pathLst>
                <a:path h="836929">
                  <a:moveTo>
                    <a:pt x="0" y="836874"/>
                  </a:moveTo>
                  <a:lnTo>
                    <a:pt x="0" y="0"/>
                  </a:lnTo>
                </a:path>
              </a:pathLst>
            </a:custGeom>
            <a:ln w="15051">
              <a:solidFill>
                <a:srgbClr val="444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81727" y="3680045"/>
              <a:ext cx="1405890" cy="0"/>
            </a:xfrm>
            <a:custGeom>
              <a:avLst/>
              <a:gdLst/>
              <a:ahLst/>
              <a:cxnLst/>
              <a:rect l="l" t="t" r="r" b="b"/>
              <a:pathLst>
                <a:path w="1405890">
                  <a:moveTo>
                    <a:pt x="0" y="0"/>
                  </a:moveTo>
                  <a:lnTo>
                    <a:pt x="1405814" y="0"/>
                  </a:lnTo>
                </a:path>
              </a:pathLst>
            </a:custGeom>
            <a:ln w="15051">
              <a:solidFill>
                <a:srgbClr val="444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8681727" y="4718612"/>
            <a:ext cx="1071880" cy="0"/>
          </a:xfrm>
          <a:custGeom>
            <a:avLst/>
            <a:gdLst/>
            <a:ahLst/>
            <a:cxnLst/>
            <a:rect l="l" t="t" r="r" b="b"/>
            <a:pathLst>
              <a:path w="1071879">
                <a:moveTo>
                  <a:pt x="0" y="0"/>
                </a:moveTo>
                <a:lnTo>
                  <a:pt x="1071669" y="0"/>
                </a:lnTo>
              </a:path>
            </a:pathLst>
          </a:custGeom>
          <a:ln w="15051">
            <a:solidFill>
              <a:srgbClr val="444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8681727" y="3880233"/>
            <a:ext cx="1405890" cy="1577975"/>
            <a:chOff x="8681727" y="3880233"/>
            <a:chExt cx="1405890" cy="1577975"/>
          </a:xfrm>
        </p:grpSpPr>
        <p:sp>
          <p:nvSpPr>
            <p:cNvPr id="10" name="object 10"/>
            <p:cNvSpPr/>
            <p:nvPr/>
          </p:nvSpPr>
          <p:spPr>
            <a:xfrm>
              <a:off x="8681727" y="3887759"/>
              <a:ext cx="1405890" cy="0"/>
            </a:xfrm>
            <a:custGeom>
              <a:avLst/>
              <a:gdLst/>
              <a:ahLst/>
              <a:cxnLst/>
              <a:rect l="l" t="t" r="r" b="b"/>
              <a:pathLst>
                <a:path w="1405890">
                  <a:moveTo>
                    <a:pt x="0" y="0"/>
                  </a:moveTo>
                  <a:lnTo>
                    <a:pt x="1405814" y="0"/>
                  </a:lnTo>
                </a:path>
              </a:pathLst>
            </a:custGeom>
            <a:ln w="15051">
              <a:solidFill>
                <a:srgbClr val="444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57169" y="3880233"/>
              <a:ext cx="0" cy="846455"/>
            </a:xfrm>
            <a:custGeom>
              <a:avLst/>
              <a:gdLst/>
              <a:ahLst/>
              <a:cxnLst/>
              <a:rect l="l" t="t" r="r" b="b"/>
              <a:pathLst>
                <a:path h="846454">
                  <a:moveTo>
                    <a:pt x="0" y="845905"/>
                  </a:moveTo>
                  <a:lnTo>
                    <a:pt x="0" y="0"/>
                  </a:lnTo>
                </a:path>
              </a:pathLst>
            </a:custGeom>
            <a:ln w="15051">
              <a:solidFill>
                <a:srgbClr val="444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827149" y="4557560"/>
              <a:ext cx="0" cy="900430"/>
            </a:xfrm>
            <a:custGeom>
              <a:avLst/>
              <a:gdLst/>
              <a:ahLst/>
              <a:cxnLst/>
              <a:rect l="l" t="t" r="r" b="b"/>
              <a:pathLst>
                <a:path h="900429">
                  <a:moveTo>
                    <a:pt x="0" y="900091"/>
                  </a:moveTo>
                  <a:lnTo>
                    <a:pt x="0" y="0"/>
                  </a:lnTo>
                </a:path>
              </a:pathLst>
            </a:custGeom>
            <a:ln w="15051">
              <a:solidFill>
                <a:srgbClr val="3438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819623" y="4557560"/>
            <a:ext cx="1216660" cy="900430"/>
            <a:chOff x="9819623" y="4557560"/>
            <a:chExt cx="1216660" cy="900430"/>
          </a:xfrm>
        </p:grpSpPr>
        <p:sp>
          <p:nvSpPr>
            <p:cNvPr id="14" name="object 14"/>
            <p:cNvSpPr/>
            <p:nvPr/>
          </p:nvSpPr>
          <p:spPr>
            <a:xfrm>
              <a:off x="11028262" y="4557560"/>
              <a:ext cx="0" cy="900430"/>
            </a:xfrm>
            <a:custGeom>
              <a:avLst/>
              <a:gdLst/>
              <a:ahLst/>
              <a:cxnLst/>
              <a:rect l="l" t="t" r="r" b="b"/>
              <a:pathLst>
                <a:path h="900429">
                  <a:moveTo>
                    <a:pt x="0" y="900091"/>
                  </a:moveTo>
                  <a:lnTo>
                    <a:pt x="0" y="0"/>
                  </a:lnTo>
                </a:path>
              </a:pathLst>
            </a:custGeom>
            <a:ln w="15051">
              <a:solidFill>
                <a:srgbClr val="3438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819623" y="4565086"/>
              <a:ext cx="1216660" cy="0"/>
            </a:xfrm>
            <a:custGeom>
              <a:avLst/>
              <a:gdLst/>
              <a:ahLst/>
              <a:cxnLst/>
              <a:rect l="l" t="t" r="r" b="b"/>
              <a:pathLst>
                <a:path w="1216659">
                  <a:moveTo>
                    <a:pt x="0" y="0"/>
                  </a:moveTo>
                  <a:lnTo>
                    <a:pt x="1216164" y="0"/>
                  </a:lnTo>
                </a:path>
              </a:pathLst>
            </a:custGeom>
            <a:ln w="15051">
              <a:solidFill>
                <a:srgbClr val="3438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819623" y="5450124"/>
              <a:ext cx="1144270" cy="0"/>
            </a:xfrm>
            <a:custGeom>
              <a:avLst/>
              <a:gdLst/>
              <a:ahLst/>
              <a:cxnLst/>
              <a:rect l="l" t="t" r="r" b="b"/>
              <a:pathLst>
                <a:path w="1144270">
                  <a:moveTo>
                    <a:pt x="0" y="0"/>
                  </a:moveTo>
                  <a:lnTo>
                    <a:pt x="1143917" y="0"/>
                  </a:lnTo>
                </a:path>
              </a:pathLst>
            </a:custGeom>
            <a:ln w="15051">
              <a:solidFill>
                <a:srgbClr val="3438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908428" y="4629807"/>
              <a:ext cx="0" cy="737870"/>
            </a:xfrm>
            <a:custGeom>
              <a:avLst/>
              <a:gdLst/>
              <a:ahLst/>
              <a:cxnLst/>
              <a:rect l="l" t="t" r="r" b="b"/>
              <a:pathLst>
                <a:path h="737870">
                  <a:moveTo>
                    <a:pt x="0" y="737533"/>
                  </a:moveTo>
                  <a:lnTo>
                    <a:pt x="0" y="0"/>
                  </a:lnTo>
                </a:path>
              </a:pathLst>
            </a:custGeom>
            <a:ln w="15051">
              <a:solidFill>
                <a:srgbClr val="484B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956015" y="4629807"/>
              <a:ext cx="0" cy="737870"/>
            </a:xfrm>
            <a:custGeom>
              <a:avLst/>
              <a:gdLst/>
              <a:ahLst/>
              <a:cxnLst/>
              <a:rect l="l" t="t" r="r" b="b"/>
              <a:pathLst>
                <a:path h="737870">
                  <a:moveTo>
                    <a:pt x="0" y="737533"/>
                  </a:moveTo>
                  <a:lnTo>
                    <a:pt x="0" y="0"/>
                  </a:lnTo>
                </a:path>
              </a:pathLst>
            </a:custGeom>
            <a:ln w="15051">
              <a:solidFill>
                <a:srgbClr val="484B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900902" y="4637333"/>
              <a:ext cx="1062990" cy="0"/>
            </a:xfrm>
            <a:custGeom>
              <a:avLst/>
              <a:gdLst/>
              <a:ahLst/>
              <a:cxnLst/>
              <a:rect l="l" t="t" r="r" b="b"/>
              <a:pathLst>
                <a:path w="1062990">
                  <a:moveTo>
                    <a:pt x="0" y="0"/>
                  </a:moveTo>
                  <a:lnTo>
                    <a:pt x="1062638" y="0"/>
                  </a:lnTo>
                </a:path>
              </a:pathLst>
            </a:custGeom>
            <a:ln w="15051">
              <a:solidFill>
                <a:srgbClr val="484B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00902" y="5359815"/>
              <a:ext cx="1062990" cy="0"/>
            </a:xfrm>
            <a:custGeom>
              <a:avLst/>
              <a:gdLst/>
              <a:ahLst/>
              <a:cxnLst/>
              <a:rect l="l" t="t" r="r" b="b"/>
              <a:pathLst>
                <a:path w="1062990">
                  <a:moveTo>
                    <a:pt x="0" y="0"/>
                  </a:moveTo>
                  <a:lnTo>
                    <a:pt x="1062638" y="0"/>
                  </a:lnTo>
                </a:path>
              </a:pathLst>
            </a:custGeom>
            <a:ln w="15051">
              <a:solidFill>
                <a:srgbClr val="484B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416927" y="1556251"/>
            <a:ext cx="0" cy="4446270"/>
          </a:xfrm>
          <a:custGeom>
            <a:avLst/>
            <a:gdLst/>
            <a:ahLst/>
            <a:cxnLst/>
            <a:rect l="l" t="t" r="r" b="b"/>
            <a:pathLst>
              <a:path h="4446270">
                <a:moveTo>
                  <a:pt x="0" y="4446270"/>
                </a:moveTo>
                <a:lnTo>
                  <a:pt x="0" y="0"/>
                </a:lnTo>
              </a:path>
            </a:pathLst>
          </a:custGeom>
          <a:ln w="3175">
            <a:solidFill>
              <a:srgbClr val="4848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415422" y="1437342"/>
            <a:ext cx="11483340" cy="4565650"/>
            <a:chOff x="415422" y="1437342"/>
            <a:chExt cx="11483340" cy="4565650"/>
          </a:xfrm>
        </p:grpSpPr>
        <p:sp>
          <p:nvSpPr>
            <p:cNvPr id="23" name="object 23"/>
            <p:cNvSpPr/>
            <p:nvPr/>
          </p:nvSpPr>
          <p:spPr>
            <a:xfrm>
              <a:off x="11813953" y="1465941"/>
              <a:ext cx="0" cy="4537075"/>
            </a:xfrm>
            <a:custGeom>
              <a:avLst/>
              <a:gdLst/>
              <a:ahLst/>
              <a:cxnLst/>
              <a:rect l="l" t="t" r="r" b="b"/>
              <a:pathLst>
                <a:path h="4537075">
                  <a:moveTo>
                    <a:pt x="0" y="453658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5422" y="6001017"/>
              <a:ext cx="11363960" cy="0"/>
            </a:xfrm>
            <a:custGeom>
              <a:avLst/>
              <a:gdLst/>
              <a:ahLst/>
              <a:cxnLst/>
              <a:rect l="l" t="t" r="r" b="b"/>
              <a:pathLst>
                <a:path w="11363960">
                  <a:moveTo>
                    <a:pt x="0" y="0"/>
                  </a:moveTo>
                  <a:lnTo>
                    <a:pt x="11363914" y="0"/>
                  </a:lnTo>
                </a:path>
              </a:pathLst>
            </a:custGeom>
            <a:ln w="3175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5422" y="1548725"/>
              <a:ext cx="11454765" cy="0"/>
            </a:xfrm>
            <a:custGeom>
              <a:avLst/>
              <a:gdLst/>
              <a:ahLst/>
              <a:cxnLst/>
              <a:rect l="l" t="t" r="r" b="b"/>
              <a:pathLst>
                <a:path w="11454765">
                  <a:moveTo>
                    <a:pt x="0" y="0"/>
                  </a:moveTo>
                  <a:lnTo>
                    <a:pt x="11454223" y="0"/>
                  </a:lnTo>
                </a:path>
              </a:pathLst>
            </a:custGeom>
            <a:ln w="3175">
              <a:solidFill>
                <a:srgbClr val="48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331374" y="5159628"/>
              <a:ext cx="418465" cy="30480"/>
            </a:xfrm>
            <a:custGeom>
              <a:avLst/>
              <a:gdLst/>
              <a:ahLst/>
              <a:cxnLst/>
              <a:rect l="l" t="t" r="r" b="b"/>
              <a:pathLst>
                <a:path w="418465" h="30479">
                  <a:moveTo>
                    <a:pt x="418426" y="0"/>
                  </a:moveTo>
                  <a:lnTo>
                    <a:pt x="9029" y="0"/>
                  </a:lnTo>
                  <a:lnTo>
                    <a:pt x="9029" y="9029"/>
                  </a:lnTo>
                  <a:lnTo>
                    <a:pt x="0" y="9029"/>
                  </a:lnTo>
                  <a:lnTo>
                    <a:pt x="0" y="30111"/>
                  </a:lnTo>
                  <a:lnTo>
                    <a:pt x="418426" y="30111"/>
                  </a:lnTo>
                  <a:lnTo>
                    <a:pt x="418426" y="21082"/>
                  </a:lnTo>
                  <a:lnTo>
                    <a:pt x="418426" y="9029"/>
                  </a:lnTo>
                  <a:lnTo>
                    <a:pt x="418426" y="0"/>
                  </a:lnTo>
                  <a:close/>
                </a:path>
              </a:pathLst>
            </a:custGeom>
            <a:solidFill>
              <a:srgbClr val="3B3B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331375" y="4971481"/>
              <a:ext cx="418465" cy="0"/>
            </a:xfrm>
            <a:custGeom>
              <a:avLst/>
              <a:gdLst/>
              <a:ahLst/>
              <a:cxnLst/>
              <a:rect l="l" t="t" r="r" b="b"/>
              <a:pathLst>
                <a:path w="418465">
                  <a:moveTo>
                    <a:pt x="0" y="0"/>
                  </a:moveTo>
                  <a:lnTo>
                    <a:pt x="418432" y="0"/>
                  </a:lnTo>
                </a:path>
              </a:pathLst>
            </a:custGeom>
            <a:ln w="21072">
              <a:solidFill>
                <a:srgbClr val="3B3F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331374" y="4762271"/>
              <a:ext cx="418465" cy="39370"/>
            </a:xfrm>
            <a:custGeom>
              <a:avLst/>
              <a:gdLst/>
              <a:ahLst/>
              <a:cxnLst/>
              <a:rect l="l" t="t" r="r" b="b"/>
              <a:pathLst>
                <a:path w="418465" h="39370">
                  <a:moveTo>
                    <a:pt x="418426" y="0"/>
                  </a:moveTo>
                  <a:lnTo>
                    <a:pt x="0" y="0"/>
                  </a:lnTo>
                  <a:lnTo>
                    <a:pt x="0" y="21069"/>
                  </a:lnTo>
                  <a:lnTo>
                    <a:pt x="9029" y="21069"/>
                  </a:lnTo>
                  <a:lnTo>
                    <a:pt x="9029" y="39128"/>
                  </a:lnTo>
                  <a:lnTo>
                    <a:pt x="418426" y="39128"/>
                  </a:lnTo>
                  <a:lnTo>
                    <a:pt x="418426" y="21069"/>
                  </a:lnTo>
                  <a:lnTo>
                    <a:pt x="418426" y="18059"/>
                  </a:lnTo>
                  <a:lnTo>
                    <a:pt x="418426" y="0"/>
                  </a:lnTo>
                  <a:close/>
                </a:path>
              </a:pathLst>
            </a:custGeom>
            <a:solidFill>
              <a:srgbClr val="3B3F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356035" y="4474775"/>
              <a:ext cx="535940" cy="0"/>
            </a:xfrm>
            <a:custGeom>
              <a:avLst/>
              <a:gdLst/>
              <a:ahLst/>
              <a:cxnLst/>
              <a:rect l="l" t="t" r="r" b="b"/>
              <a:pathLst>
                <a:path w="535940">
                  <a:moveTo>
                    <a:pt x="0" y="0"/>
                  </a:moveTo>
                  <a:lnTo>
                    <a:pt x="535834" y="0"/>
                  </a:lnTo>
                </a:path>
              </a:pathLst>
            </a:custGeom>
            <a:ln w="21072">
              <a:solidFill>
                <a:srgbClr val="575B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346997" y="4256531"/>
              <a:ext cx="545465" cy="30480"/>
            </a:xfrm>
            <a:custGeom>
              <a:avLst/>
              <a:gdLst/>
              <a:ahLst/>
              <a:cxnLst/>
              <a:rect l="l" t="t" r="r" b="b"/>
              <a:pathLst>
                <a:path w="545465" h="30479">
                  <a:moveTo>
                    <a:pt x="544868" y="9029"/>
                  </a:moveTo>
                  <a:lnTo>
                    <a:pt x="535838" y="9029"/>
                  </a:lnTo>
                  <a:lnTo>
                    <a:pt x="535838" y="0"/>
                  </a:lnTo>
                  <a:lnTo>
                    <a:pt x="9029" y="0"/>
                  </a:lnTo>
                  <a:lnTo>
                    <a:pt x="9029" y="9029"/>
                  </a:lnTo>
                  <a:lnTo>
                    <a:pt x="0" y="9029"/>
                  </a:lnTo>
                  <a:lnTo>
                    <a:pt x="0" y="30099"/>
                  </a:lnTo>
                  <a:lnTo>
                    <a:pt x="544868" y="30099"/>
                  </a:lnTo>
                  <a:lnTo>
                    <a:pt x="544868" y="9029"/>
                  </a:lnTo>
                  <a:close/>
                </a:path>
              </a:pathLst>
            </a:custGeom>
            <a:solidFill>
              <a:srgbClr val="484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346997" y="4048823"/>
              <a:ext cx="545465" cy="30480"/>
            </a:xfrm>
            <a:custGeom>
              <a:avLst/>
              <a:gdLst/>
              <a:ahLst/>
              <a:cxnLst/>
              <a:rect l="l" t="t" r="r" b="b"/>
              <a:pathLst>
                <a:path w="545465" h="30479">
                  <a:moveTo>
                    <a:pt x="544868" y="0"/>
                  </a:moveTo>
                  <a:lnTo>
                    <a:pt x="0" y="0"/>
                  </a:lnTo>
                  <a:lnTo>
                    <a:pt x="0" y="21069"/>
                  </a:lnTo>
                  <a:lnTo>
                    <a:pt x="9029" y="21069"/>
                  </a:lnTo>
                  <a:lnTo>
                    <a:pt x="9029" y="30099"/>
                  </a:lnTo>
                  <a:lnTo>
                    <a:pt x="544868" y="30099"/>
                  </a:lnTo>
                  <a:lnTo>
                    <a:pt x="544868" y="21069"/>
                  </a:lnTo>
                  <a:lnTo>
                    <a:pt x="544868" y="9029"/>
                  </a:lnTo>
                  <a:lnTo>
                    <a:pt x="544868" y="0"/>
                  </a:lnTo>
                  <a:close/>
                </a:path>
              </a:pathLst>
            </a:custGeom>
            <a:solidFill>
              <a:srgbClr val="3F44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8325" y="4011183"/>
              <a:ext cx="745051" cy="12191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24117" y="1437342"/>
              <a:ext cx="474123" cy="42897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7355" y="4218896"/>
              <a:ext cx="736020" cy="32963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17273" y="5392929"/>
              <a:ext cx="1458493" cy="14901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32695" y="4724633"/>
              <a:ext cx="618618" cy="12191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32695" y="4932347"/>
              <a:ext cx="618618" cy="12191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32695" y="5131029"/>
              <a:ext cx="618618" cy="121918"/>
            </a:xfrm>
            <a:prstGeom prst="rect">
              <a:avLst/>
            </a:prstGeom>
          </p:spPr>
        </p:pic>
      </p:grpSp>
      <p:sp>
        <p:nvSpPr>
          <p:cNvPr id="39" name="object 3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749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20"/>
              </a:spcBef>
            </a:pPr>
            <a:r>
              <a:rPr sz="2150" dirty="0">
                <a:solidFill>
                  <a:srgbClr val="1C1C1C"/>
                </a:solidFill>
                <a:latin typeface="Arial MT"/>
                <a:cs typeface="Arial MT"/>
              </a:rPr>
              <a:t>Data</a:t>
            </a:r>
            <a:r>
              <a:rPr sz="2150" spc="229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sources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9442" y="1737968"/>
            <a:ext cx="10796905" cy="1654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25"/>
              </a:spcBef>
            </a:pPr>
            <a:r>
              <a:rPr sz="1700" spc="114" dirty="0">
                <a:solidFill>
                  <a:srgbClr val="161616"/>
                </a:solidFill>
                <a:latin typeface="Calibri"/>
                <a:cs typeface="Calibri"/>
              </a:rPr>
              <a:t>Commercial</a:t>
            </a:r>
            <a:r>
              <a:rPr sz="1700" spc="18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700" spc="125" dirty="0">
                <a:solidFill>
                  <a:srgbClr val="1C1C1C"/>
                </a:solidFill>
                <a:latin typeface="Calibri"/>
                <a:cs typeface="Calibri"/>
              </a:rPr>
              <a:t>data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700">
              <a:latin typeface="Calibri"/>
              <a:cs typeface="Calibri"/>
            </a:endParaRPr>
          </a:p>
          <a:p>
            <a:pPr marL="12700" marR="5080" indent="6350">
              <a:lnSpc>
                <a:spcPct val="104299"/>
              </a:lnSpc>
            </a:pP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Commercial</a:t>
            </a:r>
            <a:r>
              <a:rPr sz="1600" spc="-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sz="16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24242"/>
                </a:solidFill>
                <a:latin typeface="Arial MT"/>
                <a:cs typeface="Arial MT"/>
              </a:rPr>
              <a:t>is</a:t>
            </a:r>
            <a:r>
              <a:rPr sz="1600" spc="-5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data</a:t>
            </a:r>
            <a:r>
              <a:rPr sz="16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1D1D1D"/>
                </a:solidFill>
                <a:latin typeface="Arial MT"/>
                <a:cs typeface="Arial MT"/>
              </a:rPr>
              <a:t>that</a:t>
            </a:r>
            <a:r>
              <a:rPr sz="1600" spc="-4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a</a:t>
            </a:r>
            <a:r>
              <a:rPr sz="1600" spc="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commercial</a:t>
            </a:r>
            <a:r>
              <a:rPr sz="1600" spc="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A1A1A"/>
                </a:solidFill>
                <a:latin typeface="Arial MT"/>
                <a:cs typeface="Arial MT"/>
              </a:rPr>
              <a:t>entity</a:t>
            </a:r>
            <a:r>
              <a:rPr sz="160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collected</a:t>
            </a:r>
            <a:r>
              <a:rPr sz="1600" spc="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600" spc="-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made</a:t>
            </a:r>
            <a:r>
              <a:rPr sz="1600" spc="-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available.</a:t>
            </a:r>
            <a:r>
              <a:rPr sz="1600" spc="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81818"/>
                </a:solidFill>
                <a:latin typeface="Arial MT"/>
                <a:cs typeface="Arial MT"/>
              </a:rPr>
              <a:t>Companies</a:t>
            </a:r>
            <a:r>
              <a:rPr sz="1600" spc="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such </a:t>
            </a:r>
            <a:r>
              <a:rPr sz="1600" spc="-105" dirty="0">
                <a:solidFill>
                  <a:srgbClr val="232323"/>
                </a:solidFill>
                <a:latin typeface="Arial MT"/>
                <a:cs typeface="Arial MT"/>
              </a:rPr>
              <a:t>as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42424"/>
                </a:solidFill>
                <a:latin typeface="Arial MT"/>
                <a:cs typeface="Arial MT"/>
              </a:rPr>
              <a:t>Reuters,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Arial MT"/>
                <a:cs typeface="Arial MT"/>
              </a:rPr>
              <a:t>Change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Healthcare,</a:t>
            </a:r>
            <a:r>
              <a:rPr sz="1600" spc="5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Dun</a:t>
            </a:r>
            <a:r>
              <a:rPr sz="1600" spc="-9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&amp;</a:t>
            </a:r>
            <a:r>
              <a:rPr sz="1600" spc="10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Bradstreet,</a:t>
            </a:r>
            <a:r>
              <a:rPr sz="1600" spc="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sz="1600" spc="-1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A1A1A"/>
                </a:solidFill>
                <a:latin typeface="Arial MT"/>
                <a:cs typeface="Arial MT"/>
              </a:rPr>
              <a:t>Foursquare</a:t>
            </a:r>
            <a:r>
              <a:rPr sz="1600" spc="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maintain</a:t>
            </a:r>
            <a:r>
              <a:rPr sz="1600" spc="7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31313"/>
                </a:solidFill>
                <a:latin typeface="Arial MT"/>
                <a:cs typeface="Arial MT"/>
              </a:rPr>
              <a:t>databases</a:t>
            </a:r>
            <a:r>
              <a:rPr sz="1600" spc="-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0C0C0C"/>
                </a:solidFill>
                <a:latin typeface="Arial MT"/>
                <a:cs typeface="Arial MT"/>
              </a:rPr>
              <a:t>that</a:t>
            </a:r>
            <a:r>
              <a:rPr sz="1600" spc="-2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you</a:t>
            </a:r>
            <a:r>
              <a:rPr sz="1600" spc="-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sz="1600" spc="-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E0E0E"/>
                </a:solidFill>
                <a:latin typeface="Arial MT"/>
                <a:cs typeface="Arial MT"/>
              </a:rPr>
              <a:t>subscribe</a:t>
            </a:r>
            <a:r>
              <a:rPr sz="1600" spc="4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to.</a:t>
            </a:r>
            <a:r>
              <a:rPr sz="1600" spc="13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-40" dirty="0">
                <a:solidFill>
                  <a:srgbClr val="1C1C1C"/>
                </a:solidFill>
                <a:latin typeface="Arial MT"/>
                <a:cs typeface="Arial MT"/>
              </a:rPr>
              <a:t>These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61616"/>
                </a:solidFill>
                <a:latin typeface="Arial MT"/>
                <a:cs typeface="Arial MT"/>
              </a:rPr>
              <a:t>databases</a:t>
            </a:r>
            <a:r>
              <a:rPr sz="1600" spc="8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81818"/>
                </a:solidFill>
                <a:latin typeface="Arial MT"/>
                <a:cs typeface="Arial MT"/>
              </a:rPr>
              <a:t>include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curated</a:t>
            </a:r>
            <a:r>
              <a:rPr sz="1600" spc="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news</a:t>
            </a:r>
            <a:r>
              <a:rPr sz="1600" spc="-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stories,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anonymized</a:t>
            </a:r>
            <a:r>
              <a:rPr sz="1600" spc="15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healthcare</a:t>
            </a:r>
            <a:r>
              <a:rPr sz="1600" spc="16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transactions,</a:t>
            </a:r>
            <a:r>
              <a:rPr sz="1600" spc="17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global</a:t>
            </a:r>
            <a:r>
              <a:rPr sz="16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D1D1D"/>
                </a:solidFill>
                <a:latin typeface="Arial MT"/>
                <a:cs typeface="Arial MT"/>
              </a:rPr>
              <a:t>business</a:t>
            </a:r>
            <a:r>
              <a:rPr sz="1600" spc="8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12121"/>
                </a:solidFill>
                <a:latin typeface="Arial MT"/>
                <a:cs typeface="Arial MT"/>
              </a:rPr>
              <a:t>records,</a:t>
            </a:r>
            <a:r>
              <a:rPr sz="16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and</a:t>
            </a:r>
            <a:r>
              <a:rPr sz="1600" spc="-4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location</a:t>
            </a:r>
            <a:r>
              <a:rPr sz="1600" spc="1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data.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 Supplementing </a:t>
            </a:r>
            <a:r>
              <a:rPr sz="1600" dirty="0">
                <a:solidFill>
                  <a:srgbClr val="2B2B2B"/>
                </a:solidFill>
                <a:latin typeface="Arial MT"/>
                <a:cs typeface="Arial MT"/>
              </a:rPr>
              <a:t>your</a:t>
            </a:r>
            <a:r>
              <a:rPr sz="1600" spc="14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own</a:t>
            </a:r>
            <a:r>
              <a:rPr sz="1600" spc="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data</a:t>
            </a:r>
            <a:r>
              <a:rPr sz="1600" spc="8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A1A1A"/>
                </a:solidFill>
                <a:latin typeface="Arial MT"/>
                <a:cs typeface="Arial MT"/>
              </a:rPr>
              <a:t>with</a:t>
            </a:r>
            <a:r>
              <a:rPr sz="1600" spc="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commercial</a:t>
            </a:r>
            <a:r>
              <a:rPr sz="1600" spc="1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data</a:t>
            </a:r>
            <a:r>
              <a:rPr sz="1600" spc="1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can provide</a:t>
            </a:r>
            <a:r>
              <a:rPr sz="1600" spc="114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useful</a:t>
            </a:r>
            <a:r>
              <a:rPr sz="1600" spc="-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insights</a:t>
            </a:r>
            <a:r>
              <a:rPr sz="1600" spc="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1C1C1C"/>
                </a:solidFill>
                <a:latin typeface="Arial MT"/>
                <a:cs typeface="Arial MT"/>
              </a:rPr>
              <a:t>that</a:t>
            </a:r>
            <a:r>
              <a:rPr sz="1600" spc="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you</a:t>
            </a:r>
            <a:r>
              <a:rPr sz="1600" spc="1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would</a:t>
            </a:r>
            <a:r>
              <a:rPr sz="1600" spc="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not</a:t>
            </a:r>
            <a:r>
              <a:rPr sz="1600" spc="204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have</a:t>
            </a:r>
            <a:r>
              <a:rPr sz="1600" spc="15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 MT"/>
                <a:cs typeface="Arial MT"/>
              </a:rPr>
              <a:t>otherwise.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0727" y="3614468"/>
            <a:ext cx="2523735" cy="181564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20354" y="1580949"/>
            <a:ext cx="363127" cy="3722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3909" y="228295"/>
            <a:ext cx="1634073" cy="7262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00953" y="1550687"/>
            <a:ext cx="0" cy="4469765"/>
          </a:xfrm>
          <a:custGeom>
            <a:avLst/>
            <a:gdLst/>
            <a:ahLst/>
            <a:cxnLst/>
            <a:rect l="l" t="t" r="r" b="b"/>
            <a:pathLst>
              <a:path h="4469765">
                <a:moveTo>
                  <a:pt x="0" y="4469504"/>
                </a:moveTo>
                <a:lnTo>
                  <a:pt x="0" y="0"/>
                </a:lnTo>
              </a:path>
            </a:pathLst>
          </a:custGeom>
          <a:ln w="3175">
            <a:solidFill>
              <a:srgbClr val="4B4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99440" y="1459905"/>
            <a:ext cx="11529695" cy="4560570"/>
            <a:chOff x="399440" y="1459905"/>
            <a:chExt cx="11529695" cy="4560570"/>
          </a:xfrm>
        </p:grpSpPr>
        <p:sp>
          <p:nvSpPr>
            <p:cNvPr id="7" name="object 7"/>
            <p:cNvSpPr/>
            <p:nvPr/>
          </p:nvSpPr>
          <p:spPr>
            <a:xfrm>
              <a:off x="11803150" y="1459905"/>
              <a:ext cx="0" cy="4560570"/>
            </a:xfrm>
            <a:custGeom>
              <a:avLst/>
              <a:gdLst/>
              <a:ahLst/>
              <a:cxnLst/>
              <a:rect l="l" t="t" r="r" b="b"/>
              <a:pathLst>
                <a:path h="4560570">
                  <a:moveTo>
                    <a:pt x="0" y="456028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9440" y="6018681"/>
              <a:ext cx="11423650" cy="0"/>
            </a:xfrm>
            <a:custGeom>
              <a:avLst/>
              <a:gdLst/>
              <a:ahLst/>
              <a:cxnLst/>
              <a:rect l="l" t="t" r="r" b="b"/>
              <a:pathLst>
                <a:path w="11423650">
                  <a:moveTo>
                    <a:pt x="0" y="0"/>
                  </a:moveTo>
                  <a:lnTo>
                    <a:pt x="11423378" y="0"/>
                  </a:lnTo>
                </a:path>
              </a:pathLst>
            </a:custGeom>
            <a:ln w="3175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9440" y="1543122"/>
              <a:ext cx="11505565" cy="0"/>
            </a:xfrm>
            <a:custGeom>
              <a:avLst/>
              <a:gdLst/>
              <a:ahLst/>
              <a:cxnLst/>
              <a:rect l="l" t="t" r="r" b="b"/>
              <a:pathLst>
                <a:path w="11505565">
                  <a:moveTo>
                    <a:pt x="0" y="0"/>
                  </a:moveTo>
                  <a:lnTo>
                    <a:pt x="11505082" y="0"/>
                  </a:lnTo>
                </a:path>
              </a:pathLst>
            </a:custGeom>
            <a:ln w="3175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19794" y="1580949"/>
              <a:ext cx="108938" cy="317737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50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35"/>
              </a:spcBef>
            </a:pPr>
            <a:r>
              <a:rPr sz="2150" spc="215" dirty="0">
                <a:latin typeface="Calibri"/>
                <a:cs typeface="Calibri"/>
              </a:rPr>
              <a:t>Data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125" dirty="0">
                <a:latin typeface="Calibri"/>
                <a:cs typeface="Calibri"/>
              </a:rPr>
              <a:t>sources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8818" y="1727117"/>
            <a:ext cx="10663555" cy="166941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35"/>
              </a:spcBef>
            </a:pPr>
            <a:r>
              <a:rPr sz="1750" spc="-10" dirty="0">
                <a:solidFill>
                  <a:srgbClr val="0F0F0F"/>
                </a:solidFill>
                <a:latin typeface="Arial MT"/>
                <a:cs typeface="Arial MT"/>
              </a:rPr>
              <a:t>Open-</a:t>
            </a:r>
            <a:r>
              <a:rPr sz="1750" dirty="0">
                <a:solidFill>
                  <a:srgbClr val="0F0F0F"/>
                </a:solidFill>
                <a:latin typeface="Arial MT"/>
                <a:cs typeface="Arial MT"/>
              </a:rPr>
              <a:t>source</a:t>
            </a:r>
            <a:r>
              <a:rPr sz="1750" spc="25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0A0A0A"/>
                </a:solidFill>
                <a:latin typeface="Arial MT"/>
                <a:cs typeface="Arial MT"/>
              </a:rPr>
              <a:t>data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750">
              <a:latin typeface="Arial MT"/>
              <a:cs typeface="Arial MT"/>
            </a:endParaRPr>
          </a:p>
          <a:p>
            <a:pPr marL="12700" marR="5080">
              <a:lnSpc>
                <a:spcPct val="104900"/>
              </a:lnSpc>
              <a:spcBef>
                <a:spcPts val="5"/>
              </a:spcBef>
            </a:pPr>
            <a:r>
              <a:rPr sz="1600" dirty="0">
                <a:solidFill>
                  <a:srgbClr val="2B2B2B"/>
                </a:solidFill>
                <a:latin typeface="Arial MT"/>
                <a:cs typeface="Arial MT"/>
              </a:rPr>
              <a:t>This</a:t>
            </a:r>
            <a:r>
              <a:rPr sz="1600" spc="2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data</a:t>
            </a:r>
            <a:r>
              <a:rPr sz="16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comprises</a:t>
            </a:r>
            <a:r>
              <a:rPr sz="1600" spc="1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many</a:t>
            </a:r>
            <a:r>
              <a:rPr sz="1600" spc="11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different</a:t>
            </a:r>
            <a:r>
              <a:rPr sz="1600" spc="114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F0F0F"/>
                </a:solidFill>
                <a:latin typeface="Arial MT"/>
                <a:cs typeface="Arial MT"/>
              </a:rPr>
              <a:t>open-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source</a:t>
            </a:r>
            <a:r>
              <a:rPr sz="1600" spc="18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datasets</a:t>
            </a:r>
            <a:r>
              <a:rPr sz="1600" spc="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81818"/>
                </a:solidFill>
                <a:latin typeface="Arial MT"/>
                <a:cs typeface="Arial MT"/>
              </a:rPr>
              <a:t>that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range</a:t>
            </a:r>
            <a:r>
              <a:rPr sz="1600" spc="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212121"/>
                </a:solidFill>
                <a:latin typeface="Arial MT"/>
                <a:cs typeface="Arial MT"/>
              </a:rPr>
              <a:t>from</a:t>
            </a:r>
            <a:r>
              <a:rPr sz="1600" spc="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scientific</a:t>
            </a:r>
            <a:r>
              <a:rPr sz="1600" spc="17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61616"/>
                </a:solidFill>
                <a:latin typeface="Arial MT"/>
                <a:cs typeface="Arial MT"/>
              </a:rPr>
              <a:t>information</a:t>
            </a:r>
            <a:r>
              <a:rPr sz="1600" spc="8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1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movie</a:t>
            </a:r>
            <a:r>
              <a:rPr sz="1600" spc="7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Arial MT"/>
                <a:cs typeface="Arial MT"/>
              </a:rPr>
              <a:t>reviews. </a:t>
            </a:r>
            <a:r>
              <a:rPr sz="1600" spc="-20" dirty="0">
                <a:solidFill>
                  <a:srgbClr val="131313"/>
                </a:solidFill>
                <a:latin typeface="Arial MT"/>
                <a:cs typeface="Arial MT"/>
              </a:rPr>
              <a:t>These</a:t>
            </a:r>
            <a:r>
              <a:rPr sz="1600" spc="5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datasets</a:t>
            </a:r>
            <a:r>
              <a:rPr sz="1600" spc="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are</a:t>
            </a:r>
            <a:r>
              <a:rPr sz="1600" spc="-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usually</a:t>
            </a:r>
            <a:r>
              <a:rPr sz="1600" spc="2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available</a:t>
            </a:r>
            <a:r>
              <a:rPr sz="1600" spc="2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F1F1F"/>
                </a:solidFill>
                <a:latin typeface="Arial MT"/>
                <a:cs typeface="Arial MT"/>
              </a:rPr>
              <a:t>for</a:t>
            </a:r>
            <a:r>
              <a:rPr sz="1600" spc="-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12121"/>
                </a:solidFill>
                <a:latin typeface="Arial MT"/>
                <a:cs typeface="Arial MT"/>
              </a:rPr>
              <a:t>use</a:t>
            </a:r>
            <a:r>
              <a:rPr sz="1600" spc="-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in</a:t>
            </a:r>
            <a:r>
              <a:rPr sz="1600" spc="11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31313"/>
                </a:solidFill>
                <a:latin typeface="Arial MT"/>
                <a:cs typeface="Arial MT"/>
              </a:rPr>
              <a:t>research</a:t>
            </a:r>
            <a:r>
              <a:rPr sz="1600" spc="9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or</a:t>
            </a:r>
            <a:r>
              <a:rPr sz="1600" spc="-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F1F1F"/>
                </a:solidFill>
                <a:latin typeface="Arial MT"/>
                <a:cs typeface="Arial MT"/>
              </a:rPr>
              <a:t>for</a:t>
            </a:r>
            <a:r>
              <a:rPr sz="1600" spc="-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teaching</a:t>
            </a:r>
            <a:r>
              <a:rPr sz="1600" spc="-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purposes.</a:t>
            </a:r>
            <a:r>
              <a:rPr sz="1600" spc="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You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can</a:t>
            </a:r>
            <a:r>
              <a:rPr sz="1600" spc="2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find</a:t>
            </a:r>
            <a:r>
              <a:rPr sz="1600" spc="4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61616"/>
                </a:solidFill>
                <a:latin typeface="Arial MT"/>
                <a:cs typeface="Arial MT"/>
              </a:rPr>
              <a:t>open-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source</a:t>
            </a:r>
            <a:r>
              <a:rPr sz="1600" spc="1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Arial MT"/>
                <a:cs typeface="Arial MT"/>
              </a:rPr>
              <a:t>datasets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hosted</a:t>
            </a:r>
            <a:r>
              <a:rPr sz="1600" spc="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by</a:t>
            </a:r>
            <a:r>
              <a:rPr sz="1600" spc="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100" dirty="0">
                <a:solidFill>
                  <a:srgbClr val="0F0F0F"/>
                </a:solidFill>
                <a:latin typeface="Arial MT"/>
                <a:cs typeface="Arial MT"/>
              </a:rPr>
              <a:t>AWS,</a:t>
            </a:r>
            <a:r>
              <a:rPr sz="1600" spc="6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Kaggte,</a:t>
            </a:r>
            <a:r>
              <a:rPr sz="16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and</a:t>
            </a:r>
            <a:r>
              <a:rPr sz="1600" spc="-3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62626"/>
                </a:solidFill>
                <a:latin typeface="Arial MT"/>
                <a:cs typeface="Arial MT"/>
              </a:rPr>
              <a:t>the</a:t>
            </a:r>
            <a:r>
              <a:rPr sz="1600" spc="-1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-95" dirty="0">
                <a:solidFill>
                  <a:srgbClr val="131313"/>
                </a:solidFill>
                <a:latin typeface="Arial MT"/>
                <a:cs typeface="Arial MT"/>
              </a:rPr>
              <a:t>UC</a:t>
            </a:r>
            <a:r>
              <a:rPr sz="1600" spc="-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Irvine</a:t>
            </a:r>
            <a:r>
              <a:rPr sz="1600" spc="9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Machine</a:t>
            </a:r>
            <a:r>
              <a:rPr sz="1600" spc="8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Learning</a:t>
            </a:r>
            <a:r>
              <a:rPr sz="1600" spc="114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Repository.</a:t>
            </a:r>
            <a:r>
              <a:rPr sz="1600" spc="17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Government</a:t>
            </a:r>
            <a:r>
              <a:rPr sz="1600" spc="2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and</a:t>
            </a:r>
            <a:r>
              <a:rPr sz="1600" spc="-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health</a:t>
            </a:r>
            <a:r>
              <a:rPr sz="1600" spc="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organizations</a:t>
            </a:r>
            <a:r>
              <a:rPr sz="1600" spc="1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12121"/>
                </a:solidFill>
                <a:latin typeface="Arial MT"/>
                <a:cs typeface="Arial MT"/>
              </a:rPr>
              <a:t>are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other</a:t>
            </a:r>
            <a:r>
              <a:rPr sz="1600" spc="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A1A1A"/>
                </a:solidFill>
                <a:latin typeface="Arial MT"/>
                <a:cs typeface="Arial MT"/>
              </a:rPr>
              <a:t>sources</a:t>
            </a:r>
            <a:r>
              <a:rPr sz="1600" spc="1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31313"/>
                </a:solidFill>
                <a:latin typeface="Arial MT"/>
                <a:cs typeface="Arial MT"/>
              </a:rPr>
              <a:t>of</a:t>
            </a:r>
            <a:r>
              <a:rPr sz="1600" spc="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data</a:t>
            </a:r>
            <a:r>
              <a:rPr sz="1600" spc="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31313"/>
                </a:solidFill>
                <a:latin typeface="Arial MT"/>
                <a:cs typeface="Arial MT"/>
              </a:rPr>
              <a:t>that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232323"/>
                </a:solidFill>
                <a:latin typeface="Arial MT"/>
                <a:cs typeface="Arial MT"/>
              </a:rPr>
              <a:t>might</a:t>
            </a:r>
            <a:r>
              <a:rPr sz="1600" spc="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be</a:t>
            </a:r>
            <a:r>
              <a:rPr sz="1600" spc="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12121"/>
                </a:solidFill>
                <a:latin typeface="Arial MT"/>
                <a:cs typeface="Arial MT"/>
              </a:rPr>
              <a:t>useful.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421" y="1115923"/>
            <a:ext cx="3222625" cy="588645"/>
          </a:xfrm>
          <a:prstGeom prst="rect">
            <a:avLst/>
          </a:prstGeom>
          <a:solidFill>
            <a:srgbClr val="5B8085"/>
          </a:solidFill>
        </p:spPr>
        <p:txBody>
          <a:bodyPr vert="horz" wrap="square" lIns="0" tIns="120650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950"/>
              </a:spcBef>
            </a:pPr>
            <a:r>
              <a:rPr sz="1900" spc="-35" dirty="0">
                <a:solidFill>
                  <a:srgbClr val="1D4D60"/>
                </a:solidFill>
                <a:latin typeface="Arial MT"/>
                <a:cs typeface="Arial MT"/>
              </a:rPr>
              <a:t>Understand</a:t>
            </a:r>
            <a:r>
              <a:rPr sz="1900" spc="55" dirty="0">
                <a:solidFill>
                  <a:srgbClr val="1D4D6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DDF4FF"/>
                </a:solidFill>
                <a:latin typeface="Arial MT"/>
                <a:cs typeface="Arial MT"/>
              </a:rPr>
              <a:t>the</a:t>
            </a:r>
            <a:r>
              <a:rPr sz="1900" spc="-80" dirty="0">
                <a:solidFill>
                  <a:srgbClr val="DDF4FF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95C1C3"/>
                </a:solidFill>
                <a:latin typeface="Arial MT"/>
                <a:cs typeface="Arial MT"/>
              </a:rPr>
              <a:t>data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3421" y="1821874"/>
            <a:ext cx="3222625" cy="624840"/>
          </a:xfrm>
          <a:prstGeom prst="rect">
            <a:avLst/>
          </a:prstGeom>
          <a:solidFill>
            <a:srgbClr val="183B44"/>
          </a:solidFill>
        </p:spPr>
        <p:txBody>
          <a:bodyPr vert="horz" wrap="square" lIns="0" tIns="159385" rIns="0" bIns="0" rtlCol="0">
            <a:spAutoFit/>
          </a:bodyPr>
          <a:lstStyle/>
          <a:p>
            <a:pPr marL="547370">
              <a:lnSpc>
                <a:spcPct val="100000"/>
              </a:lnSpc>
              <a:spcBef>
                <a:spcPts val="1255"/>
              </a:spcBef>
            </a:pPr>
            <a:r>
              <a:rPr sz="1950" spc="-100" dirty="0">
                <a:solidFill>
                  <a:srgbClr val="07445B"/>
                </a:solidFill>
                <a:latin typeface="Arial MT"/>
                <a:cs typeface="Arial MT"/>
              </a:rPr>
              <a:t>Get</a:t>
            </a:r>
            <a:r>
              <a:rPr sz="1950" spc="-35" dirty="0">
                <a:solidFill>
                  <a:srgbClr val="07445B"/>
                </a:solidFill>
                <a:latin typeface="Arial MT"/>
                <a:cs typeface="Arial MT"/>
              </a:rPr>
              <a:t> </a:t>
            </a:r>
            <a:r>
              <a:rPr sz="1950" spc="-295" dirty="0">
                <a:solidFill>
                  <a:srgbClr val="7CAAC1"/>
                </a:solidFill>
                <a:latin typeface="Arial MT"/>
                <a:cs typeface="Arial MT"/>
              </a:rPr>
              <a:t>a</a:t>
            </a:r>
            <a:r>
              <a:rPr sz="1950" spc="80" dirty="0">
                <a:solidFill>
                  <a:srgbClr val="7CAAC1"/>
                </a:solidFill>
                <a:latin typeface="Arial MT"/>
                <a:cs typeface="Arial MT"/>
              </a:rPr>
              <a:t> </a:t>
            </a:r>
            <a:r>
              <a:rPr sz="1950" spc="-55" dirty="0">
                <a:solidFill>
                  <a:srgbClr val="0C4964"/>
                </a:solidFill>
                <a:latin typeface="Arial MT"/>
                <a:cs typeface="Arial MT"/>
              </a:rPr>
              <a:t>domain</a:t>
            </a:r>
            <a:r>
              <a:rPr sz="1950" spc="-25" dirty="0">
                <a:solidFill>
                  <a:srgbClr val="0C4964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9F9F9"/>
                </a:solidFill>
                <a:latin typeface="Arial MT"/>
                <a:cs typeface="Arial MT"/>
              </a:rPr>
              <a:t>expert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3421" y="2582128"/>
            <a:ext cx="3222625" cy="615950"/>
          </a:xfrm>
          <a:prstGeom prst="rect">
            <a:avLst/>
          </a:prstGeom>
          <a:solidFill>
            <a:srgbClr val="6D879C"/>
          </a:solidFill>
        </p:spPr>
        <p:txBody>
          <a:bodyPr vert="horz" wrap="square" lIns="0" tIns="154305" rIns="0" bIns="0" rtlCol="0">
            <a:spAutoFit/>
          </a:bodyPr>
          <a:lstStyle/>
          <a:p>
            <a:pPr marL="505459">
              <a:lnSpc>
                <a:spcPct val="100000"/>
              </a:lnSpc>
              <a:spcBef>
                <a:spcPts val="1215"/>
              </a:spcBef>
            </a:pPr>
            <a:r>
              <a:rPr sz="1850" spc="-20" dirty="0">
                <a:solidFill>
                  <a:srgbClr val="DBFFFF"/>
                </a:solidFill>
                <a:latin typeface="Arial MT"/>
                <a:cs typeface="Arial MT"/>
              </a:rPr>
              <a:t>Evaluate</a:t>
            </a:r>
            <a:r>
              <a:rPr sz="1850" spc="-60" dirty="0">
                <a:solidFill>
                  <a:srgbClr val="DB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80A7B8"/>
                </a:solidFill>
                <a:latin typeface="Arial MT"/>
                <a:cs typeface="Arial MT"/>
              </a:rPr>
              <a:t>data</a:t>
            </a:r>
            <a:r>
              <a:rPr sz="1850" spc="-25" dirty="0">
                <a:solidFill>
                  <a:srgbClr val="80A7B8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BDDDF2"/>
                </a:solidFill>
                <a:latin typeface="Arial MT"/>
                <a:cs typeface="Arial MT"/>
              </a:rPr>
              <a:t>quality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3421" y="3369536"/>
            <a:ext cx="3222625" cy="579755"/>
          </a:xfrm>
          <a:prstGeom prst="rect">
            <a:avLst/>
          </a:prstGeom>
          <a:solidFill>
            <a:srgbClr val="1F2F36"/>
          </a:solidFill>
        </p:spPr>
        <p:txBody>
          <a:bodyPr vert="horz" wrap="square" lIns="0" tIns="114300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900"/>
              </a:spcBef>
            </a:pPr>
            <a:r>
              <a:rPr sz="1950" dirty="0">
                <a:solidFill>
                  <a:srgbClr val="C6FBFF"/>
                </a:solidFill>
                <a:latin typeface="Arial MT"/>
                <a:cs typeface="Arial MT"/>
              </a:rPr>
              <a:t>Identify</a:t>
            </a:r>
            <a:r>
              <a:rPr sz="1950" spc="-10" dirty="0">
                <a:solidFill>
                  <a:srgbClr val="C6FBFF"/>
                </a:solidFill>
                <a:latin typeface="Arial MT"/>
                <a:cs typeface="Arial MT"/>
              </a:rPr>
              <a:t> </a:t>
            </a:r>
            <a:r>
              <a:rPr sz="1950" spc="-40" dirty="0">
                <a:solidFill>
                  <a:srgbClr val="FFFFFF"/>
                </a:solidFill>
                <a:latin typeface="Arial MT"/>
                <a:cs typeface="Arial MT"/>
              </a:rPr>
              <a:t>features</a:t>
            </a:r>
            <a:r>
              <a:rPr sz="19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95" dirty="0">
                <a:solidFill>
                  <a:srgbClr val="607987"/>
                </a:solidFill>
                <a:latin typeface="Arial MT"/>
                <a:cs typeface="Arial MT"/>
              </a:rPr>
              <a:t>and</a:t>
            </a:r>
            <a:r>
              <a:rPr sz="1950" spc="-40" dirty="0">
                <a:solidFill>
                  <a:srgbClr val="607987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1C5B72"/>
                </a:solidFill>
                <a:latin typeface="Arial MT"/>
                <a:cs typeface="Arial MT"/>
              </a:rPr>
              <a:t>labels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370" y="4111689"/>
            <a:ext cx="3231515" cy="588645"/>
          </a:xfrm>
          <a:prstGeom prst="rect">
            <a:avLst/>
          </a:prstGeom>
          <a:solidFill>
            <a:srgbClr val="1F3F4B"/>
          </a:solidFill>
        </p:spPr>
        <p:txBody>
          <a:bodyPr vert="horz" wrap="square" lIns="0" tIns="10160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800"/>
              </a:spcBef>
            </a:pPr>
            <a:r>
              <a:rPr sz="2050" spc="-25" dirty="0">
                <a:solidFill>
                  <a:srgbClr val="AFE2FD"/>
                </a:solidFill>
                <a:latin typeface="Arial MT"/>
                <a:cs typeface="Arial MT"/>
              </a:rPr>
              <a:t>Identify</a:t>
            </a:r>
            <a:r>
              <a:rPr sz="2050" spc="-105" dirty="0">
                <a:solidFill>
                  <a:srgbClr val="AFE2FD"/>
                </a:solidFill>
                <a:latin typeface="Arial MT"/>
                <a:cs typeface="Arial MT"/>
              </a:rPr>
              <a:t> </a:t>
            </a:r>
            <a:r>
              <a:rPr sz="2050" spc="-95" dirty="0">
                <a:solidFill>
                  <a:srgbClr val="DBFFFF"/>
                </a:solidFill>
                <a:latin typeface="Arial MT"/>
                <a:cs typeface="Arial MT"/>
              </a:rPr>
              <a:t>labeled</a:t>
            </a:r>
            <a:r>
              <a:rPr sz="2050" spc="-5" dirty="0">
                <a:solidFill>
                  <a:srgbClr val="DBFFFF"/>
                </a:solidFill>
                <a:latin typeface="Arial MT"/>
                <a:cs typeface="Arial MT"/>
              </a:rPr>
              <a:t> </a:t>
            </a:r>
            <a:r>
              <a:rPr sz="2050" spc="-125" dirty="0">
                <a:solidFill>
                  <a:srgbClr val="7C9CB1"/>
                </a:solidFill>
                <a:latin typeface="Arial MT"/>
                <a:cs typeface="Arial MT"/>
              </a:rPr>
              <a:t>data</a:t>
            </a:r>
            <a:r>
              <a:rPr sz="2050" spc="-20" dirty="0">
                <a:solidFill>
                  <a:srgbClr val="7C9CB1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D1F4FF"/>
                </a:solidFill>
                <a:latin typeface="Arial MT"/>
                <a:cs typeface="Arial MT"/>
              </a:rPr>
              <a:t>needs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125"/>
              </a:spcBef>
            </a:pPr>
            <a:r>
              <a:rPr sz="2150" spc="60" dirty="0">
                <a:solidFill>
                  <a:srgbClr val="181818"/>
                </a:solidFill>
                <a:latin typeface="Arial MT"/>
                <a:cs typeface="Arial MT"/>
              </a:rPr>
              <a:t>Data</a:t>
            </a:r>
            <a:r>
              <a:rPr sz="2150" spc="1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150" spc="75" dirty="0">
                <a:solidFill>
                  <a:srgbClr val="161616"/>
                </a:solidFill>
                <a:latin typeface="Arial MT"/>
                <a:cs typeface="Arial MT"/>
              </a:rPr>
              <a:t>considerations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1801" y="1158281"/>
            <a:ext cx="5615940" cy="2842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30"/>
              </a:spcBef>
            </a:pP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When</a:t>
            </a:r>
            <a:r>
              <a:rPr sz="1600" spc="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choosing</a:t>
            </a:r>
            <a:r>
              <a:rPr sz="1600" spc="5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your</a:t>
            </a:r>
            <a:r>
              <a:rPr sz="1600" spc="1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80808"/>
                </a:solidFill>
                <a:latin typeface="Arial MT"/>
                <a:cs typeface="Arial MT"/>
              </a:rPr>
              <a:t>data,</a:t>
            </a:r>
            <a:r>
              <a:rPr sz="1600" spc="-4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you</a:t>
            </a:r>
            <a:r>
              <a:rPr sz="1600" spc="4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must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consider</a:t>
            </a:r>
            <a:r>
              <a:rPr sz="1600" spc="1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A1A1A"/>
                </a:solidFill>
                <a:latin typeface="Arial MT"/>
                <a:cs typeface="Arial MT"/>
              </a:rPr>
              <a:t>several</a:t>
            </a:r>
            <a:r>
              <a:rPr sz="16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E0E0E"/>
                </a:solidFill>
                <a:latin typeface="Arial MT"/>
                <a:cs typeface="Arial MT"/>
              </a:rPr>
              <a:t>factors.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6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</a:pP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Additional</a:t>
            </a:r>
            <a:r>
              <a:rPr sz="16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questions</a:t>
            </a:r>
            <a:r>
              <a:rPr sz="1600" spc="15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6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ask</a:t>
            </a:r>
            <a:r>
              <a:rPr sz="16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yourself</a:t>
            </a:r>
            <a:r>
              <a:rPr sz="1600" spc="2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80808"/>
                </a:solidFill>
                <a:latin typeface="Arial MT"/>
                <a:cs typeface="Arial MT"/>
              </a:rPr>
              <a:t>include</a:t>
            </a:r>
            <a:r>
              <a:rPr sz="1600" spc="3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61616"/>
                </a:solidFill>
                <a:latin typeface="Arial MT"/>
                <a:cs typeface="Arial MT"/>
              </a:rPr>
              <a:t>the</a:t>
            </a:r>
            <a:r>
              <a:rPr sz="1600" spc="9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31313"/>
                </a:solidFill>
                <a:latin typeface="Arial MT"/>
                <a:cs typeface="Arial MT"/>
              </a:rPr>
              <a:t>following:</a:t>
            </a:r>
            <a:endParaRPr sz="1600">
              <a:latin typeface="Arial MT"/>
              <a:cs typeface="Arial MT"/>
            </a:endParaRPr>
          </a:p>
          <a:p>
            <a:pPr marL="185420" indent="-162560">
              <a:lnSpc>
                <a:spcPct val="100000"/>
              </a:lnSpc>
              <a:spcBef>
                <a:spcPts val="75"/>
              </a:spcBef>
              <a:buClr>
                <a:srgbClr val="000000"/>
              </a:buClr>
              <a:buChar char="•"/>
              <a:tabLst>
                <a:tab pos="185420" algn="l"/>
              </a:tabLst>
            </a:pP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What</a:t>
            </a:r>
            <a:r>
              <a:rPr sz="1600" spc="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data</a:t>
            </a:r>
            <a:r>
              <a:rPr sz="1600" spc="-2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i="1" dirty="0">
                <a:solidFill>
                  <a:srgbClr val="1C1C1C"/>
                </a:solidFill>
                <a:latin typeface="Arial"/>
                <a:cs typeface="Arial"/>
              </a:rPr>
              <a:t>do</a:t>
            </a:r>
            <a:r>
              <a:rPr sz="1600" i="1" spc="6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you</a:t>
            </a:r>
            <a:r>
              <a:rPr sz="1600" spc="-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need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D2D2D"/>
                </a:solidFill>
                <a:latin typeface="Arial MT"/>
                <a:cs typeface="Arial MT"/>
              </a:rPr>
              <a:t>to</a:t>
            </a:r>
            <a:r>
              <a:rPr sz="1600" spc="229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11111"/>
                </a:solidFill>
                <a:latin typeface="Arial MT"/>
                <a:cs typeface="Arial MT"/>
              </a:rPr>
              <a:t>address</a:t>
            </a:r>
            <a:r>
              <a:rPr sz="1600" spc="-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sz="1600" spc="-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problem?</a:t>
            </a:r>
            <a:endParaRPr sz="1600">
              <a:latin typeface="Arial MT"/>
              <a:cs typeface="Arial MT"/>
            </a:endParaRPr>
          </a:p>
          <a:p>
            <a:pPr marL="179705" indent="-156845">
              <a:lnSpc>
                <a:spcPct val="100000"/>
              </a:lnSpc>
              <a:spcBef>
                <a:spcPts val="40"/>
              </a:spcBef>
              <a:buClr>
                <a:srgbClr val="000000"/>
              </a:buClr>
              <a:buChar char="•"/>
              <a:tabLst>
                <a:tab pos="179705" algn="l"/>
              </a:tabLst>
            </a:pP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How</a:t>
            </a:r>
            <a:r>
              <a:rPr sz="1600" spc="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much</a:t>
            </a:r>
            <a:r>
              <a:rPr sz="1600" spc="8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do</a:t>
            </a:r>
            <a:r>
              <a:rPr sz="1600" spc="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you</a:t>
            </a:r>
            <a:r>
              <a:rPr sz="1600" spc="-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have,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where</a:t>
            </a:r>
            <a:r>
              <a:rPr sz="160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is</a:t>
            </a:r>
            <a:r>
              <a:rPr sz="1600" spc="1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A1A1A"/>
                </a:solidFill>
                <a:latin typeface="Arial MT"/>
                <a:cs typeface="Arial MT"/>
              </a:rPr>
              <a:t>it?</a:t>
            </a:r>
            <a:endParaRPr sz="1600">
              <a:latin typeface="Arial MT"/>
              <a:cs typeface="Arial MT"/>
            </a:endParaRPr>
          </a:p>
          <a:p>
            <a:pPr marL="180340" indent="-157480">
              <a:lnSpc>
                <a:spcPct val="100000"/>
              </a:lnSpc>
              <a:spcBef>
                <a:spcPts val="75"/>
              </a:spcBef>
              <a:buClr>
                <a:srgbClr val="000000"/>
              </a:buClr>
              <a:buChar char="•"/>
              <a:tabLst>
                <a:tab pos="180340" algn="l"/>
              </a:tabLst>
            </a:pP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Do</a:t>
            </a:r>
            <a:r>
              <a:rPr sz="16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you</a:t>
            </a:r>
            <a:r>
              <a:rPr sz="1600" spc="-8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have</a:t>
            </a:r>
            <a:r>
              <a:rPr sz="1600" spc="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100" dirty="0">
                <a:solidFill>
                  <a:srgbClr val="181818"/>
                </a:solidFill>
                <a:latin typeface="Arial MT"/>
                <a:cs typeface="Arial MT"/>
              </a:rPr>
              <a:t>access</a:t>
            </a:r>
            <a:r>
              <a:rPr sz="1600" spc="-1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600" spc="2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D1D1D"/>
                </a:solidFill>
                <a:latin typeface="Arial MT"/>
                <a:cs typeface="Arial MT"/>
              </a:rPr>
              <a:t>data?</a:t>
            </a:r>
            <a:endParaRPr sz="1600">
              <a:latin typeface="Arial MT"/>
              <a:cs typeface="Arial MT"/>
            </a:endParaRPr>
          </a:p>
          <a:p>
            <a:pPr marL="186690" indent="-163830">
              <a:lnSpc>
                <a:spcPct val="100000"/>
              </a:lnSpc>
              <a:spcBef>
                <a:spcPts val="180"/>
              </a:spcBef>
              <a:buClr>
                <a:srgbClr val="000000"/>
              </a:buClr>
              <a:buChar char="•"/>
              <a:tabLst>
                <a:tab pos="186690" algn="l"/>
              </a:tabLst>
            </a:pPr>
            <a:r>
              <a:rPr sz="1600" spc="-85" dirty="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sz="1600" spc="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you</a:t>
            </a:r>
            <a:r>
              <a:rPr sz="16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31313"/>
                </a:solidFill>
                <a:latin typeface="Arial MT"/>
                <a:cs typeface="Arial MT"/>
              </a:rPr>
              <a:t>bring</a:t>
            </a:r>
            <a:r>
              <a:rPr sz="1600" spc="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this</a:t>
            </a:r>
            <a:r>
              <a:rPr sz="1600" spc="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data</a:t>
            </a:r>
            <a:r>
              <a:rPr sz="1600" spc="6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C1C1C"/>
                </a:solidFill>
                <a:latin typeface="Arial MT"/>
                <a:cs typeface="Arial MT"/>
              </a:rPr>
              <a:t>into</a:t>
            </a:r>
            <a:r>
              <a:rPr sz="1600" spc="1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one</a:t>
            </a:r>
            <a:r>
              <a:rPr sz="1600" spc="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centralized</a:t>
            </a:r>
            <a:r>
              <a:rPr sz="1600" spc="9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 MT"/>
                <a:cs typeface="Arial MT"/>
              </a:rPr>
              <a:t>repository?</a:t>
            </a:r>
            <a:endParaRPr sz="1600">
              <a:latin typeface="Arial MT"/>
              <a:cs typeface="Arial MT"/>
            </a:endParaRPr>
          </a:p>
          <a:p>
            <a:pPr marL="177165" indent="-154305">
              <a:lnSpc>
                <a:spcPct val="100000"/>
              </a:lnSpc>
              <a:spcBef>
                <a:spcPts val="40"/>
              </a:spcBef>
              <a:buClr>
                <a:srgbClr val="000000"/>
              </a:buClr>
              <a:buChar char="•"/>
              <a:tabLst>
                <a:tab pos="177165" algn="l"/>
              </a:tabLst>
            </a:pPr>
            <a:r>
              <a:rPr sz="1600" spc="-40" dirty="0">
                <a:solidFill>
                  <a:srgbClr val="111111"/>
                </a:solidFill>
                <a:latin typeface="Arial MT"/>
                <a:cs typeface="Arial MT"/>
              </a:rPr>
              <a:t>Is</a:t>
            </a:r>
            <a:r>
              <a:rPr sz="1600" spc="-8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data</a:t>
            </a:r>
            <a:r>
              <a:rPr sz="1600" spc="9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61616"/>
                </a:solidFill>
                <a:latin typeface="Arial MT"/>
                <a:cs typeface="Arial MT"/>
              </a:rPr>
              <a:t>representative?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50" i="1" spc="-235" dirty="0">
                <a:solidFill>
                  <a:srgbClr val="1A1A1A"/>
                </a:solidFill>
                <a:latin typeface="Arial"/>
                <a:cs typeface="Arial"/>
              </a:rPr>
              <a:t>Choose</a:t>
            </a:r>
            <a:r>
              <a:rPr sz="1850" i="1" spc="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850" i="1" spc="-80" dirty="0">
                <a:solidFill>
                  <a:srgbClr val="181818"/>
                </a:solidFill>
                <a:latin typeface="Arial"/>
                <a:cs typeface="Arial"/>
              </a:rPr>
              <a:t>the</a:t>
            </a:r>
            <a:r>
              <a:rPr sz="1850" i="1" spc="-16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1850" i="1" spc="-130" dirty="0">
                <a:solidFill>
                  <a:srgbClr val="1A1A1A"/>
                </a:solidFill>
                <a:latin typeface="Arial"/>
                <a:cs typeface="Arial"/>
              </a:rPr>
              <a:t>tabs</a:t>
            </a:r>
            <a:r>
              <a:rPr sz="1850" i="1" spc="-2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850" i="1" dirty="0">
                <a:solidFill>
                  <a:srgbClr val="1A1A1A"/>
                </a:solidFill>
                <a:latin typeface="Arial"/>
                <a:cs typeface="Arial"/>
              </a:rPr>
              <a:t>to</a:t>
            </a:r>
            <a:r>
              <a:rPr sz="1850" i="1" spc="-5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850" i="1" spc="-135" dirty="0">
                <a:solidFill>
                  <a:srgbClr val="111111"/>
                </a:solidFill>
                <a:latin typeface="Arial"/>
                <a:cs typeface="Arial"/>
              </a:rPr>
              <a:t>learn</a:t>
            </a:r>
            <a:r>
              <a:rPr sz="1850" i="1" spc="-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850" i="1" spc="-160" dirty="0">
                <a:solidFill>
                  <a:srgbClr val="1D1D1D"/>
                </a:solidFill>
                <a:latin typeface="Arial"/>
                <a:cs typeface="Arial"/>
              </a:rPr>
              <a:t>more</a:t>
            </a:r>
            <a:r>
              <a:rPr sz="1850" i="1" spc="-15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1850" i="1" spc="-130" dirty="0">
                <a:solidFill>
                  <a:srgbClr val="1A1A1A"/>
                </a:solidFill>
                <a:latin typeface="Arial"/>
                <a:cs typeface="Arial"/>
              </a:rPr>
              <a:t>about</a:t>
            </a:r>
            <a:r>
              <a:rPr sz="1850" i="1" spc="1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850" i="1" spc="-105" dirty="0">
                <a:solidFill>
                  <a:srgbClr val="1F1F1F"/>
                </a:solidFill>
                <a:latin typeface="Arial"/>
                <a:cs typeface="Arial"/>
              </a:rPr>
              <a:t>data</a:t>
            </a:r>
            <a:r>
              <a:rPr sz="1850" i="1" spc="-9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1850" i="1" spc="-45" dirty="0">
                <a:solidFill>
                  <a:srgbClr val="151515"/>
                </a:solidFill>
                <a:latin typeface="Arial"/>
                <a:cs typeface="Arial"/>
              </a:rPr>
              <a:t>considerations.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234" y="246650"/>
            <a:ext cx="1649773" cy="7251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62875" y="1153121"/>
            <a:ext cx="3227070" cy="589280"/>
          </a:xfrm>
          <a:prstGeom prst="rect">
            <a:avLst/>
          </a:prstGeom>
          <a:solidFill>
            <a:srgbClr val="8C2A67"/>
          </a:solidFill>
        </p:spPr>
        <p:txBody>
          <a:bodyPr vert="horz" wrap="square" lIns="0" tIns="102235" rIns="0" bIns="0" rtlCol="0">
            <a:spAutoFit/>
          </a:bodyPr>
          <a:lstStyle/>
          <a:p>
            <a:pPr marL="532130">
              <a:lnSpc>
                <a:spcPct val="100000"/>
              </a:lnSpc>
              <a:spcBef>
                <a:spcPts val="805"/>
              </a:spcBef>
            </a:pPr>
            <a:r>
              <a:rPr sz="2050" spc="-114" dirty="0">
                <a:solidFill>
                  <a:srgbClr val="FFFFFF"/>
                </a:solidFill>
                <a:latin typeface="Arial MT"/>
                <a:cs typeface="Arial MT"/>
              </a:rPr>
              <a:t>Understand</a:t>
            </a:r>
            <a:r>
              <a:rPr sz="20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70" dirty="0">
                <a:solidFill>
                  <a:srgbClr val="FBE2F6"/>
                </a:solidFill>
                <a:latin typeface="Arial MT"/>
                <a:cs typeface="Arial MT"/>
              </a:rPr>
              <a:t>the </a:t>
            </a:r>
            <a:r>
              <a:rPr sz="2050" spc="-20" dirty="0">
                <a:solidFill>
                  <a:srgbClr val="FFA8E1"/>
                </a:solidFill>
                <a:latin typeface="Arial MT"/>
                <a:cs typeface="Arial MT"/>
              </a:rPr>
              <a:t>data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2875" y="1860169"/>
            <a:ext cx="3227070" cy="625475"/>
          </a:xfrm>
          <a:prstGeom prst="rect">
            <a:avLst/>
          </a:prstGeom>
          <a:solidFill>
            <a:srgbClr val="233B3D"/>
          </a:solidFill>
        </p:spPr>
        <p:txBody>
          <a:bodyPr vert="horz" wrap="square" lIns="0" tIns="179070" rIns="0" bIns="0" rtlCol="0">
            <a:spAutoFit/>
          </a:bodyPr>
          <a:lstStyle/>
          <a:p>
            <a:pPr marL="549275">
              <a:lnSpc>
                <a:spcPct val="100000"/>
              </a:lnSpc>
              <a:spcBef>
                <a:spcPts val="1410"/>
              </a:spcBef>
            </a:pPr>
            <a:r>
              <a:rPr sz="1800" dirty="0">
                <a:solidFill>
                  <a:srgbClr val="1C4F5B"/>
                </a:solidFill>
                <a:latin typeface="Arial MT"/>
                <a:cs typeface="Arial MT"/>
              </a:rPr>
              <a:t>Get</a:t>
            </a:r>
            <a:r>
              <a:rPr sz="1800" spc="35" dirty="0">
                <a:solidFill>
                  <a:srgbClr val="1C4F5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99EB8"/>
                </a:solidFill>
                <a:latin typeface="Arial MT"/>
                <a:cs typeface="Arial MT"/>
              </a:rPr>
              <a:t>a</a:t>
            </a:r>
            <a:r>
              <a:rPr sz="1800" spc="20" dirty="0">
                <a:solidFill>
                  <a:srgbClr val="799EB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64B5D"/>
                </a:solidFill>
                <a:latin typeface="Arial MT"/>
                <a:cs typeface="Arial MT"/>
              </a:rPr>
              <a:t>domain</a:t>
            </a:r>
            <a:r>
              <a:rPr sz="1800" spc="-35" dirty="0">
                <a:solidFill>
                  <a:srgbClr val="164B5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54D60"/>
                </a:solidFill>
                <a:latin typeface="Arial MT"/>
                <a:cs typeface="Arial MT"/>
              </a:rPr>
              <a:t>expert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2875" y="2621603"/>
            <a:ext cx="3227070" cy="616585"/>
          </a:xfrm>
          <a:prstGeom prst="rect">
            <a:avLst/>
          </a:prstGeom>
          <a:solidFill>
            <a:srgbClr val="004F75"/>
          </a:solidFill>
        </p:spPr>
        <p:txBody>
          <a:bodyPr vert="horz" wrap="square" lIns="0" tIns="161290" rIns="0" bIns="0" rtlCol="0">
            <a:spAutoFit/>
          </a:bodyPr>
          <a:lstStyle/>
          <a:p>
            <a:pPr marL="516255">
              <a:lnSpc>
                <a:spcPct val="100000"/>
              </a:lnSpc>
              <a:spcBef>
                <a:spcPts val="127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Evaluate</a:t>
            </a:r>
            <a:r>
              <a:rPr sz="18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Quality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2875" y="3383040"/>
            <a:ext cx="3227070" cy="616585"/>
          </a:xfrm>
          <a:prstGeom prst="rect">
            <a:avLst/>
          </a:prstGeom>
          <a:solidFill>
            <a:srgbClr val="1C424B"/>
          </a:solidFill>
        </p:spPr>
        <p:txBody>
          <a:bodyPr vert="horz" wrap="square" lIns="0" tIns="161290" rIns="0" bIns="0" rtlCol="0">
            <a:spAutoFit/>
          </a:bodyPr>
          <a:lstStyle/>
          <a:p>
            <a:pPr marL="186690">
              <a:lnSpc>
                <a:spcPct val="100000"/>
              </a:lnSpc>
              <a:spcBef>
                <a:spcPts val="1270"/>
              </a:spcBef>
            </a:pPr>
            <a:r>
              <a:rPr sz="1800" spc="65" dirty="0">
                <a:solidFill>
                  <a:srgbClr val="E4FBFF"/>
                </a:solidFill>
                <a:latin typeface="Arial MT"/>
                <a:cs typeface="Arial MT"/>
              </a:rPr>
              <a:t>Identify</a:t>
            </a:r>
            <a:r>
              <a:rPr sz="1800" spc="40" dirty="0">
                <a:solidFill>
                  <a:srgbClr val="E4FB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features</a:t>
            </a:r>
            <a:r>
              <a:rPr sz="1800" spc="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B7793"/>
                </a:solidFill>
                <a:latin typeface="Arial MT"/>
                <a:cs typeface="Arial MT"/>
              </a:rPr>
              <a:t>and</a:t>
            </a:r>
            <a:r>
              <a:rPr sz="1800" spc="25" dirty="0">
                <a:solidFill>
                  <a:srgbClr val="4B779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labels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811" y="4153540"/>
            <a:ext cx="3227070" cy="589280"/>
          </a:xfrm>
          <a:prstGeom prst="rect">
            <a:avLst/>
          </a:prstGeom>
          <a:solidFill>
            <a:srgbClr val="153138"/>
          </a:solidFill>
        </p:spPr>
        <p:txBody>
          <a:bodyPr vert="horz" wrap="square" lIns="0" tIns="108585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855"/>
              </a:spcBef>
            </a:pPr>
            <a:r>
              <a:rPr sz="2000" dirty="0">
                <a:solidFill>
                  <a:srgbClr val="B8DFEF"/>
                </a:solidFill>
                <a:latin typeface="Arial MT"/>
                <a:cs typeface="Arial MT"/>
              </a:rPr>
              <a:t>Identify</a:t>
            </a:r>
            <a:r>
              <a:rPr sz="2000" spc="-90" dirty="0">
                <a:solidFill>
                  <a:srgbClr val="B8DFEF"/>
                </a:solidFill>
                <a:latin typeface="Arial MT"/>
                <a:cs typeface="Arial MT"/>
              </a:rPr>
              <a:t> </a:t>
            </a:r>
            <a:r>
              <a:rPr sz="2000" spc="-70" dirty="0">
                <a:solidFill>
                  <a:srgbClr val="44808C"/>
                </a:solidFill>
                <a:latin typeface="Arial MT"/>
                <a:cs typeface="Arial MT"/>
              </a:rPr>
              <a:t>labeled</a:t>
            </a:r>
            <a:r>
              <a:rPr sz="2000" spc="-60" dirty="0">
                <a:solidFill>
                  <a:srgbClr val="44808C"/>
                </a:solidFill>
                <a:latin typeface="Arial MT"/>
                <a:cs typeface="Arial MT"/>
              </a:rPr>
              <a:t> </a:t>
            </a:r>
            <a:r>
              <a:rPr sz="2000" spc="-70" dirty="0">
                <a:solidFill>
                  <a:srgbClr val="82A3B5"/>
                </a:solidFill>
                <a:latin typeface="Arial MT"/>
                <a:cs typeface="Arial MT"/>
              </a:rPr>
              <a:t>data</a:t>
            </a:r>
            <a:r>
              <a:rPr sz="2000" spc="-55" dirty="0">
                <a:solidFill>
                  <a:srgbClr val="82A3B5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44F5E"/>
                </a:solidFill>
                <a:latin typeface="Arial MT"/>
                <a:cs typeface="Arial MT"/>
              </a:rPr>
              <a:t>needs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523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30"/>
              </a:spcBef>
            </a:pPr>
            <a:r>
              <a:rPr sz="2150" dirty="0">
                <a:solidFill>
                  <a:srgbClr val="131313"/>
                </a:solidFill>
                <a:latin typeface="Arial MT"/>
                <a:cs typeface="Arial MT"/>
              </a:rPr>
              <a:t>Data</a:t>
            </a:r>
            <a:r>
              <a:rPr sz="2150" spc="3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150" spc="75" dirty="0">
                <a:solidFill>
                  <a:srgbClr val="181818"/>
                </a:solidFill>
                <a:latin typeface="Arial MT"/>
                <a:cs typeface="Arial MT"/>
              </a:rPr>
              <a:t>considerations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5241" y="1136644"/>
            <a:ext cx="3326129" cy="2749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b="1" spc="-10" dirty="0">
                <a:solidFill>
                  <a:srgbClr val="1C1C1C"/>
                </a:solidFill>
                <a:latin typeface="Arial"/>
                <a:cs typeface="Arial"/>
              </a:rPr>
              <a:t>Get</a:t>
            </a:r>
            <a:r>
              <a:rPr sz="1600" b="1" spc="-8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11111"/>
                </a:solidFill>
                <a:latin typeface="Arial"/>
                <a:cs typeface="Arial"/>
              </a:rPr>
              <a:t>an</a:t>
            </a:r>
            <a:r>
              <a:rPr sz="1600" b="1" spc="-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understanding</a:t>
            </a:r>
            <a:r>
              <a:rPr sz="1600" b="1" spc="75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61616"/>
                </a:solidFill>
                <a:latin typeface="Arial"/>
                <a:cs typeface="Arial"/>
              </a:rPr>
              <a:t>of </a:t>
            </a:r>
            <a:r>
              <a:rPr sz="1600" b="1" spc="-10" dirty="0">
                <a:solidFill>
                  <a:srgbClr val="1C1C1C"/>
                </a:solidFill>
                <a:latin typeface="Arial"/>
                <a:cs typeface="Arial"/>
              </a:rPr>
              <a:t>your</a:t>
            </a:r>
            <a:r>
              <a:rPr sz="1600" b="1" spc="-1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1C1C1C"/>
                </a:solidFill>
                <a:latin typeface="Arial MT"/>
                <a:cs typeface="Arial MT"/>
              </a:rPr>
              <a:t>data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61694" y="1653332"/>
            <a:ext cx="7490459" cy="12947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3335" marR="5080">
              <a:lnSpc>
                <a:spcPct val="104099"/>
              </a:lnSpc>
              <a:spcBef>
                <a:spcPts val="55"/>
              </a:spcBef>
            </a:pPr>
            <a:r>
              <a:rPr sz="1600" spc="85" dirty="0">
                <a:solidFill>
                  <a:srgbClr val="161616"/>
                </a:solidFill>
                <a:latin typeface="Calibri"/>
                <a:cs typeface="Calibri"/>
              </a:rPr>
              <a:t>You</a:t>
            </a:r>
            <a:r>
              <a:rPr sz="1600" spc="1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1A1A1A"/>
                </a:solidFill>
                <a:latin typeface="Calibri"/>
                <a:cs typeface="Calibri"/>
              </a:rPr>
              <a:t>have</a:t>
            </a:r>
            <a:r>
              <a:rPr sz="1600" spc="7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151515"/>
                </a:solidFill>
                <a:latin typeface="Calibri"/>
                <a:cs typeface="Calibri"/>
              </a:rPr>
              <a:t>further</a:t>
            </a:r>
            <a:r>
              <a:rPr sz="1600" spc="3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161616"/>
                </a:solidFill>
                <a:latin typeface="Calibri"/>
                <a:cs typeface="Calibri"/>
              </a:rPr>
              <a:t>formulated</a:t>
            </a:r>
            <a:r>
              <a:rPr sz="1600" spc="7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600" spc="8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1600" spc="10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 spc="50" dirty="0">
                <a:solidFill>
                  <a:srgbClr val="161616"/>
                </a:solidFill>
                <a:latin typeface="Calibri"/>
                <a:cs typeface="Calibri"/>
              </a:rPr>
              <a:t>problem,</a:t>
            </a:r>
            <a:r>
              <a:rPr sz="1600" spc="16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600" spc="55" dirty="0">
                <a:solidFill>
                  <a:srgbClr val="242424"/>
                </a:solidFill>
                <a:latin typeface="Calibri"/>
                <a:cs typeface="Calibri"/>
              </a:rPr>
              <a:t>but</a:t>
            </a:r>
            <a:r>
              <a:rPr sz="1600" spc="18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600" spc="90" dirty="0">
                <a:solidFill>
                  <a:srgbClr val="181818"/>
                </a:solidFill>
                <a:latin typeface="Calibri"/>
                <a:cs typeface="Calibri"/>
              </a:rPr>
              <a:t>what</a:t>
            </a:r>
            <a:r>
              <a:rPr sz="1600" spc="6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600" spc="75" dirty="0">
                <a:solidFill>
                  <a:srgbClr val="212121"/>
                </a:solidFill>
                <a:latin typeface="Calibri"/>
                <a:cs typeface="Calibri"/>
              </a:rPr>
              <a:t>data</a:t>
            </a:r>
            <a:r>
              <a:rPr sz="1600" spc="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600" spc="90" dirty="0">
                <a:solidFill>
                  <a:srgbClr val="242424"/>
                </a:solidFill>
                <a:latin typeface="Calibri"/>
                <a:cs typeface="Calibri"/>
              </a:rPr>
              <a:t>do</a:t>
            </a:r>
            <a:r>
              <a:rPr sz="1600" spc="10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1D1D1D"/>
                </a:solidFill>
                <a:latin typeface="Calibri"/>
                <a:cs typeface="Calibri"/>
              </a:rPr>
              <a:t>you</a:t>
            </a:r>
            <a:r>
              <a:rPr sz="1600" spc="1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242424"/>
                </a:solidFill>
                <a:latin typeface="Calibri"/>
                <a:cs typeface="Calibri"/>
              </a:rPr>
              <a:t>need</a:t>
            </a:r>
            <a:r>
              <a:rPr sz="1600" spc="2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1A1A1A"/>
                </a:solidFill>
                <a:latin typeface="Calibri"/>
                <a:cs typeface="Calibri"/>
              </a:rPr>
              <a:t>to </a:t>
            </a:r>
            <a:r>
              <a:rPr sz="1600" spc="65" dirty="0">
                <a:solidFill>
                  <a:srgbClr val="181818"/>
                </a:solidFill>
                <a:latin typeface="Calibri"/>
                <a:cs typeface="Calibri"/>
              </a:rPr>
              <a:t>actually </a:t>
            </a:r>
            <a:r>
              <a:rPr sz="1600" spc="55" dirty="0">
                <a:solidFill>
                  <a:srgbClr val="181818"/>
                </a:solidFill>
                <a:latin typeface="Arial MT"/>
                <a:cs typeface="Arial MT"/>
              </a:rPr>
              <a:t>train</a:t>
            </a:r>
            <a:r>
              <a:rPr sz="1600" spc="-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sz="1600" spc="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model</a:t>
            </a:r>
            <a:r>
              <a:rPr sz="1600" spc="-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to</a:t>
            </a:r>
            <a:r>
              <a:rPr sz="1600" spc="15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31313"/>
                </a:solidFill>
                <a:latin typeface="Arial MT"/>
                <a:cs typeface="Arial MT"/>
              </a:rPr>
              <a:t>reach</a:t>
            </a:r>
            <a:r>
              <a:rPr sz="1600" spc="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82828"/>
                </a:solidFill>
                <a:latin typeface="Arial MT"/>
                <a:cs typeface="Arial MT"/>
              </a:rPr>
              <a:t>the</a:t>
            </a:r>
            <a:r>
              <a:rPr sz="1600" spc="7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desired</a:t>
            </a:r>
            <a:r>
              <a:rPr sz="16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81818"/>
                </a:solidFill>
                <a:latin typeface="Arial MT"/>
                <a:cs typeface="Arial MT"/>
              </a:rPr>
              <a:t>output</a:t>
            </a:r>
            <a:r>
              <a:rPr sz="1600" spc="1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and</a:t>
            </a:r>
            <a:r>
              <a:rPr sz="1600" spc="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intended</a:t>
            </a:r>
            <a:r>
              <a:rPr sz="1600" spc="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80808"/>
                </a:solidFill>
                <a:latin typeface="Arial MT"/>
                <a:cs typeface="Arial MT"/>
              </a:rPr>
              <a:t>business</a:t>
            </a:r>
            <a:r>
              <a:rPr sz="1600" spc="6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outcome?</a:t>
            </a:r>
            <a:r>
              <a:rPr sz="1600" spc="11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080808"/>
                </a:solidFill>
                <a:latin typeface="Arial MT"/>
                <a:cs typeface="Arial MT"/>
              </a:rPr>
              <a:t>Do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you</a:t>
            </a:r>
            <a:r>
              <a:rPr sz="1600" spc="-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have</a:t>
            </a:r>
            <a:r>
              <a:rPr sz="1600" spc="8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90" dirty="0">
                <a:solidFill>
                  <a:srgbClr val="212121"/>
                </a:solidFill>
                <a:latin typeface="Arial MT"/>
                <a:cs typeface="Arial MT"/>
              </a:rPr>
              <a:t>access</a:t>
            </a:r>
            <a:r>
              <a:rPr sz="1600" spc="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600" spc="3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F1F1F"/>
                </a:solidFill>
                <a:latin typeface="Arial MT"/>
                <a:cs typeface="Arial MT"/>
              </a:rPr>
              <a:t>that</a:t>
            </a:r>
            <a:r>
              <a:rPr sz="1600" spc="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F0F0F"/>
                </a:solidFill>
                <a:latin typeface="Arial MT"/>
                <a:cs typeface="Arial MT"/>
              </a:rPr>
              <a:t>data?</a:t>
            </a:r>
            <a:r>
              <a:rPr sz="1600" spc="-4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If</a:t>
            </a:r>
            <a:r>
              <a:rPr sz="1600" spc="1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35" dirty="0">
                <a:solidFill>
                  <a:srgbClr val="181818"/>
                </a:solidFill>
                <a:latin typeface="Arial MT"/>
                <a:cs typeface="Arial MT"/>
              </a:rPr>
              <a:t>so,</a:t>
            </a:r>
            <a:r>
              <a:rPr sz="160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how</a:t>
            </a:r>
            <a:r>
              <a:rPr sz="1600" spc="6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much</a:t>
            </a:r>
            <a:r>
              <a:rPr sz="1600" spc="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data</a:t>
            </a:r>
            <a:r>
              <a:rPr sz="1600" spc="7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do</a:t>
            </a:r>
            <a:r>
              <a:rPr sz="1600" spc="-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you</a:t>
            </a:r>
            <a:r>
              <a:rPr sz="1600" spc="-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have</a:t>
            </a:r>
            <a:r>
              <a:rPr sz="1600" spc="1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6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where</a:t>
            </a:r>
            <a:r>
              <a:rPr sz="1600" spc="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is</a:t>
            </a:r>
            <a:r>
              <a:rPr sz="1600" spc="-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61616"/>
                </a:solidFill>
                <a:latin typeface="Arial MT"/>
                <a:cs typeface="Arial MT"/>
              </a:rPr>
              <a:t>it?</a:t>
            </a:r>
            <a:endParaRPr sz="1600">
              <a:latin typeface="Arial MT"/>
              <a:cs typeface="Arial MT"/>
            </a:endParaRPr>
          </a:p>
          <a:p>
            <a:pPr marL="12700" marR="975994" indent="1270">
              <a:lnSpc>
                <a:spcPts val="2030"/>
              </a:lnSpc>
              <a:spcBef>
                <a:spcPts val="55"/>
              </a:spcBef>
            </a:pP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What</a:t>
            </a:r>
            <a:r>
              <a:rPr sz="1600" spc="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solution</a:t>
            </a:r>
            <a:r>
              <a:rPr sz="1600" spc="9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can</a:t>
            </a:r>
            <a:r>
              <a:rPr sz="1600" spc="1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you</a:t>
            </a:r>
            <a:r>
              <a:rPr sz="1600" spc="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use</a:t>
            </a:r>
            <a:r>
              <a:rPr sz="1600" spc="7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61616"/>
                </a:solidFill>
                <a:latin typeface="Arial MT"/>
                <a:cs typeface="Arial MT"/>
              </a:rPr>
              <a:t>to</a:t>
            </a:r>
            <a:r>
              <a:rPr sz="1600" spc="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bring</a:t>
            </a:r>
            <a:r>
              <a:rPr sz="1600" spc="9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all</a:t>
            </a:r>
            <a:r>
              <a:rPr sz="1600" spc="14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81818"/>
                </a:solidFill>
                <a:latin typeface="Arial MT"/>
                <a:cs typeface="Arial MT"/>
              </a:rPr>
              <a:t>of</a:t>
            </a:r>
            <a:r>
              <a:rPr sz="1600" spc="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this</a:t>
            </a:r>
            <a:r>
              <a:rPr sz="1600" spc="10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data</a:t>
            </a:r>
            <a:r>
              <a:rPr sz="1600" spc="8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A1A1A"/>
                </a:solidFill>
                <a:latin typeface="Arial MT"/>
                <a:cs typeface="Arial MT"/>
              </a:rPr>
              <a:t>into</a:t>
            </a:r>
            <a:r>
              <a:rPr sz="1600" spc="1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one</a:t>
            </a:r>
            <a:r>
              <a:rPr sz="1600" spc="10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centralized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repository?</a:t>
            </a:r>
            <a:r>
              <a:rPr sz="16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30" dirty="0">
                <a:solidFill>
                  <a:srgbClr val="161616"/>
                </a:solidFill>
                <a:latin typeface="Arial MT"/>
                <a:cs typeface="Arial MT"/>
              </a:rPr>
              <a:t>These</a:t>
            </a:r>
            <a:r>
              <a:rPr sz="1600" spc="1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questions</a:t>
            </a:r>
            <a:r>
              <a:rPr sz="1600" spc="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are</a:t>
            </a:r>
            <a:r>
              <a:rPr sz="1600" spc="-4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essential</a:t>
            </a:r>
            <a:r>
              <a:rPr sz="1600" spc="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31313"/>
                </a:solidFill>
                <a:latin typeface="Arial MT"/>
                <a:cs typeface="Arial MT"/>
              </a:rPr>
              <a:t>to</a:t>
            </a:r>
            <a:r>
              <a:rPr sz="1600" spc="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answer</a:t>
            </a:r>
            <a:r>
              <a:rPr sz="1600" spc="10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A2A2A"/>
                </a:solidFill>
                <a:latin typeface="Arial MT"/>
                <a:cs typeface="Arial MT"/>
              </a:rPr>
              <a:t>at</a:t>
            </a:r>
            <a:r>
              <a:rPr sz="1600" spc="-4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this</a:t>
            </a:r>
            <a:r>
              <a:rPr sz="1600" spc="-3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42424"/>
                </a:solidFill>
                <a:latin typeface="Arial MT"/>
                <a:cs typeface="Arial MT"/>
              </a:rPr>
              <a:t>stage.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64458" y="3166384"/>
            <a:ext cx="7590790" cy="56070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-635">
              <a:lnSpc>
                <a:spcPts val="2070"/>
              </a:lnSpc>
              <a:spcBef>
                <a:spcPts val="225"/>
              </a:spcBef>
            </a:pPr>
            <a:r>
              <a:rPr sz="1750" dirty="0">
                <a:solidFill>
                  <a:srgbClr val="282828"/>
                </a:solidFill>
                <a:latin typeface="Calibri"/>
                <a:cs typeface="Calibri"/>
              </a:rPr>
              <a:t>To</a:t>
            </a:r>
            <a:r>
              <a:rPr sz="1750" spc="-3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81818"/>
                </a:solidFill>
                <a:latin typeface="Calibri"/>
                <a:cs typeface="Calibri"/>
              </a:rPr>
              <a:t>answer</a:t>
            </a:r>
            <a:r>
              <a:rPr sz="1750" spc="-2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A1A1A"/>
                </a:solidFill>
                <a:latin typeface="Calibri"/>
                <a:cs typeface="Calibri"/>
              </a:rPr>
              <a:t>these</a:t>
            </a:r>
            <a:r>
              <a:rPr sz="1750" spc="7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81818"/>
                </a:solidFill>
                <a:latin typeface="Calibri"/>
                <a:cs typeface="Calibri"/>
              </a:rPr>
              <a:t>questions,</a:t>
            </a:r>
            <a:r>
              <a:rPr sz="1750" spc="8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51515"/>
                </a:solidFill>
                <a:latin typeface="Calibri"/>
                <a:cs typeface="Calibri"/>
              </a:rPr>
              <a:t>it's</a:t>
            </a:r>
            <a:r>
              <a:rPr sz="1750" spc="6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1750" spc="90" dirty="0">
                <a:solidFill>
                  <a:srgbClr val="242424"/>
                </a:solidFill>
                <a:latin typeface="Calibri"/>
                <a:cs typeface="Calibri"/>
              </a:rPr>
              <a:t>a</a:t>
            </a:r>
            <a:r>
              <a:rPr sz="1750" spc="-8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81818"/>
                </a:solidFill>
                <a:latin typeface="Calibri"/>
                <a:cs typeface="Calibri"/>
              </a:rPr>
              <a:t>good</a:t>
            </a:r>
            <a:r>
              <a:rPr sz="1750" spc="-3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F1F1F"/>
                </a:solidFill>
                <a:latin typeface="Calibri"/>
                <a:cs typeface="Calibri"/>
              </a:rPr>
              <a:t>idea</a:t>
            </a:r>
            <a:r>
              <a:rPr sz="175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11111"/>
                </a:solidFill>
                <a:latin typeface="Calibri"/>
                <a:cs typeface="Calibri"/>
              </a:rPr>
              <a:t>to</a:t>
            </a:r>
            <a:r>
              <a:rPr sz="1750" spc="4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2121"/>
                </a:solidFill>
                <a:latin typeface="Calibri"/>
                <a:cs typeface="Calibri"/>
              </a:rPr>
              <a:t>start</a:t>
            </a:r>
            <a:r>
              <a:rPr sz="175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31313"/>
                </a:solidFill>
                <a:latin typeface="Calibri"/>
                <a:cs typeface="Calibri"/>
              </a:rPr>
              <a:t>with</a:t>
            </a:r>
            <a:r>
              <a:rPr sz="1750" spc="2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31313"/>
                </a:solidFill>
                <a:latin typeface="Calibri"/>
                <a:cs typeface="Calibri"/>
              </a:rPr>
              <a:t>an</a:t>
            </a:r>
            <a:r>
              <a:rPr sz="1750" spc="-1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11111"/>
                </a:solidFill>
                <a:latin typeface="Calibri"/>
                <a:cs typeface="Calibri"/>
              </a:rPr>
              <a:t>overview</a:t>
            </a:r>
            <a:r>
              <a:rPr sz="1750" spc="9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31313"/>
                </a:solidFill>
                <a:latin typeface="Calibri"/>
                <a:cs typeface="Calibri"/>
              </a:rPr>
              <a:t>of</a:t>
            </a:r>
            <a:r>
              <a:rPr sz="1750" spc="4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sz="1750" spc="-4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latin typeface="Calibri"/>
                <a:cs typeface="Calibri"/>
              </a:rPr>
              <a:t>typical </a:t>
            </a:r>
            <a:r>
              <a:rPr sz="2625" baseline="1587" dirty="0">
                <a:solidFill>
                  <a:srgbClr val="1C1C1C"/>
                </a:solidFill>
                <a:latin typeface="Calibri"/>
                <a:cs typeface="Calibri"/>
              </a:rPr>
              <a:t>elements</a:t>
            </a:r>
            <a:r>
              <a:rPr sz="2625" spc="179" baseline="1587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sz="1750" spc="-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625" baseline="1587" dirty="0">
                <a:solidFill>
                  <a:srgbClr val="1F1F1F"/>
                </a:solidFill>
                <a:latin typeface="Calibri"/>
                <a:cs typeface="Calibri"/>
              </a:rPr>
              <a:t>an</a:t>
            </a:r>
            <a:r>
              <a:rPr sz="2625" spc="-44" baseline="1587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625" baseline="1587" dirty="0">
                <a:solidFill>
                  <a:srgbClr val="131313"/>
                </a:solidFill>
                <a:latin typeface="Calibri"/>
                <a:cs typeface="Calibri"/>
              </a:rPr>
              <a:t>ML</a:t>
            </a:r>
            <a:r>
              <a:rPr sz="2625" spc="-52" baseline="1587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2625" spc="-15" baseline="1587" dirty="0">
                <a:solidFill>
                  <a:srgbClr val="151515"/>
                </a:solidFill>
                <a:latin typeface="Calibri"/>
                <a:cs typeface="Calibri"/>
              </a:rPr>
              <a:t>dataset.</a:t>
            </a:r>
            <a:endParaRPr sz="2625" baseline="1587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918" y="215823"/>
            <a:ext cx="1644846" cy="632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1128" y="1119581"/>
            <a:ext cx="3217545" cy="588010"/>
          </a:xfrm>
          <a:prstGeom prst="rect">
            <a:avLst/>
          </a:prstGeom>
          <a:solidFill>
            <a:srgbClr val="084D6D"/>
          </a:solidFill>
        </p:spPr>
        <p:txBody>
          <a:bodyPr vert="horz" wrap="square" lIns="0" tIns="132715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104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Understand</a:t>
            </a:r>
            <a:r>
              <a:rPr sz="1800" spc="1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1128" y="1833549"/>
            <a:ext cx="3217545" cy="614680"/>
          </a:xfrm>
          <a:prstGeom prst="rect">
            <a:avLst/>
          </a:prstGeom>
          <a:solidFill>
            <a:srgbClr val="CC1F8C"/>
          </a:solidFill>
        </p:spPr>
        <p:txBody>
          <a:bodyPr vert="horz" wrap="square" lIns="0" tIns="156210" rIns="0" bIns="0" rtlCol="0">
            <a:spAutoFit/>
          </a:bodyPr>
          <a:lstStyle/>
          <a:p>
            <a:pPr marL="546735">
              <a:lnSpc>
                <a:spcPct val="100000"/>
              </a:lnSpc>
              <a:spcBef>
                <a:spcPts val="1230"/>
              </a:spcBef>
            </a:pPr>
            <a:r>
              <a:rPr sz="1900" spc="-60" dirty="0">
                <a:solidFill>
                  <a:srgbClr val="FFFFFF"/>
                </a:solidFill>
                <a:latin typeface="Arial MT"/>
                <a:cs typeface="Arial MT"/>
              </a:rPr>
              <a:t>Get</a:t>
            </a:r>
            <a:r>
              <a:rPr sz="19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27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90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Arial MT"/>
                <a:cs typeface="Arial MT"/>
              </a:rPr>
              <a:t>domain</a:t>
            </a:r>
            <a:r>
              <a:rPr sz="19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</a:rPr>
              <a:t>expert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1128" y="2592706"/>
            <a:ext cx="3217545" cy="605790"/>
          </a:xfrm>
          <a:prstGeom prst="rect">
            <a:avLst/>
          </a:prstGeom>
          <a:solidFill>
            <a:srgbClr val="152F38"/>
          </a:solidFill>
        </p:spPr>
        <p:txBody>
          <a:bodyPr vert="horz" wrap="square" lIns="0" tIns="150495" rIns="0" bIns="0" rtlCol="0">
            <a:spAutoFit/>
          </a:bodyPr>
          <a:lstStyle/>
          <a:p>
            <a:pPr marL="505459">
              <a:lnSpc>
                <a:spcPct val="100000"/>
              </a:lnSpc>
              <a:spcBef>
                <a:spcPts val="118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Evaluate</a:t>
            </a:r>
            <a:r>
              <a:rPr sz="18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7AAC8"/>
                </a:solidFill>
                <a:latin typeface="Arial MT"/>
                <a:cs typeface="Arial MT"/>
              </a:rPr>
              <a:t>data</a:t>
            </a:r>
            <a:r>
              <a:rPr sz="1800" spc="25" dirty="0">
                <a:solidFill>
                  <a:srgbClr val="77AAC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DBFFFF"/>
                </a:solidFill>
                <a:latin typeface="Arial MT"/>
                <a:cs typeface="Arial MT"/>
              </a:rPr>
              <a:t>quality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1128" y="3333787"/>
            <a:ext cx="3217545" cy="624205"/>
          </a:xfrm>
          <a:prstGeom prst="rect">
            <a:avLst/>
          </a:prstGeom>
          <a:solidFill>
            <a:srgbClr val="3D494F"/>
          </a:solidFill>
        </p:spPr>
        <p:txBody>
          <a:bodyPr vert="horz" wrap="square" lIns="0" tIns="149860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180"/>
              </a:spcBef>
            </a:pPr>
            <a:r>
              <a:rPr sz="1950" dirty="0">
                <a:solidFill>
                  <a:srgbClr val="CDE2FB"/>
                </a:solidFill>
                <a:latin typeface="Arial MT"/>
                <a:cs typeface="Arial MT"/>
              </a:rPr>
              <a:t>Identify</a:t>
            </a:r>
            <a:r>
              <a:rPr sz="1950" spc="-60" dirty="0">
                <a:solidFill>
                  <a:srgbClr val="CDE2FB"/>
                </a:solidFill>
                <a:latin typeface="Arial MT"/>
                <a:cs typeface="Arial MT"/>
              </a:rPr>
              <a:t> </a:t>
            </a:r>
            <a:r>
              <a:rPr sz="1950" spc="-40" dirty="0">
                <a:solidFill>
                  <a:srgbClr val="E4FFFF"/>
                </a:solidFill>
                <a:latin typeface="Arial MT"/>
                <a:cs typeface="Arial MT"/>
              </a:rPr>
              <a:t>features</a:t>
            </a:r>
            <a:r>
              <a:rPr sz="1950" spc="-15" dirty="0">
                <a:solidFill>
                  <a:srgbClr val="E4FFFF"/>
                </a:solidFill>
                <a:latin typeface="Arial MT"/>
                <a:cs typeface="Arial MT"/>
              </a:rPr>
              <a:t> </a:t>
            </a:r>
            <a:r>
              <a:rPr sz="1950" spc="-110" dirty="0">
                <a:solidFill>
                  <a:srgbClr val="46808C"/>
                </a:solidFill>
                <a:latin typeface="Arial MT"/>
                <a:cs typeface="Arial MT"/>
              </a:rPr>
              <a:t>and</a:t>
            </a:r>
            <a:r>
              <a:rPr sz="1950" spc="-25" dirty="0">
                <a:solidFill>
                  <a:srgbClr val="46808C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4F82A1"/>
                </a:solidFill>
                <a:latin typeface="Arial MT"/>
                <a:cs typeface="Arial MT"/>
              </a:rPr>
              <a:t>labels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2090" y="4074869"/>
            <a:ext cx="3226435" cy="624205"/>
          </a:xfrm>
          <a:prstGeom prst="rect">
            <a:avLst/>
          </a:prstGeom>
          <a:solidFill>
            <a:srgbClr val="163846"/>
          </a:solidFill>
        </p:spPr>
        <p:txBody>
          <a:bodyPr vert="horz" wrap="square" lIns="0" tIns="168910" rIns="0" bIns="0" rtlCol="0">
            <a:spAutoFit/>
          </a:bodyPr>
          <a:lstStyle/>
          <a:p>
            <a:pPr marL="186055">
              <a:lnSpc>
                <a:spcPct val="100000"/>
              </a:lnSpc>
              <a:spcBef>
                <a:spcPts val="1330"/>
              </a:spcBef>
            </a:pPr>
            <a:r>
              <a:rPr sz="1800" spc="55" dirty="0">
                <a:solidFill>
                  <a:srgbClr val="FFFFFF"/>
                </a:solidFill>
                <a:latin typeface="Arial MT"/>
                <a:cs typeface="Arial MT"/>
              </a:rPr>
              <a:t>Identify</a:t>
            </a:r>
            <a:r>
              <a:rPr sz="180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9F9F9"/>
                </a:solidFill>
                <a:latin typeface="Arial MT"/>
                <a:cs typeface="Arial MT"/>
              </a:rPr>
              <a:t>labeled</a:t>
            </a:r>
            <a:r>
              <a:rPr sz="1800" spc="130" dirty="0">
                <a:solidFill>
                  <a:srgbClr val="F9F9F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CACBF"/>
                </a:solidFill>
                <a:latin typeface="Arial MT"/>
                <a:cs typeface="Arial MT"/>
              </a:rPr>
              <a:t>data</a:t>
            </a:r>
            <a:r>
              <a:rPr sz="1800" spc="150" dirty="0">
                <a:solidFill>
                  <a:srgbClr val="7CACB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needs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2150" spc="50" dirty="0">
                <a:solidFill>
                  <a:srgbClr val="212121"/>
                </a:solidFill>
                <a:latin typeface="Arial MT"/>
                <a:cs typeface="Arial MT"/>
              </a:rPr>
              <a:t>Data</a:t>
            </a:r>
            <a:r>
              <a:rPr sz="2150" spc="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150" spc="75" dirty="0">
                <a:solidFill>
                  <a:srgbClr val="151515"/>
                </a:solidFill>
                <a:latin typeface="Arial MT"/>
                <a:cs typeface="Arial MT"/>
              </a:rPr>
              <a:t>considerations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0694" y="1107634"/>
            <a:ext cx="1966595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Get</a:t>
            </a:r>
            <a:r>
              <a:rPr sz="1600" spc="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600" spc="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131313"/>
                </a:solidFill>
                <a:latin typeface="Arial MT"/>
                <a:cs typeface="Arial MT"/>
              </a:rPr>
              <a:t>domain</a:t>
            </a:r>
            <a:r>
              <a:rPr sz="1600" spc="-7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Arial MT"/>
                <a:cs typeface="Arial MT"/>
              </a:rPr>
              <a:t>expert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57235" y="1605706"/>
            <a:ext cx="7421880" cy="258508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4445">
              <a:lnSpc>
                <a:spcPct val="98400"/>
              </a:lnSpc>
              <a:spcBef>
                <a:spcPts val="160"/>
              </a:spcBef>
            </a:pPr>
            <a:r>
              <a:rPr sz="1700" spc="-85" dirty="0">
                <a:solidFill>
                  <a:srgbClr val="1F1F1F"/>
                </a:solidFill>
                <a:latin typeface="Arial MT"/>
                <a:cs typeface="Arial MT"/>
              </a:rPr>
              <a:t>Your</a:t>
            </a:r>
            <a:r>
              <a:rPr sz="1700" spc="-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0F0F"/>
                </a:solidFill>
                <a:latin typeface="Arial MT"/>
                <a:cs typeface="Arial MT"/>
              </a:rPr>
              <a:t>data</a:t>
            </a:r>
            <a:r>
              <a:rPr sz="1700" spc="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161616"/>
                </a:solidFill>
                <a:latin typeface="Arial MT"/>
                <a:cs typeface="Arial MT"/>
              </a:rPr>
              <a:t>shoutd</a:t>
            </a:r>
            <a:r>
              <a:rPr sz="1700" spc="-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161616"/>
                </a:solidFill>
                <a:latin typeface="Arial MT"/>
                <a:cs typeface="Arial MT"/>
              </a:rPr>
              <a:t>be</a:t>
            </a:r>
            <a:r>
              <a:rPr sz="1700" spc="-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0F0F0F"/>
                </a:solidFill>
                <a:latin typeface="Arial MT"/>
                <a:cs typeface="Arial MT"/>
              </a:rPr>
              <a:t>representative</a:t>
            </a:r>
            <a:r>
              <a:rPr sz="1700" spc="-1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of</a:t>
            </a:r>
            <a:r>
              <a:rPr sz="1700" spc="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700" spc="-7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31313"/>
                </a:solidFill>
                <a:latin typeface="Arial MT"/>
                <a:cs typeface="Arial MT"/>
              </a:rPr>
              <a:t>data</a:t>
            </a:r>
            <a:r>
              <a:rPr sz="1700" spc="-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11111"/>
                </a:solidFill>
                <a:latin typeface="Arial MT"/>
                <a:cs typeface="Arial MT"/>
              </a:rPr>
              <a:t>that</a:t>
            </a:r>
            <a:r>
              <a:rPr sz="17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C1C1C"/>
                </a:solidFill>
                <a:latin typeface="Arial MT"/>
                <a:cs typeface="Arial MT"/>
              </a:rPr>
              <a:t>you</a:t>
            </a:r>
            <a:r>
              <a:rPr sz="1700" spc="-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62626"/>
                </a:solidFill>
                <a:latin typeface="Arial MT"/>
                <a:cs typeface="Arial MT"/>
              </a:rPr>
              <a:t>witl</a:t>
            </a:r>
            <a:r>
              <a:rPr sz="1700" spc="-10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spc="-70" dirty="0">
                <a:solidFill>
                  <a:srgbClr val="242424"/>
                </a:solidFill>
                <a:latin typeface="Arial MT"/>
                <a:cs typeface="Arial MT"/>
              </a:rPr>
              <a:t>have</a:t>
            </a:r>
            <a:r>
              <a:rPr sz="1700" spc="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81818"/>
                </a:solidFill>
                <a:latin typeface="Arial MT"/>
                <a:cs typeface="Arial MT"/>
              </a:rPr>
              <a:t>when</a:t>
            </a:r>
            <a:r>
              <a:rPr sz="1700" spc="1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232323"/>
                </a:solidFill>
                <a:latin typeface="Arial MT"/>
                <a:cs typeface="Arial MT"/>
              </a:rPr>
              <a:t>you</a:t>
            </a:r>
            <a:r>
              <a:rPr sz="17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0C0C0C"/>
                </a:solidFill>
                <a:latin typeface="Arial MT"/>
                <a:cs typeface="Arial MT"/>
              </a:rPr>
              <a:t>are </a:t>
            </a:r>
            <a:r>
              <a:rPr sz="1700" spc="-30" dirty="0">
                <a:solidFill>
                  <a:srgbClr val="1C1C1C"/>
                </a:solidFill>
                <a:latin typeface="Arial MT"/>
                <a:cs typeface="Arial MT"/>
              </a:rPr>
              <a:t>using</a:t>
            </a:r>
            <a:r>
              <a:rPr sz="1700" spc="-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51515"/>
                </a:solidFill>
                <a:latin typeface="Arial MT"/>
                <a:cs typeface="Arial MT"/>
              </a:rPr>
              <a:t>the</a:t>
            </a:r>
            <a:r>
              <a:rPr sz="1700" spc="-7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31313"/>
                </a:solidFill>
                <a:latin typeface="Arial MT"/>
                <a:cs typeface="Arial MT"/>
              </a:rPr>
              <a:t>model</a:t>
            </a:r>
            <a:r>
              <a:rPr sz="1700" spc="-10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1F1F1F"/>
                </a:solidFill>
                <a:latin typeface="Arial MT"/>
                <a:cs typeface="Arial MT"/>
              </a:rPr>
              <a:t>to</a:t>
            </a:r>
            <a:r>
              <a:rPr sz="1700" spc="-9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80" dirty="0">
                <a:solidFill>
                  <a:srgbClr val="111111"/>
                </a:solidFill>
                <a:latin typeface="Arial MT"/>
                <a:cs typeface="Arial MT"/>
              </a:rPr>
              <a:t>make</a:t>
            </a:r>
            <a:r>
              <a:rPr sz="17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15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700" spc="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31313"/>
                </a:solidFill>
                <a:latin typeface="Arial MT"/>
                <a:cs typeface="Arial MT"/>
              </a:rPr>
              <a:t>prediction.For</a:t>
            </a:r>
            <a:r>
              <a:rPr sz="1700" spc="-114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example,</a:t>
            </a:r>
            <a:r>
              <a:rPr sz="1700" spc="40" dirty="0"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if</a:t>
            </a:r>
            <a:r>
              <a:rPr sz="1700" spc="1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F1F1F"/>
                </a:solidFill>
                <a:latin typeface="Arial MT"/>
                <a:cs typeface="Arial MT"/>
              </a:rPr>
              <a:t>you</a:t>
            </a:r>
            <a:r>
              <a:rPr sz="1700" spc="-7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want</a:t>
            </a:r>
            <a:r>
              <a:rPr sz="1700" spc="-10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1C1C1C"/>
                </a:solidFill>
                <a:latin typeface="Arial MT"/>
                <a:cs typeface="Arial MT"/>
              </a:rPr>
              <a:t>to</a:t>
            </a:r>
            <a:r>
              <a:rPr sz="1700" spc="-9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0F0F"/>
                </a:solidFill>
                <a:latin typeface="Arial MT"/>
                <a:cs typeface="Arial MT"/>
              </a:rPr>
              <a:t>predict</a:t>
            </a:r>
            <a:r>
              <a:rPr sz="1700" spc="10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61616"/>
                </a:solidFill>
                <a:latin typeface="Arial MT"/>
                <a:cs typeface="Arial MT"/>
              </a:rPr>
              <a:t>credit </a:t>
            </a:r>
            <a:r>
              <a:rPr sz="1700" spc="-55" dirty="0">
                <a:solidFill>
                  <a:srgbClr val="0E0E0E"/>
                </a:solidFill>
                <a:latin typeface="Arial MT"/>
                <a:cs typeface="Arial MT"/>
              </a:rPr>
              <a:t>card</a:t>
            </a:r>
            <a:r>
              <a:rPr sz="1700" spc="-6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11111"/>
                </a:solidFill>
                <a:latin typeface="Arial MT"/>
                <a:cs typeface="Arial MT"/>
              </a:rPr>
              <a:t>fraud,</a:t>
            </a:r>
            <a:r>
              <a:rPr sz="1700" spc="-10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262626"/>
                </a:solidFill>
                <a:latin typeface="Arial MT"/>
                <a:cs typeface="Arial MT"/>
              </a:rPr>
              <a:t>you</a:t>
            </a:r>
            <a:r>
              <a:rPr sz="1700" spc="-8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62626"/>
                </a:solidFill>
                <a:latin typeface="Arial MT"/>
                <a:cs typeface="Arial MT"/>
              </a:rPr>
              <a:t>must</a:t>
            </a:r>
            <a:r>
              <a:rPr sz="1700" spc="-8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Arial MT"/>
                <a:cs typeface="Arial MT"/>
              </a:rPr>
              <a:t>collect</a:t>
            </a:r>
            <a:r>
              <a:rPr sz="1700" spc="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both</a:t>
            </a:r>
            <a:r>
              <a:rPr sz="1700" spc="-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212121"/>
                </a:solidFill>
                <a:latin typeface="Arial MT"/>
                <a:cs typeface="Arial MT"/>
              </a:rPr>
              <a:t>positive</a:t>
            </a:r>
            <a:r>
              <a:rPr sz="1700" spc="-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51515"/>
                </a:solidFill>
                <a:latin typeface="Arial MT"/>
                <a:cs typeface="Arial MT"/>
              </a:rPr>
              <a:t>(fraudulent</a:t>
            </a:r>
            <a:r>
              <a:rPr sz="1700" spc="-2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transactions)</a:t>
            </a:r>
            <a:r>
              <a:rPr sz="1700" spc="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sz="1700" spc="-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61616"/>
                </a:solidFill>
                <a:latin typeface="Arial MT"/>
                <a:cs typeface="Arial MT"/>
              </a:rPr>
              <a:t>negative </a:t>
            </a:r>
            <a:r>
              <a:rPr sz="1700" spc="-10" dirty="0">
                <a:solidFill>
                  <a:srgbClr val="0F0F0F"/>
                </a:solidFill>
                <a:latin typeface="Arial MT"/>
                <a:cs typeface="Arial MT"/>
              </a:rPr>
              <a:t>(non-</a:t>
            </a:r>
            <a:r>
              <a:rPr sz="1700" dirty="0">
                <a:solidFill>
                  <a:srgbClr val="0F0F0F"/>
                </a:solidFill>
                <a:latin typeface="Arial MT"/>
                <a:cs typeface="Arial MT"/>
              </a:rPr>
              <a:t>fraudulent</a:t>
            </a:r>
            <a:r>
              <a:rPr sz="1700" spc="-10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1C1C1C"/>
                </a:solidFill>
                <a:latin typeface="Arial MT"/>
                <a:cs typeface="Arial MT"/>
              </a:rPr>
              <a:t>transactions)</a:t>
            </a:r>
            <a:r>
              <a:rPr sz="1700" spc="1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0F0F0F"/>
                </a:solidFill>
                <a:latin typeface="Arial MT"/>
                <a:cs typeface="Arial MT"/>
              </a:rPr>
              <a:t>data.</a:t>
            </a:r>
            <a:r>
              <a:rPr sz="1700" spc="-5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A0A0A"/>
                </a:solidFill>
                <a:latin typeface="Arial MT"/>
                <a:cs typeface="Arial MT"/>
              </a:rPr>
              <a:t>Both</a:t>
            </a:r>
            <a:r>
              <a:rPr sz="1700" spc="-7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11111"/>
                </a:solidFill>
                <a:latin typeface="Arial MT"/>
                <a:cs typeface="Arial MT"/>
              </a:rPr>
              <a:t>types</a:t>
            </a:r>
            <a:r>
              <a:rPr sz="1700" spc="-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100" dirty="0">
                <a:latin typeface="Arial MT"/>
                <a:cs typeface="Arial MT"/>
              </a:rPr>
              <a:t>are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90" dirty="0">
                <a:solidFill>
                  <a:srgbClr val="131313"/>
                </a:solidFill>
                <a:latin typeface="Arial MT"/>
                <a:cs typeface="Arial MT"/>
              </a:rPr>
              <a:t>necessary</a:t>
            </a:r>
            <a:r>
              <a:rPr sz="1700" spc="5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D1D1D"/>
                </a:solidFill>
                <a:latin typeface="Arial MT"/>
                <a:cs typeface="Arial MT"/>
              </a:rPr>
              <a:t>for</a:t>
            </a:r>
            <a:r>
              <a:rPr sz="1700" spc="-3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sz="1700" spc="-1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machine </a:t>
            </a:r>
            <a:r>
              <a:rPr sz="1700" spc="-20" dirty="0">
                <a:solidFill>
                  <a:srgbClr val="0F0F0F"/>
                </a:solidFill>
                <a:latin typeface="Arial MT"/>
                <a:cs typeface="Arial MT"/>
              </a:rPr>
              <a:t>learning</a:t>
            </a:r>
            <a:r>
              <a:rPr sz="1700" spc="-2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algorithm</a:t>
            </a:r>
            <a:r>
              <a:rPr sz="1700" spc="-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2A2A2A"/>
                </a:solidFill>
                <a:latin typeface="Arial MT"/>
                <a:cs typeface="Arial MT"/>
              </a:rPr>
              <a:t>to</a:t>
            </a:r>
            <a:r>
              <a:rPr sz="1700" spc="-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31313"/>
                </a:solidFill>
                <a:latin typeface="Arial MT"/>
                <a:cs typeface="Arial MT"/>
              </a:rPr>
              <a:t>be</a:t>
            </a:r>
            <a:r>
              <a:rPr sz="170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1A1A1A"/>
                </a:solidFill>
                <a:latin typeface="Arial MT"/>
                <a:cs typeface="Arial MT"/>
              </a:rPr>
              <a:t>able</a:t>
            </a:r>
            <a:r>
              <a:rPr sz="1700" spc="-6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1F1F1F"/>
                </a:solidFill>
                <a:latin typeface="Arial MT"/>
                <a:cs typeface="Arial MT"/>
              </a:rPr>
              <a:t>to</a:t>
            </a:r>
            <a:r>
              <a:rPr sz="1700" spc="-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find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31313"/>
                </a:solidFill>
                <a:latin typeface="Arial MT"/>
                <a:cs typeface="Arial MT"/>
              </a:rPr>
              <a:t>patterns</a:t>
            </a:r>
            <a:r>
              <a:rPr sz="1700" spc="-5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that</a:t>
            </a:r>
            <a:r>
              <a:rPr sz="1700" spc="6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212121"/>
                </a:solidFill>
                <a:latin typeface="Arial MT"/>
                <a:cs typeface="Arial MT"/>
              </a:rPr>
              <a:t>will</a:t>
            </a:r>
            <a:r>
              <a:rPr sz="1700" spc="-1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C1C1C"/>
                </a:solidFill>
                <a:latin typeface="Arial MT"/>
                <a:cs typeface="Arial MT"/>
              </a:rPr>
              <a:t>distinguish</a:t>
            </a:r>
            <a:r>
              <a:rPr sz="1700" spc="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81818"/>
                </a:solidFill>
                <a:latin typeface="Arial MT"/>
                <a:cs typeface="Arial MT"/>
              </a:rPr>
              <a:t>between</a:t>
            </a:r>
            <a:r>
              <a:rPr sz="1700" spc="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the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two</a:t>
            </a:r>
            <a:r>
              <a:rPr sz="1700" spc="-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latin typeface="Arial MT"/>
                <a:cs typeface="Arial MT"/>
              </a:rPr>
              <a:t>types.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95" dirty="0">
                <a:solidFill>
                  <a:srgbClr val="212121"/>
                </a:solidFill>
                <a:latin typeface="Arial MT"/>
                <a:cs typeface="Arial MT"/>
              </a:rPr>
              <a:t>Suppose</a:t>
            </a:r>
            <a:r>
              <a:rPr sz="1700" spc="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51515"/>
                </a:solidFill>
                <a:latin typeface="Arial MT"/>
                <a:cs typeface="Arial MT"/>
              </a:rPr>
              <a:t>that</a:t>
            </a:r>
            <a:r>
              <a:rPr sz="1700" spc="-5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212121"/>
                </a:solidFill>
                <a:latin typeface="Arial MT"/>
                <a:cs typeface="Arial MT"/>
              </a:rPr>
              <a:t>your</a:t>
            </a:r>
            <a:r>
              <a:rPr sz="1700" spc="-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80" dirty="0">
                <a:latin typeface="Arial MT"/>
                <a:cs typeface="Arial MT"/>
              </a:rPr>
              <a:t>average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E0E0E"/>
                </a:solidFill>
                <a:latin typeface="Arial MT"/>
                <a:cs typeface="Arial MT"/>
              </a:rPr>
              <a:t>amount</a:t>
            </a:r>
            <a:r>
              <a:rPr sz="1700" spc="3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of</a:t>
            </a:r>
            <a:r>
              <a:rPr sz="1700" spc="-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A0A0A"/>
                </a:solidFill>
                <a:latin typeface="Arial MT"/>
                <a:cs typeface="Arial MT"/>
              </a:rPr>
              <a:t>fraudulent</a:t>
            </a:r>
            <a:r>
              <a:rPr sz="1700" spc="6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161616"/>
                </a:solidFill>
                <a:latin typeface="Arial MT"/>
                <a:cs typeface="Arial MT"/>
              </a:rPr>
              <a:t>transactions</a:t>
            </a:r>
            <a:r>
              <a:rPr sz="1700" spc="-3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262626"/>
                </a:solidFill>
                <a:latin typeface="Arial MT"/>
                <a:cs typeface="Arial MT"/>
              </a:rPr>
              <a:t>is </a:t>
            </a:r>
            <a:r>
              <a:rPr sz="1700" spc="-10" dirty="0">
                <a:solidFill>
                  <a:srgbClr val="1C1C1C"/>
                </a:solidFill>
                <a:latin typeface="Arial MT"/>
                <a:cs typeface="Arial MT"/>
              </a:rPr>
              <a:t>actually</a:t>
            </a:r>
            <a:r>
              <a:rPr sz="1700" spc="-1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62626"/>
                </a:solidFill>
                <a:latin typeface="Arial MT"/>
                <a:cs typeface="Arial MT"/>
              </a:rPr>
              <a:t>3</a:t>
            </a:r>
            <a:r>
              <a:rPr sz="1700" spc="-12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31313"/>
                </a:solidFill>
                <a:latin typeface="Arial MT"/>
                <a:cs typeface="Arial MT"/>
              </a:rPr>
              <a:t>percent.</a:t>
            </a:r>
            <a:r>
              <a:rPr sz="1700" spc="-9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1C1C1C"/>
                </a:solidFill>
                <a:latin typeface="Arial MT"/>
                <a:cs typeface="Arial MT"/>
              </a:rPr>
              <a:t>However,</a:t>
            </a:r>
            <a:r>
              <a:rPr sz="1700" spc="-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61616"/>
                </a:solidFill>
                <a:latin typeface="Arial MT"/>
                <a:cs typeface="Arial MT"/>
              </a:rPr>
              <a:t>your</a:t>
            </a:r>
            <a:r>
              <a:rPr sz="1700" spc="-6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training</a:t>
            </a:r>
            <a:r>
              <a:rPr sz="17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0C0C0C"/>
                </a:solidFill>
                <a:latin typeface="Arial MT"/>
                <a:cs typeface="Arial MT"/>
              </a:rPr>
              <a:t>dataset</a:t>
            </a:r>
            <a:r>
              <a:rPr sz="1700" spc="-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A0A0A"/>
                </a:solidFill>
                <a:latin typeface="Arial MT"/>
                <a:cs typeface="Arial MT"/>
              </a:rPr>
              <a:t>only</a:t>
            </a:r>
            <a:r>
              <a:rPr sz="1700" spc="-114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0A0A0A"/>
                </a:solidFill>
                <a:latin typeface="Arial MT"/>
                <a:cs typeface="Arial MT"/>
              </a:rPr>
              <a:t>includes</a:t>
            </a:r>
            <a:r>
              <a:rPr sz="1700" spc="-7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700" spc="-145" dirty="0">
                <a:solidFill>
                  <a:srgbClr val="0E0E0E"/>
                </a:solidFill>
                <a:latin typeface="Arial MT"/>
                <a:cs typeface="Arial MT"/>
              </a:rPr>
              <a:t>a</a:t>
            </a:r>
            <a:r>
              <a:rPr sz="1700" spc="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D1D1D"/>
                </a:solidFill>
                <a:latin typeface="Arial MT"/>
                <a:cs typeface="Arial MT"/>
              </a:rPr>
              <a:t>small</a:t>
            </a:r>
            <a:r>
              <a:rPr sz="1700" spc="-1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262626"/>
                </a:solidFill>
                <a:latin typeface="Arial MT"/>
                <a:cs typeface="Arial MT"/>
              </a:rPr>
              <a:t>fraction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sz="1700" spc="-6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A0A0A"/>
                </a:solidFill>
                <a:latin typeface="Arial MT"/>
                <a:cs typeface="Arial MT"/>
              </a:rPr>
              <a:t>fraudulent</a:t>
            </a:r>
            <a:r>
              <a:rPr sz="1700" spc="8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0E0E0E"/>
                </a:solidFill>
                <a:latin typeface="Arial MT"/>
                <a:cs typeface="Arial MT"/>
              </a:rPr>
              <a:t>observations,</a:t>
            </a:r>
            <a:r>
              <a:rPr sz="1700" spc="4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161616"/>
                </a:solidFill>
                <a:latin typeface="Arial MT"/>
                <a:cs typeface="Arial MT"/>
              </a:rPr>
              <a:t>maybe</a:t>
            </a:r>
            <a:r>
              <a:rPr sz="1700" spc="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161616"/>
                </a:solidFill>
                <a:latin typeface="Arial MT"/>
                <a:cs typeface="Arial MT"/>
              </a:rPr>
              <a:t>0.4</a:t>
            </a:r>
            <a:r>
              <a:rPr sz="1700" spc="-7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111111"/>
                </a:solidFill>
                <a:latin typeface="Arial MT"/>
                <a:cs typeface="Arial MT"/>
              </a:rPr>
              <a:t>percent.</a:t>
            </a:r>
            <a:r>
              <a:rPr sz="170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70" dirty="0">
                <a:solidFill>
                  <a:srgbClr val="131313"/>
                </a:solidFill>
                <a:latin typeface="Arial MT"/>
                <a:cs typeface="Arial MT"/>
              </a:rPr>
              <a:t>Then,</a:t>
            </a:r>
            <a:r>
              <a:rPr sz="1700" spc="-4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A2A2A"/>
                </a:solidFill>
                <a:latin typeface="Arial MT"/>
                <a:cs typeface="Arial MT"/>
              </a:rPr>
              <a:t>it</a:t>
            </a:r>
            <a:r>
              <a:rPr sz="1700" spc="13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131313"/>
                </a:solidFill>
                <a:latin typeface="Arial MT"/>
                <a:cs typeface="Arial MT"/>
              </a:rPr>
              <a:t>will</a:t>
            </a:r>
            <a:r>
              <a:rPr sz="1700" spc="-114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Arial MT"/>
                <a:cs typeface="Arial MT"/>
              </a:rPr>
              <a:t>be</a:t>
            </a:r>
            <a:r>
              <a:rPr sz="1700" spc="-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51515"/>
                </a:solidFill>
                <a:latin typeface="Arial MT"/>
                <a:cs typeface="Arial MT"/>
              </a:rPr>
              <a:t>difficult 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for</a:t>
            </a: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61616"/>
                </a:solidFill>
                <a:latin typeface="Arial MT"/>
                <a:cs typeface="Arial MT"/>
              </a:rPr>
              <a:t>your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model</a:t>
            </a:r>
            <a:r>
              <a:rPr sz="1700" spc="-8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700" spc="-1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62626"/>
                </a:solidFill>
                <a:latin typeface="Arial MT"/>
                <a:cs typeface="Arial MT"/>
              </a:rPr>
              <a:t>truly</a:t>
            </a:r>
            <a:r>
              <a:rPr sz="1700" spc="-6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262626"/>
                </a:solidFill>
                <a:latin typeface="Arial MT"/>
                <a:cs typeface="Arial MT"/>
              </a:rPr>
              <a:t>learn</a:t>
            </a:r>
            <a:r>
              <a:rPr sz="1700" spc="1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patterns</a:t>
            </a:r>
            <a:r>
              <a:rPr sz="1700" spc="-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2B2B2B"/>
                </a:solidFill>
                <a:latin typeface="Arial MT"/>
                <a:cs typeface="Arial MT"/>
              </a:rPr>
              <a:t>related</a:t>
            </a:r>
            <a:r>
              <a:rPr sz="1700" spc="-6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sz="1700" spc="-1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61616"/>
                </a:solidFill>
                <a:latin typeface="Arial MT"/>
                <a:cs typeface="Arial MT"/>
              </a:rPr>
              <a:t>fraudulent</a:t>
            </a:r>
            <a:r>
              <a:rPr sz="1700" spc="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81818"/>
                </a:solidFill>
                <a:latin typeface="Arial MT"/>
                <a:cs typeface="Arial MT"/>
              </a:rPr>
              <a:t>transactions</a:t>
            </a:r>
            <a:r>
              <a:rPr sz="1700" spc="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that</a:t>
            </a:r>
            <a:r>
              <a:rPr sz="1700" spc="-6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F2F2F"/>
                </a:solidFill>
                <a:latin typeface="Arial MT"/>
                <a:cs typeface="Arial MT"/>
              </a:rPr>
              <a:t>it</a:t>
            </a:r>
            <a:r>
              <a:rPr sz="1700" spc="10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might </a:t>
            </a:r>
            <a:r>
              <a:rPr sz="1700" spc="-35" dirty="0">
                <a:solidFill>
                  <a:srgbClr val="161616"/>
                </a:solidFill>
                <a:latin typeface="Arial MT"/>
                <a:cs typeface="Arial MT"/>
              </a:rPr>
              <a:t>encounter</a:t>
            </a:r>
            <a:r>
              <a:rPr sz="1700" spc="-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50" dirty="0">
                <a:solidFill>
                  <a:srgbClr val="242424"/>
                </a:solidFill>
                <a:latin typeface="Arial MT"/>
                <a:cs typeface="Arial MT"/>
              </a:rPr>
              <a:t>in</a:t>
            </a:r>
            <a:r>
              <a:rPr sz="1700" spc="-1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31313"/>
                </a:solidFill>
                <a:latin typeface="Arial MT"/>
                <a:cs typeface="Arial MT"/>
              </a:rPr>
              <a:t>production.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49026" y="4419906"/>
            <a:ext cx="7563484" cy="154876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indent="2540">
              <a:lnSpc>
                <a:spcPct val="104500"/>
              </a:lnSpc>
              <a:spcBef>
                <a:spcPts val="45"/>
              </a:spcBef>
            </a:pPr>
            <a:r>
              <a:rPr sz="1600" spc="-10" dirty="0">
                <a:solidFill>
                  <a:srgbClr val="111111"/>
                </a:solidFill>
                <a:latin typeface="Arial MT"/>
                <a:cs typeface="Arial MT"/>
              </a:rPr>
              <a:t>Given</a:t>
            </a:r>
            <a:r>
              <a:rPr sz="1600" spc="1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what</a:t>
            </a:r>
            <a:r>
              <a:rPr sz="1600" spc="1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you</a:t>
            </a:r>
            <a:r>
              <a:rPr sz="1600" spc="-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know</a:t>
            </a:r>
            <a:r>
              <a:rPr sz="1600" spc="9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about</a:t>
            </a:r>
            <a:r>
              <a:rPr sz="1600" spc="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62626"/>
                </a:solidFill>
                <a:latin typeface="Arial MT"/>
                <a:cs typeface="Arial MT"/>
              </a:rPr>
              <a:t>the</a:t>
            </a:r>
            <a:r>
              <a:rPr sz="1600" spc="-1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elements</a:t>
            </a:r>
            <a:r>
              <a:rPr sz="1600" spc="9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31313"/>
                </a:solidFill>
                <a:latin typeface="Arial MT"/>
                <a:cs typeface="Arial MT"/>
              </a:rPr>
              <a:t>of</a:t>
            </a:r>
            <a:r>
              <a:rPr sz="1600" spc="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an</a:t>
            </a:r>
            <a:r>
              <a:rPr sz="1600" spc="1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ML</a:t>
            </a:r>
            <a:r>
              <a:rPr sz="160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dataset,</a:t>
            </a:r>
            <a:r>
              <a:rPr sz="1600" spc="12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recall</a:t>
            </a:r>
            <a:r>
              <a:rPr sz="1600" spc="-3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one</a:t>
            </a:r>
            <a:r>
              <a:rPr sz="1600" spc="9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of</a:t>
            </a:r>
            <a:r>
              <a:rPr sz="1600" spc="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25" dirty="0">
                <a:solidFill>
                  <a:srgbClr val="181818"/>
                </a:solidFill>
                <a:latin typeface="Arial MT"/>
                <a:cs typeface="Arial MT"/>
              </a:rPr>
              <a:t>the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original</a:t>
            </a:r>
            <a:r>
              <a:rPr sz="1600" spc="1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questions.</a:t>
            </a:r>
            <a:r>
              <a:rPr sz="1600" spc="18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Which</a:t>
            </a:r>
            <a:r>
              <a:rPr sz="1600" spc="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data</a:t>
            </a:r>
            <a:r>
              <a:rPr sz="1600" spc="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do</a:t>
            </a:r>
            <a:r>
              <a:rPr sz="1600" spc="1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you</a:t>
            </a:r>
            <a:r>
              <a:rPr sz="1600" spc="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need</a:t>
            </a:r>
            <a:r>
              <a:rPr sz="1600" spc="2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to</a:t>
            </a:r>
            <a:r>
              <a:rPr sz="1600" spc="2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actually</a:t>
            </a:r>
            <a:r>
              <a:rPr sz="1600" spc="7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81818"/>
                </a:solidFill>
                <a:latin typeface="Arial MT"/>
                <a:cs typeface="Arial MT"/>
              </a:rPr>
              <a:t>train</a:t>
            </a:r>
            <a:r>
              <a:rPr sz="1600" spc="-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sz="1600" spc="1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A1A1A"/>
                </a:solidFill>
                <a:latin typeface="Arial MT"/>
                <a:cs typeface="Arial MT"/>
              </a:rPr>
              <a:t>model</a:t>
            </a:r>
            <a:r>
              <a:rPr sz="1600" spc="-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1C1C1C"/>
                </a:solidFill>
                <a:latin typeface="Arial MT"/>
                <a:cs typeface="Arial MT"/>
              </a:rPr>
              <a:t>to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81818"/>
                </a:solidFill>
                <a:latin typeface="Arial MT"/>
                <a:cs typeface="Arial MT"/>
              </a:rPr>
              <a:t>reach </a:t>
            </a:r>
            <a:r>
              <a:rPr sz="1600" spc="55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1600" spc="7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desired</a:t>
            </a:r>
            <a:r>
              <a:rPr sz="1600" spc="1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080808"/>
                </a:solidFill>
                <a:latin typeface="Arial MT"/>
                <a:cs typeface="Arial MT"/>
              </a:rPr>
              <a:t>output</a:t>
            </a:r>
            <a:r>
              <a:rPr sz="1600" spc="125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and</a:t>
            </a:r>
            <a:r>
              <a:rPr sz="1600" spc="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intended</a:t>
            </a:r>
            <a:r>
              <a:rPr sz="1600" spc="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81818"/>
                </a:solidFill>
                <a:latin typeface="Arial MT"/>
                <a:cs typeface="Arial MT"/>
              </a:rPr>
              <a:t>business</a:t>
            </a:r>
            <a:r>
              <a:rPr sz="1600" spc="1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outcome*</a:t>
            </a:r>
            <a:r>
              <a:rPr sz="1600" spc="9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At</a:t>
            </a:r>
            <a:r>
              <a:rPr sz="16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stage</a:t>
            </a:r>
            <a:r>
              <a:rPr sz="1600" spc="7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232323"/>
                </a:solidFill>
                <a:latin typeface="Arial MT"/>
                <a:cs typeface="Arial MT"/>
              </a:rPr>
              <a:t>in</a:t>
            </a:r>
            <a:r>
              <a:rPr sz="1600" spc="-6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62626"/>
                </a:solidFill>
                <a:latin typeface="Arial MT"/>
                <a:cs typeface="Arial MT"/>
              </a:rPr>
              <a:t>the</a:t>
            </a:r>
            <a:r>
              <a:rPr sz="1600" spc="8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ML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pipeline,</a:t>
            </a:r>
            <a:r>
              <a:rPr sz="1600" spc="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it's</a:t>
            </a:r>
            <a:r>
              <a:rPr sz="1600" spc="-4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A1A1A"/>
                </a:solidFill>
                <a:latin typeface="Arial MT"/>
                <a:cs typeface="Arial MT"/>
              </a:rPr>
              <a:t>vital</a:t>
            </a:r>
            <a:r>
              <a:rPr sz="1600" spc="-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A2A2A"/>
                </a:solidFill>
                <a:latin typeface="Arial MT"/>
                <a:cs typeface="Arial MT"/>
              </a:rPr>
              <a:t>to</a:t>
            </a:r>
            <a:r>
              <a:rPr sz="1600" spc="10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get</a:t>
            </a:r>
            <a:r>
              <a:rPr sz="1600" spc="8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domain</a:t>
            </a:r>
            <a:r>
              <a:rPr sz="1600" spc="1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expertise.</a:t>
            </a:r>
            <a:r>
              <a:rPr sz="1600" spc="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C1C1C"/>
                </a:solidFill>
                <a:latin typeface="Arial MT"/>
                <a:cs typeface="Arial MT"/>
              </a:rPr>
              <a:t>With</a:t>
            </a:r>
            <a:r>
              <a:rPr sz="1600" spc="6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domain</a:t>
            </a:r>
            <a:r>
              <a:rPr sz="1600" spc="1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knowledge,</a:t>
            </a:r>
            <a:r>
              <a:rPr sz="1600" spc="2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you</a:t>
            </a:r>
            <a:r>
              <a:rPr sz="1600" spc="4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can</a:t>
            </a:r>
            <a:r>
              <a:rPr sz="1600" spc="9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81818"/>
                </a:solidFill>
                <a:latin typeface="Arial MT"/>
                <a:cs typeface="Arial MT"/>
              </a:rPr>
              <a:t>begin </a:t>
            </a:r>
            <a:r>
              <a:rPr sz="1600" dirty="0">
                <a:solidFill>
                  <a:srgbClr val="2F2F2F"/>
                </a:solidFill>
                <a:latin typeface="Arial MT"/>
                <a:cs typeface="Arial MT"/>
              </a:rPr>
              <a:t>to</a:t>
            </a:r>
            <a:r>
              <a:rPr sz="1600" spc="25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determine</a:t>
            </a:r>
            <a:r>
              <a:rPr sz="1600" spc="1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61616"/>
                </a:solidFill>
                <a:latin typeface="Arial MT"/>
                <a:cs typeface="Arial MT"/>
              </a:rPr>
              <a:t>the</a:t>
            </a:r>
            <a:r>
              <a:rPr sz="1600" spc="-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features</a:t>
            </a:r>
            <a:r>
              <a:rPr sz="1600" spc="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600" spc="-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target</a:t>
            </a:r>
            <a:r>
              <a:rPr sz="1600" spc="1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data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1C1C1C"/>
                </a:solidFill>
                <a:latin typeface="Arial MT"/>
                <a:cs typeface="Arial MT"/>
              </a:rPr>
              <a:t>that</a:t>
            </a:r>
            <a:r>
              <a:rPr sz="1600" spc="7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your</a:t>
            </a:r>
            <a:r>
              <a:rPr sz="1600" spc="114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model</a:t>
            </a:r>
            <a:r>
              <a:rPr sz="16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needs</a:t>
            </a:r>
            <a:r>
              <a:rPr sz="1600" spc="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to</a:t>
            </a:r>
            <a:r>
              <a:rPr sz="1600" spc="34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81818"/>
                </a:solidFill>
                <a:latin typeface="Arial MT"/>
                <a:cs typeface="Arial MT"/>
              </a:rPr>
              <a:t>make</a:t>
            </a:r>
            <a:r>
              <a:rPr sz="1600" spc="5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81818"/>
                </a:solidFill>
                <a:latin typeface="Arial MT"/>
                <a:cs typeface="Arial MT"/>
              </a:rPr>
              <a:t>accurate</a:t>
            </a:r>
            <a:r>
              <a:rPr sz="1600" spc="-9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predictions.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4503" y="3726779"/>
            <a:ext cx="6325602" cy="38801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0709" y="270709"/>
            <a:ext cx="1642310" cy="72189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42473" y="3747834"/>
          <a:ext cx="6298565" cy="2723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6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1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20" dirty="0">
                          <a:solidFill>
                            <a:srgbClr val="313131"/>
                          </a:solidFill>
                          <a:latin typeface="Calibri"/>
                          <a:cs typeface="Calibri"/>
                        </a:rPr>
                        <a:t>Soap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300" spc="-20" dirty="0">
                          <a:solidFill>
                            <a:srgbClr val="1F1F1F"/>
                          </a:solidFill>
                          <a:latin typeface="Consolas"/>
                          <a:cs typeface="Consolas"/>
                        </a:rPr>
                        <a:t>1.99</a:t>
                      </a:r>
                      <a:endParaRPr sz="1300">
                        <a:latin typeface="Consolas"/>
                        <a:cs typeface="Consolas"/>
                      </a:endParaRPr>
                    </a:p>
                  </a:txBody>
                  <a:tcPr marL="0" marR="0" marT="3937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200" spc="40" dirty="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150" spc="-25" dirty="0">
                          <a:solidFill>
                            <a:srgbClr val="313131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500" spc="-2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49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T="1397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5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Shampoo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50" spc="-20" dirty="0">
                          <a:solidFill>
                            <a:srgbClr val="363636"/>
                          </a:solidFill>
                          <a:latin typeface="Calibri"/>
                          <a:cs typeface="Calibri"/>
                        </a:rPr>
                        <a:t>6.09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 spc="45" dirty="0">
                          <a:solidFill>
                            <a:srgbClr val="2D2D2D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350" spc="-20" dirty="0">
                          <a:solidFill>
                            <a:srgbClr val="383838"/>
                          </a:solidFill>
                          <a:latin typeface="Calibri"/>
                          <a:cs typeface="Calibri"/>
                        </a:rPr>
                        <a:t>Hair</a:t>
                      </a:r>
                      <a:r>
                        <a:rPr sz="1350" spc="-40" dirty="0">
                          <a:solidFill>
                            <a:srgbClr val="38383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brushes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350" spc="-125" dirty="0">
                          <a:solidFill>
                            <a:srgbClr val="494949"/>
                          </a:solidFill>
                          <a:latin typeface="Calibri"/>
                          <a:cs typeface="Calibri"/>
                        </a:rPr>
                        <a:t>1 </a:t>
                      </a:r>
                      <a:r>
                        <a:rPr sz="13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2.95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5" dirty="0">
                          <a:solidFill>
                            <a:srgbClr val="2D2D2D"/>
                          </a:solidFill>
                          <a:latin typeface="Consolas"/>
                          <a:cs typeface="Consolas"/>
                        </a:rPr>
                        <a:t>30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4318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50" dirty="0">
                          <a:solidFill>
                            <a:srgbClr val="3B3B3B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70" dirty="0">
                          <a:solidFill>
                            <a:srgbClr val="3B3B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solidFill>
                            <a:srgbClr val="232323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dirty="0">
                          <a:solidFill>
                            <a:srgbClr val="343434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spc="-10" dirty="0">
                          <a:solidFill>
                            <a:srgbClr val="1C1C1C"/>
                          </a:solidFill>
                          <a:latin typeface="Calibri"/>
                          <a:cs typeface="Calibri"/>
                        </a:rPr>
                        <a:t>Toothpaste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spc="40" dirty="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3.50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spc="-2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ZO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spc="40" dirty="0">
                          <a:solidFill>
                            <a:srgbClr val="3A3A3A"/>
                          </a:solidFill>
                          <a:latin typeface="Calibri"/>
                          <a:cs typeface="Calibri"/>
                        </a:rPr>
                        <a:t>1Z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50" spc="-2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49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50" spc="-10" dirty="0">
                          <a:solidFill>
                            <a:srgbClr val="181818"/>
                          </a:solidFill>
                          <a:latin typeface="Calibri"/>
                          <a:cs typeface="Calibri"/>
                        </a:rPr>
                        <a:t>Toothbrushes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50" spc="-2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5.00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350" spc="-25" dirty="0">
                          <a:solidFill>
                            <a:srgbClr val="2F2F2F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2413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00" spc="65" dirty="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Lotion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383838"/>
                          </a:solidFill>
                          <a:latin typeface="Consolas"/>
                          <a:cs typeface="Consolas"/>
                        </a:rPr>
                        <a:t>B.7S</a:t>
                      </a:r>
                      <a:endParaRPr sz="1300">
                        <a:latin typeface="Consolas"/>
                        <a:cs typeface="Consolas"/>
                      </a:endParaRPr>
                    </a:p>
                  </a:txBody>
                  <a:tcPr marL="0" marR="0" marT="30480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spc="-25" dirty="0">
                          <a:solidFill>
                            <a:srgbClr val="363636"/>
                          </a:solidFill>
                          <a:latin typeface="Consolas"/>
                          <a:cs typeface="Consolas"/>
                        </a:rPr>
                        <a:t>10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-50" dirty="0">
                          <a:solidFill>
                            <a:srgbClr val="494949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-50" dirty="0">
                          <a:solidFill>
                            <a:srgbClr val="4F4F4F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575777"/>
                      </a:solidFill>
                      <a:prstDash val="solid"/>
                    </a:lnL>
                    <a:lnR w="9525">
                      <a:solidFill>
                        <a:srgbClr val="575777"/>
                      </a:solidFill>
                      <a:prstDash val="solid"/>
                    </a:lnR>
                    <a:lnT w="9525">
                      <a:solidFill>
                        <a:srgbClr val="575777"/>
                      </a:solidFill>
                      <a:prstDash val="solid"/>
                    </a:lnT>
                    <a:lnB w="9525">
                      <a:solidFill>
                        <a:srgbClr val="57577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71211" y="1173077"/>
            <a:ext cx="3212465" cy="586740"/>
          </a:xfrm>
          <a:prstGeom prst="rect">
            <a:avLst/>
          </a:prstGeom>
          <a:solidFill>
            <a:srgbClr val="576D6E"/>
          </a:solidFill>
        </p:spPr>
        <p:txBody>
          <a:bodyPr vert="horz" wrap="square" lIns="0" tIns="119380" rIns="0" bIns="0" rtlCol="0">
            <a:spAutoFit/>
          </a:bodyPr>
          <a:lstStyle/>
          <a:p>
            <a:pPr marL="530860">
              <a:lnSpc>
                <a:spcPct val="100000"/>
              </a:lnSpc>
              <a:spcBef>
                <a:spcPts val="940"/>
              </a:spcBef>
            </a:pPr>
            <a:r>
              <a:rPr sz="1900" spc="-45" dirty="0">
                <a:solidFill>
                  <a:srgbClr val="1A3D5D"/>
                </a:solidFill>
                <a:latin typeface="Arial MT"/>
                <a:cs typeface="Arial MT"/>
              </a:rPr>
              <a:t>Understand</a:t>
            </a:r>
            <a:r>
              <a:rPr sz="1900" spc="40" dirty="0">
                <a:solidFill>
                  <a:srgbClr val="1A3D5D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DFFBFF"/>
                </a:solidFill>
                <a:latin typeface="Arial MT"/>
                <a:cs typeface="Arial MT"/>
              </a:rPr>
              <a:t>the</a:t>
            </a:r>
            <a:r>
              <a:rPr sz="1900" spc="-90" dirty="0">
                <a:solidFill>
                  <a:srgbClr val="DFFBFF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9EC4D1"/>
                </a:solidFill>
                <a:latin typeface="Arial MT"/>
                <a:cs typeface="Arial MT"/>
              </a:rPr>
              <a:t>data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1211" y="1922043"/>
            <a:ext cx="3212465" cy="577850"/>
          </a:xfrm>
          <a:prstGeom prst="rect">
            <a:avLst/>
          </a:prstGeom>
          <a:solidFill>
            <a:srgbClr val="004F74"/>
          </a:solidFill>
        </p:spPr>
        <p:txBody>
          <a:bodyPr vert="horz" wrap="square" lIns="0" tIns="138430" rIns="0" bIns="0" rtlCol="0">
            <a:spAutoFit/>
          </a:bodyPr>
          <a:lstStyle/>
          <a:p>
            <a:pPr marL="547370">
              <a:lnSpc>
                <a:spcPct val="100000"/>
              </a:lnSpc>
              <a:spcBef>
                <a:spcPts val="1090"/>
              </a:spcBef>
            </a:pP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Get</a:t>
            </a:r>
            <a:r>
              <a:rPr sz="17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7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dO0łain</a:t>
            </a:r>
            <a:r>
              <a:rPr sz="17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Arial MT"/>
                <a:cs typeface="Arial MT"/>
              </a:rPr>
              <a:t>expert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1211" y="2661984"/>
            <a:ext cx="3212465" cy="586740"/>
          </a:xfrm>
          <a:prstGeom prst="rect">
            <a:avLst/>
          </a:prstGeom>
          <a:solidFill>
            <a:srgbClr val="C82189"/>
          </a:solidFill>
        </p:spPr>
        <p:txBody>
          <a:bodyPr vert="horz" wrap="square" lIns="0" tIns="138430" rIns="0" bIns="0" rtlCol="0">
            <a:spAutoFit/>
          </a:bodyPr>
          <a:lstStyle/>
          <a:p>
            <a:pPr marL="514350">
              <a:lnSpc>
                <a:spcPct val="100000"/>
              </a:lnSpc>
              <a:spcBef>
                <a:spcPts val="1090"/>
              </a:spcBef>
            </a:pP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Evaluate</a:t>
            </a:r>
            <a:r>
              <a:rPr sz="1750" spc="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750" spc="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40" dirty="0">
                <a:solidFill>
                  <a:srgbClr val="FFFFFF"/>
                </a:solidFill>
                <a:latin typeface="Arial MT"/>
                <a:cs typeface="Arial MT"/>
              </a:rPr>
              <a:t>quality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1211" y="3419974"/>
            <a:ext cx="3212465" cy="586740"/>
          </a:xfrm>
          <a:prstGeom prst="rect">
            <a:avLst/>
          </a:prstGeom>
          <a:solidFill>
            <a:srgbClr val="2A444B"/>
          </a:solidFill>
        </p:spPr>
        <p:txBody>
          <a:bodyPr vert="horz" wrap="square" lIns="0" tIns="125730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990"/>
              </a:spcBef>
            </a:pPr>
            <a:r>
              <a:rPr sz="1850" dirty="0">
                <a:solidFill>
                  <a:srgbClr val="CADBF4"/>
                </a:solidFill>
                <a:latin typeface="Arial MT"/>
                <a:cs typeface="Arial MT"/>
              </a:rPr>
              <a:t>Identify</a:t>
            </a:r>
            <a:r>
              <a:rPr sz="1850" spc="120" dirty="0">
                <a:solidFill>
                  <a:srgbClr val="CADBF4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265469"/>
                </a:solidFill>
                <a:latin typeface="Arial MT"/>
                <a:cs typeface="Arial MT"/>
              </a:rPr>
              <a:t>features</a:t>
            </a:r>
            <a:r>
              <a:rPr sz="1850" spc="80" dirty="0">
                <a:solidFill>
                  <a:srgbClr val="265469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3A7B90"/>
                </a:solidFill>
                <a:latin typeface="Arial MT"/>
                <a:cs typeface="Arial MT"/>
              </a:rPr>
              <a:t>and</a:t>
            </a:r>
            <a:r>
              <a:rPr sz="1850" spc="-10" dirty="0">
                <a:solidFill>
                  <a:srgbClr val="3A7B90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3F7990"/>
                </a:solidFill>
                <a:latin typeface="Arial MT"/>
                <a:cs typeface="Arial MT"/>
              </a:rPr>
              <a:t>labels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1211" y="4159916"/>
            <a:ext cx="3212465" cy="586740"/>
          </a:xfrm>
          <a:prstGeom prst="rect">
            <a:avLst/>
          </a:prstGeom>
          <a:solidFill>
            <a:srgbClr val="234454"/>
          </a:solidFill>
        </p:spPr>
        <p:txBody>
          <a:bodyPr vert="horz" wrap="square" lIns="0" tIns="13208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040"/>
              </a:spcBef>
            </a:pPr>
            <a:r>
              <a:rPr sz="1800" spc="55" dirty="0">
                <a:solidFill>
                  <a:srgbClr val="C4E2EF"/>
                </a:solidFill>
                <a:latin typeface="Arial MT"/>
                <a:cs typeface="Arial MT"/>
              </a:rPr>
              <a:t>Identify</a:t>
            </a:r>
            <a:r>
              <a:rPr sz="1800" spc="75" dirty="0">
                <a:solidFill>
                  <a:srgbClr val="C4E2E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6708E"/>
                </a:solidFill>
                <a:latin typeface="Arial MT"/>
                <a:cs typeface="Arial MT"/>
              </a:rPr>
              <a:t>labeled</a:t>
            </a:r>
            <a:r>
              <a:rPr sz="1800" spc="130" dirty="0">
                <a:solidFill>
                  <a:srgbClr val="36708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80A7AF"/>
                </a:solidFill>
                <a:latin typeface="Arial MT"/>
                <a:cs typeface="Arial MT"/>
              </a:rPr>
              <a:t>data</a:t>
            </a:r>
            <a:r>
              <a:rPr sz="1800" spc="150" dirty="0">
                <a:solidFill>
                  <a:srgbClr val="80A7A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64D62"/>
                </a:solidFill>
                <a:latin typeface="Arial MT"/>
                <a:cs typeface="Arial MT"/>
              </a:rPr>
              <a:t>needs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26403" y="4638171"/>
            <a:ext cx="81213" cy="11730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26553" y="4638171"/>
            <a:ext cx="162426" cy="108284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384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14"/>
              </a:spcBef>
            </a:pPr>
            <a:r>
              <a:rPr sz="2350" spc="85" dirty="0">
                <a:solidFill>
                  <a:srgbClr val="181818"/>
                </a:solidFill>
                <a:latin typeface="Calibri"/>
                <a:cs typeface="Calibri"/>
              </a:rPr>
              <a:t>Data</a:t>
            </a:r>
            <a:r>
              <a:rPr sz="2350" spc="9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2350" spc="55" dirty="0">
                <a:solidFill>
                  <a:srgbClr val="151515"/>
                </a:solidFill>
                <a:latin typeface="Calibri"/>
                <a:cs typeface="Calibri"/>
              </a:rPr>
              <a:t>considerations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5318" y="1122527"/>
            <a:ext cx="3542665" cy="304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dirty="0">
                <a:solidFill>
                  <a:srgbClr val="1A1A1A"/>
                </a:solidFill>
                <a:latin typeface="Calibri"/>
                <a:cs typeface="Calibri"/>
              </a:rPr>
              <a:t>Evaluate</a:t>
            </a:r>
            <a:r>
              <a:rPr sz="1800" spc="15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D1D"/>
                </a:solidFill>
                <a:latin typeface="Calibri"/>
                <a:cs typeface="Calibri"/>
              </a:rPr>
              <a:t>the</a:t>
            </a:r>
            <a:r>
              <a:rPr sz="1800" spc="5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F1F1F"/>
                </a:solidFill>
                <a:latin typeface="Calibri"/>
                <a:cs typeface="Calibri"/>
              </a:rPr>
              <a:t>quality</a:t>
            </a:r>
            <a:r>
              <a:rPr sz="1800" spc="20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sz="1800" spc="5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D1D"/>
                </a:solidFill>
                <a:latin typeface="Calibri"/>
                <a:cs typeface="Calibri"/>
              </a:rPr>
              <a:t>your</a:t>
            </a:r>
            <a:r>
              <a:rPr sz="1800" spc="13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11111"/>
                </a:solidFill>
                <a:latin typeface="Calibri"/>
                <a:cs typeface="Calibri"/>
              </a:rPr>
              <a:t>data</a:t>
            </a:r>
            <a:r>
              <a:rPr sz="1800" spc="8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A1A1A"/>
                </a:solidFill>
                <a:latin typeface="Calibri"/>
                <a:cs typeface="Calibri"/>
              </a:rPr>
              <a:t>too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51202" y="1649410"/>
            <a:ext cx="7526655" cy="181419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 indent="5715">
              <a:lnSpc>
                <a:spcPct val="98100"/>
              </a:lnSpc>
              <a:spcBef>
                <a:spcPts val="165"/>
              </a:spcBef>
            </a:pPr>
            <a:r>
              <a:rPr sz="1700" spc="-18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700" spc="-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1A1A1A"/>
                </a:solidFill>
                <a:latin typeface="Arial MT"/>
                <a:cs typeface="Arial MT"/>
              </a:rPr>
              <a:t>general</a:t>
            </a:r>
            <a:r>
              <a:rPr sz="1700" spc="-1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rule</a:t>
            </a:r>
            <a:r>
              <a:rPr sz="1700" spc="-1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B2B2B"/>
                </a:solidFill>
                <a:latin typeface="Arial MT"/>
                <a:cs typeface="Arial MT"/>
              </a:rPr>
              <a:t>in</a:t>
            </a:r>
            <a:r>
              <a:rPr sz="1700" spc="-114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this</a:t>
            </a:r>
            <a:r>
              <a:rPr sz="17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55" dirty="0">
                <a:solidFill>
                  <a:srgbClr val="1C1C1C"/>
                </a:solidFill>
                <a:latin typeface="Arial MT"/>
                <a:cs typeface="Arial MT"/>
              </a:rPr>
              <a:t>case</a:t>
            </a:r>
            <a:r>
              <a:rPr sz="1700" spc="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2A2A2A"/>
                </a:solidFill>
                <a:latin typeface="Arial MT"/>
                <a:cs typeface="Arial MT"/>
              </a:rPr>
              <a:t>is</a:t>
            </a:r>
            <a:r>
              <a:rPr sz="1700" spc="-10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that</a:t>
            </a:r>
            <a:r>
              <a:rPr sz="1700" spc="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81818"/>
                </a:solidFill>
                <a:latin typeface="Arial MT"/>
                <a:cs typeface="Arial MT"/>
              </a:rPr>
              <a:t>good</a:t>
            </a:r>
            <a:r>
              <a:rPr sz="1700" spc="-1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61616"/>
                </a:solidFill>
                <a:latin typeface="Arial MT"/>
                <a:cs typeface="Arial MT"/>
              </a:rPr>
              <a:t>data</a:t>
            </a:r>
            <a:r>
              <a:rPr sz="170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181818"/>
                </a:solidFill>
                <a:latin typeface="Arial MT"/>
                <a:cs typeface="Arial MT"/>
              </a:rPr>
              <a:t>contains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160" dirty="0">
                <a:solidFill>
                  <a:srgbClr val="242424"/>
                </a:solidFill>
                <a:latin typeface="Arial MT"/>
                <a:cs typeface="Arial MT"/>
              </a:rPr>
              <a:t>a</a:t>
            </a:r>
            <a:r>
              <a:rPr sz="1700" spc="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0F0F0F"/>
                </a:solidFill>
                <a:latin typeface="Arial MT"/>
                <a:cs typeface="Arial MT"/>
              </a:rPr>
              <a:t>signal</a:t>
            </a:r>
            <a:r>
              <a:rPr sz="1700" spc="-8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11111"/>
                </a:solidFill>
                <a:latin typeface="Arial MT"/>
                <a:cs typeface="Arial MT"/>
              </a:rPr>
              <a:t>about</a:t>
            </a:r>
            <a:r>
              <a:rPr sz="17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F1F1F"/>
                </a:solidFill>
                <a:latin typeface="Arial MT"/>
                <a:cs typeface="Arial MT"/>
              </a:rPr>
              <a:t>the 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phenomenon</a:t>
            </a:r>
            <a:r>
              <a:rPr sz="1700" spc="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that</a:t>
            </a:r>
            <a:r>
              <a:rPr sz="1700" spc="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1F1F1F"/>
                </a:solidFill>
                <a:latin typeface="Arial MT"/>
                <a:cs typeface="Arial MT"/>
              </a:rPr>
              <a:t>you're</a:t>
            </a:r>
            <a:r>
              <a:rPr sz="1700" spc="-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31313"/>
                </a:solidFill>
                <a:latin typeface="Arial MT"/>
                <a:cs typeface="Arial MT"/>
              </a:rPr>
              <a:t>trying</a:t>
            </a:r>
            <a:r>
              <a:rPr sz="1700" spc="-6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151515"/>
                </a:solidFill>
                <a:latin typeface="Arial MT"/>
                <a:cs typeface="Arial MT"/>
              </a:rPr>
              <a:t>to</a:t>
            </a:r>
            <a:r>
              <a:rPr sz="1700" spc="-6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model.</a:t>
            </a:r>
            <a:r>
              <a:rPr sz="1700" dirty="0">
                <a:latin typeface="Arial MT"/>
                <a:cs typeface="Arial MT"/>
              </a:rPr>
              <a:t> </a:t>
            </a:r>
            <a:r>
              <a:rPr sz="1700" spc="-100" dirty="0">
                <a:solidFill>
                  <a:srgbClr val="0E0E0E"/>
                </a:solidFill>
                <a:latin typeface="Arial MT"/>
                <a:cs typeface="Arial MT"/>
              </a:rPr>
              <a:t>For</a:t>
            </a:r>
            <a:r>
              <a:rPr sz="1700" spc="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111111"/>
                </a:solidFill>
                <a:latin typeface="Arial MT"/>
                <a:cs typeface="Arial MT"/>
              </a:rPr>
              <a:t>instance,</a:t>
            </a:r>
            <a:r>
              <a:rPr sz="17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80" dirty="0">
                <a:solidFill>
                  <a:srgbClr val="212121"/>
                </a:solidFill>
                <a:latin typeface="Arial MT"/>
                <a:cs typeface="Arial MT"/>
              </a:rPr>
              <a:t>suppose</a:t>
            </a:r>
            <a:r>
              <a:rPr sz="17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31313"/>
                </a:solidFill>
                <a:latin typeface="Arial MT"/>
                <a:cs typeface="Arial MT"/>
              </a:rPr>
              <a:t>that</a:t>
            </a:r>
            <a:r>
              <a:rPr sz="1700" spc="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160" dirty="0">
                <a:solidFill>
                  <a:srgbClr val="181818"/>
                </a:solidFill>
                <a:latin typeface="Arial MT"/>
                <a:cs typeface="Arial MT"/>
              </a:rPr>
              <a:t>a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 wholesaler </a:t>
            </a:r>
            <a:r>
              <a:rPr sz="1700" spc="-50" dirty="0">
                <a:solidFill>
                  <a:srgbClr val="282828"/>
                </a:solidFill>
                <a:latin typeface="Arial MT"/>
                <a:cs typeface="Arial MT"/>
              </a:rPr>
              <a:t>is</a:t>
            </a:r>
            <a:r>
              <a:rPr sz="1700" spc="-10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trying</a:t>
            </a:r>
            <a:r>
              <a:rPr sz="1700" spc="-6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0F0F0F"/>
                </a:solidFill>
                <a:latin typeface="Arial MT"/>
                <a:cs typeface="Arial MT"/>
              </a:rPr>
              <a:t>to</a:t>
            </a:r>
            <a:r>
              <a:rPr sz="1700" spc="-4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F1F1F"/>
                </a:solidFill>
                <a:latin typeface="Arial MT"/>
                <a:cs typeface="Arial MT"/>
              </a:rPr>
              <a:t>forecast</a:t>
            </a:r>
            <a:r>
              <a:rPr sz="1700" spc="1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181818"/>
                </a:solidFill>
                <a:latin typeface="Arial MT"/>
                <a:cs typeface="Arial MT"/>
              </a:rPr>
              <a:t>demand</a:t>
            </a:r>
            <a:r>
              <a:rPr sz="1700" spc="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62626"/>
                </a:solidFill>
                <a:latin typeface="Arial MT"/>
                <a:cs typeface="Arial MT"/>
              </a:rPr>
              <a:t>for</a:t>
            </a:r>
            <a:r>
              <a:rPr sz="1700" spc="2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spc="-160" dirty="0">
                <a:solidFill>
                  <a:srgbClr val="1D1D1D"/>
                </a:solidFill>
                <a:latin typeface="Arial MT"/>
                <a:cs typeface="Arial MT"/>
              </a:rPr>
              <a:t>a</a:t>
            </a:r>
            <a:r>
              <a:rPr sz="1700" spc="-2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few</a:t>
            </a:r>
            <a:r>
              <a:rPr sz="1700" spc="-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82828"/>
                </a:solidFill>
                <a:latin typeface="Arial MT"/>
                <a:cs typeface="Arial MT"/>
              </a:rPr>
              <a:t>of</a:t>
            </a:r>
            <a:r>
              <a:rPr sz="1700" spc="-5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</a:rPr>
              <a:t>their</a:t>
            </a:r>
            <a:r>
              <a:rPr sz="1700" spc="-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0C0C0C"/>
                </a:solidFill>
                <a:latin typeface="Arial MT"/>
                <a:cs typeface="Arial MT"/>
              </a:rPr>
              <a:t>products. </a:t>
            </a:r>
            <a:r>
              <a:rPr sz="1700" spc="-60" dirty="0">
                <a:solidFill>
                  <a:srgbClr val="0F0F0F"/>
                </a:solidFill>
                <a:latin typeface="Arial MT"/>
                <a:cs typeface="Arial MT"/>
              </a:rPr>
              <a:t>They</a:t>
            </a:r>
            <a:r>
              <a:rPr sz="1700" spc="-3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might</a:t>
            </a:r>
            <a:r>
              <a:rPr sz="1700" spc="-7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51515"/>
                </a:solidFill>
                <a:latin typeface="Arial MT"/>
                <a:cs typeface="Arial MT"/>
              </a:rPr>
              <a:t>track</a:t>
            </a:r>
            <a:r>
              <a:rPr sz="1700" spc="-1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232323"/>
                </a:solidFill>
                <a:latin typeface="Arial MT"/>
                <a:cs typeface="Arial MT"/>
              </a:rPr>
              <a:t>the </a:t>
            </a:r>
            <a:r>
              <a:rPr sz="1700" spc="-10" dirty="0">
                <a:solidFill>
                  <a:srgbClr val="131313"/>
                </a:solidFill>
                <a:latin typeface="Arial MT"/>
                <a:cs typeface="Arial MT"/>
              </a:rPr>
              <a:t>number</a:t>
            </a:r>
            <a:r>
              <a:rPr sz="1700" spc="-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of</a:t>
            </a:r>
            <a:r>
              <a:rPr sz="1700" spc="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105" dirty="0">
                <a:solidFill>
                  <a:srgbClr val="1A1A1A"/>
                </a:solidFill>
                <a:latin typeface="Arial MT"/>
                <a:cs typeface="Arial MT"/>
              </a:rPr>
              <a:t>sales</a:t>
            </a:r>
            <a:r>
              <a:rPr sz="1700" spc="-1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0F0F"/>
                </a:solidFill>
                <a:latin typeface="Arial MT"/>
                <a:cs typeface="Arial MT"/>
              </a:rPr>
              <a:t>that</a:t>
            </a:r>
            <a:r>
              <a:rPr sz="1700" spc="-7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61616"/>
                </a:solidFill>
                <a:latin typeface="Arial MT"/>
                <a:cs typeface="Arial MT"/>
              </a:rPr>
              <a:t>they've</a:t>
            </a:r>
            <a:r>
              <a:rPr sz="1700" spc="-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1F1F1F"/>
                </a:solidFill>
                <a:latin typeface="Arial MT"/>
                <a:cs typeface="Arial MT"/>
              </a:rPr>
              <a:t>had</a:t>
            </a:r>
            <a:r>
              <a:rPr sz="1700" spc="-8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previously,</a:t>
            </a:r>
            <a:r>
              <a:rPr sz="17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61616"/>
                </a:solidFill>
                <a:latin typeface="Arial MT"/>
                <a:cs typeface="Arial MT"/>
              </a:rPr>
              <a:t>which</a:t>
            </a:r>
            <a:r>
              <a:rPr sz="1700" spc="-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90" dirty="0">
                <a:solidFill>
                  <a:srgbClr val="262626"/>
                </a:solidFill>
                <a:latin typeface="Arial MT"/>
                <a:cs typeface="Arial MT"/>
              </a:rPr>
              <a:t>is</a:t>
            </a:r>
            <a:r>
              <a:rPr sz="170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spc="-160" dirty="0">
                <a:solidFill>
                  <a:srgbClr val="161616"/>
                </a:solidFill>
                <a:latin typeface="Arial MT"/>
                <a:cs typeface="Arial MT"/>
              </a:rPr>
              <a:t>a</a:t>
            </a:r>
            <a:r>
              <a:rPr sz="1700" spc="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C1C1C"/>
                </a:solidFill>
                <a:latin typeface="Arial MT"/>
                <a:cs typeface="Arial MT"/>
              </a:rPr>
              <a:t>good</a:t>
            </a:r>
            <a:r>
              <a:rPr sz="1700" spc="-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0F0F"/>
                </a:solidFill>
                <a:latin typeface="Arial MT"/>
                <a:cs typeface="Arial MT"/>
              </a:rPr>
              <a:t>start.</a:t>
            </a:r>
            <a:r>
              <a:rPr sz="1700" spc="-8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0F0F0F"/>
                </a:solidFill>
                <a:latin typeface="Arial MT"/>
                <a:cs typeface="Arial MT"/>
              </a:rPr>
              <a:t>However,</a:t>
            </a:r>
            <a:r>
              <a:rPr sz="1700" spc="10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81818"/>
                </a:solidFill>
                <a:latin typeface="Arial MT"/>
                <a:cs typeface="Arial MT"/>
              </a:rPr>
              <a:t>what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if</a:t>
            </a:r>
            <a:r>
              <a:rPr sz="1700" spc="114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</a:rPr>
              <a:t>they</a:t>
            </a:r>
            <a:r>
              <a:rPr sz="1700" spc="-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forget</a:t>
            </a:r>
            <a:r>
              <a:rPr sz="17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0C0C0C"/>
                </a:solidFill>
                <a:latin typeface="Arial MT"/>
                <a:cs typeface="Arial MT"/>
              </a:rPr>
              <a:t>to</a:t>
            </a:r>
            <a:r>
              <a:rPr sz="1700" spc="-6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log</a:t>
            </a:r>
            <a:r>
              <a:rPr sz="1700" spc="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181818"/>
                </a:solidFill>
                <a:latin typeface="Arial MT"/>
                <a:cs typeface="Arial MT"/>
              </a:rPr>
              <a:t>when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F1F1F"/>
                </a:solidFill>
                <a:latin typeface="Arial MT"/>
                <a:cs typeface="Arial MT"/>
              </a:rPr>
              <a:t>certain</a:t>
            </a:r>
            <a:r>
              <a:rPr sz="1700" spc="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81818"/>
                </a:solidFill>
                <a:latin typeface="Arial MT"/>
                <a:cs typeface="Arial MT"/>
              </a:rPr>
              <a:t>products</a:t>
            </a:r>
            <a:r>
              <a:rPr sz="1700" spc="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1C1C1C"/>
                </a:solidFill>
                <a:latin typeface="Arial MT"/>
                <a:cs typeface="Arial MT"/>
              </a:rPr>
              <a:t>were</a:t>
            </a:r>
            <a:r>
              <a:rPr sz="1700" spc="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62626"/>
                </a:solidFill>
                <a:latin typeface="Arial MT"/>
                <a:cs typeface="Arial MT"/>
              </a:rPr>
              <a:t>out</a:t>
            </a:r>
            <a:r>
              <a:rPr sz="1700" spc="-8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of</a:t>
            </a:r>
            <a:r>
              <a:rPr sz="1700" spc="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95" dirty="0">
                <a:latin typeface="Arial MT"/>
                <a:cs typeface="Arial MT"/>
              </a:rPr>
              <a:t>stock?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A2A2A"/>
                </a:solidFill>
                <a:latin typeface="Arial MT"/>
                <a:cs typeface="Arial MT"/>
              </a:rPr>
              <a:t>If</a:t>
            </a:r>
            <a:r>
              <a:rPr sz="1700" spc="-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1C1C1C"/>
                </a:solidFill>
                <a:latin typeface="Arial MT"/>
                <a:cs typeface="Arial MT"/>
              </a:rPr>
              <a:t>you're</a:t>
            </a:r>
            <a:r>
              <a:rPr sz="1700" spc="-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trying</a:t>
            </a:r>
            <a:r>
              <a:rPr sz="1700" spc="-6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40" dirty="0">
                <a:solidFill>
                  <a:srgbClr val="282828"/>
                </a:solidFill>
                <a:latin typeface="Arial MT"/>
                <a:cs typeface="Arial MT"/>
              </a:rPr>
              <a:t>to </a:t>
            </a:r>
            <a:r>
              <a:rPr sz="1700" spc="-30" dirty="0">
                <a:solidFill>
                  <a:srgbClr val="0F0F0F"/>
                </a:solidFill>
                <a:latin typeface="Arial MT"/>
                <a:cs typeface="Arial MT"/>
              </a:rPr>
              <a:t>forecast</a:t>
            </a:r>
            <a:r>
              <a:rPr sz="1700" spc="9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65" dirty="0">
                <a:solidFill>
                  <a:srgbClr val="1C1C1C"/>
                </a:solidFill>
                <a:latin typeface="Arial MT"/>
                <a:cs typeface="Arial MT"/>
              </a:rPr>
              <a:t>demand,</a:t>
            </a:r>
            <a:r>
              <a:rPr sz="1700" spc="-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82828"/>
                </a:solidFill>
                <a:latin typeface="Arial MT"/>
                <a:cs typeface="Arial MT"/>
              </a:rPr>
              <a:t>it's</a:t>
            </a:r>
            <a:r>
              <a:rPr sz="1700" spc="-12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important</a:t>
            </a:r>
            <a:r>
              <a:rPr sz="1700" spc="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700" spc="-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31313"/>
                </a:solidFill>
                <a:latin typeface="Arial MT"/>
                <a:cs typeface="Arial MT"/>
              </a:rPr>
              <a:t>know</a:t>
            </a:r>
            <a:r>
              <a:rPr sz="1700" spc="10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1F1F1F"/>
                </a:solidFill>
                <a:latin typeface="Arial MT"/>
                <a:cs typeface="Arial MT"/>
              </a:rPr>
              <a:t>when</a:t>
            </a:r>
            <a:r>
              <a:rPr sz="1700" spc="-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C1C1C"/>
                </a:solidFill>
                <a:latin typeface="Arial MT"/>
                <a:cs typeface="Arial MT"/>
              </a:rPr>
              <a:t>you</a:t>
            </a:r>
            <a:r>
              <a:rPr sz="1700" spc="-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131313"/>
                </a:solidFill>
                <a:latin typeface="Arial MT"/>
                <a:cs typeface="Arial MT"/>
              </a:rPr>
              <a:t>were</a:t>
            </a:r>
            <a:r>
              <a:rPr sz="1700" spc="-3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out</a:t>
            </a:r>
            <a:r>
              <a:rPr sz="1700" spc="-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65" dirty="0">
                <a:latin typeface="Arial MT"/>
                <a:cs typeface="Arial MT"/>
              </a:rPr>
              <a:t>stock.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111111"/>
                </a:solidFill>
                <a:latin typeface="Arial MT"/>
                <a:cs typeface="Arial MT"/>
              </a:rPr>
              <a:t>Therefore,</a:t>
            </a:r>
            <a:r>
              <a:rPr sz="1700" spc="8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2A2A2A"/>
                </a:solidFill>
                <a:latin typeface="Arial MT"/>
                <a:cs typeface="Arial MT"/>
              </a:rPr>
              <a:t>it </a:t>
            </a:r>
            <a:r>
              <a:rPr sz="1700" spc="-50" dirty="0">
                <a:solidFill>
                  <a:srgbClr val="2A2A2A"/>
                </a:solidFill>
                <a:latin typeface="Arial MT"/>
                <a:cs typeface="Arial MT"/>
              </a:rPr>
              <a:t>is</a:t>
            </a:r>
            <a:r>
              <a:rPr sz="1700" spc="-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F1F1F"/>
                </a:solidFill>
                <a:latin typeface="Arial MT"/>
                <a:cs typeface="Arial MT"/>
              </a:rPr>
              <a:t>critical</a:t>
            </a:r>
            <a:r>
              <a:rPr sz="1700" spc="-1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700" spc="-114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95" dirty="0">
                <a:solidFill>
                  <a:srgbClr val="131313"/>
                </a:solidFill>
                <a:latin typeface="Arial MT"/>
                <a:cs typeface="Arial MT"/>
              </a:rPr>
              <a:t>have</a:t>
            </a:r>
            <a:r>
              <a:rPr sz="1700" spc="-6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that</a:t>
            </a:r>
            <a:r>
              <a:rPr sz="1700" spc="-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i="1" spc="-10" dirty="0">
                <a:solidFill>
                  <a:srgbClr val="212121"/>
                </a:solidFill>
                <a:latin typeface="Arial"/>
                <a:cs typeface="Arial"/>
              </a:rPr>
              <a:t>data</a:t>
            </a:r>
            <a:r>
              <a:rPr sz="1700" i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700" spc="-35" dirty="0">
                <a:solidFill>
                  <a:srgbClr val="1F1F1F"/>
                </a:solidFill>
                <a:latin typeface="Arial MT"/>
                <a:cs typeface="Arial MT"/>
              </a:rPr>
              <a:t>represent</a:t>
            </a:r>
            <a:r>
              <a:rPr sz="1700" spc="8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212121"/>
                </a:solidFill>
                <a:latin typeface="Arial MT"/>
                <a:cs typeface="Arial MT"/>
              </a:rPr>
              <a:t>one</a:t>
            </a:r>
            <a:r>
              <a:rPr sz="17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82828"/>
                </a:solidFill>
                <a:latin typeface="Arial MT"/>
                <a:cs typeface="Arial MT"/>
              </a:rPr>
              <a:t>of</a:t>
            </a:r>
            <a:r>
              <a:rPr sz="1700" spc="-1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C1C1C"/>
                </a:solidFill>
                <a:latin typeface="Arial MT"/>
                <a:cs typeface="Arial MT"/>
              </a:rPr>
              <a:t>your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C1C1C"/>
                </a:solidFill>
                <a:latin typeface="Arial MT"/>
                <a:cs typeface="Arial MT"/>
              </a:rPr>
              <a:t>features.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7055" y="4643908"/>
            <a:ext cx="876630" cy="3886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9836" y="4643908"/>
            <a:ext cx="876630" cy="38861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823259" y="3948019"/>
            <a:ext cx="4103370" cy="1084580"/>
            <a:chOff x="6823259" y="3948019"/>
            <a:chExt cx="4103370" cy="108458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82616" y="4643908"/>
              <a:ext cx="1843636" cy="3886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23259" y="4246257"/>
              <a:ext cx="2702191" cy="37053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559951" y="3948019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h="304800">
                  <a:moveTo>
                    <a:pt x="0" y="304263"/>
                  </a:moveTo>
                  <a:lnTo>
                    <a:pt x="0" y="0"/>
                  </a:lnTo>
                </a:path>
              </a:pathLst>
            </a:custGeom>
            <a:ln w="15062">
              <a:solidFill>
                <a:srgbClr val="443B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517920" y="3960069"/>
              <a:ext cx="0" cy="289560"/>
            </a:xfrm>
            <a:custGeom>
              <a:avLst/>
              <a:gdLst/>
              <a:ahLst/>
              <a:cxnLst/>
              <a:rect l="l" t="t" r="r" b="b"/>
              <a:pathLst>
                <a:path h="289560">
                  <a:moveTo>
                    <a:pt x="0" y="289200"/>
                  </a:moveTo>
                  <a:lnTo>
                    <a:pt x="0" y="0"/>
                  </a:lnTo>
                </a:path>
              </a:pathLst>
            </a:custGeom>
            <a:ln w="9037">
              <a:solidFill>
                <a:srgbClr val="443B9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308125" y="3964588"/>
          <a:ext cx="5067930" cy="2338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2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7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03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63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92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003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443B9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443B93"/>
                      </a:solidFill>
                      <a:prstDash val="solid"/>
                    </a:lnL>
                    <a:lnT w="19050">
                      <a:solidFill>
                        <a:srgbClr val="443B93"/>
                      </a:solidFill>
                      <a:prstDash val="solid"/>
                    </a:lnT>
                    <a:lnB w="19050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443B93"/>
                      </a:solidFill>
                      <a:prstDash val="solid"/>
                    </a:lnT>
                    <a:lnB w="19050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443B93"/>
                      </a:solidFill>
                      <a:prstDash val="solid"/>
                    </a:lnT>
                    <a:lnB w="9525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ts val="1689"/>
                        </a:lnSpc>
                      </a:pPr>
                      <a:r>
                        <a:rPr sz="1450" spc="-114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443B93"/>
                      </a:solidFill>
                      <a:prstDash val="solid"/>
                    </a:lnT>
                    <a:lnB w="9525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443B93"/>
                      </a:solidFill>
                      <a:prstDash val="solid"/>
                    </a:lnT>
                    <a:lnB w="9525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>
                        <a:lnSpc>
                          <a:spcPts val="1689"/>
                        </a:lnSpc>
                      </a:pPr>
                      <a:r>
                        <a:rPr sz="1450" spc="-25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443B93"/>
                      </a:solidFill>
                      <a:prstDash val="solid"/>
                    </a:lnT>
                    <a:lnB w="9525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689"/>
                        </a:lnSpc>
                      </a:pPr>
                      <a:r>
                        <a:rPr sz="1450" spc="-50" dirty="0">
                          <a:latin typeface="Arial MT"/>
                          <a:cs typeface="Arial MT"/>
                        </a:rPr>
                        <a:t>n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9525">
                      <a:solidFill>
                        <a:srgbClr val="443B93"/>
                      </a:solidFill>
                      <a:prstDash val="solid"/>
                    </a:lnT>
                    <a:lnB w="9525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443B93"/>
                      </a:solidFill>
                      <a:prstDash val="solid"/>
                    </a:lnR>
                    <a:lnT w="9525">
                      <a:solidFill>
                        <a:srgbClr val="443B93"/>
                      </a:solidFill>
                      <a:prstDash val="solid"/>
                    </a:lnT>
                    <a:lnB w="9525">
                      <a:solidFill>
                        <a:srgbClr val="443B9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5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28575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443B93"/>
                      </a:solidFill>
                      <a:prstDash val="solid"/>
                    </a:lnT>
                    <a:lnB w="28575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443B93"/>
                      </a:solidFill>
                      <a:prstDash val="solid"/>
                    </a:lnT>
                    <a:lnB w="28575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443B93"/>
                      </a:solidFill>
                      <a:prstDash val="solid"/>
                    </a:lnT>
                    <a:lnB w="28575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443B93"/>
                      </a:solidFill>
                      <a:prstDash val="solid"/>
                    </a:lnT>
                    <a:lnB w="28575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443B93"/>
                      </a:solidFill>
                      <a:prstDash val="solid"/>
                    </a:lnT>
                    <a:lnB w="28575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443B93"/>
                      </a:solidFill>
                      <a:prstDash val="solid"/>
                    </a:lnT>
                    <a:lnB w="28575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443B93"/>
                      </a:solidFill>
                      <a:prstDash val="solid"/>
                    </a:lnT>
                    <a:lnB w="28575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443B9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43B93"/>
                      </a:solidFill>
                      <a:prstDash val="solid"/>
                    </a:lnL>
                    <a:lnR w="28575">
                      <a:solidFill>
                        <a:srgbClr val="443B93"/>
                      </a:solidFill>
                      <a:prstDash val="solid"/>
                    </a:lnR>
                    <a:lnT w="28575">
                      <a:solidFill>
                        <a:srgbClr val="443B93"/>
                      </a:solidFill>
                      <a:prstDash val="solid"/>
                    </a:lnT>
                    <a:lnB w="28575">
                      <a:solidFill>
                        <a:srgbClr val="443B93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43B93"/>
                      </a:solidFill>
                      <a:prstDash val="solid"/>
                    </a:lnL>
                    <a:lnR w="28575">
                      <a:solidFill>
                        <a:srgbClr val="443B93"/>
                      </a:solidFill>
                      <a:prstDash val="solid"/>
                    </a:lnR>
                    <a:lnT w="28575">
                      <a:solidFill>
                        <a:srgbClr val="443B93"/>
                      </a:solidFill>
                      <a:prstDash val="solid"/>
                    </a:lnT>
                    <a:lnB w="28575">
                      <a:solidFill>
                        <a:srgbClr val="443B9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43B93"/>
                      </a:solidFill>
                      <a:prstDash val="solid"/>
                    </a:lnL>
                    <a:lnR w="28575">
                      <a:solidFill>
                        <a:srgbClr val="443B93"/>
                      </a:solidFill>
                      <a:prstDash val="solid"/>
                    </a:lnR>
                    <a:lnT w="28575">
                      <a:solidFill>
                        <a:srgbClr val="443B93"/>
                      </a:solidFill>
                      <a:prstDash val="solid"/>
                    </a:lnT>
                    <a:lnB w="28575">
                      <a:solidFill>
                        <a:srgbClr val="443B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43B93"/>
                      </a:solidFill>
                      <a:prstDash val="solid"/>
                    </a:lnL>
                    <a:lnR w="28575">
                      <a:solidFill>
                        <a:srgbClr val="443B93"/>
                      </a:solidFill>
                      <a:prstDash val="solid"/>
                    </a:lnR>
                    <a:lnT w="28575">
                      <a:solidFill>
                        <a:srgbClr val="443B93"/>
                      </a:solidFill>
                      <a:prstDash val="solid"/>
                    </a:lnT>
                    <a:lnB w="28575">
                      <a:solidFill>
                        <a:srgbClr val="443B93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43B93"/>
                      </a:solidFill>
                      <a:prstDash val="solid"/>
                    </a:lnL>
                    <a:lnR w="28575">
                      <a:solidFill>
                        <a:srgbClr val="443B93"/>
                      </a:solidFill>
                      <a:prstDash val="solid"/>
                    </a:lnR>
                    <a:lnT w="28575">
                      <a:solidFill>
                        <a:srgbClr val="443B93"/>
                      </a:solidFill>
                      <a:prstDash val="solid"/>
                    </a:lnT>
                    <a:lnB w="28575">
                      <a:solidFill>
                        <a:srgbClr val="443B9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43B93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443B9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ts val="1475"/>
                        </a:lnSpc>
                      </a:pPr>
                      <a:r>
                        <a:rPr sz="1450" spc="-20" dirty="0">
                          <a:solidFill>
                            <a:srgbClr val="5E5E5E"/>
                          </a:solidFill>
                          <a:latin typeface="Calibri"/>
                          <a:cs typeface="Calibri"/>
                        </a:rPr>
                        <a:t>10/S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28575">
                      <a:solidFill>
                        <a:srgbClr val="443B9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443B9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ts val="1475"/>
                        </a:lnSpc>
                      </a:pPr>
                      <a:r>
                        <a:rPr sz="1450" spc="-75" dirty="0">
                          <a:solidFill>
                            <a:srgbClr val="626262"/>
                          </a:solidFill>
                          <a:latin typeface="Calibri"/>
                          <a:cs typeface="Calibri"/>
                        </a:rPr>
                        <a:t>Store</a:t>
                      </a:r>
                      <a:r>
                        <a:rPr sz="1450" spc="10" dirty="0">
                          <a:solidFill>
                            <a:srgbClr val="62626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50" spc="-6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28575">
                      <a:solidFill>
                        <a:srgbClr val="443B9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475"/>
                        </a:lnSpc>
                      </a:pPr>
                      <a:r>
                        <a:rPr sz="1450" spc="-10" dirty="0">
                          <a:solidFill>
                            <a:srgbClr val="414141"/>
                          </a:solidFill>
                          <a:latin typeface="Calibri"/>
                          <a:cs typeface="Calibri"/>
                        </a:rPr>
                        <a:t>10.99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28575">
                      <a:solidFill>
                        <a:srgbClr val="443B9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443B9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75">
                        <a:lnSpc>
                          <a:spcPts val="1475"/>
                        </a:lnSpc>
                      </a:pPr>
                      <a:r>
                        <a:rPr sz="1450" spc="-25" dirty="0">
                          <a:solidFill>
                            <a:srgbClr val="383838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28575">
                      <a:solidFill>
                        <a:srgbClr val="443B9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443B9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443B9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spc="-2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DEF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50" spc="-20" dirty="0">
                          <a:solidFill>
                            <a:srgbClr val="646464"/>
                          </a:solidFill>
                          <a:latin typeface="Arial MT"/>
                          <a:cs typeface="Arial MT"/>
                        </a:rPr>
                        <a:t>10/5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50" spc="-150" dirty="0">
                          <a:solidFill>
                            <a:srgbClr val="484848"/>
                          </a:solidFill>
                          <a:latin typeface="Arial MT"/>
                          <a:cs typeface="Arial MT"/>
                        </a:rPr>
                        <a:t>Store</a:t>
                      </a:r>
                      <a:r>
                        <a:rPr sz="1450" spc="55" dirty="0">
                          <a:solidFill>
                            <a:srgbClr val="48484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spc="-60" dirty="0">
                          <a:solidFill>
                            <a:srgbClr val="4B4B4B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50" spc="-10" dirty="0">
                          <a:solidFill>
                            <a:srgbClr val="494949"/>
                          </a:solidFill>
                          <a:latin typeface="Arial MT"/>
                          <a:cs typeface="Arial MT"/>
                        </a:rPr>
                        <a:t>999.99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50" spc="-155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190"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25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GHI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-20" dirty="0">
                          <a:solidFill>
                            <a:srgbClr val="646464"/>
                          </a:solidFill>
                          <a:latin typeface="Arial MT"/>
                          <a:cs typeface="Arial MT"/>
                        </a:rPr>
                        <a:t>10/S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-150" dirty="0">
                          <a:solidFill>
                            <a:srgbClr val="646464"/>
                          </a:solidFill>
                          <a:latin typeface="Arial MT"/>
                          <a:cs typeface="Arial MT"/>
                        </a:rPr>
                        <a:t>Store</a:t>
                      </a:r>
                      <a:r>
                        <a:rPr sz="1450" spc="55" dirty="0">
                          <a:solidFill>
                            <a:srgbClr val="64646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spc="-60" dirty="0">
                          <a:solidFill>
                            <a:srgbClr val="5D5D5D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-10" dirty="0">
                          <a:solidFill>
                            <a:srgbClr val="4D4D4D"/>
                          </a:solidFill>
                          <a:latin typeface="Arial MT"/>
                          <a:cs typeface="Arial MT"/>
                        </a:rPr>
                        <a:t>15.00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-25" dirty="0">
                          <a:solidFill>
                            <a:srgbClr val="4F4F4F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190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150" spc="-25" dirty="0">
                          <a:solidFill>
                            <a:srgbClr val="383838"/>
                          </a:solidFill>
                          <a:latin typeface="Arial MT"/>
                          <a:cs typeface="Arial MT"/>
                        </a:rPr>
                        <a:t>JKL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50" spc="-20" dirty="0">
                          <a:solidFill>
                            <a:srgbClr val="606060"/>
                          </a:solidFill>
                          <a:latin typeface="Arial MT"/>
                          <a:cs typeface="Arial MT"/>
                        </a:rPr>
                        <a:t>10/6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50" spc="-150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Store</a:t>
                      </a:r>
                      <a:r>
                        <a:rPr sz="1450" spc="55" dirty="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spc="-60" dirty="0">
                          <a:solidFill>
                            <a:srgbClr val="525252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50" spc="-10" dirty="0">
                          <a:solidFill>
                            <a:srgbClr val="494949"/>
                          </a:solidFill>
                          <a:latin typeface="Arial MT"/>
                          <a:cs typeface="Arial MT"/>
                        </a:rPr>
                        <a:t>699.99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50" spc="-50" dirty="0">
                          <a:solidFill>
                            <a:srgbClr val="9E9E9E"/>
                          </a:solidFill>
                          <a:latin typeface="Arial MT"/>
                          <a:cs typeface="Arial MT"/>
                        </a:rPr>
                        <a:t>?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25" dirty="0">
                          <a:solidFill>
                            <a:srgbClr val="4B4B4B"/>
                          </a:solidFill>
                          <a:latin typeface="Arial MT"/>
                          <a:cs typeface="Arial MT"/>
                        </a:rPr>
                        <a:t>MNO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B w="28575">
                      <a:solidFill>
                        <a:srgbClr val="3434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-20" dirty="0">
                          <a:solidFill>
                            <a:srgbClr val="5B5B5B"/>
                          </a:solidFill>
                          <a:latin typeface="Arial MT"/>
                          <a:cs typeface="Arial MT"/>
                        </a:rPr>
                        <a:t>10/6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B w="28575">
                      <a:solidFill>
                        <a:srgbClr val="3434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3434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-150" dirty="0">
                          <a:solidFill>
                            <a:srgbClr val="696969"/>
                          </a:solidFill>
                          <a:latin typeface="Arial MT"/>
                          <a:cs typeface="Arial MT"/>
                        </a:rPr>
                        <a:t>Store</a:t>
                      </a:r>
                      <a:r>
                        <a:rPr sz="1450" spc="10" dirty="0">
                          <a:solidFill>
                            <a:srgbClr val="69696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spc="15" dirty="0">
                          <a:solidFill>
                            <a:srgbClr val="59595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B w="28575">
                      <a:solidFill>
                        <a:srgbClr val="3434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-10" dirty="0">
                          <a:solidFill>
                            <a:srgbClr val="696969"/>
                          </a:solidFill>
                          <a:latin typeface="Arial MT"/>
                          <a:cs typeface="Arial MT"/>
                        </a:rPr>
                        <a:t>999.99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B w="28575">
                      <a:solidFill>
                        <a:srgbClr val="3434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3434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spc="-155" dirty="0">
                          <a:solidFill>
                            <a:srgbClr val="5D5D5D"/>
                          </a:solidFill>
                          <a:latin typeface="Arial MT"/>
                          <a:cs typeface="Arial MT"/>
                        </a:rPr>
                        <a:t>Yes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B w="28575">
                      <a:solidFill>
                        <a:srgbClr val="3434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3434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3434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478983" y="259207"/>
            <a:ext cx="1630045" cy="0"/>
          </a:xfrm>
          <a:custGeom>
            <a:avLst/>
            <a:gdLst/>
            <a:ahLst/>
            <a:cxnLst/>
            <a:rect l="l" t="t" r="r" b="b"/>
            <a:pathLst>
              <a:path w="1630045">
                <a:moveTo>
                  <a:pt x="0" y="0"/>
                </a:moveTo>
                <a:lnTo>
                  <a:pt x="1629749" y="0"/>
                </a:lnTo>
              </a:path>
            </a:pathLst>
          </a:custGeom>
          <a:ln w="21087">
            <a:solidFill>
              <a:srgbClr val="D467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2085" y="1119276"/>
            <a:ext cx="3226435" cy="588010"/>
          </a:xfrm>
          <a:prstGeom prst="rect">
            <a:avLst/>
          </a:prstGeom>
          <a:solidFill>
            <a:srgbClr val="004F75"/>
          </a:solidFill>
        </p:spPr>
        <p:txBody>
          <a:bodyPr vert="horz" wrap="square" lIns="0" tIns="126364" rIns="0" bIns="0" rtlCol="0">
            <a:spAutoFit/>
          </a:bodyPr>
          <a:lstStyle/>
          <a:p>
            <a:pPr marL="541020">
              <a:lnSpc>
                <a:spcPct val="100000"/>
              </a:lnSpc>
              <a:spcBef>
                <a:spcPts val="994"/>
              </a:spcBef>
            </a:pP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Understand</a:t>
            </a:r>
            <a:r>
              <a:rPr sz="18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50" spc="-20" dirty="0">
                <a:solidFill>
                  <a:srgbClr val="FFFFFF"/>
                </a:solidFill>
                <a:latin typeface="Arial MT"/>
                <a:cs typeface="Arial MT"/>
              </a:rPr>
              <a:t> data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1122" y="1869390"/>
            <a:ext cx="3217545" cy="578485"/>
          </a:xfrm>
          <a:prstGeom prst="rect">
            <a:avLst/>
          </a:prstGeom>
          <a:solidFill>
            <a:srgbClr val="014F72"/>
          </a:solidFill>
        </p:spPr>
        <p:txBody>
          <a:bodyPr vert="horz" wrap="square" lIns="0" tIns="132715" rIns="0" bIns="0" rtlCol="0">
            <a:spAutoFit/>
          </a:bodyPr>
          <a:lstStyle/>
          <a:p>
            <a:pPr marL="547370">
              <a:lnSpc>
                <a:spcPct val="100000"/>
              </a:lnSpc>
              <a:spcBef>
                <a:spcPts val="104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Get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domain</a:t>
            </a:r>
            <a:r>
              <a:rPr sz="18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expert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1122" y="2610467"/>
            <a:ext cx="3217545" cy="588010"/>
          </a:xfrm>
          <a:prstGeom prst="rect">
            <a:avLst/>
          </a:prstGeom>
          <a:solidFill>
            <a:srgbClr val="035472"/>
          </a:solidFill>
        </p:spPr>
        <p:txBody>
          <a:bodyPr vert="horz" wrap="square" lIns="0" tIns="139065" rIns="0" bIns="0" rtlCol="0">
            <a:spAutoFit/>
          </a:bodyPr>
          <a:lstStyle/>
          <a:p>
            <a:pPr marL="514984">
              <a:lnSpc>
                <a:spcPct val="100000"/>
              </a:lnSpc>
              <a:spcBef>
                <a:spcPts val="1095"/>
              </a:spcBef>
            </a:pP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Evaluate</a:t>
            </a:r>
            <a:r>
              <a:rPr sz="1750" spc="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750" spc="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40" dirty="0">
                <a:solidFill>
                  <a:srgbClr val="FFFFFF"/>
                </a:solidFill>
                <a:latin typeface="Arial MT"/>
                <a:cs typeface="Arial MT"/>
              </a:rPr>
              <a:t>quality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1122" y="3369618"/>
            <a:ext cx="3217545" cy="588010"/>
          </a:xfrm>
          <a:prstGeom prst="rect">
            <a:avLst/>
          </a:prstGeom>
          <a:solidFill>
            <a:srgbClr val="662F54"/>
          </a:solidFill>
        </p:spPr>
        <p:txBody>
          <a:bodyPr vert="horz" wrap="square" lIns="0" tIns="113664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894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Identify</a:t>
            </a:r>
            <a:r>
              <a:rPr sz="19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50" dirty="0">
                <a:solidFill>
                  <a:srgbClr val="FFFFFF"/>
                </a:solidFill>
                <a:latin typeface="Arial MT"/>
                <a:cs typeface="Arial MT"/>
              </a:rPr>
              <a:t>features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10" dirty="0">
                <a:solidFill>
                  <a:srgbClr val="BF67A5"/>
                </a:solidFill>
                <a:latin typeface="Arial MT"/>
                <a:cs typeface="Arial MT"/>
              </a:rPr>
              <a:t>and</a:t>
            </a:r>
            <a:r>
              <a:rPr sz="1950" spc="-25" dirty="0">
                <a:solidFill>
                  <a:srgbClr val="BF67A5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BA5697"/>
                </a:solidFill>
                <a:latin typeface="Arial MT"/>
                <a:cs typeface="Arial MT"/>
              </a:rPr>
              <a:t>labels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2085" y="4110695"/>
            <a:ext cx="3226435" cy="588010"/>
          </a:xfrm>
          <a:prstGeom prst="rect">
            <a:avLst/>
          </a:prstGeom>
          <a:solidFill>
            <a:srgbClr val="153844"/>
          </a:solidFill>
        </p:spPr>
        <p:txBody>
          <a:bodyPr vert="horz" wrap="square" lIns="0" tIns="113664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894"/>
              </a:spcBef>
            </a:pPr>
            <a:r>
              <a:rPr sz="1950" dirty="0">
                <a:solidFill>
                  <a:srgbClr val="E2FFFF"/>
                </a:solidFill>
                <a:latin typeface="Arial MT"/>
                <a:cs typeface="Arial MT"/>
              </a:rPr>
              <a:t>Identify</a:t>
            </a:r>
            <a:r>
              <a:rPr sz="1950" spc="-45" dirty="0">
                <a:solidFill>
                  <a:srgbClr val="E2FFFF"/>
                </a:solidFill>
                <a:latin typeface="Arial MT"/>
                <a:cs typeface="Arial MT"/>
              </a:rPr>
              <a:t> </a:t>
            </a:r>
            <a:r>
              <a:rPr sz="1950" spc="-50" dirty="0">
                <a:solidFill>
                  <a:srgbClr val="497585"/>
                </a:solidFill>
                <a:latin typeface="Arial MT"/>
                <a:cs typeface="Arial MT"/>
              </a:rPr>
              <a:t>labeled</a:t>
            </a:r>
            <a:r>
              <a:rPr sz="1950" spc="-25" dirty="0">
                <a:solidFill>
                  <a:srgbClr val="497585"/>
                </a:solidFill>
                <a:latin typeface="Arial MT"/>
                <a:cs typeface="Arial MT"/>
              </a:rPr>
              <a:t> </a:t>
            </a:r>
            <a:r>
              <a:rPr sz="1950" spc="-40" dirty="0">
                <a:solidFill>
                  <a:srgbClr val="7CA7B8"/>
                </a:solidFill>
                <a:latin typeface="Arial MT"/>
                <a:cs typeface="Arial MT"/>
              </a:rPr>
              <a:t>data</a:t>
            </a:r>
            <a:r>
              <a:rPr sz="1950" spc="-20" dirty="0">
                <a:solidFill>
                  <a:srgbClr val="7CA7B8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DBFFFF"/>
                </a:solidFill>
                <a:latin typeface="Arial MT"/>
                <a:cs typeface="Arial MT"/>
              </a:rPr>
              <a:t>needs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07537" y="5113859"/>
            <a:ext cx="280160" cy="12652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44488" y="4002244"/>
            <a:ext cx="777218" cy="180750"/>
          </a:xfrm>
          <a:prstGeom prst="rect">
            <a:avLst/>
          </a:prstGeom>
        </p:spPr>
      </p:pic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sz="2150" spc="50" dirty="0">
                <a:latin typeface="Arial MT"/>
                <a:cs typeface="Arial MT"/>
              </a:rPr>
              <a:t>Data</a:t>
            </a:r>
            <a:r>
              <a:rPr sz="2150" spc="10" dirty="0">
                <a:latin typeface="Arial MT"/>
                <a:cs typeface="Arial MT"/>
              </a:rPr>
              <a:t> </a:t>
            </a:r>
            <a:r>
              <a:rPr sz="2150" spc="75" dirty="0">
                <a:solidFill>
                  <a:srgbClr val="1C1C1C"/>
                </a:solidFill>
                <a:latin typeface="Arial MT"/>
                <a:cs typeface="Arial MT"/>
              </a:rPr>
              <a:t>considerations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08101" y="1107330"/>
            <a:ext cx="5169535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70" dirty="0">
                <a:solidFill>
                  <a:srgbClr val="0E0E0E"/>
                </a:solidFill>
                <a:latin typeface="Arial MT"/>
                <a:cs typeface="Arial MT"/>
              </a:rPr>
              <a:t>Start</a:t>
            </a:r>
            <a:r>
              <a:rPr sz="1600" spc="15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spc="90" dirty="0">
                <a:solidFill>
                  <a:srgbClr val="131313"/>
                </a:solidFill>
                <a:latin typeface="Arial MT"/>
                <a:cs typeface="Arial MT"/>
              </a:rPr>
              <a:t>identifying</a:t>
            </a:r>
            <a:r>
              <a:rPr sz="1600" spc="19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features</a:t>
            </a:r>
            <a:r>
              <a:rPr sz="1600" spc="7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51515"/>
                </a:solidFill>
                <a:latin typeface="Arial MT"/>
                <a:cs typeface="Arial MT"/>
              </a:rPr>
              <a:t>and</a:t>
            </a:r>
            <a:r>
              <a:rPr sz="1600" spc="7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labels</a:t>
            </a:r>
            <a:r>
              <a:rPr sz="1600" spc="204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you</a:t>
            </a:r>
            <a:r>
              <a:rPr sz="1600" spc="13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already</a:t>
            </a:r>
            <a:r>
              <a:rPr sz="1600" spc="21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F0F0F"/>
                </a:solidFill>
                <a:latin typeface="Arial MT"/>
                <a:cs typeface="Arial MT"/>
              </a:rPr>
              <a:t>have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07255" y="1603640"/>
            <a:ext cx="7493634" cy="105156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 indent="6350">
              <a:lnSpc>
                <a:spcPct val="94300"/>
              </a:lnSpc>
              <a:spcBef>
                <a:spcPts val="245"/>
              </a:spcBef>
            </a:pPr>
            <a:r>
              <a:rPr sz="1750" dirty="0">
                <a:solidFill>
                  <a:srgbClr val="1A1A1A"/>
                </a:solidFill>
                <a:latin typeface="Calibri"/>
                <a:cs typeface="Calibri"/>
              </a:rPr>
              <a:t>Your</a:t>
            </a:r>
            <a:r>
              <a:rPr sz="1750" spc="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0E0E0E"/>
                </a:solidFill>
                <a:latin typeface="Calibri"/>
                <a:cs typeface="Calibri"/>
              </a:rPr>
              <a:t>data</a:t>
            </a:r>
            <a:r>
              <a:rPr sz="1750" spc="-2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81818"/>
                </a:solidFill>
                <a:latin typeface="Calibri"/>
                <a:cs typeface="Calibri"/>
              </a:rPr>
              <a:t>is</a:t>
            </a:r>
            <a:r>
              <a:rPr sz="1750" spc="-2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2121"/>
                </a:solidFill>
                <a:latin typeface="Calibri"/>
                <a:cs typeface="Calibri"/>
              </a:rPr>
              <a:t>made</a:t>
            </a:r>
            <a:r>
              <a:rPr sz="1750" spc="5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62626"/>
                </a:solidFill>
                <a:latin typeface="Calibri"/>
                <a:cs typeface="Calibri"/>
              </a:rPr>
              <a:t>up</a:t>
            </a:r>
            <a:r>
              <a:rPr sz="1750" spc="-2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750" spc="60" dirty="0">
                <a:solidFill>
                  <a:srgbClr val="161616"/>
                </a:solidFill>
                <a:latin typeface="Calibri"/>
                <a:cs typeface="Calibri"/>
              </a:rPr>
              <a:t>of</a:t>
            </a:r>
            <a:r>
              <a:rPr sz="1750" spc="-1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32323"/>
                </a:solidFill>
                <a:latin typeface="Calibri"/>
                <a:cs typeface="Calibri"/>
              </a:rPr>
              <a:t>two</a:t>
            </a:r>
            <a:r>
              <a:rPr sz="1750" spc="9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1C1C1C"/>
                </a:solidFill>
                <a:latin typeface="Calibri"/>
                <a:cs typeface="Calibri"/>
              </a:rPr>
              <a:t>elements:</a:t>
            </a:r>
            <a:r>
              <a:rPr sz="1750" spc="10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0C0C0C"/>
                </a:solidFill>
                <a:latin typeface="Calibri"/>
                <a:cs typeface="Calibri"/>
              </a:rPr>
              <a:t>features</a:t>
            </a:r>
            <a:r>
              <a:rPr sz="1750" spc="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C1C1C"/>
                </a:solidFill>
                <a:latin typeface="Calibri"/>
                <a:cs typeface="Calibri"/>
              </a:rPr>
              <a:t>and</a:t>
            </a:r>
            <a:r>
              <a:rPr sz="1750" spc="-4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11111"/>
                </a:solidFill>
                <a:latin typeface="Calibri"/>
                <a:cs typeface="Calibri"/>
              </a:rPr>
              <a:t>labels.</a:t>
            </a:r>
            <a:r>
              <a:rPr sz="1750" spc="2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750" spc="90" dirty="0">
                <a:solidFill>
                  <a:srgbClr val="343434"/>
                </a:solidFill>
                <a:latin typeface="Calibri"/>
                <a:cs typeface="Calibri"/>
              </a:rPr>
              <a:t>A</a:t>
            </a:r>
            <a:r>
              <a:rPr sz="1750" spc="20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750" i="1" spc="-35" dirty="0">
                <a:solidFill>
                  <a:srgbClr val="0F0F0F"/>
                </a:solidFill>
                <a:latin typeface="Calibri"/>
                <a:cs typeface="Calibri"/>
              </a:rPr>
              <a:t>feature</a:t>
            </a:r>
            <a:r>
              <a:rPr sz="1750" i="1" spc="5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D1D1D"/>
                </a:solidFill>
                <a:latin typeface="Calibri"/>
                <a:cs typeface="Calibri"/>
              </a:rPr>
              <a:t>is</a:t>
            </a:r>
            <a:r>
              <a:rPr sz="1750" spc="-4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1A1A1A"/>
                </a:solidFill>
                <a:latin typeface="Calibri"/>
                <a:cs typeface="Calibri"/>
              </a:rPr>
              <a:t>an </a:t>
            </a:r>
            <a:r>
              <a:rPr sz="1750" dirty="0">
                <a:solidFill>
                  <a:srgbClr val="1F1F1F"/>
                </a:solidFill>
                <a:latin typeface="Calibri"/>
                <a:cs typeface="Calibri"/>
              </a:rPr>
              <a:t>attribute</a:t>
            </a:r>
            <a:r>
              <a:rPr sz="1750" spc="1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A1A1A"/>
                </a:solidFill>
                <a:latin typeface="Calibri"/>
                <a:cs typeface="Calibri"/>
              </a:rPr>
              <a:t>that</a:t>
            </a:r>
            <a:r>
              <a:rPr sz="1750" spc="4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F1F1F"/>
                </a:solidFill>
                <a:latin typeface="Calibri"/>
                <a:cs typeface="Calibri"/>
              </a:rPr>
              <a:t>can</a:t>
            </a:r>
            <a:r>
              <a:rPr sz="1750" spc="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C1C1C"/>
                </a:solidFill>
                <a:latin typeface="Calibri"/>
                <a:cs typeface="Calibri"/>
              </a:rPr>
              <a:t>be</a:t>
            </a:r>
            <a:r>
              <a:rPr sz="1750" spc="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F1F1F"/>
                </a:solidFill>
                <a:latin typeface="Calibri"/>
                <a:cs typeface="Calibri"/>
              </a:rPr>
              <a:t>used</a:t>
            </a:r>
            <a:r>
              <a:rPr sz="1750" spc="10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81818"/>
                </a:solidFill>
                <a:latin typeface="Calibri"/>
                <a:cs typeface="Calibri"/>
              </a:rPr>
              <a:t>to</a:t>
            </a:r>
            <a:r>
              <a:rPr sz="1750" spc="-8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C1C1C"/>
                </a:solidFill>
                <a:latin typeface="Calibri"/>
                <a:cs typeface="Calibri"/>
              </a:rPr>
              <a:t>help</a:t>
            </a:r>
            <a:r>
              <a:rPr sz="1750" spc="4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32323"/>
                </a:solidFill>
                <a:latin typeface="Calibri"/>
                <a:cs typeface="Calibri"/>
              </a:rPr>
              <a:t>identify</a:t>
            </a:r>
            <a:r>
              <a:rPr sz="1750" spc="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61616"/>
                </a:solidFill>
                <a:latin typeface="Calibri"/>
                <a:cs typeface="Calibri"/>
              </a:rPr>
              <a:t>patterns</a:t>
            </a:r>
            <a:r>
              <a:rPr sz="1750" spc="3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61616"/>
                </a:solidFill>
                <a:latin typeface="Calibri"/>
                <a:cs typeface="Calibri"/>
              </a:rPr>
              <a:t>and</a:t>
            </a:r>
            <a:r>
              <a:rPr sz="175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D1D1D"/>
                </a:solidFill>
                <a:latin typeface="Calibri"/>
                <a:cs typeface="Calibri"/>
              </a:rPr>
              <a:t>predict</a:t>
            </a:r>
            <a:r>
              <a:rPr sz="1750" spc="7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82828"/>
                </a:solidFill>
                <a:latin typeface="Calibri"/>
                <a:cs typeface="Calibri"/>
              </a:rPr>
              <a:t>future</a:t>
            </a:r>
            <a:r>
              <a:rPr sz="1750" spc="6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0C0C0C"/>
                </a:solidFill>
                <a:latin typeface="Calibri"/>
                <a:cs typeface="Calibri"/>
              </a:rPr>
              <a:t>answers.</a:t>
            </a:r>
            <a:r>
              <a:rPr sz="1750" spc="7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750" spc="40" dirty="0">
                <a:solidFill>
                  <a:srgbClr val="212121"/>
                </a:solidFill>
                <a:latin typeface="Calibri"/>
                <a:cs typeface="Calibri"/>
              </a:rPr>
              <a:t>A </a:t>
            </a:r>
            <a:r>
              <a:rPr sz="1750" dirty="0">
                <a:solidFill>
                  <a:srgbClr val="1F1F1F"/>
                </a:solidFill>
                <a:latin typeface="Calibri"/>
                <a:cs typeface="Calibri"/>
              </a:rPr>
              <a:t>feature</a:t>
            </a:r>
            <a:r>
              <a:rPr sz="1750" spc="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175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50" dirty="0">
                <a:latin typeface="Calibri"/>
                <a:cs typeface="Calibri"/>
              </a:rPr>
              <a:t>the</a:t>
            </a:r>
            <a:r>
              <a:rPr sz="1750" spc="35" dirty="0"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2121"/>
                </a:solidFill>
                <a:latin typeface="Calibri"/>
                <a:cs typeface="Calibri"/>
              </a:rPr>
              <a:t>credit</a:t>
            </a:r>
            <a:r>
              <a:rPr sz="1750" spc="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81818"/>
                </a:solidFill>
                <a:latin typeface="Calibri"/>
                <a:cs typeface="Calibri"/>
              </a:rPr>
              <a:t>card</a:t>
            </a:r>
            <a:r>
              <a:rPr sz="1750" spc="-5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32323"/>
                </a:solidFill>
                <a:latin typeface="Calibri"/>
                <a:cs typeface="Calibri"/>
              </a:rPr>
              <a:t>example</a:t>
            </a:r>
            <a:r>
              <a:rPr sz="1750" spc="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A1A1A"/>
                </a:solidFill>
                <a:latin typeface="Calibri"/>
                <a:cs typeface="Calibri"/>
              </a:rPr>
              <a:t>could</a:t>
            </a:r>
            <a:r>
              <a:rPr sz="175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61616"/>
                </a:solidFill>
                <a:latin typeface="Calibri"/>
                <a:cs typeface="Calibri"/>
              </a:rPr>
              <a:t>be </a:t>
            </a:r>
            <a:r>
              <a:rPr sz="1750" dirty="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sz="175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050505"/>
                </a:solidFill>
                <a:latin typeface="Calibri"/>
                <a:cs typeface="Calibri"/>
              </a:rPr>
              <a:t>date</a:t>
            </a:r>
            <a:r>
              <a:rPr sz="1750" spc="55" dirty="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51515"/>
                </a:solidFill>
                <a:latin typeface="Calibri"/>
                <a:cs typeface="Calibri"/>
              </a:rPr>
              <a:t>of</a:t>
            </a:r>
            <a:r>
              <a:rPr sz="1750" spc="-3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31313"/>
                </a:solidFill>
                <a:latin typeface="Calibri"/>
                <a:cs typeface="Calibri"/>
              </a:rPr>
              <a:t>transaction,</a:t>
            </a:r>
            <a:r>
              <a:rPr sz="1750" spc="8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161616"/>
                </a:solidFill>
                <a:latin typeface="Calibri"/>
                <a:cs typeface="Calibri"/>
              </a:rPr>
              <a:t>vendor,</a:t>
            </a:r>
            <a:r>
              <a:rPr sz="1750" spc="9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161616"/>
                </a:solidFill>
                <a:latin typeface="Calibri"/>
                <a:cs typeface="Calibri"/>
              </a:rPr>
              <a:t>or </a:t>
            </a:r>
            <a:r>
              <a:rPr sz="1750" dirty="0">
                <a:solidFill>
                  <a:srgbClr val="181818"/>
                </a:solidFill>
                <a:latin typeface="Calibri"/>
                <a:cs typeface="Calibri"/>
              </a:rPr>
              <a:t>amount</a:t>
            </a:r>
            <a:r>
              <a:rPr sz="1750" spc="4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sz="1750" spc="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sz="175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0C0C0C"/>
                </a:solidFill>
                <a:latin typeface="Calibri"/>
                <a:cs typeface="Calibri"/>
              </a:rPr>
              <a:t>transaction,</a:t>
            </a:r>
            <a:r>
              <a:rPr sz="1750" spc="17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750" spc="55" dirty="0">
                <a:solidFill>
                  <a:srgbClr val="212121"/>
                </a:solidFill>
                <a:latin typeface="Calibri"/>
                <a:cs typeface="Calibri"/>
              </a:rPr>
              <a:t>in</a:t>
            </a:r>
            <a:r>
              <a:rPr sz="1750" spc="-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181818"/>
                </a:solidFill>
                <a:latin typeface="Calibri"/>
                <a:cs typeface="Calibri"/>
              </a:rPr>
              <a:t>dollars.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03513" y="2896758"/>
            <a:ext cx="7487284" cy="10287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13335">
              <a:lnSpc>
                <a:spcPct val="103200"/>
              </a:lnSpc>
              <a:spcBef>
                <a:spcPts val="70"/>
              </a:spcBef>
            </a:pP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Subsequently,</a:t>
            </a:r>
            <a:r>
              <a:rPr sz="1600" spc="114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data</a:t>
            </a:r>
            <a:r>
              <a:rPr sz="1600" spc="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sz="1600" spc="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which</a:t>
            </a:r>
            <a:r>
              <a:rPr sz="1600" spc="-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you</a:t>
            </a:r>
            <a:r>
              <a:rPr sz="1600" spc="-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already</a:t>
            </a:r>
            <a:r>
              <a:rPr sz="1600" spc="6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know</a:t>
            </a:r>
            <a:r>
              <a:rPr sz="1600" spc="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answer</a:t>
            </a:r>
            <a:r>
              <a:rPr sz="1600" spc="10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D2D2D"/>
                </a:solidFill>
                <a:latin typeface="Arial MT"/>
                <a:cs typeface="Arial MT"/>
              </a:rPr>
              <a:t>is</a:t>
            </a:r>
            <a:r>
              <a:rPr sz="1600" spc="-3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called</a:t>
            </a:r>
            <a:r>
              <a:rPr sz="1600" spc="8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labeled</a:t>
            </a:r>
            <a:r>
              <a:rPr sz="1600" spc="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81818"/>
                </a:solidFill>
                <a:latin typeface="Arial MT"/>
                <a:cs typeface="Arial MT"/>
              </a:rPr>
              <a:t>data.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The</a:t>
            </a:r>
            <a:r>
              <a:rPr sz="1600" spc="7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i="1" dirty="0">
                <a:solidFill>
                  <a:srgbClr val="0E0E0E"/>
                </a:solidFill>
                <a:latin typeface="Arial"/>
                <a:cs typeface="Arial"/>
              </a:rPr>
              <a:t>label</a:t>
            </a:r>
            <a:r>
              <a:rPr sz="1600" i="1" spc="105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is</a:t>
            </a:r>
            <a:r>
              <a:rPr sz="1600" spc="-8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51515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answer</a:t>
            </a:r>
            <a:r>
              <a:rPr sz="1600" spc="9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232323"/>
                </a:solidFill>
                <a:latin typeface="Arial MT"/>
                <a:cs typeface="Arial MT"/>
              </a:rPr>
              <a:t>that</a:t>
            </a:r>
            <a:r>
              <a:rPr sz="1600" spc="6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you</a:t>
            </a:r>
            <a:r>
              <a:rPr sz="16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want</a:t>
            </a:r>
            <a:r>
              <a:rPr sz="1600" spc="8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your</a:t>
            </a:r>
            <a:r>
              <a:rPr sz="1600" spc="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D1D1D"/>
                </a:solidFill>
                <a:latin typeface="Arial MT"/>
                <a:cs typeface="Arial MT"/>
              </a:rPr>
              <a:t>model</a:t>
            </a:r>
            <a:r>
              <a:rPr sz="1600" spc="-16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to</a:t>
            </a:r>
            <a:r>
              <a:rPr sz="1600" spc="10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predict.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2A2A2A"/>
                </a:solidFill>
                <a:latin typeface="Arial MT"/>
                <a:cs typeface="Arial MT"/>
              </a:rPr>
              <a:t>So</a:t>
            </a:r>
            <a:r>
              <a:rPr sz="16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sz="1600" spc="2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credit</a:t>
            </a:r>
            <a:r>
              <a:rPr sz="1600" spc="-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D1D1D"/>
                </a:solidFill>
                <a:latin typeface="Arial MT"/>
                <a:cs typeface="Arial MT"/>
              </a:rPr>
              <a:t>card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transaction</a:t>
            </a:r>
            <a:r>
              <a:rPr sz="1600" spc="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example,</a:t>
            </a:r>
            <a:r>
              <a:rPr sz="1600" spc="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51515"/>
                </a:solidFill>
                <a:latin typeface="Arial MT"/>
                <a:cs typeface="Arial MT"/>
              </a:rPr>
              <a:t>the</a:t>
            </a:r>
            <a:r>
              <a:rPr sz="1600" spc="-5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label</a:t>
            </a:r>
            <a:r>
              <a:rPr sz="1600" spc="-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F1F1F"/>
                </a:solidFill>
                <a:latin typeface="Arial MT"/>
                <a:cs typeface="Arial MT"/>
              </a:rPr>
              <a:t>of</a:t>
            </a:r>
            <a:r>
              <a:rPr sz="1600" spc="6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any</a:t>
            </a:r>
            <a:r>
              <a:rPr sz="1600" spc="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given</a:t>
            </a:r>
            <a:r>
              <a:rPr sz="1600" spc="10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observation</a:t>
            </a:r>
            <a:r>
              <a:rPr sz="1600" spc="17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is</a:t>
            </a:r>
            <a:r>
              <a:rPr sz="160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either</a:t>
            </a:r>
            <a:r>
              <a:rPr sz="1600" spc="15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11111"/>
                </a:solidFill>
                <a:latin typeface="Arial MT"/>
                <a:cs typeface="Arial MT"/>
              </a:rPr>
              <a:t>"fraud“</a:t>
            </a:r>
            <a:r>
              <a:rPr sz="1600" spc="9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or</a:t>
            </a:r>
            <a:r>
              <a:rPr sz="16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81818"/>
                </a:solidFill>
                <a:latin typeface="Arial MT"/>
                <a:cs typeface="Arial MT"/>
              </a:rPr>
              <a:t>“not </a:t>
            </a:r>
            <a:r>
              <a:rPr sz="1600" spc="-10" dirty="0">
                <a:latin typeface="Arial MT"/>
                <a:cs typeface="Arial MT"/>
              </a:rPr>
              <a:t>fraud."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1244" y="4529164"/>
            <a:ext cx="4564968" cy="13405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81708" y="4574451"/>
            <a:ext cx="1503541" cy="141296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89103" y="252532"/>
            <a:ext cx="1633855" cy="0"/>
          </a:xfrm>
          <a:custGeom>
            <a:avLst/>
            <a:gdLst/>
            <a:ahLst/>
            <a:cxnLst/>
            <a:rect l="l" t="t" r="r" b="b"/>
            <a:pathLst>
              <a:path w="1633855">
                <a:moveTo>
                  <a:pt x="0" y="0"/>
                </a:moveTo>
                <a:lnTo>
                  <a:pt x="1633365" y="0"/>
                </a:lnTo>
              </a:path>
            </a:pathLst>
          </a:custGeom>
          <a:ln w="21134">
            <a:solidFill>
              <a:srgbClr val="EF64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0781" y="1114501"/>
            <a:ext cx="3224530" cy="589280"/>
          </a:xfrm>
          <a:prstGeom prst="rect">
            <a:avLst/>
          </a:prstGeom>
          <a:solidFill>
            <a:srgbClr val="004F75"/>
          </a:solidFill>
        </p:spPr>
        <p:txBody>
          <a:bodyPr vert="horz" wrap="square" lIns="0" tIns="127000" rIns="0" bIns="0" rtlCol="0">
            <a:spAutoFit/>
          </a:bodyPr>
          <a:lstStyle/>
          <a:p>
            <a:pPr marL="542290">
              <a:lnSpc>
                <a:spcPct val="100000"/>
              </a:lnSpc>
              <a:spcBef>
                <a:spcPts val="1000"/>
              </a:spcBef>
            </a:pP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Understand</a:t>
            </a:r>
            <a:r>
              <a:rPr sz="18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0781" y="1820983"/>
            <a:ext cx="3224530" cy="625475"/>
          </a:xfrm>
          <a:prstGeom prst="rect">
            <a:avLst/>
          </a:prstGeom>
          <a:solidFill>
            <a:srgbClr val="13364B"/>
          </a:solidFill>
        </p:spPr>
        <p:txBody>
          <a:bodyPr vert="horz" wrap="square" lIns="0" tIns="166370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1310"/>
              </a:spcBef>
            </a:pPr>
            <a:r>
              <a:rPr sz="1900" spc="-50" dirty="0">
                <a:solidFill>
                  <a:srgbClr val="164B5D"/>
                </a:solidFill>
                <a:latin typeface="Arial MT"/>
                <a:cs typeface="Arial MT"/>
              </a:rPr>
              <a:t>Get</a:t>
            </a:r>
            <a:r>
              <a:rPr sz="1900" spc="-85" dirty="0">
                <a:solidFill>
                  <a:srgbClr val="164B5D"/>
                </a:solidFill>
                <a:latin typeface="Arial MT"/>
                <a:cs typeface="Arial MT"/>
              </a:rPr>
              <a:t> </a:t>
            </a:r>
            <a:r>
              <a:rPr sz="1900" spc="-270" dirty="0">
                <a:solidFill>
                  <a:srgbClr val="7EACC3"/>
                </a:solidFill>
                <a:latin typeface="Arial MT"/>
                <a:cs typeface="Arial MT"/>
              </a:rPr>
              <a:t>a</a:t>
            </a:r>
            <a:r>
              <a:rPr sz="1900" spc="95" dirty="0">
                <a:solidFill>
                  <a:srgbClr val="7EACC3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074460"/>
                </a:solidFill>
                <a:latin typeface="Arial MT"/>
                <a:cs typeface="Arial MT"/>
              </a:rPr>
              <a:t>domain</a:t>
            </a:r>
            <a:r>
              <a:rPr sz="1900" spc="-70" dirty="0">
                <a:solidFill>
                  <a:srgbClr val="07446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14F64"/>
                </a:solidFill>
                <a:latin typeface="Arial MT"/>
                <a:cs typeface="Arial MT"/>
              </a:rPr>
              <a:t>expert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0781" y="2608982"/>
            <a:ext cx="3224530" cy="598170"/>
          </a:xfrm>
          <a:prstGeom prst="rect">
            <a:avLst/>
          </a:prstGeom>
          <a:solidFill>
            <a:srgbClr val="2D545E"/>
          </a:solidFill>
        </p:spPr>
        <p:txBody>
          <a:bodyPr vert="horz" wrap="square" lIns="0" tIns="114300" rIns="0" bIns="0" rtlCol="0">
            <a:spAutoFit/>
          </a:bodyPr>
          <a:lstStyle/>
          <a:p>
            <a:pPr marL="504825">
              <a:lnSpc>
                <a:spcPct val="100000"/>
              </a:lnSpc>
              <a:spcBef>
                <a:spcPts val="900"/>
              </a:spcBef>
            </a:pPr>
            <a:r>
              <a:rPr sz="1950" spc="-70" dirty="0">
                <a:solidFill>
                  <a:srgbClr val="FFFFFF"/>
                </a:solidFill>
                <a:latin typeface="Arial MT"/>
                <a:cs typeface="Arial MT"/>
              </a:rPr>
              <a:t>Evaluate</a:t>
            </a:r>
            <a:r>
              <a:rPr sz="19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40" dirty="0">
                <a:solidFill>
                  <a:srgbClr val="85A1B6"/>
                </a:solidFill>
                <a:latin typeface="Arial MT"/>
                <a:cs typeface="Arial MT"/>
              </a:rPr>
              <a:t>data</a:t>
            </a:r>
            <a:r>
              <a:rPr sz="1950" spc="-80" dirty="0">
                <a:solidFill>
                  <a:srgbClr val="85A1B6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B5E4F9"/>
                </a:solidFill>
                <a:latin typeface="Arial MT"/>
                <a:cs typeface="Arial MT"/>
              </a:rPr>
              <a:t>quality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0781" y="3342636"/>
            <a:ext cx="3224530" cy="615950"/>
          </a:xfrm>
          <a:prstGeom prst="rect">
            <a:avLst/>
          </a:prstGeom>
          <a:solidFill>
            <a:srgbClr val="0C3D59"/>
          </a:solidFill>
        </p:spPr>
        <p:txBody>
          <a:bodyPr vert="horz" wrap="square" lIns="0" tIns="154305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215"/>
              </a:spcBef>
            </a:pPr>
            <a:r>
              <a:rPr sz="1850" dirty="0">
                <a:solidFill>
                  <a:srgbClr val="BFE8FF"/>
                </a:solidFill>
                <a:latin typeface="Arial MT"/>
                <a:cs typeface="Arial MT"/>
              </a:rPr>
              <a:t>Identify</a:t>
            </a:r>
            <a:r>
              <a:rPr sz="1850" spc="95" dirty="0">
                <a:solidFill>
                  <a:srgbClr val="BFE8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D8FFFF"/>
                </a:solidFill>
                <a:latin typeface="Arial MT"/>
                <a:cs typeface="Arial MT"/>
              </a:rPr>
              <a:t>features</a:t>
            </a:r>
            <a:r>
              <a:rPr sz="1850" spc="175" dirty="0">
                <a:solidFill>
                  <a:srgbClr val="D8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548295"/>
                </a:solidFill>
                <a:latin typeface="Arial MT"/>
                <a:cs typeface="Arial MT"/>
              </a:rPr>
              <a:t>and</a:t>
            </a:r>
            <a:r>
              <a:rPr sz="1850" spc="75" dirty="0">
                <a:solidFill>
                  <a:srgbClr val="548295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367790"/>
                </a:solidFill>
                <a:latin typeface="Arial MT"/>
                <a:cs typeface="Arial MT"/>
              </a:rPr>
              <a:t>labels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1724" y="4112520"/>
            <a:ext cx="3234055" cy="589280"/>
          </a:xfrm>
          <a:prstGeom prst="rect">
            <a:avLst/>
          </a:prstGeom>
          <a:solidFill>
            <a:srgbClr val="7C1A4D"/>
          </a:solidFill>
        </p:spPr>
        <p:txBody>
          <a:bodyPr vert="horz" wrap="square" lIns="0" tIns="133350" rIns="0" bIns="0" rtlCol="0">
            <a:spAutoFit/>
          </a:bodyPr>
          <a:lstStyle/>
          <a:p>
            <a:pPr marL="186055">
              <a:lnSpc>
                <a:spcPct val="100000"/>
              </a:lnSpc>
              <a:spcBef>
                <a:spcPts val="1050"/>
              </a:spcBef>
            </a:pPr>
            <a:r>
              <a:rPr sz="1800" spc="55" dirty="0">
                <a:solidFill>
                  <a:srgbClr val="FFD6FF"/>
                </a:solidFill>
                <a:latin typeface="Arial MT"/>
                <a:cs typeface="Arial MT"/>
              </a:rPr>
              <a:t>Identify</a:t>
            </a:r>
            <a:r>
              <a:rPr sz="1800" spc="75" dirty="0">
                <a:solidFill>
                  <a:srgbClr val="FFD6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F6BA5"/>
                </a:solidFill>
                <a:latin typeface="Arial MT"/>
                <a:cs typeface="Arial MT"/>
              </a:rPr>
              <a:t>labeled</a:t>
            </a:r>
            <a:r>
              <a:rPr sz="1800" spc="135" dirty="0">
                <a:solidFill>
                  <a:srgbClr val="BF6BA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E49AD4"/>
                </a:solidFill>
                <a:latin typeface="Arial MT"/>
                <a:cs typeface="Arial MT"/>
              </a:rPr>
              <a:t>data</a:t>
            </a:r>
            <a:r>
              <a:rPr sz="1800" spc="80" dirty="0">
                <a:solidFill>
                  <a:srgbClr val="E49AD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A71A62"/>
                </a:solidFill>
                <a:latin typeface="Arial MT"/>
                <a:cs typeface="Arial MT"/>
              </a:rPr>
              <a:t>needs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30"/>
              </a:spcBef>
            </a:pPr>
            <a:r>
              <a:rPr sz="2150" spc="780" dirty="0">
                <a:solidFill>
                  <a:srgbClr val="1C1C1C"/>
                </a:solidFill>
                <a:latin typeface="Arial MT"/>
                <a:cs typeface="Arial MT"/>
              </a:rPr>
              <a:t>atDo</a:t>
            </a:r>
            <a:r>
              <a:rPr sz="2150" spc="7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150" spc="65" dirty="0">
                <a:solidFill>
                  <a:srgbClr val="181818"/>
                </a:solidFill>
                <a:latin typeface="Arial MT"/>
                <a:cs typeface="Arial MT"/>
              </a:rPr>
              <a:t>siderations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8666" y="1098026"/>
            <a:ext cx="3293110" cy="2749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Do</a:t>
            </a:r>
            <a:r>
              <a:rPr sz="1600" spc="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latin typeface="Arial MT"/>
                <a:cs typeface="Arial MT"/>
              </a:rPr>
              <a:t>you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need</a:t>
            </a:r>
            <a:r>
              <a:rPr sz="1600" spc="1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a</a:t>
            </a:r>
            <a:r>
              <a:rPr sz="1600" spc="-1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lot</a:t>
            </a:r>
            <a:r>
              <a:rPr sz="1600" spc="4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F1F1F"/>
                </a:solidFill>
                <a:latin typeface="Arial MT"/>
                <a:cs typeface="Arial MT"/>
              </a:rPr>
              <a:t>of</a:t>
            </a:r>
            <a:r>
              <a:rPr sz="1600" spc="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61616"/>
                </a:solidFill>
                <a:latin typeface="Arial MT"/>
                <a:cs typeface="Arial MT"/>
              </a:rPr>
              <a:t>labeled</a:t>
            </a:r>
            <a:r>
              <a:rPr sz="1600" spc="-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E0E0E"/>
                </a:solidFill>
                <a:latin typeface="Arial MT"/>
                <a:cs typeface="Arial MT"/>
              </a:rPr>
              <a:t>data?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27516" y="1614303"/>
            <a:ext cx="7421245" cy="78676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17145" algn="just">
              <a:lnSpc>
                <a:spcPct val="104900"/>
              </a:lnSpc>
              <a:spcBef>
                <a:spcPts val="40"/>
              </a:spcBef>
            </a:pPr>
            <a:r>
              <a:rPr sz="1600" spc="-125" dirty="0">
                <a:solidFill>
                  <a:srgbClr val="2A2A2A"/>
                </a:solidFill>
                <a:latin typeface="Arial MT"/>
                <a:cs typeface="Arial MT"/>
              </a:rPr>
              <a:t>/•1any</a:t>
            </a:r>
            <a:r>
              <a:rPr sz="1600" spc="1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of</a:t>
            </a:r>
            <a:r>
              <a:rPr sz="1600" spc="34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examples</a:t>
            </a:r>
            <a:r>
              <a:rPr sz="1600" spc="6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sz="16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you've</a:t>
            </a:r>
            <a:r>
              <a:rPr sz="1600" spc="3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45" dirty="0">
                <a:solidFill>
                  <a:srgbClr val="131313"/>
                </a:solidFill>
                <a:latin typeface="Arial MT"/>
                <a:cs typeface="Arial MT"/>
              </a:rPr>
              <a:t>seen</a:t>
            </a:r>
            <a:r>
              <a:rPr sz="1600" spc="-4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so</a:t>
            </a:r>
            <a:r>
              <a:rPr sz="1600" spc="-5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far</a:t>
            </a:r>
            <a:r>
              <a:rPr sz="1600" spc="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represent</a:t>
            </a:r>
            <a:r>
              <a:rPr sz="1600" spc="5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supervised</a:t>
            </a:r>
            <a:r>
              <a:rPr sz="1600" spc="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learning</a:t>
            </a:r>
            <a:r>
              <a:rPr sz="1600" spc="8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51515"/>
                </a:solidFill>
                <a:latin typeface="Arial MT"/>
                <a:cs typeface="Arial MT"/>
              </a:rPr>
              <a:t>and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therefore</a:t>
            </a:r>
            <a:r>
              <a:rPr sz="1600" spc="12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include</a:t>
            </a:r>
            <a:r>
              <a:rPr sz="1600" spc="8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labeled</a:t>
            </a:r>
            <a:r>
              <a:rPr sz="1600" spc="1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data.</a:t>
            </a:r>
            <a:r>
              <a:rPr sz="1600" spc="-3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But</a:t>
            </a:r>
            <a:r>
              <a:rPr sz="1600" spc="1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what</a:t>
            </a:r>
            <a:r>
              <a:rPr sz="1600" spc="4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D2D2D"/>
                </a:solidFill>
                <a:latin typeface="Arial MT"/>
                <a:cs typeface="Arial MT"/>
              </a:rPr>
              <a:t>if</a:t>
            </a:r>
            <a:r>
              <a:rPr sz="1600" spc="30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you</a:t>
            </a:r>
            <a:r>
              <a:rPr sz="1600" spc="5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D1D1D"/>
                </a:solidFill>
                <a:latin typeface="Arial MT"/>
                <a:cs typeface="Arial MT"/>
              </a:rPr>
              <a:t>don‘t</a:t>
            </a:r>
            <a:r>
              <a:rPr sz="1600" spc="1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F0F0F"/>
                </a:solidFill>
                <a:latin typeface="Arial MT"/>
                <a:cs typeface="Arial MT"/>
              </a:rPr>
              <a:t>have</a:t>
            </a:r>
            <a:r>
              <a:rPr sz="1600" spc="9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labeled</a:t>
            </a:r>
            <a:r>
              <a:rPr sz="1600" spc="10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data?</a:t>
            </a:r>
            <a:r>
              <a:rPr sz="1600" spc="4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2D2D2D"/>
                </a:solidFill>
                <a:latin typeface="Arial MT"/>
                <a:cs typeface="Arial MT"/>
              </a:rPr>
              <a:t>in</a:t>
            </a:r>
            <a:r>
              <a:rPr sz="160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82828"/>
                </a:solidFill>
                <a:latin typeface="Arial MT"/>
                <a:cs typeface="Arial MT"/>
              </a:rPr>
              <a:t>some </a:t>
            </a:r>
            <a:r>
              <a:rPr sz="1600" spc="-65" dirty="0">
                <a:solidFill>
                  <a:srgbClr val="262626"/>
                </a:solidFill>
                <a:latin typeface="Arial MT"/>
                <a:cs typeface="Arial MT"/>
              </a:rPr>
              <a:t>cases,</a:t>
            </a:r>
            <a:r>
              <a:rPr sz="1600" spc="10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0C0C0C"/>
                </a:solidFill>
                <a:latin typeface="Arial MT"/>
                <a:cs typeface="Arial MT"/>
              </a:rPr>
              <a:t>getting</a:t>
            </a:r>
            <a:r>
              <a:rPr sz="1600" spc="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labeled</a:t>
            </a:r>
            <a:r>
              <a:rPr sz="1600" spc="4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sz="16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31313"/>
                </a:solidFill>
                <a:latin typeface="Arial MT"/>
                <a:cs typeface="Arial MT"/>
              </a:rPr>
              <a:t>that</a:t>
            </a:r>
            <a:r>
              <a:rPr sz="1600" spc="-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you</a:t>
            </a:r>
            <a:r>
              <a:rPr sz="1600" spc="-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need</a:t>
            </a:r>
            <a:r>
              <a:rPr sz="1600" spc="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sz="1600" spc="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be</a:t>
            </a:r>
            <a:r>
              <a:rPr sz="1600" spc="-5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 MT"/>
                <a:cs typeface="Arial MT"/>
              </a:rPr>
              <a:t>arduous.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7668" y="2616158"/>
            <a:ext cx="7479665" cy="1313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5715">
              <a:lnSpc>
                <a:spcPct val="101000"/>
              </a:lnSpc>
              <a:spcBef>
                <a:spcPts val="110"/>
              </a:spcBef>
            </a:pPr>
            <a:r>
              <a:rPr sz="1700" spc="-65" dirty="0">
                <a:latin typeface="Arial MT"/>
                <a:cs typeface="Arial MT"/>
              </a:rPr>
              <a:t>Consider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sz="1700" spc="-1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120" dirty="0">
                <a:solidFill>
                  <a:srgbClr val="2B2B2B"/>
                </a:solidFill>
                <a:latin typeface="Arial MT"/>
                <a:cs typeface="Arial MT"/>
              </a:rPr>
              <a:t>use</a:t>
            </a:r>
            <a:r>
              <a:rPr sz="170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700" spc="-155" dirty="0">
                <a:solidFill>
                  <a:srgbClr val="181818"/>
                </a:solidFill>
                <a:latin typeface="Arial MT"/>
                <a:cs typeface="Arial MT"/>
              </a:rPr>
              <a:t>case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of</a:t>
            </a:r>
            <a:r>
              <a:rPr sz="1700" spc="-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latin typeface="Arial MT"/>
                <a:cs typeface="Arial MT"/>
              </a:rPr>
              <a:t>autonomous</a:t>
            </a:r>
            <a:r>
              <a:rPr sz="1700" spc="40" dirty="0"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31313"/>
                </a:solidFill>
                <a:latin typeface="Arial MT"/>
                <a:cs typeface="Arial MT"/>
              </a:rPr>
              <a:t>driving.</a:t>
            </a:r>
            <a:r>
              <a:rPr sz="1700" spc="-8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11111"/>
                </a:solidFill>
                <a:latin typeface="Arial MT"/>
                <a:cs typeface="Arial MT"/>
              </a:rPr>
              <a:t>image</a:t>
            </a:r>
            <a:r>
              <a:rPr sz="170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r>
              <a:rPr sz="17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must</a:t>
            </a:r>
            <a:r>
              <a:rPr sz="17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181818"/>
                </a:solidFill>
                <a:latin typeface="Arial MT"/>
                <a:cs typeface="Arial MT"/>
              </a:rPr>
              <a:t>be</a:t>
            </a:r>
            <a:r>
              <a:rPr sz="17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111"/>
                </a:solidFill>
                <a:latin typeface="Arial MT"/>
                <a:cs typeface="Arial MT"/>
              </a:rPr>
              <a:t>precisely </a:t>
            </a:r>
            <a:r>
              <a:rPr sz="1650" dirty="0">
                <a:solidFill>
                  <a:srgbClr val="1A1A1A"/>
                </a:solidFill>
                <a:latin typeface="Arial MT"/>
                <a:cs typeface="Arial MT"/>
              </a:rPr>
              <a:t>labeled </a:t>
            </a:r>
            <a:r>
              <a:rPr sz="1650" dirty="0">
                <a:solidFill>
                  <a:srgbClr val="0F0F0F"/>
                </a:solidFill>
                <a:latin typeface="Arial MT"/>
                <a:cs typeface="Arial MT"/>
              </a:rPr>
              <a:t>with</a:t>
            </a:r>
            <a:r>
              <a:rPr sz="1650" spc="1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212121"/>
                </a:solidFill>
                <a:latin typeface="Arial MT"/>
                <a:cs typeface="Arial MT"/>
              </a:rPr>
              <a:t>where</a:t>
            </a:r>
            <a:r>
              <a:rPr sz="165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E0E0E"/>
                </a:solidFill>
                <a:latin typeface="Arial MT"/>
                <a:cs typeface="Arial MT"/>
              </a:rPr>
              <a:t>exactly</a:t>
            </a:r>
            <a:r>
              <a:rPr sz="1650" spc="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sz="1650" spc="-7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50" spc="-20" dirty="0">
                <a:solidFill>
                  <a:srgbClr val="232323"/>
                </a:solidFill>
                <a:latin typeface="Arial MT"/>
                <a:cs typeface="Arial MT"/>
              </a:rPr>
              <a:t>car</a:t>
            </a:r>
            <a:r>
              <a:rPr sz="165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62626"/>
                </a:solidFill>
                <a:latin typeface="Arial MT"/>
                <a:cs typeface="Arial MT"/>
              </a:rPr>
              <a:t>is</a:t>
            </a:r>
            <a:r>
              <a:rPr sz="1650" spc="-7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32323"/>
                </a:solidFill>
                <a:latin typeface="Arial MT"/>
                <a:cs typeface="Arial MT"/>
              </a:rPr>
              <a:t>at</a:t>
            </a:r>
            <a:r>
              <a:rPr sz="1650" spc="-9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F1F1F"/>
                </a:solidFill>
                <a:latin typeface="Arial MT"/>
                <a:cs typeface="Arial MT"/>
              </a:rPr>
              <a:t>any</a:t>
            </a:r>
            <a:r>
              <a:rPr sz="1650" spc="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1A1A1A"/>
                </a:solidFill>
                <a:latin typeface="Arial MT"/>
                <a:cs typeface="Arial MT"/>
              </a:rPr>
              <a:t>given</a:t>
            </a:r>
            <a:r>
              <a:rPr sz="165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81818"/>
                </a:solidFill>
                <a:latin typeface="Arial MT"/>
                <a:cs typeface="Arial MT"/>
              </a:rPr>
              <a:t>moment.</a:t>
            </a:r>
            <a:r>
              <a:rPr sz="1650" spc="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50" spc="-30" dirty="0">
                <a:solidFill>
                  <a:srgbClr val="1F1F1F"/>
                </a:solidFill>
                <a:latin typeface="Arial MT"/>
                <a:cs typeface="Arial MT"/>
              </a:rPr>
              <a:t>Labels</a:t>
            </a:r>
            <a:r>
              <a:rPr sz="1650" spc="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50" spc="-35" dirty="0">
                <a:solidFill>
                  <a:srgbClr val="262626"/>
                </a:solidFill>
                <a:latin typeface="Arial MT"/>
                <a:cs typeface="Arial MT"/>
              </a:rPr>
              <a:t>atso</a:t>
            </a:r>
            <a:r>
              <a:rPr sz="1650" spc="-1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50" spc="-20" dirty="0">
                <a:solidFill>
                  <a:srgbClr val="1A1A1A"/>
                </a:solidFill>
                <a:latin typeface="Arial MT"/>
                <a:cs typeface="Arial MT"/>
              </a:rPr>
              <a:t>must </a:t>
            </a:r>
            <a:r>
              <a:rPr sz="1650" dirty="0">
                <a:solidFill>
                  <a:srgbClr val="111111"/>
                </a:solidFill>
                <a:latin typeface="Arial MT"/>
                <a:cs typeface="Arial MT"/>
              </a:rPr>
              <a:t>include</a:t>
            </a:r>
            <a:r>
              <a:rPr sz="1650" spc="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1A1A1A"/>
                </a:solidFill>
                <a:latin typeface="Arial MT"/>
                <a:cs typeface="Arial MT"/>
              </a:rPr>
              <a:t>where</a:t>
            </a:r>
            <a:r>
              <a:rPr sz="1650" spc="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1650" spc="1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50" spc="-75" dirty="0">
                <a:solidFill>
                  <a:srgbClr val="1A1A1A"/>
                </a:solidFill>
                <a:latin typeface="Arial MT"/>
                <a:cs typeface="Arial MT"/>
              </a:rPr>
              <a:t>car</a:t>
            </a:r>
            <a:r>
              <a:rPr sz="16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50" spc="50" dirty="0">
                <a:solidFill>
                  <a:srgbClr val="1A1A1A"/>
                </a:solidFill>
                <a:latin typeface="Arial MT"/>
                <a:cs typeface="Arial MT"/>
              </a:rPr>
              <a:t>might</a:t>
            </a:r>
            <a:r>
              <a:rPr sz="1650" spc="-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32323"/>
                </a:solidFill>
                <a:latin typeface="Arial MT"/>
                <a:cs typeface="Arial MT"/>
              </a:rPr>
              <a:t>be</a:t>
            </a:r>
            <a:r>
              <a:rPr sz="165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11111"/>
                </a:solidFill>
                <a:latin typeface="Arial MT"/>
                <a:cs typeface="Arial MT"/>
              </a:rPr>
              <a:t>relative</a:t>
            </a:r>
            <a:r>
              <a:rPr sz="1650" spc="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D1D1D"/>
                </a:solidFill>
                <a:latin typeface="Arial MT"/>
                <a:cs typeface="Arial MT"/>
              </a:rPr>
              <a:t>to</a:t>
            </a:r>
            <a:r>
              <a:rPr sz="1650" spc="1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50" spc="-20" dirty="0">
                <a:solidFill>
                  <a:srgbClr val="161616"/>
                </a:solidFill>
                <a:latin typeface="Arial MT"/>
                <a:cs typeface="Arial MT"/>
              </a:rPr>
              <a:t>some</a:t>
            </a:r>
            <a:r>
              <a:rPr sz="1650" spc="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A1A1A"/>
                </a:solidFill>
                <a:latin typeface="Arial MT"/>
                <a:cs typeface="Arial MT"/>
              </a:rPr>
              <a:t>other</a:t>
            </a:r>
            <a:r>
              <a:rPr sz="165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F1F1F"/>
                </a:solidFill>
                <a:latin typeface="Arial MT"/>
                <a:cs typeface="Arial MT"/>
              </a:rPr>
              <a:t>object</a:t>
            </a:r>
            <a:r>
              <a:rPr sz="1650" spc="-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C0C0C"/>
                </a:solidFill>
                <a:latin typeface="Arial MT"/>
                <a:cs typeface="Arial MT"/>
              </a:rPr>
              <a:t>like</a:t>
            </a:r>
            <a:r>
              <a:rPr sz="1650" spc="-1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1650" spc="-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151515"/>
                </a:solidFill>
                <a:latin typeface="Arial MT"/>
                <a:cs typeface="Arial MT"/>
              </a:rPr>
              <a:t>road,</a:t>
            </a:r>
            <a:r>
              <a:rPr sz="1650" spc="-3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50" spc="-50" dirty="0">
                <a:solidFill>
                  <a:srgbClr val="313131"/>
                </a:solidFill>
                <a:latin typeface="Arial MT"/>
                <a:cs typeface="Arial MT"/>
              </a:rPr>
              <a:t>a </a:t>
            </a:r>
            <a:r>
              <a:rPr sz="1650" dirty="0">
                <a:solidFill>
                  <a:srgbClr val="0F0F0F"/>
                </a:solidFill>
                <a:latin typeface="Arial MT"/>
                <a:cs typeface="Arial MT"/>
              </a:rPr>
              <a:t>building,</a:t>
            </a:r>
            <a:r>
              <a:rPr sz="1650" spc="15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C1C1C"/>
                </a:solidFill>
                <a:latin typeface="Arial MT"/>
                <a:cs typeface="Arial MT"/>
              </a:rPr>
              <a:t>or</a:t>
            </a:r>
            <a:r>
              <a:rPr sz="1650" spc="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A2A2A"/>
                </a:solidFill>
                <a:latin typeface="Arial MT"/>
                <a:cs typeface="Arial MT"/>
              </a:rPr>
              <a:t>a</a:t>
            </a:r>
            <a:r>
              <a:rPr sz="1650" spc="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11111"/>
                </a:solidFill>
                <a:latin typeface="Arial MT"/>
                <a:cs typeface="Arial MT"/>
              </a:rPr>
              <a:t>road</a:t>
            </a:r>
            <a:r>
              <a:rPr sz="1650" spc="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1F1F1F"/>
                </a:solidFill>
                <a:latin typeface="Arial MT"/>
                <a:cs typeface="Arial MT"/>
              </a:rPr>
              <a:t>sign.</a:t>
            </a:r>
            <a:r>
              <a:rPr sz="1650" spc="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F0F0F"/>
                </a:solidFill>
                <a:latin typeface="Arial MT"/>
                <a:cs typeface="Arial MT"/>
              </a:rPr>
              <a:t>Without</a:t>
            </a:r>
            <a:r>
              <a:rPr sz="1650" spc="1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51515"/>
                </a:solidFill>
                <a:latin typeface="Arial MT"/>
                <a:cs typeface="Arial MT"/>
              </a:rPr>
              <a:t>this</a:t>
            </a:r>
            <a:r>
              <a:rPr sz="1650" spc="-7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D1D1D"/>
                </a:solidFill>
                <a:latin typeface="Arial MT"/>
                <a:cs typeface="Arial MT"/>
              </a:rPr>
              <a:t>labeling,</a:t>
            </a:r>
            <a:r>
              <a:rPr sz="1650" spc="9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D1D1D"/>
                </a:solidFill>
                <a:latin typeface="Arial MT"/>
                <a:cs typeface="Arial MT"/>
              </a:rPr>
              <a:t>the</a:t>
            </a:r>
            <a:r>
              <a:rPr sz="1650" spc="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F1F1F"/>
                </a:solidFill>
                <a:latin typeface="Arial MT"/>
                <a:cs typeface="Arial MT"/>
              </a:rPr>
              <a:t>trained model</a:t>
            </a:r>
            <a:r>
              <a:rPr sz="165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11111"/>
                </a:solidFill>
                <a:latin typeface="Arial MT"/>
                <a:cs typeface="Arial MT"/>
              </a:rPr>
              <a:t>would</a:t>
            </a:r>
            <a:r>
              <a:rPr sz="1650" spc="7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C0C0C"/>
                </a:solidFill>
                <a:latin typeface="Arial MT"/>
                <a:cs typeface="Arial MT"/>
              </a:rPr>
              <a:t>not</a:t>
            </a:r>
            <a:r>
              <a:rPr sz="1650" spc="-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81818"/>
                </a:solidFill>
                <a:latin typeface="Arial MT"/>
                <a:cs typeface="Arial MT"/>
              </a:rPr>
              <a:t>be</a:t>
            </a:r>
            <a:r>
              <a:rPr sz="1650" spc="-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50" spc="-25" dirty="0">
                <a:solidFill>
                  <a:srgbClr val="282828"/>
                </a:solidFill>
                <a:latin typeface="Arial MT"/>
                <a:cs typeface="Arial MT"/>
              </a:rPr>
              <a:t>as </a:t>
            </a:r>
            <a:r>
              <a:rPr sz="1700" spc="-65" dirty="0">
                <a:solidFill>
                  <a:srgbClr val="1A1A1A"/>
                </a:solidFill>
                <a:latin typeface="Arial MT"/>
                <a:cs typeface="Arial MT"/>
              </a:rPr>
              <a:t>accurate</a:t>
            </a:r>
            <a:r>
              <a:rPr sz="1700" spc="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51515"/>
                </a:solidFill>
                <a:latin typeface="Arial MT"/>
                <a:cs typeface="Arial MT"/>
              </a:rPr>
              <a:t>and</a:t>
            </a:r>
            <a:r>
              <a:rPr sz="1700" spc="-4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61616"/>
                </a:solidFill>
                <a:latin typeface="Arial MT"/>
                <a:cs typeface="Arial MT"/>
              </a:rPr>
              <a:t>could</a:t>
            </a:r>
            <a:r>
              <a:rPr sz="1700" spc="1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lead</a:t>
            </a:r>
            <a:r>
              <a:rPr sz="170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700" spc="-6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potentially</a:t>
            </a:r>
            <a:r>
              <a:rPr sz="1700" spc="10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fatal</a:t>
            </a:r>
            <a:r>
              <a:rPr sz="1700" spc="-9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0F0F"/>
                </a:solidFill>
                <a:latin typeface="Arial MT"/>
                <a:cs typeface="Arial MT"/>
              </a:rPr>
              <a:t>mistakes.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19204" y="4173035"/>
            <a:ext cx="6376035" cy="2749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spc="-10" dirty="0">
                <a:solidFill>
                  <a:srgbClr val="0E0E0E"/>
                </a:solidFill>
                <a:latin typeface="Arial MT"/>
                <a:cs typeface="Arial MT"/>
              </a:rPr>
              <a:t>Example:</a:t>
            </a:r>
            <a:r>
              <a:rPr sz="1600" spc="10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Training</a:t>
            </a:r>
            <a:r>
              <a:rPr sz="1600" spc="1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232323"/>
                </a:solidFill>
                <a:latin typeface="Arial MT"/>
                <a:cs typeface="Arial MT"/>
              </a:rPr>
              <a:t>for</a:t>
            </a:r>
            <a:r>
              <a:rPr sz="1600" spc="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autonomous</a:t>
            </a:r>
            <a:r>
              <a:rPr sz="1600" spc="18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driving</a:t>
            </a:r>
            <a:r>
              <a:rPr sz="1600" spc="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requires</a:t>
            </a:r>
            <a:r>
              <a:rPr sz="1600" spc="1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many</a:t>
            </a:r>
            <a:r>
              <a:rPr sz="1600" spc="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labels.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792321" y="4574331"/>
            <a:ext cx="432434" cy="2825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20" dirty="0">
                <a:solidFill>
                  <a:srgbClr val="181818"/>
                </a:solidFill>
                <a:latin typeface="Arial MT"/>
                <a:cs typeface="Arial MT"/>
              </a:rPr>
              <a:t>Sign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903853" y="5633048"/>
            <a:ext cx="48768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-20" dirty="0">
                <a:solidFill>
                  <a:srgbClr val="1D1D1D"/>
                </a:solidFill>
                <a:latin typeface="Arial MT"/>
                <a:cs typeface="Arial MT"/>
              </a:rPr>
              <a:t>Road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1238" y="1250007"/>
            <a:ext cx="9931118" cy="48112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656" y="206060"/>
            <a:ext cx="1652160" cy="6354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35"/>
              </a:spcBef>
            </a:pPr>
            <a:r>
              <a:rPr sz="2100" spc="50" dirty="0">
                <a:solidFill>
                  <a:srgbClr val="181818"/>
                </a:solidFill>
                <a:latin typeface="Arial MT"/>
                <a:cs typeface="Arial MT"/>
              </a:rPr>
              <a:t>Data</a:t>
            </a:r>
            <a:r>
              <a:rPr sz="2100" spc="1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100" spc="130" dirty="0">
                <a:solidFill>
                  <a:srgbClr val="131313"/>
                </a:solidFill>
                <a:latin typeface="Arial MT"/>
                <a:cs typeface="Arial MT"/>
              </a:rPr>
              <a:t>preparation</a:t>
            </a:r>
            <a:r>
              <a:rPr sz="2100" spc="26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100" spc="100" dirty="0">
                <a:solidFill>
                  <a:srgbClr val="1C1C1C"/>
                </a:solidFill>
                <a:latin typeface="Arial MT"/>
                <a:cs typeface="Arial MT"/>
              </a:rPr>
              <a:t>and</a:t>
            </a:r>
            <a:r>
              <a:rPr sz="2100" spc="1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100" spc="65" dirty="0">
                <a:solidFill>
                  <a:srgbClr val="0C0C0C"/>
                </a:solidFill>
                <a:latin typeface="Arial MT"/>
                <a:cs typeface="Arial MT"/>
              </a:rPr>
              <a:t>preprocessing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9700" y="4304597"/>
            <a:ext cx="1111885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35" dirty="0">
                <a:solidFill>
                  <a:srgbClr val="0F0F0F"/>
                </a:solidFill>
                <a:latin typeface="Arial MT"/>
                <a:cs typeface="Arial MT"/>
              </a:rPr>
              <a:t>Richard</a:t>
            </a:r>
            <a:r>
              <a:rPr sz="1650" spc="-7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50" spc="-80" dirty="0">
                <a:solidFill>
                  <a:srgbClr val="181818"/>
                </a:solidFill>
                <a:latin typeface="Arial MT"/>
                <a:cs typeface="Arial MT"/>
              </a:rPr>
              <a:t>Roe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0174" y="5206074"/>
            <a:ext cx="149542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80" dirty="0">
                <a:latin typeface="Arial MT"/>
                <a:cs typeface="Arial MT"/>
              </a:rPr>
              <a:t>Mrs.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31313"/>
                </a:solidFill>
                <a:latin typeface="Arial MT"/>
                <a:cs typeface="Arial MT"/>
              </a:rPr>
              <a:t>Mary</a:t>
            </a:r>
            <a:r>
              <a:rPr sz="1700" spc="-6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131313"/>
                </a:solidFill>
                <a:latin typeface="Arial MT"/>
                <a:cs typeface="Arial MT"/>
              </a:rPr>
              <a:t>Major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00212" y="4298293"/>
            <a:ext cx="28003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160" dirty="0">
                <a:solidFill>
                  <a:srgbClr val="232323"/>
                </a:solidFill>
                <a:latin typeface="Arial MT"/>
                <a:cs typeface="Arial MT"/>
              </a:rPr>
              <a:t>UK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00532" y="5206074"/>
            <a:ext cx="65849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85" dirty="0">
                <a:solidFill>
                  <a:srgbClr val="0A0A0A"/>
                </a:solidFill>
                <a:latin typeface="Arial MT"/>
                <a:cs typeface="Arial MT"/>
              </a:rPr>
              <a:t>Denver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13688" y="4291989"/>
            <a:ext cx="1035050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-80" dirty="0">
                <a:latin typeface="Consolas"/>
                <a:cs typeface="Consolas"/>
              </a:rPr>
              <a:t>18/2/1972</a:t>
            </a:r>
            <a:endParaRPr sz="1750">
              <a:latin typeface="Consolas"/>
              <a:cs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634" y="1908917"/>
            <a:ext cx="11372203" cy="420692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839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125"/>
              </a:spcBef>
            </a:pPr>
            <a:r>
              <a:rPr sz="2100" spc="70" dirty="0">
                <a:solidFill>
                  <a:srgbClr val="232323"/>
                </a:solidFill>
                <a:latin typeface="Arial MT"/>
                <a:cs typeface="Arial MT"/>
              </a:rPr>
              <a:t>Machine</a:t>
            </a:r>
            <a:r>
              <a:rPr sz="2100" spc="18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100" spc="114" dirty="0">
                <a:solidFill>
                  <a:srgbClr val="1F1F1F"/>
                </a:solidFill>
                <a:latin typeface="Arial MT"/>
                <a:cs typeface="Arial MT"/>
              </a:rPr>
              <a:t>learning</a:t>
            </a:r>
            <a:r>
              <a:rPr sz="2100" spc="1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100" spc="130" dirty="0">
                <a:latin typeface="Arial MT"/>
                <a:cs typeface="Arial MT"/>
              </a:rPr>
              <a:t>pipeline</a:t>
            </a:r>
            <a:r>
              <a:rPr sz="2100" spc="190" dirty="0">
                <a:latin typeface="Arial MT"/>
                <a:cs typeface="Arial MT"/>
              </a:rPr>
              <a:t> </a:t>
            </a:r>
            <a:r>
              <a:rPr sz="2100" spc="-1050" dirty="0">
                <a:solidFill>
                  <a:srgbClr val="2D2D2D"/>
                </a:solidFill>
                <a:latin typeface="Arial MT"/>
                <a:cs typeface="Arial MT"/>
              </a:rPr>
              <a:t>—</a:t>
            </a:r>
            <a:r>
              <a:rPr sz="2100" spc="4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100" spc="55" dirty="0">
                <a:solidFill>
                  <a:srgbClr val="1C1C1C"/>
                </a:solidFill>
                <a:latin typeface="Arial MT"/>
                <a:cs typeface="Arial MT"/>
              </a:rPr>
              <a:t>Feature</a:t>
            </a:r>
            <a:r>
              <a:rPr sz="2100" spc="1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100" spc="90" dirty="0">
                <a:solidFill>
                  <a:srgbClr val="212121"/>
                </a:solidFill>
                <a:latin typeface="Arial MT"/>
                <a:cs typeface="Arial MT"/>
              </a:rPr>
              <a:t>engineering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5319" y="1584091"/>
            <a:ext cx="162877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130" dirty="0">
                <a:solidFill>
                  <a:srgbClr val="1A1A1A"/>
                </a:solidFill>
                <a:latin typeface="Arial MT"/>
                <a:cs typeface="Arial MT"/>
              </a:rPr>
              <a:t>Business</a:t>
            </a:r>
            <a:r>
              <a:rPr sz="1750" spc="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2121"/>
                </a:solidFill>
                <a:latin typeface="Arial MT"/>
                <a:cs typeface="Arial MT"/>
              </a:rPr>
              <a:t>problem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0049" y="1584091"/>
            <a:ext cx="1891664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100" dirty="0">
                <a:solidFill>
                  <a:srgbClr val="0F0F0F"/>
                </a:solidFill>
                <a:latin typeface="Arial MT"/>
                <a:cs typeface="Arial MT"/>
              </a:rPr>
              <a:t>New</a:t>
            </a:r>
            <a:r>
              <a:rPr sz="1750" spc="-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latin typeface="Arial MT"/>
                <a:cs typeface="Arial MT"/>
              </a:rPr>
              <a:t>data,</a:t>
            </a:r>
            <a:r>
              <a:rPr sz="1750" spc="-45" dirty="0">
                <a:latin typeface="Arial MT"/>
                <a:cs typeface="Arial MT"/>
              </a:rPr>
              <a:t> </a:t>
            </a:r>
            <a:r>
              <a:rPr sz="1750" spc="-30" dirty="0">
                <a:latin typeface="Arial MT"/>
                <a:cs typeface="Arial MT"/>
              </a:rPr>
              <a:t>retraining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4148" y="5263520"/>
            <a:ext cx="3893185" cy="789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49120">
              <a:lnSpc>
                <a:spcPct val="100000"/>
              </a:lnSpc>
              <a:spcBef>
                <a:spcPts val="130"/>
              </a:spcBef>
            </a:pPr>
            <a:r>
              <a:rPr sz="1700" spc="-70" dirty="0">
                <a:solidFill>
                  <a:srgbClr val="161616"/>
                </a:solidFill>
                <a:latin typeface="Arial MT"/>
                <a:cs typeface="Arial MT"/>
              </a:rPr>
              <a:t>Feature</a:t>
            </a:r>
            <a:r>
              <a:rPr sz="1700" spc="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51515"/>
                </a:solidFill>
                <a:latin typeface="Arial MT"/>
                <a:cs typeface="Arial MT"/>
              </a:rPr>
              <a:t>augmentation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1800" spc="-120" dirty="0">
                <a:solidFill>
                  <a:srgbClr val="0F0F0F"/>
                </a:solidFill>
                <a:latin typeface="Arial MT"/>
                <a:cs typeface="Arial MT"/>
              </a:rPr>
              <a:t>Data</a:t>
            </a:r>
            <a:r>
              <a:rPr sz="1800" spc="-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C1C1C"/>
                </a:solidFill>
                <a:latin typeface="Arial MT"/>
                <a:cs typeface="Arial MT"/>
              </a:rPr>
              <a:t>augmentation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51622" y="3044202"/>
            <a:ext cx="31623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175" dirty="0">
                <a:solidFill>
                  <a:srgbClr val="242424"/>
                </a:solidFill>
                <a:latin typeface="Arial MT"/>
                <a:cs typeface="Arial MT"/>
              </a:rPr>
              <a:t>Yes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0238" y="3000865"/>
            <a:ext cx="9768504" cy="12255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42" y="216315"/>
            <a:ext cx="1640099" cy="720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3617" y="5262750"/>
            <a:ext cx="99126" cy="1441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93617" y="5704313"/>
            <a:ext cx="153196" cy="153195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114"/>
              </a:spcBef>
            </a:pPr>
            <a:r>
              <a:rPr dirty="0">
                <a:solidFill>
                  <a:srgbClr val="181818"/>
                </a:solidFill>
                <a:latin typeface="Arial MT"/>
                <a:cs typeface="Arial MT"/>
              </a:rPr>
              <a:t>Feature </a:t>
            </a:r>
            <a:r>
              <a:rPr spc="-10" dirty="0">
                <a:solidFill>
                  <a:srgbClr val="161616"/>
                </a:solidFill>
                <a:latin typeface="Arial MT"/>
                <a:cs typeface="Arial MT"/>
              </a:rPr>
              <a:t>engineering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6840" y="1204640"/>
            <a:ext cx="11108690" cy="1039494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5080">
              <a:lnSpc>
                <a:spcPct val="104700"/>
              </a:lnSpc>
              <a:spcBef>
                <a:spcPts val="35"/>
              </a:spcBef>
            </a:pPr>
            <a:r>
              <a:rPr sz="1600" spc="-10" dirty="0">
                <a:solidFill>
                  <a:srgbClr val="0A0A0A"/>
                </a:solidFill>
                <a:latin typeface="Arial MT"/>
                <a:cs typeface="Arial MT"/>
              </a:rPr>
              <a:t>Feature</a:t>
            </a:r>
            <a:r>
              <a:rPr sz="1600" spc="13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engineering</a:t>
            </a:r>
            <a:r>
              <a:rPr sz="1600" spc="18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is</a:t>
            </a:r>
            <a:r>
              <a:rPr sz="1600" spc="-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dealing</a:t>
            </a:r>
            <a:r>
              <a:rPr sz="1600" spc="5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A1A1A"/>
                </a:solidFill>
                <a:latin typeface="Arial MT"/>
                <a:cs typeface="Arial MT"/>
              </a:rPr>
              <a:t>with</a:t>
            </a:r>
            <a:r>
              <a:rPr sz="1600" spc="-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your</a:t>
            </a:r>
            <a:r>
              <a:rPr sz="1600" spc="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to</a:t>
            </a:r>
            <a:r>
              <a:rPr sz="1600" spc="1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make</a:t>
            </a:r>
            <a:r>
              <a:rPr sz="1600" spc="3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it</a:t>
            </a:r>
            <a:r>
              <a:rPr sz="1600" spc="2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usable.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It</a:t>
            </a:r>
            <a:r>
              <a:rPr sz="1600" spc="2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is</a:t>
            </a:r>
            <a:r>
              <a:rPr sz="1600" spc="-8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the </a:t>
            </a:r>
            <a:r>
              <a:rPr sz="1600" spc="-30" dirty="0">
                <a:solidFill>
                  <a:srgbClr val="151515"/>
                </a:solidFill>
                <a:latin typeface="Arial MT"/>
                <a:cs typeface="Arial MT"/>
              </a:rPr>
              <a:t>process</a:t>
            </a:r>
            <a:r>
              <a:rPr sz="1600" spc="6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61616"/>
                </a:solidFill>
                <a:latin typeface="Arial MT"/>
                <a:cs typeface="Arial MT"/>
              </a:rPr>
              <a:t>of</a:t>
            </a:r>
            <a:r>
              <a:rPr sz="1600" spc="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selecting</a:t>
            </a:r>
            <a:r>
              <a:rPr sz="1600" spc="9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or</a:t>
            </a:r>
            <a:r>
              <a:rPr sz="1600" spc="-2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creating</a:t>
            </a:r>
            <a:r>
              <a:rPr sz="1600" spc="6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the</a:t>
            </a:r>
            <a:r>
              <a:rPr sz="1600" spc="1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features</a:t>
            </a:r>
            <a:r>
              <a:rPr sz="1600" spc="-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that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you</a:t>
            </a:r>
            <a:r>
              <a:rPr sz="1600" spc="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81818"/>
                </a:solidFill>
                <a:latin typeface="Arial MT"/>
                <a:cs typeface="Arial MT"/>
              </a:rPr>
              <a:t>will</a:t>
            </a:r>
            <a:r>
              <a:rPr sz="1600" spc="-1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181818"/>
                </a:solidFill>
                <a:latin typeface="Arial MT"/>
                <a:cs typeface="Arial MT"/>
              </a:rPr>
              <a:t>use</a:t>
            </a:r>
            <a:r>
              <a:rPr sz="16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to</a:t>
            </a:r>
            <a:r>
              <a:rPr sz="1600" spc="28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212121"/>
                </a:solidFill>
                <a:latin typeface="Arial MT"/>
                <a:cs typeface="Arial MT"/>
              </a:rPr>
              <a:t>train</a:t>
            </a:r>
            <a:r>
              <a:rPr sz="160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your</a:t>
            </a:r>
            <a:r>
              <a:rPr sz="1600" spc="5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model.</a:t>
            </a:r>
            <a:r>
              <a:rPr sz="1600" spc="-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11111"/>
                </a:solidFill>
                <a:latin typeface="Arial MT"/>
                <a:cs typeface="Arial MT"/>
              </a:rPr>
              <a:t>Features</a:t>
            </a:r>
            <a:r>
              <a:rPr sz="1600" spc="7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are</a:t>
            </a:r>
            <a:r>
              <a:rPr sz="1600" spc="-6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columns</a:t>
            </a:r>
            <a:r>
              <a:rPr sz="1600" spc="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D2D2D"/>
                </a:solidFill>
                <a:latin typeface="Arial MT"/>
                <a:cs typeface="Arial MT"/>
              </a:rPr>
              <a:t>of</a:t>
            </a:r>
            <a:r>
              <a:rPr sz="1600" spc="1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data</a:t>
            </a:r>
            <a:r>
              <a:rPr sz="1600" spc="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sz="1600" spc="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you</a:t>
            </a:r>
            <a:r>
              <a:rPr sz="1600" spc="-4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have</a:t>
            </a:r>
            <a:r>
              <a:rPr sz="1600" spc="7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42424"/>
                </a:solidFill>
                <a:latin typeface="Arial MT"/>
                <a:cs typeface="Arial MT"/>
              </a:rPr>
              <a:t>within</a:t>
            </a:r>
            <a:r>
              <a:rPr sz="1600" spc="6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your</a:t>
            </a:r>
            <a:r>
              <a:rPr sz="16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dataset.</a:t>
            </a:r>
            <a:r>
              <a:rPr sz="1600" spc="1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goal</a:t>
            </a:r>
            <a:r>
              <a:rPr sz="16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82828"/>
                </a:solidFill>
                <a:latin typeface="Arial MT"/>
                <a:cs typeface="Arial MT"/>
              </a:rPr>
              <a:t>of</a:t>
            </a:r>
            <a:r>
              <a:rPr sz="1600" spc="3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82828"/>
                </a:solidFill>
                <a:latin typeface="Arial MT"/>
                <a:cs typeface="Arial MT"/>
              </a:rPr>
              <a:t>the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model</a:t>
            </a:r>
            <a:r>
              <a:rPr sz="1600" spc="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is</a:t>
            </a:r>
            <a:r>
              <a:rPr sz="1600" spc="-6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600" spc="2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try</a:t>
            </a:r>
            <a:r>
              <a:rPr sz="1600" spc="3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sz="1600" spc="2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correctly</a:t>
            </a:r>
            <a:r>
              <a:rPr sz="1600" spc="1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estimate</a:t>
            </a:r>
            <a:r>
              <a:rPr sz="1600" spc="9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6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080808"/>
                </a:solidFill>
                <a:latin typeface="Arial MT"/>
                <a:cs typeface="Arial MT"/>
              </a:rPr>
              <a:t>target</a:t>
            </a:r>
            <a:r>
              <a:rPr sz="1600" spc="6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value</a:t>
            </a:r>
            <a:r>
              <a:rPr sz="1600" spc="9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51515"/>
                </a:solidFill>
                <a:latin typeface="Arial MT"/>
                <a:cs typeface="Arial MT"/>
              </a:rPr>
              <a:t>for</a:t>
            </a:r>
            <a:r>
              <a:rPr sz="1600" spc="4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new</a:t>
            </a:r>
            <a:r>
              <a:rPr sz="1600" spc="7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data.</a:t>
            </a:r>
            <a:r>
              <a:rPr sz="1600" spc="-3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The</a:t>
            </a:r>
            <a:r>
              <a:rPr sz="1600" spc="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ML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algorithm</a:t>
            </a:r>
            <a:r>
              <a:rPr sz="1600" spc="5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60" dirty="0">
                <a:solidFill>
                  <a:srgbClr val="0C0C0C"/>
                </a:solidFill>
                <a:latin typeface="Arial MT"/>
                <a:cs typeface="Arial MT"/>
              </a:rPr>
              <a:t>uses</a:t>
            </a:r>
            <a:r>
              <a:rPr sz="1600" spc="2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600" spc="-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features</a:t>
            </a:r>
            <a:r>
              <a:rPr sz="1600" spc="9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282828"/>
                </a:solidFill>
                <a:latin typeface="Arial MT"/>
                <a:cs typeface="Arial MT"/>
              </a:rPr>
              <a:t>to</a:t>
            </a:r>
            <a:r>
              <a:rPr sz="1600" spc="1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predict</a:t>
            </a:r>
            <a:r>
              <a:rPr sz="16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0F0F0F"/>
                </a:solidFill>
                <a:latin typeface="Arial MT"/>
                <a:cs typeface="Arial MT"/>
              </a:rPr>
              <a:t>the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target.</a:t>
            </a:r>
            <a:r>
              <a:rPr sz="16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A2A2A"/>
                </a:solidFill>
                <a:latin typeface="Arial MT"/>
                <a:cs typeface="Arial MT"/>
              </a:rPr>
              <a:t>In</a:t>
            </a:r>
            <a:r>
              <a:rPr sz="1600" spc="-6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this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example,</a:t>
            </a:r>
            <a:r>
              <a:rPr sz="1600" spc="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81818"/>
                </a:solidFill>
                <a:latin typeface="Arial MT"/>
                <a:cs typeface="Arial MT"/>
              </a:rPr>
              <a:t>the</a:t>
            </a:r>
            <a:r>
              <a:rPr sz="16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target</a:t>
            </a:r>
            <a:r>
              <a:rPr sz="1600" spc="114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data</a:t>
            </a:r>
            <a:r>
              <a:rPr sz="1600" spc="4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is</a:t>
            </a:r>
            <a:r>
              <a:rPr sz="1600" spc="-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sz="1600" spc="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average</a:t>
            </a:r>
            <a:r>
              <a:rPr sz="1600" spc="9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number</a:t>
            </a:r>
            <a:r>
              <a:rPr sz="1600" spc="1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32323"/>
                </a:solidFill>
                <a:latin typeface="Arial MT"/>
                <a:cs typeface="Arial MT"/>
              </a:rPr>
              <a:t>of</a:t>
            </a:r>
            <a:r>
              <a:rPr sz="1600" spc="6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steps</a:t>
            </a:r>
            <a:r>
              <a:rPr sz="1600" spc="-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taken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in</a:t>
            </a:r>
            <a:r>
              <a:rPr sz="1600" spc="14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a</a:t>
            </a:r>
            <a:r>
              <a:rPr sz="1600" spc="5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week.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1216" y="6488129"/>
            <a:ext cx="1100455" cy="1460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50" dirty="0">
                <a:solidFill>
                  <a:srgbClr val="878787"/>
                </a:solidFill>
                <a:latin typeface="Arial MT"/>
                <a:cs typeface="Arial MT"/>
              </a:rPr>
              <a:t>b</a:t>
            </a:r>
            <a:r>
              <a:rPr sz="750" spc="20" dirty="0">
                <a:solidFill>
                  <a:srgbClr val="878787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8E8E8E"/>
                </a:solidFill>
                <a:latin typeface="Arial MT"/>
                <a:cs typeface="Arial MT"/>
              </a:rPr>
              <a:t>Services,</a:t>
            </a:r>
            <a:r>
              <a:rPr sz="750" spc="75" dirty="0">
                <a:solidFill>
                  <a:srgbClr val="8E8E8E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909090"/>
                </a:solidFill>
                <a:latin typeface="Arial MT"/>
                <a:cs typeface="Arial MT"/>
              </a:rPr>
              <a:t>Inc.</a:t>
            </a:r>
            <a:r>
              <a:rPr sz="750" spc="20" dirty="0">
                <a:solidFill>
                  <a:srgbClr val="909090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959595"/>
                </a:solidFill>
                <a:latin typeface="Arial MT"/>
                <a:cs typeface="Arial MT"/>
              </a:rPr>
              <a:t>oi</a:t>
            </a:r>
            <a:r>
              <a:rPr sz="750" spc="130" dirty="0">
                <a:solidFill>
                  <a:srgbClr val="959595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A5A5A5"/>
                </a:solidFill>
                <a:latin typeface="Arial MT"/>
                <a:cs typeface="Arial MT"/>
              </a:rPr>
              <a:t>its</a:t>
            </a:r>
            <a:r>
              <a:rPr sz="750" spc="-50" dirty="0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9A9A9A"/>
                </a:solidFill>
                <a:latin typeface="Arial MT"/>
                <a:cs typeface="Arial MT"/>
              </a:rPr>
              <a:t>ath!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24158" y="2934847"/>
            <a:ext cx="715645" cy="273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Feature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298223" y="3769846"/>
          <a:ext cx="9740265" cy="22510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0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2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0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6409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Richard</a:t>
                      </a:r>
                      <a:r>
                        <a:rPr sz="1600" spc="-6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Roe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spc="-25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UK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6830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Male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50" spc="-1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18/2/1972</a:t>
                      </a:r>
                      <a:endParaRPr sz="1750">
                        <a:latin typeface="Arial MT"/>
                        <a:cs typeface="Arial MT"/>
                      </a:endParaRPr>
                    </a:p>
                  </a:txBody>
                  <a:tcPr marL="0" marR="0" marT="22225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700" spc="-60" dirty="0">
                          <a:latin typeface="Arial MT"/>
                          <a:cs typeface="Arial MT"/>
                        </a:rPr>
                        <a:t>Paulo</a:t>
                      </a:r>
                      <a:r>
                        <a:rPr sz="1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10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Santos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50" spc="-20" dirty="0">
                          <a:solidFill>
                            <a:srgbClr val="161616"/>
                          </a:solidFill>
                          <a:latin typeface="Arial MT"/>
                          <a:cs typeface="Arial MT"/>
                        </a:rPr>
                        <a:t>Mate</a:t>
                      </a:r>
                      <a:endParaRPr sz="1750">
                        <a:latin typeface="Arial MT"/>
                        <a:cs typeface="Arial MT"/>
                      </a:endParaRPr>
                    </a:p>
                  </a:txBody>
                  <a:tcPr marL="0" marR="0" marT="22225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00" spc="-10" dirty="0">
                          <a:solidFill>
                            <a:srgbClr val="0C0C0C"/>
                          </a:solidFill>
                          <a:latin typeface="Arial MT"/>
                          <a:cs typeface="Arial MT"/>
                        </a:rPr>
                        <a:t>11/2/1969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Mrs.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Mary</a:t>
                      </a:r>
                      <a:r>
                        <a:rPr sz="1600" spc="20" dirty="0">
                          <a:solidFill>
                            <a:srgbClr val="1A1A1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Major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10" dirty="0">
                          <a:solidFill>
                            <a:srgbClr val="181818"/>
                          </a:solidFill>
                          <a:latin typeface="Arial MT"/>
                          <a:cs typeface="Arial MT"/>
                        </a:rPr>
                        <a:t>Denver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25" dirty="0">
                          <a:solidFill>
                            <a:srgbClr val="2B2B2B"/>
                          </a:solidFill>
                          <a:latin typeface="Arial MT"/>
                          <a:cs typeface="Arial MT"/>
                        </a:rPr>
                        <a:t>37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3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Desai,</a:t>
                      </a:r>
                      <a:r>
                        <a:rPr sz="1600" spc="-7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Arnav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spc="-2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USA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85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1/22/1962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83838"/>
                      </a:solidFill>
                      <a:prstDash val="solid"/>
                    </a:lnL>
                    <a:lnR w="9525">
                      <a:solidFill>
                        <a:srgbClr val="383838"/>
                      </a:solidFill>
                      <a:prstDash val="solid"/>
                    </a:lnR>
                    <a:lnT w="9525">
                      <a:solidFill>
                        <a:srgbClr val="383838"/>
                      </a:solidFill>
                      <a:prstDash val="solid"/>
                    </a:lnT>
                    <a:lnB w="9525">
                      <a:solidFill>
                        <a:srgbClr val="38383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250" y="3971014"/>
            <a:ext cx="3237800" cy="19806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1250" y="1574316"/>
            <a:ext cx="3237800" cy="19806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0294" y="217695"/>
            <a:ext cx="1636988" cy="723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7722" y="6566682"/>
            <a:ext cx="1772650" cy="72353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0F0F0F"/>
                </a:solidFill>
                <a:latin typeface="Arial MT"/>
                <a:cs typeface="Arial MT"/>
              </a:rPr>
              <a:t>Feature</a:t>
            </a:r>
            <a:r>
              <a:rPr spc="8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pc="60" dirty="0">
                <a:latin typeface="Arial MT"/>
                <a:cs typeface="Arial MT"/>
              </a:rPr>
              <a:t>extraction</a:t>
            </a:r>
            <a:r>
              <a:rPr spc="135" dirty="0">
                <a:latin typeface="Arial MT"/>
                <a:cs typeface="Arial MT"/>
              </a:rPr>
              <a:t> </a:t>
            </a:r>
            <a:r>
              <a:rPr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pc="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pc="55" dirty="0">
                <a:solidFill>
                  <a:srgbClr val="0F0F0F"/>
                </a:solidFill>
                <a:latin typeface="Arial MT"/>
                <a:cs typeface="Arial MT"/>
              </a:rPr>
              <a:t>feature</a:t>
            </a:r>
            <a:r>
              <a:rPr spc="1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1C1C1C"/>
                </a:solidFill>
                <a:latin typeface="Arial MT"/>
                <a:cs typeface="Arial MT"/>
              </a:rPr>
              <a:t>selection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17357" y="3085554"/>
            <a:ext cx="190690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dirty="0">
                <a:solidFill>
                  <a:srgbClr val="1A1A1A"/>
                </a:solidFill>
                <a:latin typeface="Arial MT"/>
                <a:cs typeface="Arial MT"/>
              </a:rPr>
              <a:t>Feature</a:t>
            </a:r>
            <a:r>
              <a:rPr sz="1750" spc="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131313"/>
                </a:solidFill>
                <a:latin typeface="Arial MT"/>
                <a:cs typeface="Arial MT"/>
              </a:rPr>
              <a:t>extraction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0666" y="5482252"/>
            <a:ext cx="177927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dirty="0">
                <a:solidFill>
                  <a:srgbClr val="212121"/>
                </a:solidFill>
                <a:latin typeface="Arial MT"/>
                <a:cs typeface="Arial MT"/>
              </a:rPr>
              <a:t>Feature</a:t>
            </a:r>
            <a:r>
              <a:rPr sz="1750" spc="-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1D1D1D"/>
                </a:solidFill>
                <a:latin typeface="Arial MT"/>
                <a:cs typeface="Arial MT"/>
              </a:rPr>
              <a:t>selection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9876" y="1594025"/>
            <a:ext cx="7477759" cy="550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050" marR="5080" indent="-6985">
              <a:lnSpc>
                <a:spcPct val="107600"/>
              </a:lnSpc>
              <a:spcBef>
                <a:spcPts val="90"/>
              </a:spcBef>
            </a:pP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Two</a:t>
            </a:r>
            <a:r>
              <a:rPr sz="1600" spc="10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things</a:t>
            </a:r>
            <a:r>
              <a:rPr sz="1600" spc="-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can</a:t>
            </a:r>
            <a:r>
              <a:rPr sz="1600" spc="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make</a:t>
            </a:r>
            <a:r>
              <a:rPr sz="1600" spc="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your</a:t>
            </a:r>
            <a:r>
              <a:rPr sz="1600" spc="1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models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more</a:t>
            </a:r>
            <a:r>
              <a:rPr sz="1600" spc="6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30" dirty="0">
                <a:solidFill>
                  <a:srgbClr val="1A1A1A"/>
                </a:solidFill>
                <a:latin typeface="Arial MT"/>
                <a:cs typeface="Arial MT"/>
              </a:rPr>
              <a:t>successful:</a:t>
            </a:r>
            <a:r>
              <a:rPr sz="1600" spc="1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feature</a:t>
            </a:r>
            <a:r>
              <a:rPr sz="1600" spc="1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extraction</a:t>
            </a:r>
            <a:r>
              <a:rPr sz="1600" spc="1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or</a:t>
            </a:r>
            <a:r>
              <a:rPr sz="1600" spc="1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12121"/>
                </a:solidFill>
                <a:latin typeface="Arial MT"/>
                <a:cs typeface="Arial MT"/>
              </a:rPr>
              <a:t>creation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feature</a:t>
            </a:r>
            <a:r>
              <a:rPr sz="1600" spc="11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Arial MT"/>
                <a:cs typeface="Arial MT"/>
              </a:rPr>
              <a:t>selection.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66775" y="2376342"/>
            <a:ext cx="7423150" cy="10433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5875" marR="5080" indent="-3810">
              <a:lnSpc>
                <a:spcPct val="105100"/>
              </a:lnSpc>
              <a:spcBef>
                <a:spcPts val="35"/>
              </a:spcBef>
            </a:pP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Feature</a:t>
            </a:r>
            <a:r>
              <a:rPr sz="1600" spc="10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C1C1C"/>
                </a:solidFill>
                <a:latin typeface="Arial MT"/>
                <a:cs typeface="Arial MT"/>
              </a:rPr>
              <a:t>extraction</a:t>
            </a:r>
            <a:r>
              <a:rPr sz="1600" spc="1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B2B2B"/>
                </a:solidFill>
                <a:latin typeface="Arial MT"/>
                <a:cs typeface="Arial MT"/>
              </a:rPr>
              <a:t>is</a:t>
            </a:r>
            <a:r>
              <a:rPr sz="1600" spc="4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about</a:t>
            </a:r>
            <a:r>
              <a:rPr sz="1600" spc="9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building</a:t>
            </a:r>
            <a:r>
              <a:rPr sz="1600" spc="1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up</a:t>
            </a:r>
            <a:r>
              <a:rPr sz="1600" spc="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valuable</a:t>
            </a:r>
            <a:r>
              <a:rPr sz="1600" spc="10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31313"/>
                </a:solidFill>
                <a:latin typeface="Arial MT"/>
                <a:cs typeface="Arial MT"/>
              </a:rPr>
              <a:t>information</a:t>
            </a:r>
            <a:r>
              <a:rPr sz="1600" spc="17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080808"/>
                </a:solidFill>
                <a:latin typeface="Arial MT"/>
                <a:cs typeface="Arial MT"/>
              </a:rPr>
              <a:t>from</a:t>
            </a:r>
            <a:r>
              <a:rPr sz="1600" spc="5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raw</a:t>
            </a:r>
            <a:r>
              <a:rPr sz="1600" spc="1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data</a:t>
            </a:r>
            <a:r>
              <a:rPr sz="1600" spc="9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61616"/>
                </a:solidFill>
                <a:latin typeface="Arial MT"/>
                <a:cs typeface="Arial MT"/>
              </a:rPr>
              <a:t>by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reformatting,</a:t>
            </a:r>
            <a:r>
              <a:rPr sz="1600" spc="3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combining,</a:t>
            </a:r>
            <a:r>
              <a:rPr sz="1600" spc="26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and</a:t>
            </a:r>
            <a:r>
              <a:rPr sz="1600" spc="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transforming</a:t>
            </a:r>
            <a:r>
              <a:rPr sz="1600" spc="26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primary</a:t>
            </a:r>
            <a:r>
              <a:rPr sz="1600" spc="2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features</a:t>
            </a:r>
            <a:r>
              <a:rPr sz="1600" spc="2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A1A1A"/>
                </a:solidFill>
                <a:latin typeface="Arial MT"/>
                <a:cs typeface="Arial MT"/>
              </a:rPr>
              <a:t>into</a:t>
            </a:r>
            <a:r>
              <a:rPr sz="1600" spc="1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new</a:t>
            </a:r>
            <a:r>
              <a:rPr sz="1600" spc="1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A1A1A"/>
                </a:solidFill>
                <a:latin typeface="Arial MT"/>
                <a:cs typeface="Arial MT"/>
              </a:rPr>
              <a:t>ones.</a:t>
            </a:r>
            <a:r>
              <a:rPr sz="16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62626"/>
                </a:solidFill>
                <a:latin typeface="Arial MT"/>
                <a:cs typeface="Arial MT"/>
              </a:rPr>
              <a:t>This </a:t>
            </a:r>
            <a:r>
              <a:rPr sz="1600" spc="50" dirty="0">
                <a:solidFill>
                  <a:srgbClr val="111111"/>
                </a:solidFill>
                <a:latin typeface="Arial MT"/>
                <a:cs typeface="Arial MT"/>
              </a:rPr>
              <a:t>transformation</a:t>
            </a:r>
            <a:r>
              <a:rPr sz="1600" spc="-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continues</a:t>
            </a:r>
            <a:r>
              <a:rPr sz="1600" spc="10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31313"/>
                </a:solidFill>
                <a:latin typeface="Arial MT"/>
                <a:cs typeface="Arial MT"/>
              </a:rPr>
              <a:t>until</a:t>
            </a:r>
            <a:r>
              <a:rPr sz="1600" spc="-7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0F0F0F"/>
                </a:solidFill>
                <a:latin typeface="Arial MT"/>
                <a:cs typeface="Arial MT"/>
              </a:rPr>
              <a:t>it</a:t>
            </a:r>
            <a:r>
              <a:rPr sz="1600" spc="8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yields</a:t>
            </a:r>
            <a:r>
              <a:rPr sz="1600" spc="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a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new</a:t>
            </a:r>
            <a:r>
              <a:rPr sz="1600" spc="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set</a:t>
            </a:r>
            <a:r>
              <a:rPr sz="1600" spc="4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of</a:t>
            </a:r>
            <a:r>
              <a:rPr sz="1600" spc="28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data</a:t>
            </a:r>
            <a:r>
              <a:rPr sz="1600" spc="5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1C1C1C"/>
                </a:solidFill>
                <a:latin typeface="Arial MT"/>
                <a:cs typeface="Arial MT"/>
              </a:rPr>
              <a:t>that</a:t>
            </a:r>
            <a:r>
              <a:rPr sz="1600" spc="-5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model</a:t>
            </a:r>
            <a:r>
              <a:rPr sz="1600" spc="-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can </a:t>
            </a:r>
            <a:r>
              <a:rPr sz="1600" spc="-10" dirty="0">
                <a:solidFill>
                  <a:srgbClr val="1D1D1D"/>
                </a:solidFill>
                <a:latin typeface="Arial MT"/>
                <a:cs typeface="Arial MT"/>
              </a:rPr>
              <a:t>consume</a:t>
            </a:r>
            <a:r>
              <a:rPr sz="1600" spc="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600" spc="1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51515"/>
                </a:solidFill>
                <a:latin typeface="Arial MT"/>
                <a:cs typeface="Arial MT"/>
              </a:rPr>
              <a:t>achieve</a:t>
            </a:r>
            <a:r>
              <a:rPr sz="1600" spc="-4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-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31313"/>
                </a:solidFill>
                <a:latin typeface="Arial MT"/>
                <a:cs typeface="Arial MT"/>
              </a:rPr>
              <a:t>goals.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66775" y="3651567"/>
            <a:ext cx="7334250" cy="10433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5875" marR="5080" indent="-3810">
              <a:lnSpc>
                <a:spcPct val="105100"/>
              </a:lnSpc>
              <a:spcBef>
                <a:spcPts val="35"/>
              </a:spcBef>
            </a:pPr>
            <a:r>
              <a:rPr sz="1600" dirty="0">
                <a:latin typeface="Arial MT"/>
                <a:cs typeface="Arial MT"/>
              </a:rPr>
              <a:t>Feature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selection</a:t>
            </a:r>
            <a:r>
              <a:rPr sz="1600" spc="10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313131"/>
                </a:solidFill>
                <a:latin typeface="Arial MT"/>
                <a:cs typeface="Arial MT"/>
              </a:rPr>
              <a:t>is</a:t>
            </a:r>
            <a:r>
              <a:rPr sz="1600" spc="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about</a:t>
            </a:r>
            <a:r>
              <a:rPr sz="1600" spc="9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selecting</a:t>
            </a:r>
            <a:r>
              <a:rPr sz="1600" spc="15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81818"/>
                </a:solidFill>
                <a:latin typeface="Arial MT"/>
                <a:cs typeface="Arial MT"/>
              </a:rPr>
              <a:t>the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features</a:t>
            </a:r>
            <a:r>
              <a:rPr sz="1600" spc="8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latin typeface="Arial MT"/>
                <a:cs typeface="Arial MT"/>
              </a:rPr>
              <a:t>that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are</a:t>
            </a:r>
            <a:r>
              <a:rPr sz="1600" spc="9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most</a:t>
            </a:r>
            <a:r>
              <a:rPr sz="1600" spc="114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relevant</a:t>
            </a:r>
            <a:r>
              <a:rPr sz="1600" spc="20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81818"/>
                </a:solidFill>
                <a:latin typeface="Arial MT"/>
                <a:cs typeface="Arial MT"/>
              </a:rPr>
              <a:t>and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discarding</a:t>
            </a:r>
            <a:r>
              <a:rPr sz="1600" spc="10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sz="1600" spc="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rest.</a:t>
            </a:r>
            <a:r>
              <a:rPr sz="160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E0E0E"/>
                </a:solidFill>
                <a:latin typeface="Arial MT"/>
                <a:cs typeface="Arial MT"/>
              </a:rPr>
              <a:t>Feature</a:t>
            </a:r>
            <a:r>
              <a:rPr sz="1600" spc="7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selection</a:t>
            </a:r>
            <a:r>
              <a:rPr sz="1600" spc="9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is</a:t>
            </a:r>
            <a:r>
              <a:rPr sz="1600" spc="-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applied</a:t>
            </a:r>
            <a:r>
              <a:rPr sz="1600" spc="3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to</a:t>
            </a:r>
            <a:r>
              <a:rPr sz="1600" spc="21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prevent</a:t>
            </a:r>
            <a:r>
              <a:rPr sz="1600" spc="15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either</a:t>
            </a:r>
            <a:r>
              <a:rPr sz="16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redundancy</a:t>
            </a:r>
            <a:r>
              <a:rPr sz="1600" spc="1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C1C1C"/>
                </a:solidFill>
                <a:latin typeface="Arial MT"/>
                <a:cs typeface="Arial MT"/>
              </a:rPr>
              <a:t>or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irrelevance</a:t>
            </a:r>
            <a:r>
              <a:rPr sz="1600" spc="18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in</a:t>
            </a:r>
            <a:r>
              <a:rPr sz="1600" spc="1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existing</a:t>
            </a:r>
            <a:r>
              <a:rPr sz="1600" spc="8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features</a:t>
            </a:r>
            <a:r>
              <a:rPr sz="1600" spc="5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or</a:t>
            </a:r>
            <a:r>
              <a:rPr sz="1600" spc="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to</a:t>
            </a:r>
            <a:r>
              <a:rPr sz="1600" spc="1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get</a:t>
            </a:r>
            <a:r>
              <a:rPr sz="1600" spc="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D1D1D"/>
                </a:solidFill>
                <a:latin typeface="Arial MT"/>
                <a:cs typeface="Arial MT"/>
              </a:rPr>
              <a:t>limited</a:t>
            </a:r>
            <a:r>
              <a:rPr sz="1600" spc="-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number</a:t>
            </a:r>
            <a:r>
              <a:rPr sz="1600" spc="10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F1F1F"/>
                </a:solidFill>
                <a:latin typeface="Arial MT"/>
                <a:cs typeface="Arial MT"/>
              </a:rPr>
              <a:t>of</a:t>
            </a:r>
            <a:r>
              <a:rPr sz="1600" spc="8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features</a:t>
            </a:r>
            <a:r>
              <a:rPr sz="16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81818"/>
                </a:solidFill>
                <a:latin typeface="Arial MT"/>
                <a:cs typeface="Arial MT"/>
              </a:rPr>
              <a:t>to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prevent</a:t>
            </a:r>
            <a:r>
              <a:rPr sz="1600" spc="22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spc="45" dirty="0">
                <a:solidFill>
                  <a:srgbClr val="0F0F0F"/>
                </a:solidFill>
                <a:latin typeface="Arial MT"/>
                <a:cs typeface="Arial MT"/>
              </a:rPr>
              <a:t>overfitting.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62671" y="5670420"/>
            <a:ext cx="7219315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i="1" spc="-210" dirty="0">
                <a:solidFill>
                  <a:srgbClr val="111111"/>
                </a:solidFill>
                <a:latin typeface="Arial"/>
                <a:cs typeface="Arial"/>
              </a:rPr>
              <a:t>Choose</a:t>
            </a:r>
            <a:r>
              <a:rPr sz="1800" i="1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800" i="1" spc="-60" dirty="0">
                <a:solidFill>
                  <a:srgbClr val="1F1F1F"/>
                </a:solidFill>
                <a:latin typeface="Arial"/>
                <a:cs typeface="Arial"/>
              </a:rPr>
              <a:t>the</a:t>
            </a:r>
            <a:r>
              <a:rPr sz="1800" i="1" spc="-10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1800" i="1" spc="-80" dirty="0">
                <a:solidFill>
                  <a:srgbClr val="181818"/>
                </a:solidFill>
                <a:latin typeface="Arial"/>
                <a:cs typeface="Arial"/>
              </a:rPr>
              <a:t>buttons</a:t>
            </a:r>
            <a:r>
              <a:rPr sz="1800" i="1" spc="-2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F1F1F"/>
                </a:solidFill>
                <a:latin typeface="Arial"/>
                <a:cs typeface="Arial"/>
              </a:rPr>
              <a:t>to</a:t>
            </a:r>
            <a:r>
              <a:rPr sz="1800" i="1" spc="-5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1800" i="1" spc="-155" dirty="0">
                <a:solidFill>
                  <a:srgbClr val="1A1A1A"/>
                </a:solidFill>
                <a:latin typeface="Arial"/>
                <a:cs typeface="Arial"/>
              </a:rPr>
              <a:t>read</a:t>
            </a:r>
            <a:r>
              <a:rPr sz="1800" i="1" spc="-3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800" i="1" spc="-110" dirty="0">
                <a:solidFill>
                  <a:srgbClr val="111111"/>
                </a:solidFill>
                <a:latin typeface="Arial"/>
                <a:cs typeface="Arial"/>
              </a:rPr>
              <a:t>more</a:t>
            </a:r>
            <a:r>
              <a:rPr sz="1800" i="1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800" i="1" spc="-100" dirty="0">
                <a:solidFill>
                  <a:srgbClr val="1A1A1A"/>
                </a:solidFill>
                <a:latin typeface="Arial"/>
                <a:cs typeface="Arial"/>
              </a:rPr>
              <a:t>about</a:t>
            </a:r>
            <a:r>
              <a:rPr sz="1800" i="1" spc="2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800" i="1" spc="-110" dirty="0">
                <a:solidFill>
                  <a:srgbClr val="1A1A1A"/>
                </a:solidFill>
                <a:latin typeface="Arial"/>
                <a:cs typeface="Arial"/>
              </a:rPr>
              <a:t>I'eature</a:t>
            </a:r>
            <a:r>
              <a:rPr sz="1800" i="1" spc="-6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800" i="1" spc="-75" dirty="0">
                <a:solidFill>
                  <a:srgbClr val="111111"/>
                </a:solidFill>
                <a:latin typeface="Arial"/>
                <a:cs typeface="Arial"/>
              </a:rPr>
              <a:t>extraction</a:t>
            </a:r>
            <a:r>
              <a:rPr sz="1800" i="1" spc="-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800" i="1" spc="-105" dirty="0">
                <a:solidFill>
                  <a:srgbClr val="161616"/>
                </a:solidFill>
                <a:latin typeface="Arial"/>
                <a:cs typeface="Arial"/>
              </a:rPr>
              <a:t>and</a:t>
            </a:r>
            <a:r>
              <a:rPr sz="1800" i="1" spc="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800" i="1" spc="-85" dirty="0">
                <a:solidFill>
                  <a:srgbClr val="131313"/>
                </a:solidFill>
                <a:latin typeface="Arial"/>
                <a:cs typeface="Arial"/>
              </a:rPr>
              <a:t>feature</a:t>
            </a:r>
            <a:r>
              <a:rPr sz="1800" i="1" spc="-6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1800" i="1" spc="-60" dirty="0">
                <a:solidFill>
                  <a:srgbClr val="161616"/>
                </a:solidFill>
                <a:latin typeface="Arial"/>
                <a:cs typeface="Arial"/>
              </a:rPr>
              <a:t>selection.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440" y="215628"/>
            <a:ext cx="1647254" cy="7240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44372" y="1120714"/>
            <a:ext cx="3222625" cy="588645"/>
          </a:xfrm>
          <a:prstGeom prst="rect">
            <a:avLst/>
          </a:prstGeom>
          <a:solidFill>
            <a:srgbClr val="054F6E"/>
          </a:solidFill>
        </p:spPr>
        <p:txBody>
          <a:bodyPr vert="horz" wrap="square" lIns="0" tIns="139700" rIns="0" bIns="0" rtlCol="0">
            <a:spAutoFit/>
          </a:bodyPr>
          <a:lstStyle/>
          <a:p>
            <a:pPr marL="868680">
              <a:lnSpc>
                <a:spcPct val="100000"/>
              </a:lnSpc>
              <a:spcBef>
                <a:spcPts val="1100"/>
              </a:spcBef>
            </a:pP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Encodi</a:t>
            </a:r>
            <a:r>
              <a:rPr sz="175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Jg</a:t>
            </a:r>
            <a:r>
              <a:rPr sz="17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4372" y="1835731"/>
            <a:ext cx="3222625" cy="624840"/>
          </a:xfrm>
          <a:prstGeom prst="rect">
            <a:avLst/>
          </a:prstGeom>
          <a:solidFill>
            <a:srgbClr val="035272"/>
          </a:solidFill>
        </p:spPr>
        <p:txBody>
          <a:bodyPr vert="horz" wrap="square" lIns="0" tIns="169545" rIns="0" bIns="0" rtlCol="0">
            <a:spAutoFit/>
          </a:bodyPr>
          <a:lstStyle/>
          <a:p>
            <a:pPr marL="902335">
              <a:lnSpc>
                <a:spcPct val="100000"/>
              </a:lnSpc>
              <a:spcBef>
                <a:spcPts val="1335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Cleaning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372" y="2596004"/>
            <a:ext cx="3222625" cy="606425"/>
          </a:xfrm>
          <a:prstGeom prst="rect">
            <a:avLst/>
          </a:prstGeom>
          <a:solidFill>
            <a:srgbClr val="1C4156"/>
          </a:solidFill>
        </p:spPr>
        <p:txBody>
          <a:bodyPr vert="horz" wrap="square" lIns="0" tIns="157480" rIns="0" bIns="0" rtlCol="0">
            <a:spAutoFit/>
          </a:bodyPr>
          <a:lstStyle/>
          <a:p>
            <a:pPr marL="533400">
              <a:lnSpc>
                <a:spcPct val="100000"/>
              </a:lnSpc>
              <a:spcBef>
                <a:spcPts val="1240"/>
              </a:spcBef>
            </a:pPr>
            <a:r>
              <a:rPr sz="1750" dirty="0">
                <a:solidFill>
                  <a:srgbClr val="184D64"/>
                </a:solidFill>
                <a:latin typeface="Arial MT"/>
                <a:cs typeface="Arial MT"/>
              </a:rPr>
              <a:t>Finding</a:t>
            </a:r>
            <a:r>
              <a:rPr sz="1750" spc="220" dirty="0">
                <a:solidFill>
                  <a:srgbClr val="184D64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84D5E"/>
                </a:solidFill>
                <a:latin typeface="Arial MT"/>
                <a:cs typeface="Arial MT"/>
              </a:rPr>
              <a:t>missing</a:t>
            </a:r>
            <a:r>
              <a:rPr sz="1750" spc="245" dirty="0">
                <a:solidFill>
                  <a:srgbClr val="184D5E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8CC1D1"/>
                </a:solidFill>
                <a:latin typeface="Arial MT"/>
                <a:cs typeface="Arial MT"/>
              </a:rPr>
              <a:t>data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372" y="3338173"/>
            <a:ext cx="3222625" cy="615950"/>
          </a:xfrm>
          <a:prstGeom prst="rect">
            <a:avLst/>
          </a:prstGeom>
          <a:solidFill>
            <a:srgbClr val="054F70"/>
          </a:solidFill>
        </p:spPr>
        <p:txBody>
          <a:bodyPr vert="horz" wrap="square" lIns="0" tIns="175895" rIns="0" bIns="0" rtlCol="0">
            <a:spAutoFit/>
          </a:bodyPr>
          <a:lstStyle/>
          <a:p>
            <a:pPr marL="714375">
              <a:lnSpc>
                <a:spcPct val="100000"/>
              </a:lnSpc>
              <a:spcBef>
                <a:spcPts val="1385"/>
              </a:spcBef>
            </a:pP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Handling</a:t>
            </a:r>
            <a:r>
              <a:rPr sz="1750" spc="5" dirty="0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sz="1750" spc="-10" dirty="0">
                <a:solidFill>
                  <a:srgbClr val="FFFFFF"/>
                </a:solidFill>
                <a:latin typeface="Arial MT"/>
                <a:cs typeface="Arial MT"/>
              </a:rPr>
              <a:t>outhers</a:t>
            </a:r>
            <a:endParaRPr sz="175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5152" y="6555753"/>
            <a:ext cx="2507084" cy="85983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Arial MT"/>
                <a:cs typeface="Arial MT"/>
              </a:rPr>
              <a:t>Preparing</a:t>
            </a:r>
            <a:r>
              <a:rPr spc="415" dirty="0">
                <a:latin typeface="Arial MT"/>
                <a:cs typeface="Arial MT"/>
              </a:rPr>
              <a:t> </a:t>
            </a:r>
            <a:r>
              <a:rPr spc="-20" dirty="0">
                <a:solidFill>
                  <a:srgbClr val="181818"/>
                </a:solidFill>
                <a:latin typeface="Arial MT"/>
                <a:cs typeface="Arial MT"/>
              </a:rPr>
              <a:t>data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82032" y="1172124"/>
            <a:ext cx="7265670" cy="15506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6510" marR="5080" indent="-4445">
              <a:lnSpc>
                <a:spcPct val="104700"/>
              </a:lnSpc>
              <a:spcBef>
                <a:spcPts val="40"/>
              </a:spcBef>
            </a:pP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The</a:t>
            </a:r>
            <a:r>
              <a:rPr sz="1600" spc="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data</a:t>
            </a:r>
            <a:r>
              <a:rPr sz="1600" spc="3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61616"/>
                </a:solidFill>
                <a:latin typeface="Arial MT"/>
                <a:cs typeface="Arial MT"/>
              </a:rPr>
              <a:t>that</a:t>
            </a:r>
            <a:r>
              <a:rPr sz="1600" spc="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you</a:t>
            </a:r>
            <a:r>
              <a:rPr sz="1600" spc="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gather</a:t>
            </a:r>
            <a:r>
              <a:rPr sz="1600" spc="3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31313"/>
                </a:solidFill>
                <a:latin typeface="Arial MT"/>
                <a:cs typeface="Arial MT"/>
              </a:rPr>
              <a:t>won't</a:t>
            </a:r>
            <a:r>
              <a:rPr sz="1600" spc="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sz="1600" spc="-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ready</a:t>
            </a:r>
            <a:r>
              <a:rPr sz="1600" spc="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to</a:t>
            </a:r>
            <a:r>
              <a:rPr sz="1600" spc="26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be</a:t>
            </a:r>
            <a:r>
              <a:rPr sz="1600" spc="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30" dirty="0">
                <a:solidFill>
                  <a:srgbClr val="161616"/>
                </a:solidFill>
                <a:latin typeface="Arial MT"/>
                <a:cs typeface="Arial MT"/>
              </a:rPr>
              <a:t>used.</a:t>
            </a:r>
            <a:r>
              <a:rPr sz="1600" spc="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The</a:t>
            </a:r>
            <a:r>
              <a:rPr sz="1600" spc="2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data</a:t>
            </a:r>
            <a:r>
              <a:rPr sz="1600" spc="2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111111"/>
                </a:solidFill>
                <a:latin typeface="Arial MT"/>
                <a:cs typeface="Arial MT"/>
              </a:rPr>
              <a:t>might</a:t>
            </a:r>
            <a:r>
              <a:rPr sz="1600" spc="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sz="16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12121"/>
                </a:solidFill>
                <a:latin typeface="Arial MT"/>
                <a:cs typeface="Arial MT"/>
              </a:rPr>
              <a:t>dirty,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which</a:t>
            </a:r>
            <a:r>
              <a:rPr sz="1600" spc="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means</a:t>
            </a:r>
            <a:r>
              <a:rPr sz="1600" spc="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31313"/>
                </a:solidFill>
                <a:latin typeface="Arial MT"/>
                <a:cs typeface="Arial MT"/>
              </a:rPr>
              <a:t>that</a:t>
            </a:r>
            <a:r>
              <a:rPr sz="1600" spc="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it</a:t>
            </a:r>
            <a:r>
              <a:rPr sz="1600" spc="18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contains</a:t>
            </a:r>
            <a:r>
              <a:rPr sz="1600" spc="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errors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or</a:t>
            </a:r>
            <a:r>
              <a:rPr sz="1600" spc="10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duplicate</a:t>
            </a:r>
            <a:r>
              <a:rPr sz="1600" spc="13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data.</a:t>
            </a:r>
            <a:r>
              <a:rPr sz="1600" spc="3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Dirty</a:t>
            </a:r>
            <a:r>
              <a:rPr sz="16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data</a:t>
            </a:r>
            <a:r>
              <a:rPr sz="1600" spc="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has</a:t>
            </a:r>
            <a:r>
              <a:rPr sz="16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31313"/>
                </a:solidFill>
                <a:latin typeface="Arial MT"/>
                <a:cs typeface="Arial MT"/>
              </a:rPr>
              <a:t>possibly </a:t>
            </a:r>
            <a:r>
              <a:rPr sz="1600" spc="10" dirty="0">
                <a:solidFill>
                  <a:srgbClr val="1F1F1F"/>
                </a:solidFill>
                <a:latin typeface="Arial MT"/>
                <a:cs typeface="Arial MT"/>
              </a:rPr>
              <a:t>been</a:t>
            </a:r>
            <a:r>
              <a:rPr sz="1600" spc="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51515"/>
                </a:solidFill>
                <a:latin typeface="Arial MT"/>
                <a:cs typeface="Arial MT"/>
              </a:rPr>
              <a:t>collected</a:t>
            </a:r>
            <a:r>
              <a:rPr sz="1600" spc="7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A1A1A"/>
                </a:solidFill>
                <a:latin typeface="Arial MT"/>
                <a:cs typeface="Arial MT"/>
              </a:rPr>
              <a:t>by</a:t>
            </a:r>
            <a:r>
              <a:rPr sz="1600" spc="1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using</a:t>
            </a:r>
            <a:r>
              <a:rPr sz="16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262626"/>
                </a:solidFill>
                <a:latin typeface="Arial MT"/>
                <a:cs typeface="Arial MT"/>
              </a:rPr>
              <a:t>the </a:t>
            </a:r>
            <a:r>
              <a:rPr sz="1600" spc="10" dirty="0">
                <a:solidFill>
                  <a:srgbClr val="282828"/>
                </a:solidFill>
                <a:latin typeface="Arial MT"/>
                <a:cs typeface="Arial MT"/>
              </a:rPr>
              <a:t>wrong</a:t>
            </a:r>
            <a:r>
              <a:rPr sz="1600" spc="13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31313"/>
                </a:solidFill>
                <a:latin typeface="Arial MT"/>
                <a:cs typeface="Arial MT"/>
              </a:rPr>
              <a:t>method</a:t>
            </a:r>
            <a:r>
              <a:rPr sz="1600" spc="8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212121"/>
                </a:solidFill>
                <a:latin typeface="Arial MT"/>
                <a:cs typeface="Arial MT"/>
              </a:rPr>
              <a:t>or</a:t>
            </a:r>
            <a:r>
              <a:rPr sz="16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F1F1F"/>
                </a:solidFill>
                <a:latin typeface="Arial MT"/>
                <a:cs typeface="Arial MT"/>
              </a:rPr>
              <a:t>population</a:t>
            </a:r>
            <a:r>
              <a:rPr sz="1600" spc="8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080808"/>
                </a:solidFill>
                <a:latin typeface="Arial MT"/>
                <a:cs typeface="Arial MT"/>
              </a:rPr>
              <a:t>for</a:t>
            </a:r>
            <a:r>
              <a:rPr sz="1600" spc="204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A1A1A"/>
                </a:solidFill>
                <a:latin typeface="Arial MT"/>
                <a:cs typeface="Arial MT"/>
              </a:rPr>
              <a:t>your</a:t>
            </a:r>
            <a:r>
              <a:rPr sz="1600" spc="1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E0E0E"/>
                </a:solidFill>
                <a:latin typeface="Arial MT"/>
                <a:cs typeface="Arial MT"/>
              </a:rPr>
              <a:t>business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problem</a:t>
            </a:r>
            <a:r>
              <a:rPr sz="1600" spc="7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or</a:t>
            </a:r>
            <a:r>
              <a:rPr sz="1600" spc="5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A0A0A"/>
                </a:solidFill>
                <a:latin typeface="Arial MT"/>
                <a:cs typeface="Arial MT"/>
              </a:rPr>
              <a:t>has</a:t>
            </a:r>
            <a:r>
              <a:rPr sz="1600" spc="-1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some</a:t>
            </a:r>
            <a:r>
              <a:rPr sz="1600" spc="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other</a:t>
            </a:r>
            <a:r>
              <a:rPr sz="1600" spc="8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data</a:t>
            </a:r>
            <a:r>
              <a:rPr sz="1600" spc="5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12121"/>
                </a:solidFill>
                <a:latin typeface="Arial MT"/>
                <a:cs typeface="Arial MT"/>
              </a:rPr>
              <a:t>integrity </a:t>
            </a:r>
            <a:r>
              <a:rPr sz="1600" spc="-30" dirty="0">
                <a:solidFill>
                  <a:srgbClr val="232323"/>
                </a:solidFill>
                <a:latin typeface="Arial MT"/>
                <a:cs typeface="Arial MT"/>
              </a:rPr>
              <a:t>issue.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Using</a:t>
            </a:r>
            <a:r>
              <a:rPr sz="1600" spc="8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1F1F1F"/>
                </a:solidFill>
                <a:latin typeface="Arial MT"/>
                <a:cs typeface="Arial MT"/>
              </a:rPr>
              <a:t>dirty</a:t>
            </a:r>
            <a:r>
              <a:rPr sz="1600" spc="-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data</a:t>
            </a:r>
            <a:r>
              <a:rPr sz="1600" spc="13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C1C1C"/>
                </a:solidFill>
                <a:latin typeface="Arial MT"/>
                <a:cs typeface="Arial MT"/>
              </a:rPr>
              <a:t>in</a:t>
            </a:r>
            <a:r>
              <a:rPr sz="1600" spc="-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31313"/>
                </a:solidFill>
                <a:latin typeface="Arial MT"/>
                <a:cs typeface="Arial MT"/>
              </a:rPr>
              <a:t>your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machine</a:t>
            </a:r>
            <a:r>
              <a:rPr sz="1600" spc="1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learning</a:t>
            </a:r>
            <a:r>
              <a:rPr sz="1600" spc="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models</a:t>
            </a:r>
            <a:r>
              <a:rPr sz="1600" spc="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A1A1A"/>
                </a:solidFill>
                <a:latin typeface="Arial MT"/>
                <a:cs typeface="Arial MT"/>
              </a:rPr>
              <a:t>will</a:t>
            </a:r>
            <a:r>
              <a:rPr sz="1600" spc="-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lead</a:t>
            </a:r>
            <a:r>
              <a:rPr sz="1600" spc="1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to</a:t>
            </a:r>
            <a:r>
              <a:rPr sz="1600" spc="26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incorrect</a:t>
            </a:r>
            <a:r>
              <a:rPr sz="1600" spc="1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results</a:t>
            </a:r>
            <a:r>
              <a:rPr sz="1600" spc="10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or</a:t>
            </a:r>
            <a:r>
              <a:rPr sz="1600" spc="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an</a:t>
            </a:r>
            <a:r>
              <a:rPr sz="1600" spc="-1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C1C1C"/>
                </a:solidFill>
                <a:latin typeface="Arial MT"/>
                <a:cs typeface="Arial MT"/>
              </a:rPr>
              <a:t>inability</a:t>
            </a:r>
            <a:r>
              <a:rPr sz="1600" spc="-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F1F1F"/>
                </a:solidFill>
                <a:latin typeface="Arial MT"/>
                <a:cs typeface="Arial MT"/>
              </a:rPr>
              <a:t>to</a:t>
            </a:r>
            <a:r>
              <a:rPr sz="1600" spc="2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run</a:t>
            </a:r>
            <a:r>
              <a:rPr sz="1600" spc="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25" dirty="0">
                <a:solidFill>
                  <a:srgbClr val="232323"/>
                </a:solidFill>
                <a:latin typeface="Arial MT"/>
                <a:cs typeface="Arial MT"/>
              </a:rPr>
              <a:t>the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model</a:t>
            </a:r>
            <a:r>
              <a:rPr sz="1600" spc="204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effectively.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7980" y="2955143"/>
            <a:ext cx="7226934" cy="7861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335" marR="5080" indent="-1270">
              <a:lnSpc>
                <a:spcPct val="104900"/>
              </a:lnSpc>
              <a:spcBef>
                <a:spcPts val="40"/>
              </a:spcBef>
            </a:pP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For</a:t>
            </a:r>
            <a:r>
              <a:rPr sz="1600" spc="3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this</a:t>
            </a:r>
            <a:r>
              <a:rPr sz="1600" spc="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31313"/>
                </a:solidFill>
                <a:latin typeface="Arial MT"/>
                <a:cs typeface="Arial MT"/>
              </a:rPr>
              <a:t>reason,</a:t>
            </a:r>
            <a:r>
              <a:rPr sz="1600" spc="4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data</a:t>
            </a:r>
            <a:r>
              <a:rPr sz="1600" spc="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81818"/>
                </a:solidFill>
                <a:latin typeface="Arial MT"/>
                <a:cs typeface="Arial MT"/>
              </a:rPr>
              <a:t>that</a:t>
            </a:r>
            <a:r>
              <a:rPr sz="1600" spc="1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you</a:t>
            </a:r>
            <a:r>
              <a:rPr sz="16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have</a:t>
            </a:r>
            <a:r>
              <a:rPr sz="1600" spc="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gathered</a:t>
            </a:r>
            <a:r>
              <a:rPr sz="1600" spc="13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must</a:t>
            </a:r>
            <a:r>
              <a:rPr sz="1600" spc="3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be</a:t>
            </a:r>
            <a:r>
              <a:rPr sz="160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prepared</a:t>
            </a:r>
            <a:r>
              <a:rPr sz="1600" spc="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for</a:t>
            </a:r>
            <a:r>
              <a:rPr sz="1600" spc="1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40" dirty="0">
                <a:solidFill>
                  <a:srgbClr val="1A1A1A"/>
                </a:solidFill>
                <a:latin typeface="Arial MT"/>
                <a:cs typeface="Arial MT"/>
              </a:rPr>
              <a:t>use</a:t>
            </a:r>
            <a:r>
              <a:rPr sz="1600" spc="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in</a:t>
            </a:r>
            <a:r>
              <a:rPr sz="1600" spc="1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2F2F2F"/>
                </a:solidFill>
                <a:latin typeface="Arial MT"/>
                <a:cs typeface="Arial MT"/>
              </a:rPr>
              <a:t>a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machine</a:t>
            </a:r>
            <a:r>
              <a:rPr sz="1600" spc="1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learning</a:t>
            </a:r>
            <a:r>
              <a:rPr sz="1600" spc="11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model.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There</a:t>
            </a:r>
            <a:r>
              <a:rPr sz="1600" spc="14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are</a:t>
            </a:r>
            <a:r>
              <a:rPr sz="1600" spc="8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12121"/>
                </a:solidFill>
                <a:latin typeface="Arial MT"/>
                <a:cs typeface="Arial MT"/>
              </a:rPr>
              <a:t>four</a:t>
            </a:r>
            <a:r>
              <a:rPr sz="1600" spc="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considerations</a:t>
            </a:r>
            <a:r>
              <a:rPr sz="1600" spc="-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2A2A2A"/>
                </a:solidFill>
                <a:latin typeface="Arial MT"/>
                <a:cs typeface="Arial MT"/>
              </a:rPr>
              <a:t>for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preparing</a:t>
            </a:r>
            <a:r>
              <a:rPr sz="1600" spc="15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F1F1F"/>
                </a:solidFill>
                <a:latin typeface="Arial MT"/>
                <a:cs typeface="Arial MT"/>
              </a:rPr>
              <a:t>your</a:t>
            </a:r>
            <a:r>
              <a:rPr sz="1600" spc="5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81818"/>
                </a:solidFill>
                <a:latin typeface="Arial MT"/>
                <a:cs typeface="Arial MT"/>
              </a:rPr>
              <a:t>data.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82134" y="3959033"/>
            <a:ext cx="473456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i="1" dirty="0">
                <a:solidFill>
                  <a:srgbClr val="1D1D1D"/>
                </a:solidFill>
                <a:latin typeface="Cambria"/>
                <a:cs typeface="Cambria"/>
              </a:rPr>
              <a:t>Choose</a:t>
            </a:r>
            <a:r>
              <a:rPr sz="1750" i="1" spc="-70" dirty="0">
                <a:solidFill>
                  <a:srgbClr val="1D1D1D"/>
                </a:solidFill>
                <a:latin typeface="Cambria"/>
                <a:cs typeface="Cambria"/>
              </a:rPr>
              <a:t> </a:t>
            </a:r>
            <a:r>
              <a:rPr sz="1750" i="1" dirty="0">
                <a:solidFill>
                  <a:srgbClr val="151515"/>
                </a:solidFill>
                <a:latin typeface="Cambria"/>
                <a:cs typeface="Cambria"/>
              </a:rPr>
              <a:t>the </a:t>
            </a:r>
            <a:r>
              <a:rPr sz="1750" i="1" spc="-10" dirty="0">
                <a:solidFill>
                  <a:srgbClr val="2A2A2A"/>
                </a:solidFill>
                <a:latin typeface="Cambria"/>
                <a:cs typeface="Cambria"/>
              </a:rPr>
              <a:t>tabs</a:t>
            </a:r>
            <a:r>
              <a:rPr sz="1750" i="1" spc="-20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1750" i="1" dirty="0">
                <a:solidFill>
                  <a:srgbClr val="262626"/>
                </a:solidFill>
                <a:latin typeface="Cambria"/>
                <a:cs typeface="Cambria"/>
              </a:rPr>
              <a:t>to</a:t>
            </a:r>
            <a:r>
              <a:rPr sz="1750" i="1" spc="-95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750" i="1" spc="-25" dirty="0">
                <a:solidFill>
                  <a:srgbClr val="181818"/>
                </a:solidFill>
                <a:latin typeface="Cambria"/>
                <a:cs typeface="Cambria"/>
              </a:rPr>
              <a:t>leorn</a:t>
            </a:r>
            <a:r>
              <a:rPr sz="1750" i="1" spc="-90" dirty="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sz="1750" i="1" spc="-25" dirty="0">
                <a:solidFill>
                  <a:srgbClr val="181818"/>
                </a:solidFill>
                <a:latin typeface="Cambria"/>
                <a:cs typeface="Cambria"/>
              </a:rPr>
              <a:t>more</a:t>
            </a:r>
            <a:r>
              <a:rPr sz="1750" i="1" spc="-75" dirty="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sz="1750" i="1" spc="-10" dirty="0">
                <a:solidFill>
                  <a:srgbClr val="0E0E0E"/>
                </a:solidFill>
                <a:latin typeface="Cambria"/>
                <a:cs typeface="Cambria"/>
              </a:rPr>
              <a:t>about</a:t>
            </a:r>
            <a:r>
              <a:rPr sz="1750" i="1" spc="40" dirty="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sz="1750" i="1" spc="-55" dirty="0">
                <a:solidFill>
                  <a:srgbClr val="111111"/>
                </a:solidFill>
                <a:latin typeface="Cambria"/>
                <a:cs typeface="Cambria"/>
              </a:rPr>
              <a:t>preparing</a:t>
            </a:r>
            <a:r>
              <a:rPr sz="1750" i="1" spc="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750" i="1" spc="-10" dirty="0">
                <a:solidFill>
                  <a:srgbClr val="0C0C0C"/>
                </a:solidFill>
                <a:latin typeface="Cambria"/>
                <a:cs typeface="Cambria"/>
              </a:rPr>
              <a:t>data.</a:t>
            </a:r>
            <a:endParaRPr sz="175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915" y="222761"/>
            <a:ext cx="1614093" cy="7213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9535" y="1124478"/>
            <a:ext cx="3210560" cy="586740"/>
          </a:xfrm>
          <a:prstGeom prst="rect">
            <a:avLst/>
          </a:prstGeom>
          <a:solidFill>
            <a:srgbClr val="CC1F90"/>
          </a:solidFill>
        </p:spPr>
        <p:txBody>
          <a:bodyPr vert="horz" wrap="square" lIns="0" tIns="151130" rIns="0" bIns="0" rtlCol="0">
            <a:spAutoFit/>
          </a:bodyPr>
          <a:lstStyle/>
          <a:p>
            <a:pPr marL="866775">
              <a:lnSpc>
                <a:spcPct val="100000"/>
              </a:lnSpc>
              <a:spcBef>
                <a:spcPts val="1190"/>
              </a:spcBef>
            </a:pPr>
            <a:r>
              <a:rPr sz="1650" spc="50" dirty="0">
                <a:solidFill>
                  <a:srgbClr val="FFFFFF"/>
                </a:solidFill>
                <a:latin typeface="Arial MT"/>
                <a:cs typeface="Arial MT"/>
              </a:rPr>
              <a:t>Encodin</a:t>
            </a:r>
            <a:r>
              <a:rPr sz="1650" spc="-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FFFF"/>
                </a:solidFill>
                <a:latin typeface="Arial MT"/>
                <a:cs typeface="Arial MT"/>
              </a:rPr>
              <a:t>g</a:t>
            </a:r>
            <a:r>
              <a:rPr sz="1650" spc="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FFFF"/>
                </a:solidFill>
                <a:latin typeface="Arial MT"/>
                <a:cs typeface="Arial MT"/>
              </a:rPr>
              <a:t>da</a:t>
            </a:r>
            <a:r>
              <a:rPr sz="1650" spc="-2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25" dirty="0">
                <a:solidFill>
                  <a:srgbClr val="FFFFFF"/>
                </a:solidFill>
                <a:latin typeface="Arial MT"/>
                <a:cs typeface="Arial MT"/>
              </a:rPr>
              <a:t>ta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9535" y="1845852"/>
            <a:ext cx="3210560" cy="604520"/>
          </a:xfrm>
          <a:prstGeom prst="rect">
            <a:avLst/>
          </a:prstGeom>
          <a:solidFill>
            <a:srgbClr val="163342"/>
          </a:solidFill>
        </p:spPr>
        <p:txBody>
          <a:bodyPr vert="horz" wrap="square" lIns="0" tIns="152400" rIns="0" bIns="0" rtlCol="0">
            <a:spAutoFit/>
          </a:bodyPr>
          <a:lstStyle/>
          <a:p>
            <a:pPr marL="889635">
              <a:lnSpc>
                <a:spcPct val="100000"/>
              </a:lnSpc>
              <a:spcBef>
                <a:spcPts val="1200"/>
              </a:spcBef>
            </a:pPr>
            <a:r>
              <a:rPr sz="1850" spc="-30" dirty="0">
                <a:solidFill>
                  <a:srgbClr val="547E95"/>
                </a:solidFill>
                <a:latin typeface="Arial MT"/>
                <a:cs typeface="Arial MT"/>
              </a:rPr>
              <a:t>Cleaning</a:t>
            </a:r>
            <a:r>
              <a:rPr sz="1850" dirty="0">
                <a:solidFill>
                  <a:srgbClr val="547E95"/>
                </a:solidFill>
                <a:latin typeface="Arial MT"/>
                <a:cs typeface="Arial MT"/>
              </a:rPr>
              <a:t> </a:t>
            </a:r>
            <a:r>
              <a:rPr sz="1850" spc="-20" dirty="0">
                <a:solidFill>
                  <a:srgbClr val="6685A1"/>
                </a:solidFill>
                <a:latin typeface="Arial MT"/>
                <a:cs typeface="Arial MT"/>
              </a:rPr>
              <a:t>data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9535" y="2585259"/>
            <a:ext cx="3210560" cy="613410"/>
          </a:xfrm>
          <a:prstGeom prst="rect">
            <a:avLst/>
          </a:prstGeom>
          <a:solidFill>
            <a:srgbClr val="608995"/>
          </a:solidFill>
        </p:spPr>
        <p:txBody>
          <a:bodyPr vert="horz" wrap="square" lIns="0" tIns="165100" rIns="0" bIns="0" rtlCol="0">
            <a:spAutoFit/>
          </a:bodyPr>
          <a:lstStyle/>
          <a:p>
            <a:pPr marL="531495">
              <a:lnSpc>
                <a:spcPct val="100000"/>
              </a:lnSpc>
              <a:spcBef>
                <a:spcPts val="1300"/>
              </a:spcBef>
            </a:pPr>
            <a:r>
              <a:rPr sz="1750" dirty="0">
                <a:solidFill>
                  <a:srgbClr val="264D72"/>
                </a:solidFill>
                <a:latin typeface="Arial MT"/>
                <a:cs typeface="Arial MT"/>
              </a:rPr>
              <a:t>Finding</a:t>
            </a:r>
            <a:r>
              <a:rPr sz="1750" spc="215" dirty="0">
                <a:solidFill>
                  <a:srgbClr val="264D72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C5469"/>
                </a:solidFill>
                <a:latin typeface="Arial MT"/>
                <a:cs typeface="Arial MT"/>
              </a:rPr>
              <a:t>missing</a:t>
            </a:r>
            <a:r>
              <a:rPr sz="1750" spc="240" dirty="0">
                <a:solidFill>
                  <a:srgbClr val="1C546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93BACC"/>
                </a:solidFill>
                <a:latin typeface="Arial MT"/>
                <a:cs typeface="Arial MT"/>
              </a:rPr>
              <a:t>data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9535" y="3342701"/>
            <a:ext cx="3210560" cy="604520"/>
          </a:xfrm>
          <a:prstGeom prst="rect">
            <a:avLst/>
          </a:prstGeom>
          <a:solidFill>
            <a:srgbClr val="004F74"/>
          </a:solidFill>
        </p:spPr>
        <p:txBody>
          <a:bodyPr vert="horz" wrap="square" lIns="0" tIns="184150" rIns="0" bIns="0" rtlCol="0">
            <a:spAutoFit/>
          </a:bodyPr>
          <a:lstStyle/>
          <a:p>
            <a:pPr marL="713740">
              <a:lnSpc>
                <a:spcPct val="100000"/>
              </a:lnSpc>
              <a:spcBef>
                <a:spcPts val="1450"/>
              </a:spcBef>
            </a:pPr>
            <a:r>
              <a:rPr sz="1600" spc="105" dirty="0">
                <a:solidFill>
                  <a:srgbClr val="FFFFFF"/>
                </a:solidFill>
                <a:latin typeface="Arial MT"/>
                <a:cs typeface="Arial MT"/>
              </a:rPr>
              <a:t>HandIing</a:t>
            </a:r>
            <a:r>
              <a:rPr sz="1600" spc="2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FFFFFF"/>
                </a:solidFill>
                <a:latin typeface="Arial MT"/>
                <a:cs typeface="Arial MT"/>
              </a:rPr>
              <a:t>out</a:t>
            </a:r>
            <a:r>
              <a:rPr sz="1600" spc="-2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Iiers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114"/>
              </a:spcBef>
            </a:pPr>
            <a:r>
              <a:rPr sz="2200" dirty="0">
                <a:solidFill>
                  <a:srgbClr val="1C1C1C"/>
                </a:solidFill>
                <a:latin typeface="Arial MT"/>
                <a:cs typeface="Arial MT"/>
              </a:rPr>
              <a:t>Preparing</a:t>
            </a:r>
            <a:r>
              <a:rPr sz="2200" spc="5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1F1F1F"/>
                </a:solidFill>
                <a:latin typeface="Arial MT"/>
                <a:cs typeface="Arial MT"/>
              </a:rPr>
              <a:t>data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9646" y="1139582"/>
            <a:ext cx="7210425" cy="8013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635">
              <a:lnSpc>
                <a:spcPct val="105400"/>
              </a:lnSpc>
              <a:spcBef>
                <a:spcPts val="130"/>
              </a:spcBef>
            </a:pP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Nlost</a:t>
            </a:r>
            <a:r>
              <a:rPr sz="1600" spc="1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30" dirty="0">
                <a:solidFill>
                  <a:srgbClr val="161616"/>
                </a:solidFill>
                <a:latin typeface="Arial MT"/>
                <a:cs typeface="Arial MT"/>
              </a:rPr>
              <a:t>ML</a:t>
            </a:r>
            <a:r>
              <a:rPr sz="1600" spc="-5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algorithms</a:t>
            </a:r>
            <a:r>
              <a:rPr sz="1600" spc="8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work</a:t>
            </a:r>
            <a:r>
              <a:rPr sz="1600" spc="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best</a:t>
            </a:r>
            <a:r>
              <a:rPr sz="1600" spc="1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212121"/>
                </a:solidFill>
                <a:latin typeface="Arial MT"/>
                <a:cs typeface="Arial MT"/>
              </a:rPr>
              <a:t>with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numerical</a:t>
            </a:r>
            <a:r>
              <a:rPr sz="1600" spc="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data.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Therefore,</a:t>
            </a:r>
            <a:r>
              <a:rPr sz="1600" spc="15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you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D2D2D"/>
                </a:solidFill>
                <a:latin typeface="Arial MT"/>
                <a:cs typeface="Arial MT"/>
              </a:rPr>
              <a:t>must</a:t>
            </a:r>
            <a:r>
              <a:rPr sz="1600" spc="5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make </a:t>
            </a:r>
            <a:r>
              <a:rPr sz="1600" spc="-20" dirty="0">
                <a:solidFill>
                  <a:srgbClr val="282828"/>
                </a:solidFill>
                <a:latin typeface="Arial MT"/>
                <a:cs typeface="Arial MT"/>
              </a:rPr>
              <a:t>sure</a:t>
            </a:r>
            <a:r>
              <a:rPr sz="1600" spc="-3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070707"/>
                </a:solidFill>
                <a:latin typeface="Arial MT"/>
                <a:cs typeface="Arial MT"/>
              </a:rPr>
              <a:t>that</a:t>
            </a:r>
            <a:r>
              <a:rPr sz="1600" spc="-5" dirty="0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0C0C0C"/>
                </a:solidFill>
                <a:latin typeface="Arial MT"/>
                <a:cs typeface="Arial MT"/>
              </a:rPr>
              <a:t>all</a:t>
            </a:r>
            <a:r>
              <a:rPr sz="1600" spc="-4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columns</a:t>
            </a:r>
            <a:r>
              <a:rPr sz="1600" spc="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51515"/>
                </a:solidFill>
                <a:latin typeface="Arial MT"/>
                <a:cs typeface="Arial MT"/>
              </a:rPr>
              <a:t>in</a:t>
            </a:r>
            <a:r>
              <a:rPr sz="1600" spc="1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your</a:t>
            </a:r>
            <a:r>
              <a:rPr sz="1600" spc="5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dataset</a:t>
            </a:r>
            <a:r>
              <a:rPr sz="1600" spc="13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contain</a:t>
            </a:r>
            <a:r>
              <a:rPr sz="1600" spc="12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numeric</a:t>
            </a:r>
            <a:r>
              <a:rPr sz="1600" spc="10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data</a:t>
            </a:r>
            <a:r>
              <a:rPr sz="1600" spc="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by</a:t>
            </a:r>
            <a:r>
              <a:rPr sz="1600" spc="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converting</a:t>
            </a:r>
            <a:r>
              <a:rPr sz="16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A2A2A"/>
                </a:solidFill>
                <a:latin typeface="Arial MT"/>
                <a:cs typeface="Arial MT"/>
              </a:rPr>
              <a:t>or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encoding</a:t>
            </a:r>
            <a:r>
              <a:rPr sz="1600" spc="1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the</a:t>
            </a:r>
            <a:r>
              <a:rPr sz="1600" spc="16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61616"/>
                </a:solidFill>
                <a:latin typeface="Arial MT"/>
                <a:cs typeface="Arial MT"/>
              </a:rPr>
              <a:t>data.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9646" y="2172046"/>
            <a:ext cx="6938645" cy="78740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indent="6350">
              <a:lnSpc>
                <a:spcPct val="105400"/>
              </a:lnSpc>
              <a:spcBef>
                <a:spcPts val="20"/>
              </a:spcBef>
            </a:pPr>
            <a:r>
              <a:rPr sz="1600" spc="-65" dirty="0">
                <a:solidFill>
                  <a:srgbClr val="212121"/>
                </a:solidFill>
                <a:latin typeface="Arial MT"/>
                <a:cs typeface="Arial MT"/>
              </a:rPr>
              <a:t>You</a:t>
            </a:r>
            <a:r>
              <a:rPr sz="16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262626"/>
                </a:solidFill>
                <a:latin typeface="Arial MT"/>
                <a:cs typeface="Arial MT"/>
              </a:rPr>
              <a:t>might</a:t>
            </a:r>
            <a:r>
              <a:rPr sz="1600" spc="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need</a:t>
            </a:r>
            <a:r>
              <a:rPr sz="1600" spc="2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2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make</a:t>
            </a:r>
            <a:r>
              <a:rPr sz="1600" spc="4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12121"/>
                </a:solidFill>
                <a:latin typeface="Arial MT"/>
                <a:cs typeface="Arial MT"/>
              </a:rPr>
              <a:t>several</a:t>
            </a:r>
            <a:r>
              <a:rPr sz="1600" spc="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70" dirty="0">
                <a:solidFill>
                  <a:srgbClr val="161616"/>
                </a:solidFill>
                <a:latin typeface="Arial MT"/>
                <a:cs typeface="Arial MT"/>
              </a:rPr>
              <a:t>passes</a:t>
            </a:r>
            <a:r>
              <a:rPr sz="1600" spc="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through</a:t>
            </a:r>
            <a:r>
              <a:rPr sz="1600" spc="1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the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dataset</a:t>
            </a:r>
            <a:r>
              <a:rPr sz="16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before</a:t>
            </a:r>
            <a:r>
              <a:rPr sz="1600" spc="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you</a:t>
            </a:r>
            <a:r>
              <a:rPr sz="1600" spc="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A2A2A"/>
                </a:solidFill>
                <a:latin typeface="Arial MT"/>
                <a:cs typeface="Arial MT"/>
              </a:rPr>
              <a:t>can </a:t>
            </a:r>
            <a:r>
              <a:rPr sz="1600" spc="-10" dirty="0">
                <a:solidFill>
                  <a:srgbClr val="131313"/>
                </a:solidFill>
                <a:latin typeface="Arial MT"/>
                <a:cs typeface="Arial MT"/>
              </a:rPr>
              <a:t>encode</a:t>
            </a:r>
            <a:r>
              <a:rPr sz="1600" spc="6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it.</a:t>
            </a:r>
            <a:r>
              <a:rPr sz="1600" spc="2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sz="16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example,</a:t>
            </a:r>
            <a:r>
              <a:rPr sz="1600" spc="9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you</a:t>
            </a:r>
            <a:r>
              <a:rPr sz="1600" spc="-5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D1D1D"/>
                </a:solidFill>
                <a:latin typeface="Arial MT"/>
                <a:cs typeface="Arial MT"/>
              </a:rPr>
              <a:t>might</a:t>
            </a:r>
            <a:r>
              <a:rPr sz="1600" spc="2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have</a:t>
            </a:r>
            <a:r>
              <a:rPr sz="1600" spc="5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variability</a:t>
            </a:r>
            <a:r>
              <a:rPr sz="16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in</a:t>
            </a:r>
            <a:r>
              <a:rPr sz="1600" spc="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the </a:t>
            </a:r>
            <a:r>
              <a:rPr sz="1600" spc="50" dirty="0">
                <a:solidFill>
                  <a:srgbClr val="111111"/>
                </a:solidFill>
                <a:latin typeface="Arial MT"/>
                <a:cs typeface="Arial MT"/>
              </a:rPr>
              <a:t>text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50505"/>
                </a:solidFill>
                <a:latin typeface="Arial MT"/>
                <a:cs typeface="Arial MT"/>
              </a:rPr>
              <a:t>values</a:t>
            </a:r>
            <a:r>
              <a:rPr sz="1600" spc="5" dirty="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F1F1F"/>
                </a:solidFill>
                <a:latin typeface="Arial MT"/>
                <a:cs typeface="Arial MT"/>
              </a:rPr>
              <a:t>(for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example,</a:t>
            </a:r>
            <a:r>
              <a:rPr sz="1600" spc="3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Arial MT"/>
                <a:cs typeface="Arial MT"/>
              </a:rPr>
              <a:t>some</a:t>
            </a:r>
            <a:r>
              <a:rPr sz="1600" spc="-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rows</a:t>
            </a:r>
            <a:r>
              <a:rPr sz="160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61616"/>
                </a:solidFill>
                <a:latin typeface="Arial MT"/>
                <a:cs typeface="Arial MT"/>
              </a:rPr>
              <a:t>might</a:t>
            </a:r>
            <a:r>
              <a:rPr sz="1600" spc="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contain</a:t>
            </a:r>
            <a:r>
              <a:rPr sz="1600" spc="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1C1C1C"/>
                </a:solidFill>
                <a:latin typeface="Arial MT"/>
                <a:cs typeface="Arial MT"/>
              </a:rPr>
              <a:t>both</a:t>
            </a:r>
            <a:r>
              <a:rPr sz="1600" spc="-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i="1" dirty="0">
                <a:solidFill>
                  <a:srgbClr val="161616"/>
                </a:solidFill>
                <a:latin typeface="Arial"/>
                <a:cs typeface="Arial"/>
              </a:rPr>
              <a:t>Medium</a:t>
            </a:r>
            <a:r>
              <a:rPr sz="1600" i="1" spc="35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sz="1600" spc="-9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Medj.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6959" y="3190986"/>
            <a:ext cx="7171690" cy="78740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20320" marR="5080" indent="-8255">
              <a:lnSpc>
                <a:spcPct val="105400"/>
              </a:lnSpc>
              <a:spcBef>
                <a:spcPts val="20"/>
              </a:spcBef>
            </a:pP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If</a:t>
            </a:r>
            <a:r>
              <a:rPr sz="1600" spc="1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sz="1600" spc="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categorical</a:t>
            </a:r>
            <a:r>
              <a:rPr sz="1600" spc="8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data</a:t>
            </a:r>
            <a:r>
              <a:rPr sz="1600" spc="3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has</a:t>
            </a:r>
            <a:r>
              <a:rPr sz="1600" spc="6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order</a:t>
            </a:r>
            <a:r>
              <a:rPr sz="1600" spc="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262626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it,</a:t>
            </a:r>
            <a:r>
              <a:rPr sz="1600" spc="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you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can</a:t>
            </a:r>
            <a:r>
              <a:rPr sz="1600" spc="8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31313"/>
                </a:solidFill>
                <a:latin typeface="Arial MT"/>
                <a:cs typeface="Arial MT"/>
              </a:rPr>
              <a:t>encode</a:t>
            </a:r>
            <a:r>
              <a:rPr sz="1600" spc="6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the</a:t>
            </a:r>
            <a:r>
              <a:rPr sz="1600" spc="-6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1F1F1F"/>
                </a:solidFill>
                <a:latin typeface="Arial MT"/>
                <a:cs typeface="Arial MT"/>
              </a:rPr>
              <a:t>text</a:t>
            </a:r>
            <a:r>
              <a:rPr sz="1600" spc="-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31313"/>
                </a:solidFill>
                <a:latin typeface="Arial MT"/>
                <a:cs typeface="Arial MT"/>
              </a:rPr>
              <a:t>into</a:t>
            </a:r>
            <a:r>
              <a:rPr sz="1600" spc="-8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numerical </a:t>
            </a:r>
            <a:r>
              <a:rPr sz="1600" spc="-25" dirty="0">
                <a:latin typeface="Arial MT"/>
                <a:cs typeface="Arial MT"/>
              </a:rPr>
              <a:t>vatues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81818"/>
                </a:solidFill>
                <a:latin typeface="Arial MT"/>
                <a:cs typeface="Arial MT"/>
              </a:rPr>
              <a:t>that</a:t>
            </a:r>
            <a:r>
              <a:rPr sz="1600" spc="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capture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this</a:t>
            </a:r>
            <a:r>
              <a:rPr sz="1600" spc="10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ordinal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relationship.</a:t>
            </a:r>
            <a:r>
              <a:rPr sz="1600" spc="17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spc="-30" dirty="0">
                <a:solidFill>
                  <a:srgbClr val="1F1F1F"/>
                </a:solidFill>
                <a:latin typeface="Arial MT"/>
                <a:cs typeface="Arial MT"/>
              </a:rPr>
              <a:t>For</a:t>
            </a:r>
            <a:r>
              <a:rPr sz="160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11111"/>
                </a:solidFill>
                <a:latin typeface="Arial MT"/>
                <a:cs typeface="Arial MT"/>
              </a:rPr>
              <a:t>that</a:t>
            </a:r>
            <a:r>
              <a:rPr sz="1600" spc="9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C0C0C"/>
                </a:solidFill>
                <a:latin typeface="Arial MT"/>
                <a:cs typeface="Arial MT"/>
              </a:rPr>
              <a:t>shows</a:t>
            </a:r>
            <a:r>
              <a:rPr sz="1600" spc="1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81818"/>
                </a:solidFill>
                <a:latin typeface="Arial MT"/>
                <a:cs typeface="Arial MT"/>
              </a:rPr>
              <a:t>maintenance </a:t>
            </a:r>
            <a:r>
              <a:rPr sz="1600" spc="-25" dirty="0">
                <a:solidFill>
                  <a:srgbClr val="1C1C1C"/>
                </a:solidFill>
                <a:latin typeface="Arial MT"/>
                <a:cs typeface="Arial MT"/>
              </a:rPr>
              <a:t>costs,</a:t>
            </a:r>
            <a:r>
              <a:rPr sz="1600" spc="-6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you</a:t>
            </a:r>
            <a:r>
              <a:rPr sz="1600" spc="-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C1C1C"/>
                </a:solidFill>
                <a:latin typeface="Arial MT"/>
                <a:cs typeface="Arial MT"/>
              </a:rPr>
              <a:t>might</a:t>
            </a:r>
            <a:r>
              <a:rPr sz="1600" spc="-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Arial MT"/>
                <a:cs typeface="Arial MT"/>
              </a:rPr>
              <a:t>encode </a:t>
            </a:r>
            <a:r>
              <a:rPr sz="1600" i="1" dirty="0">
                <a:solidFill>
                  <a:srgbClr val="0F0F0F"/>
                </a:solidFill>
                <a:latin typeface="Arial"/>
                <a:cs typeface="Arial"/>
              </a:rPr>
              <a:t>Low</a:t>
            </a:r>
            <a:r>
              <a:rPr sz="1600" i="1" spc="-25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to</a:t>
            </a:r>
            <a:r>
              <a:rPr sz="1600" spc="3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114" dirty="0">
                <a:solidFill>
                  <a:srgbClr val="2D2D2D"/>
                </a:solidFill>
                <a:latin typeface="Arial MT"/>
                <a:cs typeface="Arial MT"/>
              </a:rPr>
              <a:t>7,</a:t>
            </a:r>
            <a:r>
              <a:rPr sz="1600" spc="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i="1" dirty="0">
                <a:solidFill>
                  <a:srgbClr val="212121"/>
                </a:solidFill>
                <a:latin typeface="Arial"/>
                <a:cs typeface="Arial"/>
              </a:rPr>
              <a:t>Medium</a:t>
            </a:r>
            <a:r>
              <a:rPr sz="1600" i="1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to</a:t>
            </a:r>
            <a:r>
              <a:rPr sz="1600" spc="21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2,</a:t>
            </a:r>
            <a:r>
              <a:rPr sz="1600" spc="-3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i="1" dirty="0">
                <a:solidFill>
                  <a:srgbClr val="1A1A1A"/>
                </a:solidFill>
                <a:latin typeface="Arial"/>
                <a:cs typeface="Arial"/>
              </a:rPr>
              <a:t>High</a:t>
            </a:r>
            <a:r>
              <a:rPr sz="1600" i="1" spc="-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to</a:t>
            </a:r>
            <a:r>
              <a:rPr sz="1600" spc="12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spc="-75" dirty="0">
                <a:solidFill>
                  <a:srgbClr val="313131"/>
                </a:solidFill>
                <a:latin typeface="Arial MT"/>
                <a:cs typeface="Arial MT"/>
              </a:rPr>
              <a:t>S,</a:t>
            </a:r>
            <a:r>
              <a:rPr sz="1600" spc="-4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600" spc="-1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i="1" spc="-20" dirty="0">
                <a:solidFill>
                  <a:srgbClr val="232323"/>
                </a:solidFill>
                <a:latin typeface="Arial"/>
                <a:cs typeface="Arial"/>
              </a:rPr>
              <a:t>Very</a:t>
            </a:r>
            <a:r>
              <a:rPr sz="1600" i="1" spc="4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212121"/>
                </a:solidFill>
                <a:latin typeface="Arial"/>
                <a:cs typeface="Arial"/>
              </a:rPr>
              <a:t>High</a:t>
            </a:r>
            <a:r>
              <a:rPr sz="1600" i="1" spc="-6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to</a:t>
            </a:r>
            <a:r>
              <a:rPr sz="1600" spc="1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i="1" spc="-25" dirty="0">
                <a:solidFill>
                  <a:srgbClr val="161616"/>
                </a:solidFill>
                <a:latin typeface="Arial"/>
                <a:cs typeface="Arial"/>
              </a:rPr>
              <a:t>4.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09746" y="4196400"/>
            <a:ext cx="7378065" cy="548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540">
              <a:lnSpc>
                <a:spcPct val="107200"/>
              </a:lnSpc>
              <a:spcBef>
                <a:spcPts val="95"/>
              </a:spcBef>
            </a:pPr>
            <a:r>
              <a:rPr sz="1600" spc="-10" dirty="0">
                <a:solidFill>
                  <a:srgbClr val="0F0F0F"/>
                </a:solidFill>
                <a:latin typeface="Arial MT"/>
                <a:cs typeface="Arial MT"/>
              </a:rPr>
              <a:t>Tools</a:t>
            </a:r>
            <a:r>
              <a:rPr sz="1600" spc="1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are</a:t>
            </a:r>
            <a:r>
              <a:rPr sz="1600" spc="-2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available</a:t>
            </a:r>
            <a:r>
              <a:rPr sz="1600" spc="10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18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encode</a:t>
            </a:r>
            <a:r>
              <a:rPr sz="1600" spc="7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your</a:t>
            </a:r>
            <a:r>
              <a:rPr sz="1600" spc="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categorical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data</a:t>
            </a:r>
            <a:r>
              <a:rPr sz="1600" spc="7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after</a:t>
            </a:r>
            <a:r>
              <a:rPr sz="160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you</a:t>
            </a:r>
            <a:r>
              <a:rPr sz="1600" spc="-5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make</a:t>
            </a:r>
            <a:r>
              <a:rPr sz="1600" spc="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C1C1C"/>
                </a:solidFill>
                <a:latin typeface="Arial MT"/>
                <a:cs typeface="Arial MT"/>
              </a:rPr>
              <a:t>sure</a:t>
            </a:r>
            <a:r>
              <a:rPr sz="1600" spc="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11111"/>
                </a:solidFill>
                <a:latin typeface="Arial MT"/>
                <a:cs typeface="Arial MT"/>
              </a:rPr>
              <a:t>that</a:t>
            </a:r>
            <a:r>
              <a:rPr sz="1600" spc="-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it</a:t>
            </a:r>
            <a:r>
              <a:rPr sz="1600" spc="1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62626"/>
                </a:solidFill>
                <a:latin typeface="Arial MT"/>
                <a:cs typeface="Arial MT"/>
              </a:rPr>
              <a:t>is </a:t>
            </a:r>
            <a:r>
              <a:rPr sz="2400" baseline="1736" dirty="0">
                <a:solidFill>
                  <a:srgbClr val="0C0C0C"/>
                </a:solidFill>
                <a:latin typeface="Arial MT"/>
                <a:cs typeface="Arial MT"/>
              </a:rPr>
              <a:t>all</a:t>
            </a:r>
            <a:r>
              <a:rPr sz="2400" spc="502" baseline="1736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400" baseline="1736" dirty="0">
                <a:solidFill>
                  <a:srgbClr val="131313"/>
                </a:solidFill>
                <a:latin typeface="Arial MT"/>
                <a:cs typeface="Arial MT"/>
              </a:rPr>
              <a:t>uniform.</a:t>
            </a:r>
            <a:r>
              <a:rPr sz="2400" spc="292" baseline="1736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400" spc="-67" baseline="1736" dirty="0">
                <a:solidFill>
                  <a:srgbClr val="1F1F1F"/>
                </a:solidFill>
                <a:latin typeface="Arial MT"/>
                <a:cs typeface="Arial MT"/>
              </a:rPr>
              <a:t>You</a:t>
            </a:r>
            <a:r>
              <a:rPr sz="2400" spc="112" baseline="1736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D1D1D"/>
                </a:solidFill>
                <a:latin typeface="Arial MT"/>
                <a:cs typeface="Arial MT"/>
              </a:rPr>
              <a:t>will</a:t>
            </a:r>
            <a:r>
              <a:rPr sz="1600" spc="1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400" baseline="1736" dirty="0">
                <a:solidFill>
                  <a:srgbClr val="181818"/>
                </a:solidFill>
                <a:latin typeface="Arial MT"/>
                <a:cs typeface="Arial MT"/>
              </a:rPr>
              <a:t>learn</a:t>
            </a:r>
            <a:r>
              <a:rPr sz="2400" spc="195" baseline="1736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baseline="1736" dirty="0">
                <a:solidFill>
                  <a:srgbClr val="1A1A1A"/>
                </a:solidFill>
                <a:latin typeface="Arial MT"/>
                <a:cs typeface="Arial MT"/>
              </a:rPr>
              <a:t>about</a:t>
            </a:r>
            <a:r>
              <a:rPr sz="2400" spc="165" baseline="1736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2400" baseline="1736" dirty="0">
                <a:solidFill>
                  <a:srgbClr val="181818"/>
                </a:solidFill>
                <a:latin typeface="Arial MT"/>
                <a:cs typeface="Arial MT"/>
              </a:rPr>
              <a:t>tools</a:t>
            </a:r>
            <a:r>
              <a:rPr sz="2400" spc="52" baseline="1736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baseline="1736" dirty="0">
                <a:solidFill>
                  <a:srgbClr val="0E0E0E"/>
                </a:solidFill>
                <a:latin typeface="Arial MT"/>
                <a:cs typeface="Arial MT"/>
              </a:rPr>
              <a:t>later</a:t>
            </a:r>
            <a:r>
              <a:rPr sz="2400" spc="179" baseline="1736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2400" baseline="1736" dirty="0">
                <a:solidFill>
                  <a:srgbClr val="181818"/>
                </a:solidFill>
                <a:latin typeface="Arial MT"/>
                <a:cs typeface="Arial MT"/>
              </a:rPr>
              <a:t>in</a:t>
            </a:r>
            <a:r>
              <a:rPr sz="2400" spc="179" baseline="1736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400" baseline="1736" dirty="0">
                <a:solidFill>
                  <a:srgbClr val="212121"/>
                </a:solidFill>
                <a:latin typeface="Arial MT"/>
                <a:cs typeface="Arial MT"/>
              </a:rPr>
              <a:t>this</a:t>
            </a:r>
            <a:r>
              <a:rPr sz="2400" spc="67" baseline="1736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400" spc="-15" baseline="1736" dirty="0">
                <a:solidFill>
                  <a:srgbClr val="0A0A0A"/>
                </a:solidFill>
                <a:latin typeface="Arial MT"/>
                <a:cs typeface="Arial MT"/>
              </a:rPr>
              <a:t>course.</a:t>
            </a:r>
            <a:endParaRPr sz="2400" baseline="1736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9349" y="292990"/>
            <a:ext cx="1631314" cy="0"/>
          </a:xfrm>
          <a:custGeom>
            <a:avLst/>
            <a:gdLst/>
            <a:ahLst/>
            <a:cxnLst/>
            <a:rect l="l" t="t" r="r" b="b"/>
            <a:pathLst>
              <a:path w="1631314">
                <a:moveTo>
                  <a:pt x="0" y="0"/>
                </a:moveTo>
                <a:lnTo>
                  <a:pt x="1630992" y="0"/>
                </a:lnTo>
              </a:path>
            </a:pathLst>
          </a:custGeom>
          <a:ln w="21103">
            <a:solidFill>
              <a:srgbClr val="DF5B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1329" y="1153711"/>
            <a:ext cx="3220085" cy="588010"/>
          </a:xfrm>
          <a:prstGeom prst="rect">
            <a:avLst/>
          </a:prstGeom>
          <a:solidFill>
            <a:srgbClr val="11445B"/>
          </a:solidFill>
        </p:spPr>
        <p:txBody>
          <a:bodyPr vert="horz" wrap="square" lIns="0" tIns="151765" rIns="0" bIns="0" rtlCol="0">
            <a:spAutoFit/>
          </a:bodyPr>
          <a:lstStyle/>
          <a:p>
            <a:pPr marL="869315">
              <a:lnSpc>
                <a:spcPct val="100000"/>
              </a:lnSpc>
              <a:spcBef>
                <a:spcPts val="1195"/>
              </a:spcBef>
            </a:pPr>
            <a:r>
              <a:rPr sz="1650" spc="55" dirty="0">
                <a:solidFill>
                  <a:srgbClr val="6D93A5"/>
                </a:solidFill>
                <a:latin typeface="Arial MT"/>
                <a:cs typeface="Arial MT"/>
              </a:rPr>
              <a:t>Encoding</a:t>
            </a:r>
            <a:r>
              <a:rPr sz="1650" spc="229" dirty="0">
                <a:solidFill>
                  <a:srgbClr val="6D93A5"/>
                </a:solidFill>
                <a:latin typeface="Arial MT"/>
                <a:cs typeface="Arial MT"/>
              </a:rPr>
              <a:t> </a:t>
            </a:r>
            <a:r>
              <a:rPr sz="1650" spc="45" dirty="0">
                <a:solidFill>
                  <a:srgbClr val="3D7E9C"/>
                </a:solidFill>
                <a:latin typeface="Arial MT"/>
                <a:cs typeface="Arial MT"/>
              </a:rPr>
              <a:t>data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1329" y="1868214"/>
            <a:ext cx="3220085" cy="615315"/>
          </a:xfrm>
          <a:prstGeom prst="rect">
            <a:avLst/>
          </a:prstGeom>
          <a:solidFill>
            <a:srgbClr val="C8218C"/>
          </a:solidFill>
        </p:spPr>
        <p:txBody>
          <a:bodyPr vert="horz" wrap="square" lIns="0" tIns="168910" rIns="0" bIns="0" rtlCol="0">
            <a:spAutoFit/>
          </a:bodyPr>
          <a:lstStyle/>
          <a:p>
            <a:pPr marL="892810">
              <a:lnSpc>
                <a:spcPct val="100000"/>
              </a:lnSpc>
              <a:spcBef>
                <a:spcPts val="133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Cleaning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1329" y="2609850"/>
            <a:ext cx="3220085" cy="624205"/>
          </a:xfrm>
          <a:prstGeom prst="rect">
            <a:avLst/>
          </a:prstGeom>
          <a:solidFill>
            <a:srgbClr val="034F70"/>
          </a:solidFill>
        </p:spPr>
        <p:txBody>
          <a:bodyPr vert="horz" wrap="square" lIns="0" tIns="168910" rIns="0" bIns="0" rtlCol="0">
            <a:spAutoFit/>
          </a:bodyPr>
          <a:lstStyle/>
          <a:p>
            <a:pPr marL="541655">
              <a:lnSpc>
                <a:spcPct val="100000"/>
              </a:lnSpc>
              <a:spcBef>
                <a:spcPts val="133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Finding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missing</a:t>
            </a:r>
            <a:r>
              <a:rPr sz="180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 MT"/>
                <a:cs typeface="Arial MT"/>
              </a:rPr>
              <a:t>da</a:t>
            </a:r>
            <a:r>
              <a:rPr sz="1800" spc="-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1329" y="3369575"/>
            <a:ext cx="3220085" cy="615315"/>
          </a:xfrm>
          <a:prstGeom prst="rect">
            <a:avLst/>
          </a:prstGeom>
          <a:solidFill>
            <a:srgbClr val="0C4B67"/>
          </a:solidFill>
        </p:spPr>
        <p:txBody>
          <a:bodyPr vert="horz" wrap="square" lIns="0" tIns="156210" rIns="0" bIns="0" rtlCol="0">
            <a:spAutoFit/>
          </a:bodyPr>
          <a:lstStyle/>
          <a:p>
            <a:pPr marL="716280">
              <a:lnSpc>
                <a:spcPct val="100000"/>
              </a:lnSpc>
              <a:spcBef>
                <a:spcPts val="1230"/>
              </a:spcBef>
            </a:pP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handling</a:t>
            </a:r>
            <a:r>
              <a:rPr sz="1900" spc="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</a:rPr>
              <a:t>outhers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68919" y="3188688"/>
            <a:ext cx="7407909" cy="398145"/>
            <a:chOff x="4268919" y="3188688"/>
            <a:chExt cx="7407909" cy="39814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15651" y="3324353"/>
              <a:ext cx="524570" cy="12662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268919" y="3188688"/>
              <a:ext cx="7407909" cy="398145"/>
            </a:xfrm>
            <a:custGeom>
              <a:avLst/>
              <a:gdLst/>
              <a:ahLst/>
              <a:cxnLst/>
              <a:rect l="l" t="t" r="r" b="b"/>
              <a:pathLst>
                <a:path w="7407909" h="398145">
                  <a:moveTo>
                    <a:pt x="7407299" y="397951"/>
                  </a:moveTo>
                  <a:lnTo>
                    <a:pt x="0" y="397951"/>
                  </a:lnTo>
                  <a:lnTo>
                    <a:pt x="0" y="0"/>
                  </a:lnTo>
                  <a:lnTo>
                    <a:pt x="7407299" y="0"/>
                  </a:lnTo>
                  <a:lnTo>
                    <a:pt x="7407299" y="397951"/>
                  </a:lnTo>
                  <a:close/>
                </a:path>
              </a:pathLst>
            </a:custGeom>
            <a:solidFill>
              <a:srgbClr val="2D2D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268919" y="3188688"/>
            <a:ext cx="7407909" cy="39814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695"/>
              </a:spcBef>
              <a:tabLst>
                <a:tab pos="2564130" algn="l"/>
              </a:tabLst>
            </a:pP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Typ</a:t>
            </a:r>
            <a:r>
              <a:rPr sz="13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13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1300" spc="-10" dirty="0">
                <a:solidFill>
                  <a:srgbClr val="FFFFFF"/>
                </a:solidFill>
                <a:latin typeface="Arial MT"/>
                <a:cs typeface="Arial MT"/>
              </a:rPr>
              <a:t>Exampie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619729" y="377265"/>
            <a:ext cx="1802130" cy="372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71550" algn="l"/>
              </a:tabLst>
            </a:pPr>
            <a:r>
              <a:rPr dirty="0">
                <a:solidFill>
                  <a:srgbClr val="1D1D1D"/>
                </a:solidFill>
                <a:latin typeface="Arial MT"/>
                <a:cs typeface="Arial MT"/>
              </a:rPr>
              <a:t>rep</a:t>
            </a:r>
            <a:r>
              <a:rPr spc="55" dirty="0">
                <a:solidFill>
                  <a:srgbClr val="1D1D1D"/>
                </a:solidFill>
                <a:latin typeface="Arial MT"/>
                <a:cs typeface="Arial MT"/>
              </a:rPr>
              <a:t>  </a:t>
            </a:r>
            <a:r>
              <a:rPr spc="-25" dirty="0">
                <a:solidFill>
                  <a:srgbClr val="1D1D1D"/>
                </a:solidFill>
                <a:latin typeface="Arial MT"/>
                <a:cs typeface="Arial MT"/>
              </a:rPr>
              <a:t>ri</a:t>
            </a:r>
            <a:r>
              <a:rPr dirty="0">
                <a:solidFill>
                  <a:srgbClr val="1D1D1D"/>
                </a:solidFill>
                <a:latin typeface="Arial MT"/>
                <a:cs typeface="Arial MT"/>
              </a:rPr>
              <a:t>	</a:t>
            </a:r>
            <a:r>
              <a:rPr dirty="0">
                <a:solidFill>
                  <a:srgbClr val="262626"/>
                </a:solidFill>
                <a:latin typeface="Arial MT"/>
                <a:cs typeface="Arial MT"/>
              </a:rPr>
              <a:t>g</a:t>
            </a:r>
            <a:r>
              <a:rPr spc="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pc="-20" dirty="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110854" y="1176685"/>
            <a:ext cx="7320280" cy="8032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" marR="5080" indent="-12065">
              <a:lnSpc>
                <a:spcPct val="109100"/>
              </a:lnSpc>
              <a:spcBef>
                <a:spcPts val="130"/>
              </a:spcBef>
            </a:pPr>
            <a:r>
              <a:rPr sz="1550" dirty="0">
                <a:solidFill>
                  <a:srgbClr val="212121"/>
                </a:solidFill>
                <a:latin typeface="Arial MT"/>
                <a:cs typeface="Arial MT"/>
              </a:rPr>
              <a:t>In</a:t>
            </a:r>
            <a:r>
              <a:rPr sz="1550" spc="2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550" spc="60" dirty="0">
                <a:solidFill>
                  <a:srgbClr val="1A1A1A"/>
                </a:solidFill>
                <a:latin typeface="Arial MT"/>
                <a:cs typeface="Arial MT"/>
              </a:rPr>
              <a:t>addition</a:t>
            </a:r>
            <a:r>
              <a:rPr sz="1550" spc="1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50" spc="6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550" spc="229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F0F0F"/>
                </a:solidFill>
                <a:latin typeface="Arial MT"/>
                <a:cs typeface="Arial MT"/>
              </a:rPr>
              <a:t>converting</a:t>
            </a:r>
            <a:r>
              <a:rPr sz="1550" spc="23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550" spc="50" dirty="0">
                <a:solidFill>
                  <a:srgbClr val="111111"/>
                </a:solidFill>
                <a:latin typeface="Arial MT"/>
                <a:cs typeface="Arial MT"/>
              </a:rPr>
              <a:t>string</a:t>
            </a:r>
            <a:r>
              <a:rPr sz="1550" spc="16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F0F0F"/>
                </a:solidFill>
                <a:latin typeface="Arial MT"/>
                <a:cs typeface="Arial MT"/>
              </a:rPr>
              <a:t>data</a:t>
            </a:r>
            <a:r>
              <a:rPr sz="1550" spc="2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81818"/>
                </a:solidFill>
                <a:latin typeface="Arial MT"/>
                <a:cs typeface="Arial MT"/>
              </a:rPr>
              <a:t>to</a:t>
            </a:r>
            <a:r>
              <a:rPr sz="1550" spc="2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F0F0F"/>
                </a:solidFill>
                <a:latin typeface="Arial MT"/>
                <a:cs typeface="Arial MT"/>
              </a:rPr>
              <a:t>numerical</a:t>
            </a:r>
            <a:r>
              <a:rPr sz="1550" spc="15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C1C1C"/>
                </a:solidFill>
                <a:latin typeface="Arial MT"/>
                <a:cs typeface="Arial MT"/>
              </a:rPr>
              <a:t>data,</a:t>
            </a:r>
            <a:r>
              <a:rPr sz="1550" spc="1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31313"/>
                </a:solidFill>
                <a:latin typeface="Arial MT"/>
                <a:cs typeface="Arial MT"/>
              </a:rPr>
              <a:t>you</a:t>
            </a:r>
            <a:r>
              <a:rPr sz="1550" spc="7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550" spc="80" dirty="0">
                <a:solidFill>
                  <a:srgbClr val="161616"/>
                </a:solidFill>
                <a:latin typeface="Arial MT"/>
                <a:cs typeface="Arial MT"/>
              </a:rPr>
              <a:t>must</a:t>
            </a:r>
            <a:r>
              <a:rPr sz="1550" spc="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D1D1D"/>
                </a:solidFill>
                <a:latin typeface="Arial MT"/>
                <a:cs typeface="Arial MT"/>
              </a:rPr>
              <a:t>clean</a:t>
            </a:r>
            <a:r>
              <a:rPr sz="1550" spc="17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262626"/>
                </a:solidFill>
                <a:latin typeface="Arial MT"/>
                <a:cs typeface="Arial MT"/>
              </a:rPr>
              <a:t>your </a:t>
            </a:r>
            <a:r>
              <a:rPr sz="1550" dirty="0">
                <a:solidFill>
                  <a:srgbClr val="0F0F0F"/>
                </a:solidFill>
                <a:latin typeface="Arial MT"/>
                <a:cs typeface="Arial MT"/>
              </a:rPr>
              <a:t>dataset</a:t>
            </a:r>
            <a:r>
              <a:rPr sz="1550" spc="10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82828"/>
                </a:solidFill>
                <a:latin typeface="Arial MT"/>
                <a:cs typeface="Arial MT"/>
              </a:rPr>
              <a:t>for</a:t>
            </a:r>
            <a:r>
              <a:rPr sz="1550" spc="34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31313"/>
                </a:solidFill>
                <a:latin typeface="Arial MT"/>
                <a:cs typeface="Arial MT"/>
              </a:rPr>
              <a:t>several</a:t>
            </a:r>
            <a:r>
              <a:rPr sz="1550" spc="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550" spc="70" dirty="0">
                <a:solidFill>
                  <a:srgbClr val="1A1A1A"/>
                </a:solidFill>
                <a:latin typeface="Arial MT"/>
                <a:cs typeface="Arial MT"/>
              </a:rPr>
              <a:t>other</a:t>
            </a:r>
            <a:r>
              <a:rPr sz="1550" spc="6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50" spc="70" dirty="0">
                <a:solidFill>
                  <a:srgbClr val="151515"/>
                </a:solidFill>
                <a:latin typeface="Arial MT"/>
                <a:cs typeface="Arial MT"/>
              </a:rPr>
              <a:t>potential </a:t>
            </a:r>
            <a:r>
              <a:rPr sz="1550" spc="55" dirty="0">
                <a:solidFill>
                  <a:srgbClr val="080808"/>
                </a:solidFill>
                <a:latin typeface="Arial MT"/>
                <a:cs typeface="Arial MT"/>
              </a:rPr>
              <a:t>problem</a:t>
            </a:r>
            <a:r>
              <a:rPr sz="1550" spc="125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C1C1C"/>
                </a:solidFill>
                <a:latin typeface="Arial MT"/>
                <a:cs typeface="Arial MT"/>
              </a:rPr>
              <a:t>areas.</a:t>
            </a:r>
            <a:r>
              <a:rPr sz="1550" spc="10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F0F0F"/>
                </a:solidFill>
                <a:latin typeface="Arial MT"/>
                <a:cs typeface="Arial MT"/>
              </a:rPr>
              <a:t>Before</a:t>
            </a:r>
            <a:r>
              <a:rPr sz="1550" spc="8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61616"/>
                </a:solidFill>
                <a:latin typeface="Arial MT"/>
                <a:cs typeface="Arial MT"/>
              </a:rPr>
              <a:t>you</a:t>
            </a:r>
            <a:r>
              <a:rPr sz="1550" spc="4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31313"/>
                </a:solidFill>
                <a:latin typeface="Arial MT"/>
                <a:cs typeface="Arial MT"/>
              </a:rPr>
              <a:t>encode</a:t>
            </a:r>
            <a:r>
              <a:rPr sz="1550" spc="4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550" spc="3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550" spc="40" dirty="0">
                <a:solidFill>
                  <a:srgbClr val="181818"/>
                </a:solidFill>
                <a:latin typeface="Arial MT"/>
                <a:cs typeface="Arial MT"/>
              </a:rPr>
              <a:t>string </a:t>
            </a:r>
            <a:r>
              <a:rPr sz="1550" dirty="0">
                <a:latin typeface="Arial MT"/>
                <a:cs typeface="Arial MT"/>
              </a:rPr>
              <a:t>data,</a:t>
            </a:r>
            <a:r>
              <a:rPr sz="1550" spc="95" dirty="0"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F1F1F"/>
                </a:solidFill>
                <a:latin typeface="Arial MT"/>
                <a:cs typeface="Arial MT"/>
              </a:rPr>
              <a:t>you</a:t>
            </a:r>
            <a:r>
              <a:rPr sz="1550" spc="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550" spc="50" dirty="0">
                <a:solidFill>
                  <a:srgbClr val="1F1F1F"/>
                </a:solidFill>
                <a:latin typeface="Arial MT"/>
                <a:cs typeface="Arial MT"/>
              </a:rPr>
              <a:t>must</a:t>
            </a:r>
            <a:r>
              <a:rPr sz="1550" spc="17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2121"/>
                </a:solidFill>
                <a:latin typeface="Arial MT"/>
                <a:cs typeface="Arial MT"/>
              </a:rPr>
              <a:t>make</a:t>
            </a:r>
            <a:r>
              <a:rPr sz="155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D1D1D"/>
                </a:solidFill>
                <a:latin typeface="Arial MT"/>
                <a:cs typeface="Arial MT"/>
              </a:rPr>
              <a:t>sure</a:t>
            </a:r>
            <a:r>
              <a:rPr sz="1550" spc="8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550" spc="90" dirty="0">
                <a:solidFill>
                  <a:srgbClr val="181818"/>
                </a:solidFill>
                <a:latin typeface="Arial MT"/>
                <a:cs typeface="Arial MT"/>
              </a:rPr>
              <a:t>that</a:t>
            </a:r>
            <a:r>
              <a:rPr sz="1550" spc="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550" spc="8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550" spc="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81818"/>
                </a:solidFill>
                <a:latin typeface="Arial MT"/>
                <a:cs typeface="Arial MT"/>
              </a:rPr>
              <a:t>strings</a:t>
            </a:r>
            <a:r>
              <a:rPr sz="1550" spc="114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2121"/>
                </a:solidFill>
                <a:latin typeface="Arial MT"/>
                <a:cs typeface="Arial MT"/>
              </a:rPr>
              <a:t>are</a:t>
            </a:r>
            <a:r>
              <a:rPr sz="1550" spc="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C1C1C"/>
                </a:solidFill>
                <a:latin typeface="Arial MT"/>
                <a:cs typeface="Arial MT"/>
              </a:rPr>
              <a:t>atl</a:t>
            </a:r>
            <a:r>
              <a:rPr sz="1550" spc="17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consistent.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08522" y="2194676"/>
            <a:ext cx="4601210" cy="550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8435" indent="-165735">
              <a:lnSpc>
                <a:spcPts val="2045"/>
              </a:lnSpc>
              <a:spcBef>
                <a:spcPts val="130"/>
              </a:spcBef>
              <a:buClr>
                <a:srgbClr val="000000"/>
              </a:buClr>
              <a:buChar char="•"/>
              <a:tabLst>
                <a:tab pos="178435" algn="l"/>
              </a:tabLst>
            </a:pPr>
            <a:r>
              <a:rPr sz="1750" spc="-50" dirty="0">
                <a:solidFill>
                  <a:srgbClr val="1F1F1F"/>
                </a:solidFill>
                <a:latin typeface="Arial MT"/>
                <a:cs typeface="Arial MT"/>
              </a:rPr>
              <a:t>Adjust</a:t>
            </a:r>
            <a:r>
              <a:rPr sz="1750" spc="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050505"/>
                </a:solidFill>
                <a:latin typeface="Arial MT"/>
                <a:cs typeface="Arial MT"/>
              </a:rPr>
              <a:t>variables</a:t>
            </a:r>
            <a:r>
              <a:rPr sz="1750" spc="-20" dirty="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750" spc="-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131313"/>
                </a:solidFill>
                <a:latin typeface="Arial MT"/>
                <a:cs typeface="Arial MT"/>
              </a:rPr>
              <a:t>use</a:t>
            </a:r>
            <a:r>
              <a:rPr sz="1750" spc="-6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50" spc="-175" dirty="0">
                <a:solidFill>
                  <a:srgbClr val="1D1D1D"/>
                </a:solidFill>
                <a:latin typeface="Arial MT"/>
                <a:cs typeface="Arial MT"/>
              </a:rPr>
              <a:t>a</a:t>
            </a:r>
            <a:r>
              <a:rPr sz="1750" spc="-2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131313"/>
                </a:solidFill>
                <a:latin typeface="Arial MT"/>
                <a:cs typeface="Arial MT"/>
              </a:rPr>
              <a:t>consistent</a:t>
            </a:r>
            <a:r>
              <a:rPr sz="1750" spc="6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111111"/>
                </a:solidFill>
                <a:latin typeface="Arial MT"/>
                <a:cs typeface="Arial MT"/>
              </a:rPr>
              <a:t>scale.</a:t>
            </a:r>
            <a:endParaRPr sz="1750">
              <a:latin typeface="Arial MT"/>
              <a:cs typeface="Arial MT"/>
            </a:endParaRPr>
          </a:p>
          <a:p>
            <a:pPr marL="176530" indent="-154940">
              <a:lnSpc>
                <a:spcPts val="2045"/>
              </a:lnSpc>
              <a:buClr>
                <a:srgbClr val="000000"/>
              </a:buClr>
              <a:buChar char="•"/>
              <a:tabLst>
                <a:tab pos="176530" algn="l"/>
              </a:tabLst>
            </a:pPr>
            <a:r>
              <a:rPr sz="1750" spc="-20" dirty="0">
                <a:solidFill>
                  <a:srgbClr val="1C1C1C"/>
                </a:solidFill>
                <a:latin typeface="Arial MT"/>
                <a:cs typeface="Arial MT"/>
              </a:rPr>
              <a:t>Split</a:t>
            </a:r>
            <a:r>
              <a:rPr sz="1750" spc="-6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1C1C1C"/>
                </a:solidFill>
                <a:latin typeface="Arial MT"/>
                <a:cs typeface="Arial MT"/>
              </a:rPr>
              <a:t>items</a:t>
            </a:r>
            <a:r>
              <a:rPr sz="1750" spc="-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81818"/>
                </a:solidFill>
                <a:latin typeface="Arial MT"/>
                <a:cs typeface="Arial MT"/>
              </a:rPr>
              <a:t>that</a:t>
            </a:r>
            <a:r>
              <a:rPr sz="1750" spc="-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181818"/>
                </a:solidFill>
                <a:latin typeface="Arial MT"/>
                <a:cs typeface="Arial MT"/>
              </a:rPr>
              <a:t>capture</a:t>
            </a:r>
            <a:r>
              <a:rPr sz="1750" spc="1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1C1C1C"/>
                </a:solidFill>
                <a:latin typeface="Arial MT"/>
                <a:cs typeface="Arial MT"/>
              </a:rPr>
              <a:t>more</a:t>
            </a:r>
            <a:r>
              <a:rPr sz="1750" spc="-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1F1F1F"/>
                </a:solidFill>
                <a:latin typeface="Arial MT"/>
                <a:cs typeface="Arial MT"/>
              </a:rPr>
              <a:t>than</a:t>
            </a:r>
            <a:r>
              <a:rPr sz="1750" spc="-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1A1A1A"/>
                </a:solidFill>
                <a:latin typeface="Arial MT"/>
                <a:cs typeface="Arial MT"/>
              </a:rPr>
              <a:t>one</a:t>
            </a:r>
            <a:r>
              <a:rPr sz="175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0F0F0F"/>
                </a:solidFill>
                <a:latin typeface="Arial MT"/>
                <a:cs typeface="Arial MT"/>
              </a:rPr>
              <a:t>variable.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36736" y="3662373"/>
            <a:ext cx="162496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z="1550" b="1" spc="-125" dirty="0">
                <a:latin typeface="Arial"/>
                <a:cs typeface="Arial"/>
              </a:rPr>
              <a:t>Variations</a:t>
            </a:r>
            <a:r>
              <a:rPr sz="1550" b="1" spc="-90" dirty="0">
                <a:latin typeface="Arial"/>
                <a:cs typeface="Arial"/>
              </a:rPr>
              <a:t> </a:t>
            </a:r>
            <a:r>
              <a:rPr sz="1550" b="1" spc="-80" dirty="0">
                <a:latin typeface="Arial"/>
                <a:cs typeface="Arial"/>
              </a:rPr>
              <a:t>in</a:t>
            </a:r>
            <a:r>
              <a:rPr sz="1550" b="1" spc="-60" dirty="0">
                <a:latin typeface="Arial"/>
                <a:cs typeface="Arial"/>
              </a:rPr>
              <a:t> </a:t>
            </a:r>
            <a:r>
              <a:rPr sz="1550" spc="-10" dirty="0">
                <a:latin typeface="Arial MT"/>
                <a:cs typeface="Arial MT"/>
              </a:rPr>
              <a:t>sbings</a:t>
            </a: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1550" spc="-70" dirty="0">
                <a:latin typeface="Arial MT"/>
                <a:cs typeface="Arial MT"/>
              </a:rPr>
              <a:t>Variations</a:t>
            </a:r>
            <a:r>
              <a:rPr sz="1550" dirty="0">
                <a:latin typeface="Arial MT"/>
                <a:cs typeface="Arial MT"/>
              </a:rPr>
              <a:t> in</a:t>
            </a:r>
            <a:r>
              <a:rPr sz="1550" spc="-13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scale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00453" y="3666894"/>
            <a:ext cx="1868170" cy="13163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30"/>
              </a:spcBef>
              <a:tabLst>
                <a:tab pos="731520" algn="l"/>
              </a:tabLst>
            </a:pPr>
            <a:r>
              <a:rPr sz="1550" spc="-80" dirty="0">
                <a:latin typeface="Arial MT"/>
                <a:cs typeface="Arial MT"/>
              </a:rPr>
              <a:t>Med.</a:t>
            </a:r>
            <a:r>
              <a:rPr sz="1550" spc="-105" dirty="0">
                <a:latin typeface="Arial MT"/>
                <a:cs typeface="Arial MT"/>
              </a:rPr>
              <a:t> </a:t>
            </a:r>
            <a:r>
              <a:rPr sz="1550" spc="-50" dirty="0">
                <a:latin typeface="Arial MT"/>
                <a:cs typeface="Arial MT"/>
              </a:rPr>
              <a:t>w</a:t>
            </a:r>
            <a:r>
              <a:rPr sz="1550" dirty="0">
                <a:latin typeface="Arial MT"/>
                <a:cs typeface="Arial MT"/>
              </a:rPr>
              <a:t>	</a:t>
            </a:r>
            <a:r>
              <a:rPr sz="1550" spc="-10" dirty="0">
                <a:latin typeface="Arial MT"/>
                <a:cs typeface="Arial MT"/>
              </a:rPr>
              <a:t>f4adlum</a:t>
            </a:r>
            <a:endParaRPr sz="1550">
              <a:latin typeface="Arial MT"/>
              <a:cs typeface="Arial MT"/>
            </a:endParaRPr>
          </a:p>
          <a:p>
            <a:pPr marL="14604" marR="203200" indent="-2540">
              <a:lnSpc>
                <a:spcPts val="1820"/>
              </a:lnSpc>
              <a:spcBef>
                <a:spcPts val="1440"/>
              </a:spcBef>
            </a:pPr>
            <a:r>
              <a:rPr sz="1550" spc="-75" dirty="0">
                <a:latin typeface="Arial MT"/>
                <a:cs typeface="Arial MT"/>
              </a:rPr>
              <a:t>Number</a:t>
            </a:r>
            <a:r>
              <a:rPr sz="1550" spc="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</a:t>
            </a:r>
            <a:r>
              <a:rPr sz="1550" spc="-30" dirty="0">
                <a:latin typeface="Arial MT"/>
                <a:cs typeface="Arial MT"/>
              </a:rPr>
              <a:t> </a:t>
            </a:r>
            <a:r>
              <a:rPr sz="1550" spc="-65" dirty="0">
                <a:latin typeface="Arial MT"/>
                <a:cs typeface="Arial MT"/>
              </a:rPr>
              <a:t>doors</a:t>
            </a:r>
            <a:r>
              <a:rPr sz="1550" spc="-75" dirty="0">
                <a:latin typeface="Arial MT"/>
                <a:cs typeface="Arial MT"/>
              </a:rPr>
              <a:t> </a:t>
            </a:r>
            <a:r>
              <a:rPr sz="1550" spc="-55" dirty="0">
                <a:latin typeface="Arial MT"/>
                <a:cs typeface="Arial MT"/>
              </a:rPr>
              <a:t>vs. number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purchased</a:t>
            </a:r>
            <a:endParaRPr sz="155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1320"/>
              </a:spcBef>
            </a:pPr>
            <a:r>
              <a:rPr sz="1550" spc="-100" dirty="0">
                <a:latin typeface="Arial MT"/>
                <a:cs typeface="Arial MT"/>
              </a:rPr>
              <a:t>Safe</a:t>
            </a:r>
            <a:r>
              <a:rPr sz="1550" spc="-50" dirty="0">
                <a:latin typeface="Arial MT"/>
                <a:cs typeface="Arial MT"/>
              </a:rPr>
              <a:t> </a:t>
            </a:r>
            <a:r>
              <a:rPr sz="1550" spc="-30" dirty="0">
                <a:latin typeface="Arial MT"/>
                <a:cs typeface="Arial MT"/>
              </a:rPr>
              <a:t>fifgh</a:t>
            </a:r>
            <a:r>
              <a:rPr sz="1550" spc="-145" dirty="0">
                <a:latin typeface="Arial MT"/>
                <a:cs typeface="Arial MT"/>
              </a:rPr>
              <a:t> </a:t>
            </a:r>
            <a:r>
              <a:rPr sz="1550" spc="-60" dirty="0">
                <a:latin typeface="Arial MT"/>
                <a:cs typeface="Arial MT"/>
              </a:rPr>
              <a:t>maintenance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78598" y="3666894"/>
            <a:ext cx="2016125" cy="8997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30"/>
              </a:spcBef>
            </a:pPr>
            <a:r>
              <a:rPr sz="1550" spc="-10" dirty="0">
                <a:latin typeface="Arial MT"/>
                <a:cs typeface="Arial MT"/>
              </a:rPr>
              <a:t>Co‹wertfo</a:t>
            </a:r>
            <a:r>
              <a:rPr sz="1550" spc="20" dirty="0">
                <a:latin typeface="Arial MT"/>
                <a:cs typeface="Arial MT"/>
              </a:rPr>
              <a:t> </a:t>
            </a:r>
            <a:r>
              <a:rPr sz="1550" spc="-65" dirty="0">
                <a:latin typeface="Arial MT"/>
                <a:cs typeface="Arial MT"/>
              </a:rPr>
              <a:t>standard</a:t>
            </a:r>
            <a:r>
              <a:rPr sz="1550" spc="-85" dirty="0">
                <a:latin typeface="Arial MT"/>
                <a:cs typeface="Arial MT"/>
              </a:rPr>
              <a:t> </a:t>
            </a:r>
            <a:r>
              <a:rPr sz="1550" spc="-20" dirty="0">
                <a:latin typeface="Arial MT"/>
                <a:cs typeface="Arial MT"/>
              </a:rPr>
              <a:t>text</a:t>
            </a:r>
            <a:endParaRPr sz="1550">
              <a:latin typeface="Arial MT"/>
              <a:cs typeface="Arial MT"/>
            </a:endParaRPr>
          </a:p>
          <a:p>
            <a:pPr marL="12700" marR="56515" indent="-635">
              <a:lnSpc>
                <a:spcPts val="1780"/>
              </a:lnSpc>
              <a:spcBef>
                <a:spcPts val="1470"/>
              </a:spcBef>
            </a:pPr>
            <a:r>
              <a:rPr sz="1550" spc="-70" dirty="0">
                <a:latin typeface="Arial MT"/>
                <a:cs typeface="Arial MT"/>
              </a:rPr>
              <a:t>Normalize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spc="60" dirty="0">
                <a:latin typeface="Arial MT"/>
                <a:cs typeface="Arial MT"/>
              </a:rPr>
              <a:t>to</a:t>
            </a:r>
            <a:r>
              <a:rPr sz="1550" spc="-105" dirty="0">
                <a:latin typeface="Arial MT"/>
                <a:cs typeface="Arial MT"/>
              </a:rPr>
              <a:t> </a:t>
            </a:r>
            <a:r>
              <a:rPr sz="1550" spc="-145" dirty="0">
                <a:latin typeface="Arial MT"/>
                <a:cs typeface="Arial MT"/>
              </a:rPr>
              <a:t>a</a:t>
            </a:r>
            <a:r>
              <a:rPr sz="1550" spc="-30" dirty="0">
                <a:latin typeface="Arial MT"/>
                <a:cs typeface="Arial MT"/>
              </a:rPr>
              <a:t> </a:t>
            </a:r>
            <a:r>
              <a:rPr sz="1550" spc="-60" dirty="0">
                <a:latin typeface="Arial MT"/>
                <a:cs typeface="Arial MT"/>
              </a:rPr>
              <a:t>common </a:t>
            </a:r>
            <a:r>
              <a:rPr sz="1550" spc="-10" dirty="0">
                <a:latin typeface="Arial MT"/>
                <a:cs typeface="Arial MT"/>
              </a:rPr>
              <a:t>scale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18562" y="4716039"/>
            <a:ext cx="227076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80" dirty="0">
                <a:latin typeface="Arial MT"/>
                <a:cs typeface="Arial MT"/>
              </a:rPr>
              <a:t>Columns</a:t>
            </a:r>
            <a:r>
              <a:rPr sz="1550" spc="-2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with</a:t>
            </a:r>
            <a:r>
              <a:rPr sz="1550" spc="-95" dirty="0">
                <a:latin typeface="Arial MT"/>
                <a:cs typeface="Arial MT"/>
              </a:rPr>
              <a:t> </a:t>
            </a:r>
            <a:r>
              <a:rPr sz="1550" spc="-35" dirty="0">
                <a:latin typeface="Arial MT"/>
                <a:cs typeface="Arial MT"/>
              </a:rPr>
              <a:t>muhtpte</a:t>
            </a:r>
            <a:r>
              <a:rPr sz="1550" spc="-20" dirty="0">
                <a:latin typeface="Arial MT"/>
                <a:cs typeface="Arial MT"/>
              </a:rPr>
              <a:t> data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78400" y="4716039"/>
            <a:ext cx="227393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135" dirty="0">
                <a:latin typeface="Arial MT"/>
                <a:cs typeface="Arial MT"/>
              </a:rPr>
              <a:t>Parse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inta</a:t>
            </a:r>
            <a:r>
              <a:rPr sz="1550" spc="-155" dirty="0">
                <a:latin typeface="Arial MT"/>
                <a:cs typeface="Arial MT"/>
              </a:rPr>
              <a:t> </a:t>
            </a:r>
            <a:r>
              <a:rPr sz="1550" spc="-20" dirty="0">
                <a:latin typeface="Arial MT"/>
                <a:cs typeface="Arial MT"/>
              </a:rPr>
              <a:t>multiple</a:t>
            </a:r>
            <a:r>
              <a:rPr sz="1550" spc="-10" dirty="0">
                <a:latin typeface="Arial MT"/>
                <a:cs typeface="Arial MT"/>
              </a:rPr>
              <a:t> </a:t>
            </a:r>
            <a:r>
              <a:rPr sz="1550" spc="-50" dirty="0">
                <a:latin typeface="Arial MT"/>
                <a:cs typeface="Arial MT"/>
              </a:rPr>
              <a:t>cotumns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33610" y="5374266"/>
            <a:ext cx="102743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dirty="0">
                <a:latin typeface="Arial MT"/>
                <a:cs typeface="Arial MT"/>
              </a:rPr>
              <a:t>Missing</a:t>
            </a:r>
            <a:r>
              <a:rPr sz="1350" spc="105" dirty="0">
                <a:latin typeface="Arial MT"/>
                <a:cs typeface="Arial MT"/>
              </a:rPr>
              <a:t> </a:t>
            </a:r>
            <a:r>
              <a:rPr sz="1350" spc="-20" dirty="0">
                <a:latin typeface="Arial MT"/>
                <a:cs typeface="Arial MT"/>
              </a:rPr>
              <a:t>data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09891" y="5349142"/>
            <a:ext cx="196723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95" dirty="0">
                <a:latin typeface="Arial MT"/>
                <a:cs typeface="Arial MT"/>
              </a:rPr>
              <a:t>Missing</a:t>
            </a:r>
            <a:r>
              <a:rPr sz="1550" spc="-45" dirty="0">
                <a:latin typeface="Arial MT"/>
                <a:cs typeface="Arial MT"/>
              </a:rPr>
              <a:t> </a:t>
            </a:r>
            <a:r>
              <a:rPr sz="1550" spc="-70" dirty="0">
                <a:latin typeface="Arial MT"/>
                <a:cs typeface="Arial MT"/>
              </a:rPr>
              <a:t>columns</a:t>
            </a:r>
            <a:r>
              <a:rPr sz="1550" spc="-7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</a:t>
            </a:r>
            <a:r>
              <a:rPr sz="1550" spc="-25" dirty="0">
                <a:latin typeface="Arial MT"/>
                <a:cs typeface="Arial MT"/>
              </a:rPr>
              <a:t> </a:t>
            </a:r>
            <a:r>
              <a:rPr sz="1550" spc="-20" dirty="0">
                <a:latin typeface="Arial MT"/>
                <a:cs typeface="Arial MT"/>
              </a:rPr>
              <a:t>data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78400" y="5349142"/>
            <a:ext cx="223012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70" dirty="0">
                <a:latin typeface="Arial MT"/>
                <a:cs typeface="Arial MT"/>
              </a:rPr>
              <a:t>Delete</a:t>
            </a:r>
            <a:r>
              <a:rPr sz="1550" spc="-85" dirty="0">
                <a:latin typeface="Arial MT"/>
                <a:cs typeface="Arial MT"/>
              </a:rPr>
              <a:t> </a:t>
            </a:r>
            <a:r>
              <a:rPr sz="1550" spc="-80" dirty="0">
                <a:latin typeface="Arial MT"/>
                <a:cs typeface="Arial MT"/>
              </a:rPr>
              <a:t>rows</a:t>
            </a:r>
            <a:r>
              <a:rPr sz="1550" spc="-60" dirty="0">
                <a:latin typeface="Arial MT"/>
                <a:cs typeface="Arial MT"/>
              </a:rPr>
              <a:t> </a:t>
            </a:r>
            <a:r>
              <a:rPr sz="1550" spc="-180" dirty="0">
                <a:latin typeface="Arial MT"/>
                <a:cs typeface="Arial MT"/>
              </a:rPr>
              <a:t>Or</a:t>
            </a:r>
            <a:r>
              <a:rPr sz="1550" spc="-12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impute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spc="-20" dirty="0">
                <a:latin typeface="Arial MT"/>
                <a:cs typeface="Arial MT"/>
              </a:rPr>
              <a:t>data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7717" y="5637955"/>
            <a:ext cx="433689" cy="3614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45970" y="5637955"/>
            <a:ext cx="442724" cy="3614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42293" y="5637955"/>
            <a:ext cx="433689" cy="3614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29582" y="5646991"/>
            <a:ext cx="424654" cy="3433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07833" y="5637955"/>
            <a:ext cx="442724" cy="3614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67717" y="5104876"/>
            <a:ext cx="433689" cy="3614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58682" y="4562762"/>
            <a:ext cx="442724" cy="36140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55006" y="5104876"/>
            <a:ext cx="433689" cy="36140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45970" y="4562762"/>
            <a:ext cx="442724" cy="36140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42293" y="4571798"/>
            <a:ext cx="1599229" cy="103001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67717" y="4038719"/>
            <a:ext cx="433689" cy="36140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945970" y="4029683"/>
            <a:ext cx="442724" cy="3704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542293" y="4029683"/>
            <a:ext cx="433689" cy="3704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120545" y="4029683"/>
            <a:ext cx="442724" cy="3704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707833" y="4029683"/>
            <a:ext cx="442724" cy="370444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489026" y="278553"/>
            <a:ext cx="1629410" cy="0"/>
          </a:xfrm>
          <a:custGeom>
            <a:avLst/>
            <a:gdLst/>
            <a:ahLst/>
            <a:cxnLst/>
            <a:rect l="l" t="t" r="r" b="b"/>
            <a:pathLst>
              <a:path w="1629410">
                <a:moveTo>
                  <a:pt x="0" y="0"/>
                </a:moveTo>
                <a:lnTo>
                  <a:pt x="1629346" y="0"/>
                </a:lnTo>
              </a:path>
            </a:pathLst>
          </a:custGeom>
          <a:ln w="21082">
            <a:solidFill>
              <a:srgbClr val="DB67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81216" y="1138407"/>
            <a:ext cx="3216910" cy="587375"/>
          </a:xfrm>
          <a:prstGeom prst="rect">
            <a:avLst/>
          </a:prstGeom>
          <a:solidFill>
            <a:srgbClr val="005075"/>
          </a:solidFill>
        </p:spPr>
        <p:txBody>
          <a:bodyPr vert="horz" wrap="square" lIns="0" tIns="132715" rIns="0" bIns="0" rtlCol="0">
            <a:spAutoFit/>
          </a:bodyPr>
          <a:lstStyle/>
          <a:p>
            <a:pPr marL="866775">
              <a:lnSpc>
                <a:spcPct val="100000"/>
              </a:lnSpc>
              <a:spcBef>
                <a:spcPts val="1045"/>
              </a:spcBef>
            </a:pP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EncOding</a:t>
            </a:r>
            <a:r>
              <a:rPr sz="1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1216" y="1861226"/>
            <a:ext cx="3216910" cy="605790"/>
          </a:xfrm>
          <a:prstGeom prst="rect">
            <a:avLst/>
          </a:prstGeom>
          <a:solidFill>
            <a:srgbClr val="004F75"/>
          </a:solidFill>
        </p:spPr>
        <p:txBody>
          <a:bodyPr vert="horz" wrap="square" lIns="0" tIns="160020" rIns="0" bIns="0" rtlCol="0">
            <a:spAutoFit/>
          </a:bodyPr>
          <a:lstStyle/>
          <a:p>
            <a:pPr marL="900430">
              <a:lnSpc>
                <a:spcPct val="100000"/>
              </a:lnSpc>
              <a:spcBef>
                <a:spcPts val="126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Cleaning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1216" y="2602115"/>
            <a:ext cx="3216910" cy="614680"/>
          </a:xfrm>
          <a:prstGeom prst="rect">
            <a:avLst/>
          </a:prstGeom>
          <a:solidFill>
            <a:srgbClr val="C8218C"/>
          </a:solidFill>
        </p:spPr>
        <p:txBody>
          <a:bodyPr vert="horz" wrap="square" lIns="0" tIns="160020" rIns="0" bIns="0" rtlCol="0">
            <a:spAutoFit/>
          </a:bodyPr>
          <a:lstStyle/>
          <a:p>
            <a:pPr marL="531495">
              <a:lnSpc>
                <a:spcPct val="100000"/>
              </a:lnSpc>
              <a:spcBef>
                <a:spcPts val="126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Finding</a:t>
            </a:r>
            <a:r>
              <a:rPr sz="18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missing</a:t>
            </a:r>
            <a:r>
              <a:rPr sz="180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1216" y="3361075"/>
            <a:ext cx="3216910" cy="605790"/>
          </a:xfrm>
          <a:prstGeom prst="rect">
            <a:avLst/>
          </a:prstGeom>
          <a:solidFill>
            <a:srgbClr val="034D72"/>
          </a:solidFill>
        </p:spPr>
        <p:txBody>
          <a:bodyPr vert="horz" wrap="square" lIns="0" tIns="147320" rIns="0" bIns="0" rtlCol="0">
            <a:spAutoFit/>
          </a:bodyPr>
          <a:lstStyle/>
          <a:p>
            <a:pPr marL="711835">
              <a:lnSpc>
                <a:spcPct val="100000"/>
              </a:lnSpc>
              <a:spcBef>
                <a:spcPts val="1160"/>
              </a:spcBef>
            </a:pPr>
            <a:r>
              <a:rPr sz="1900" spc="-20" dirty="0">
                <a:solidFill>
                  <a:srgbClr val="FFFFFF"/>
                </a:solidFill>
                <a:latin typeface="Arial MT"/>
                <a:cs typeface="Arial MT"/>
              </a:rPr>
              <a:t>Handling</a:t>
            </a:r>
            <a:r>
              <a:rPr sz="1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Arial MT"/>
                <a:cs typeface="Arial MT"/>
              </a:rPr>
              <a:t>out</a:t>
            </a:r>
            <a:r>
              <a:rPr sz="1900" spc="-3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</a:rPr>
              <a:t>tiers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8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20"/>
              </a:spcBef>
            </a:pPr>
            <a:r>
              <a:rPr sz="2200" dirty="0">
                <a:solidFill>
                  <a:srgbClr val="212121"/>
                </a:solidFill>
                <a:latin typeface="Arial MT"/>
                <a:cs typeface="Arial MT"/>
              </a:rPr>
              <a:t>Preparing</a:t>
            </a:r>
            <a:r>
              <a:rPr sz="2200" spc="5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82828"/>
                </a:solidFill>
                <a:latin typeface="Arial MT"/>
                <a:cs typeface="Arial MT"/>
              </a:rPr>
              <a:t>data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13870" y="1158083"/>
            <a:ext cx="7348220" cy="1828164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indent="12065">
              <a:lnSpc>
                <a:spcPct val="105000"/>
              </a:lnSpc>
              <a:spcBef>
                <a:spcPts val="175"/>
              </a:spcBef>
            </a:pPr>
            <a:r>
              <a:rPr sz="1600" spc="-45" dirty="0">
                <a:solidFill>
                  <a:srgbClr val="1F1F1F"/>
                </a:solidFill>
                <a:latin typeface="Arial MT"/>
                <a:cs typeface="Arial MT"/>
              </a:rPr>
              <a:t>You</a:t>
            </a:r>
            <a:r>
              <a:rPr sz="1600" spc="-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161616"/>
                </a:solidFill>
                <a:latin typeface="Arial MT"/>
                <a:cs typeface="Arial MT"/>
              </a:rPr>
              <a:t>might</a:t>
            </a:r>
            <a:r>
              <a:rPr sz="1600" spc="-1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also</a:t>
            </a:r>
            <a:r>
              <a:rPr sz="1600" spc="-3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A1A1A"/>
                </a:solidFill>
                <a:latin typeface="Arial MT"/>
                <a:cs typeface="Arial MT"/>
              </a:rPr>
              <a:t>find</a:t>
            </a:r>
            <a:r>
              <a:rPr sz="1600" spc="-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262626"/>
                </a:solidFill>
                <a:latin typeface="Arial MT"/>
                <a:cs typeface="Arial MT"/>
              </a:rPr>
              <a:t>that</a:t>
            </a:r>
            <a:r>
              <a:rPr sz="1600" spc="5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you</a:t>
            </a:r>
            <a:r>
              <a:rPr sz="1600" spc="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C1C1C"/>
                </a:solidFill>
                <a:latin typeface="Arial MT"/>
                <a:cs typeface="Arial MT"/>
              </a:rPr>
              <a:t>have</a:t>
            </a:r>
            <a:r>
              <a:rPr sz="1600" spc="-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missing</a:t>
            </a:r>
            <a:r>
              <a:rPr sz="1600" spc="-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data.</a:t>
            </a:r>
            <a:r>
              <a:rPr sz="1600" spc="-9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For</a:t>
            </a:r>
            <a:r>
              <a:rPr sz="1600" spc="-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example,</a:t>
            </a:r>
            <a:r>
              <a:rPr sz="1600" spc="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some</a:t>
            </a:r>
            <a:r>
              <a:rPr sz="16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columns</a:t>
            </a:r>
            <a:r>
              <a:rPr sz="1600" spc="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25" dirty="0">
                <a:solidFill>
                  <a:srgbClr val="2D2D2D"/>
                </a:solidFill>
                <a:latin typeface="Arial MT"/>
                <a:cs typeface="Arial MT"/>
              </a:rPr>
              <a:t>in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your</a:t>
            </a:r>
            <a:r>
              <a:rPr sz="1600" spc="10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dataset</a:t>
            </a:r>
            <a:r>
              <a:rPr sz="1600" spc="7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1F1F1F"/>
                </a:solidFill>
                <a:latin typeface="Arial MT"/>
                <a:cs typeface="Arial MT"/>
              </a:rPr>
              <a:t>might</a:t>
            </a:r>
            <a:r>
              <a:rPr sz="1600" spc="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be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missing</a:t>
            </a:r>
            <a:r>
              <a:rPr sz="1600" spc="6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data</a:t>
            </a:r>
            <a:r>
              <a:rPr sz="1600" spc="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40" dirty="0">
                <a:solidFill>
                  <a:srgbClr val="161616"/>
                </a:solidFill>
                <a:latin typeface="Arial MT"/>
                <a:cs typeface="Arial MT"/>
              </a:rPr>
              <a:t>because</a:t>
            </a:r>
            <a:r>
              <a:rPr sz="1600" spc="9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F1F1F"/>
                </a:solidFill>
                <a:latin typeface="Arial MT"/>
                <a:cs typeface="Arial MT"/>
              </a:rPr>
              <a:t>of</a:t>
            </a:r>
            <a:r>
              <a:rPr sz="1600" spc="9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95" dirty="0">
                <a:solidFill>
                  <a:srgbClr val="262626"/>
                </a:solidFill>
                <a:latin typeface="Arial MT"/>
                <a:cs typeface="Arial MT"/>
              </a:rPr>
              <a:t>a</a:t>
            </a:r>
            <a:r>
              <a:rPr sz="1600" spc="-2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data</a:t>
            </a:r>
            <a:r>
              <a:rPr sz="1600" spc="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collection</a:t>
            </a:r>
            <a:r>
              <a:rPr sz="1600" spc="1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error.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Arial MT"/>
                <a:cs typeface="Arial MT"/>
              </a:rPr>
              <a:t>Perhaps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data</a:t>
            </a:r>
            <a:r>
              <a:rPr sz="1600" spc="13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wasn't</a:t>
            </a:r>
            <a:r>
              <a:rPr sz="1600" spc="10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collected</a:t>
            </a:r>
            <a:r>
              <a:rPr sz="1600" spc="1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on</a:t>
            </a:r>
            <a:r>
              <a:rPr sz="1600" spc="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sz="1600" spc="7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particular</a:t>
            </a:r>
            <a:r>
              <a:rPr sz="1600" spc="1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feature</a:t>
            </a:r>
            <a:r>
              <a:rPr sz="1600" spc="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100" dirty="0">
                <a:solidFill>
                  <a:srgbClr val="181818"/>
                </a:solidFill>
                <a:latin typeface="Arial MT"/>
                <a:cs typeface="Arial MT"/>
              </a:rPr>
              <a:t>until</a:t>
            </a:r>
            <a:r>
              <a:rPr sz="1600" spc="-1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Arial MT"/>
                <a:cs typeface="Arial MT"/>
              </a:rPr>
              <a:t>some</a:t>
            </a:r>
            <a:r>
              <a:rPr sz="1600" spc="6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F1F1F"/>
                </a:solidFill>
                <a:latin typeface="Arial MT"/>
                <a:cs typeface="Arial MT"/>
              </a:rPr>
              <a:t>time</a:t>
            </a:r>
            <a:r>
              <a:rPr sz="1600" spc="1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after</a:t>
            </a:r>
            <a:r>
              <a:rPr sz="1600" spc="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C1C1C"/>
                </a:solidFill>
                <a:latin typeface="Arial MT"/>
                <a:cs typeface="Arial MT"/>
              </a:rPr>
              <a:t>the</a:t>
            </a:r>
            <a:r>
              <a:rPr sz="1600" spc="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D1D1D"/>
                </a:solidFill>
                <a:latin typeface="Arial MT"/>
                <a:cs typeface="Arial MT"/>
              </a:rPr>
              <a:t>data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collection</a:t>
            </a:r>
            <a:r>
              <a:rPr sz="1600" spc="5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61616"/>
                </a:solidFill>
                <a:latin typeface="Arial MT"/>
                <a:cs typeface="Arial MT"/>
              </a:rPr>
              <a:t>process</a:t>
            </a:r>
            <a:r>
              <a:rPr sz="1600" spc="114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42424"/>
                </a:solidFill>
                <a:latin typeface="Arial MT"/>
                <a:cs typeface="Arial MT"/>
              </a:rPr>
              <a:t>was</a:t>
            </a:r>
            <a:r>
              <a:rPr sz="1600" spc="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61616"/>
                </a:solidFill>
                <a:latin typeface="Arial MT"/>
                <a:cs typeface="Arial MT"/>
              </a:rPr>
              <a:t>in</a:t>
            </a:r>
            <a:r>
              <a:rPr sz="1600" spc="-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operation.</a:t>
            </a:r>
            <a:r>
              <a:rPr sz="1600" spc="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Missing</a:t>
            </a:r>
            <a:r>
              <a:rPr sz="1600" spc="10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data</a:t>
            </a:r>
            <a:r>
              <a:rPr sz="1600" spc="-2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can</a:t>
            </a:r>
            <a:r>
              <a:rPr sz="160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make</a:t>
            </a:r>
            <a:r>
              <a:rPr sz="160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B2B2B"/>
                </a:solidFill>
                <a:latin typeface="Arial MT"/>
                <a:cs typeface="Arial MT"/>
              </a:rPr>
              <a:t>it</a:t>
            </a:r>
            <a:r>
              <a:rPr sz="1600" spc="24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difficult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212121"/>
                </a:solidFill>
                <a:latin typeface="Arial MT"/>
                <a:cs typeface="Arial MT"/>
              </a:rPr>
              <a:t>to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accurately</a:t>
            </a:r>
            <a:r>
              <a:rPr sz="1600" spc="31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interpret</a:t>
            </a:r>
            <a:r>
              <a:rPr sz="1600" spc="2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the</a:t>
            </a:r>
            <a:r>
              <a:rPr sz="1600" spc="14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relationship</a:t>
            </a:r>
            <a:r>
              <a:rPr sz="1600" spc="1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between</a:t>
            </a:r>
            <a:r>
              <a:rPr sz="1600" spc="19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sz="1600" spc="14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related</a:t>
            </a:r>
            <a:r>
              <a:rPr sz="1600" spc="14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feature</a:t>
            </a:r>
            <a:r>
              <a:rPr sz="1600" spc="19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and</a:t>
            </a:r>
            <a:r>
              <a:rPr sz="1600" spc="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the</a:t>
            </a:r>
            <a:r>
              <a:rPr sz="1600" spc="1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61616"/>
                </a:solidFill>
                <a:latin typeface="Arial MT"/>
                <a:cs typeface="Arial MT"/>
              </a:rPr>
              <a:t>target </a:t>
            </a:r>
            <a:r>
              <a:rPr sz="1600" dirty="0">
                <a:latin typeface="Arial MT"/>
                <a:cs typeface="Arial MT"/>
              </a:rPr>
              <a:t>variable.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51515"/>
                </a:solidFill>
                <a:latin typeface="Arial MT"/>
                <a:cs typeface="Arial MT"/>
              </a:rPr>
              <a:t>Thus,</a:t>
            </a:r>
            <a:r>
              <a:rPr sz="1600" spc="2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51515"/>
                </a:solidFill>
                <a:latin typeface="Arial MT"/>
                <a:cs typeface="Arial MT"/>
              </a:rPr>
              <a:t>regardless</a:t>
            </a:r>
            <a:r>
              <a:rPr sz="1600" spc="4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of</a:t>
            </a:r>
            <a:r>
              <a:rPr sz="1600" spc="2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what</a:t>
            </a:r>
            <a:r>
              <a:rPr sz="1600" spc="4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-40" dirty="0">
                <a:solidFill>
                  <a:srgbClr val="1D1D1D"/>
                </a:solidFill>
                <a:latin typeface="Arial MT"/>
                <a:cs typeface="Arial MT"/>
              </a:rPr>
              <a:t>caused</a:t>
            </a:r>
            <a:r>
              <a:rPr sz="1600" spc="3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data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16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sz="1600" spc="-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A0A0A"/>
                </a:solidFill>
                <a:latin typeface="Arial MT"/>
                <a:cs typeface="Arial MT"/>
              </a:rPr>
              <a:t>missed,</a:t>
            </a:r>
            <a:r>
              <a:rPr sz="1600" spc="5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it</a:t>
            </a:r>
            <a:r>
              <a:rPr sz="1600" spc="2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is</a:t>
            </a:r>
            <a:r>
              <a:rPr sz="1600" spc="-3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40" dirty="0">
                <a:solidFill>
                  <a:srgbClr val="1D1D1D"/>
                </a:solidFill>
                <a:latin typeface="Arial MT"/>
                <a:cs typeface="Arial MT"/>
              </a:rPr>
              <a:t>important </a:t>
            </a:r>
            <a:r>
              <a:rPr sz="1600" spc="80" dirty="0">
                <a:solidFill>
                  <a:srgbClr val="131313"/>
                </a:solidFill>
                <a:latin typeface="Arial MT"/>
                <a:cs typeface="Arial MT"/>
              </a:rPr>
              <a:t>that</a:t>
            </a:r>
            <a:r>
              <a:rPr sz="1600" spc="6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you</a:t>
            </a:r>
            <a:r>
              <a:rPr sz="16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deal</a:t>
            </a:r>
            <a:r>
              <a:rPr sz="1600" spc="4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262626"/>
                </a:solidFill>
                <a:latin typeface="Arial MT"/>
                <a:cs typeface="Arial MT"/>
              </a:rPr>
              <a:t>with</a:t>
            </a:r>
            <a:r>
              <a:rPr sz="1600" spc="1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sz="1600" spc="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issue.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19304" y="3218118"/>
            <a:ext cx="7425690" cy="7981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9050" marR="5080" indent="-6985">
              <a:lnSpc>
                <a:spcPct val="103800"/>
              </a:lnSpc>
              <a:spcBef>
                <a:spcPts val="55"/>
              </a:spcBef>
            </a:pPr>
            <a:r>
              <a:rPr sz="1600" spc="10" dirty="0">
                <a:solidFill>
                  <a:srgbClr val="131313"/>
                </a:solidFill>
                <a:latin typeface="Arial MT"/>
                <a:cs typeface="Arial MT"/>
              </a:rPr>
              <a:t>Unfortunately,</a:t>
            </a:r>
            <a:r>
              <a:rPr sz="1600" spc="1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F1F1F"/>
                </a:solidFill>
                <a:latin typeface="Arial MT"/>
                <a:cs typeface="Arial MT"/>
              </a:rPr>
              <a:t>most</a:t>
            </a:r>
            <a:r>
              <a:rPr sz="1600" spc="1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D1D1D"/>
                </a:solidFill>
                <a:latin typeface="Arial MT"/>
                <a:cs typeface="Arial MT"/>
              </a:rPr>
              <a:t>ML</a:t>
            </a:r>
            <a:r>
              <a:rPr sz="1600" spc="4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11111"/>
                </a:solidFill>
                <a:latin typeface="Arial MT"/>
                <a:cs typeface="Arial MT"/>
              </a:rPr>
              <a:t>algorithms</a:t>
            </a:r>
            <a:r>
              <a:rPr sz="1600" spc="1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C1C1C"/>
                </a:solidFill>
                <a:latin typeface="Arial MT"/>
                <a:cs typeface="Arial MT"/>
              </a:rPr>
              <a:t>can't</a:t>
            </a:r>
            <a:r>
              <a:rPr sz="1600" spc="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F1F1F"/>
                </a:solidFill>
                <a:latin typeface="Arial MT"/>
                <a:cs typeface="Arial MT"/>
              </a:rPr>
              <a:t>deal</a:t>
            </a:r>
            <a:r>
              <a:rPr sz="160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262626"/>
                </a:solidFill>
                <a:latin typeface="Arial MT"/>
                <a:cs typeface="Arial MT"/>
              </a:rPr>
              <a:t>with</a:t>
            </a:r>
            <a:r>
              <a:rPr sz="1600" spc="-1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C1C1C"/>
                </a:solidFill>
                <a:latin typeface="Arial MT"/>
                <a:cs typeface="Arial MT"/>
              </a:rPr>
              <a:t>missing</a:t>
            </a:r>
            <a:r>
              <a:rPr sz="1600" spc="7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0F0F0F"/>
                </a:solidFill>
                <a:latin typeface="Arial MT"/>
                <a:cs typeface="Arial MT"/>
              </a:rPr>
              <a:t>values</a:t>
            </a:r>
            <a:r>
              <a:rPr sz="1600" spc="1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 MT"/>
                <a:cs typeface="Arial MT"/>
              </a:rPr>
              <a:t>automatically. </a:t>
            </a:r>
            <a:r>
              <a:rPr sz="1600" spc="-45" dirty="0">
                <a:solidFill>
                  <a:srgbClr val="1F1F1F"/>
                </a:solidFill>
                <a:latin typeface="Arial MT"/>
                <a:cs typeface="Arial MT"/>
              </a:rPr>
              <a:t>You</a:t>
            </a:r>
            <a:r>
              <a:rPr sz="1600" spc="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must</a:t>
            </a:r>
            <a:r>
              <a:rPr sz="1600" spc="1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update</a:t>
            </a:r>
            <a:r>
              <a:rPr sz="1600" spc="7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missing</a:t>
            </a:r>
            <a:r>
              <a:rPr sz="1600" spc="17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values</a:t>
            </a:r>
            <a:r>
              <a:rPr sz="1600" spc="114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C1C1C"/>
                </a:solidFill>
                <a:latin typeface="Arial MT"/>
                <a:cs typeface="Arial MT"/>
              </a:rPr>
              <a:t>with</a:t>
            </a:r>
            <a:r>
              <a:rPr sz="1600" spc="8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something</a:t>
            </a:r>
            <a:r>
              <a:rPr sz="1600" spc="1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meaningful</a:t>
            </a:r>
            <a:r>
              <a:rPr sz="1600" spc="1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sz="1600" spc="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relevant</a:t>
            </a:r>
            <a:r>
              <a:rPr sz="1600" spc="1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to</a:t>
            </a:r>
            <a:r>
              <a:rPr sz="1600" spc="27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endParaRPr sz="160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  <a:spcBef>
                <a:spcPts val="215"/>
              </a:spcBef>
            </a:pPr>
            <a:r>
              <a:rPr sz="1600" spc="-10" dirty="0">
                <a:solidFill>
                  <a:srgbClr val="111111"/>
                </a:solidFill>
                <a:latin typeface="Arial MT"/>
                <a:cs typeface="Arial MT"/>
              </a:rPr>
              <a:t>problem.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5997" y="3523329"/>
            <a:ext cx="3418753" cy="23515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2216" y="222143"/>
            <a:ext cx="1618933" cy="723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3241" y="1126577"/>
            <a:ext cx="3220085" cy="588010"/>
          </a:xfrm>
          <a:prstGeom prst="rect">
            <a:avLst/>
          </a:prstGeom>
          <a:solidFill>
            <a:srgbClr val="034F72"/>
          </a:solidFill>
        </p:spPr>
        <p:txBody>
          <a:bodyPr vert="horz" wrap="square" lIns="0" tIns="126364" rIns="0" bIns="0" rtlCol="0">
            <a:spAutoFit/>
          </a:bodyPr>
          <a:lstStyle/>
          <a:p>
            <a:pPr marL="867410">
              <a:lnSpc>
                <a:spcPct val="100000"/>
              </a:lnSpc>
              <a:spcBef>
                <a:spcPts val="994"/>
              </a:spcBef>
            </a:pPr>
            <a:r>
              <a:rPr sz="1850" spc="-30" dirty="0">
                <a:solidFill>
                  <a:srgbClr val="FFFFFF"/>
                </a:solidFill>
                <a:latin typeface="Arial MT"/>
                <a:cs typeface="Arial MT"/>
              </a:rPr>
              <a:t>Encoding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3241" y="1850124"/>
            <a:ext cx="3220085" cy="606425"/>
          </a:xfrm>
          <a:prstGeom prst="rect">
            <a:avLst/>
          </a:prstGeom>
          <a:solidFill>
            <a:srgbClr val="235262"/>
          </a:solidFill>
        </p:spPr>
        <p:txBody>
          <a:bodyPr vert="horz" wrap="square" lIns="0" tIns="140970" rIns="0" bIns="0" rtlCol="0">
            <a:spAutoFit/>
          </a:bodyPr>
          <a:lstStyle/>
          <a:p>
            <a:pPr marL="891540">
              <a:lnSpc>
                <a:spcPct val="100000"/>
              </a:lnSpc>
              <a:spcBef>
                <a:spcPts val="1110"/>
              </a:spcBef>
            </a:pPr>
            <a:r>
              <a:rPr sz="1950" spc="-90" dirty="0">
                <a:solidFill>
                  <a:srgbClr val="6D8EA1"/>
                </a:solidFill>
                <a:latin typeface="Arial MT"/>
                <a:cs typeface="Arial MT"/>
              </a:rPr>
              <a:t>Cleaning</a:t>
            </a:r>
            <a:r>
              <a:rPr sz="1950" spc="-5" dirty="0">
                <a:solidFill>
                  <a:srgbClr val="6D8EA1"/>
                </a:solidFill>
                <a:latin typeface="Arial MT"/>
                <a:cs typeface="Arial MT"/>
              </a:rPr>
              <a:t> </a:t>
            </a:r>
            <a:r>
              <a:rPr sz="1950" spc="-20" dirty="0">
                <a:solidFill>
                  <a:srgbClr val="4D7591"/>
                </a:solidFill>
                <a:latin typeface="Arial MT"/>
                <a:cs typeface="Arial MT"/>
              </a:rPr>
              <a:t>data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3241" y="2591761"/>
            <a:ext cx="3220085" cy="615315"/>
          </a:xfrm>
          <a:prstGeom prst="rect">
            <a:avLst/>
          </a:prstGeom>
          <a:solidFill>
            <a:srgbClr val="1D3338"/>
          </a:solidFill>
        </p:spPr>
        <p:txBody>
          <a:bodyPr vert="horz" wrap="square" lIns="0" tIns="140970" rIns="0" bIns="0" rtlCol="0">
            <a:spAutoFit/>
          </a:bodyPr>
          <a:lstStyle/>
          <a:p>
            <a:pPr marL="530860">
              <a:lnSpc>
                <a:spcPct val="100000"/>
              </a:lnSpc>
              <a:spcBef>
                <a:spcPts val="1110"/>
              </a:spcBef>
            </a:pPr>
            <a:r>
              <a:rPr sz="1950" spc="-55" dirty="0">
                <a:solidFill>
                  <a:srgbClr val="18465B"/>
                </a:solidFill>
                <a:latin typeface="Arial MT"/>
                <a:cs typeface="Arial MT"/>
              </a:rPr>
              <a:t>Finding</a:t>
            </a:r>
            <a:r>
              <a:rPr sz="1950" spc="-35" dirty="0">
                <a:solidFill>
                  <a:srgbClr val="18465B"/>
                </a:solidFill>
                <a:latin typeface="Arial MT"/>
                <a:cs typeface="Arial MT"/>
              </a:rPr>
              <a:t> </a:t>
            </a:r>
            <a:r>
              <a:rPr sz="1950" spc="-65" dirty="0">
                <a:solidFill>
                  <a:srgbClr val="134D60"/>
                </a:solidFill>
                <a:latin typeface="Arial MT"/>
                <a:cs typeface="Arial MT"/>
              </a:rPr>
              <a:t>missing</a:t>
            </a:r>
            <a:r>
              <a:rPr sz="1950" spc="-55" dirty="0">
                <a:solidFill>
                  <a:srgbClr val="134D60"/>
                </a:solidFill>
                <a:latin typeface="Arial MT"/>
                <a:cs typeface="Arial MT"/>
              </a:rPr>
              <a:t> </a:t>
            </a:r>
            <a:r>
              <a:rPr sz="1950" spc="-20" dirty="0">
                <a:solidFill>
                  <a:srgbClr val="90BDD1"/>
                </a:solidFill>
                <a:latin typeface="Arial MT"/>
                <a:cs typeface="Arial MT"/>
              </a:rPr>
              <a:t>data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241" y="3378620"/>
            <a:ext cx="3220085" cy="588010"/>
          </a:xfrm>
          <a:prstGeom prst="rect">
            <a:avLst/>
          </a:prstGeom>
          <a:solidFill>
            <a:srgbClr val="CA1F8C"/>
          </a:solidFill>
        </p:spPr>
        <p:txBody>
          <a:bodyPr vert="horz" wrap="square" lIns="0" tIns="158115" rIns="0" bIns="0" rtlCol="0">
            <a:spAutoFit/>
          </a:bodyPr>
          <a:lstStyle/>
          <a:p>
            <a:pPr marL="715645">
              <a:lnSpc>
                <a:spcPct val="100000"/>
              </a:lnSpc>
              <a:spcBef>
                <a:spcPts val="1245"/>
              </a:spcBef>
            </a:pPr>
            <a:r>
              <a:rPr sz="1600" spc="105" dirty="0">
                <a:solidFill>
                  <a:srgbClr val="FFFFFF"/>
                </a:solidFill>
                <a:latin typeface="Arial MT"/>
                <a:cs typeface="Arial MT"/>
              </a:rPr>
              <a:t>HandIing</a:t>
            </a:r>
            <a:r>
              <a:rPr sz="1600" spc="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FFFFFF"/>
                </a:solidFill>
                <a:latin typeface="Arial MT"/>
                <a:cs typeface="Arial MT"/>
              </a:rPr>
              <a:t>Outliers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235" y="6562229"/>
            <a:ext cx="2948448" cy="81399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sz="2300" dirty="0">
                <a:latin typeface="Arial MT"/>
                <a:cs typeface="Arial MT"/>
              </a:rPr>
              <a:t>Preparing</a:t>
            </a:r>
            <a:r>
              <a:rPr sz="2300" spc="190" dirty="0">
                <a:latin typeface="Arial MT"/>
                <a:cs typeface="Arial MT"/>
              </a:rPr>
              <a:t> </a:t>
            </a:r>
            <a:r>
              <a:rPr sz="2300" spc="-20" dirty="0">
                <a:solidFill>
                  <a:srgbClr val="151515"/>
                </a:solidFill>
                <a:latin typeface="Arial MT"/>
                <a:cs typeface="Arial MT"/>
              </a:rPr>
              <a:t>data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89537" y="1151812"/>
            <a:ext cx="7376159" cy="3373754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indent="12065">
              <a:lnSpc>
                <a:spcPct val="99200"/>
              </a:lnSpc>
              <a:spcBef>
                <a:spcPts val="145"/>
              </a:spcBef>
            </a:pPr>
            <a:r>
              <a:rPr sz="1700" spc="-130" dirty="0">
                <a:solidFill>
                  <a:srgbClr val="1F1F1F"/>
                </a:solidFill>
                <a:latin typeface="Arial MT"/>
                <a:cs typeface="Arial MT"/>
              </a:rPr>
              <a:t>You</a:t>
            </a:r>
            <a:r>
              <a:rPr sz="1700" spc="-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</a:rPr>
              <a:t>might</a:t>
            </a:r>
            <a:r>
              <a:rPr sz="1700" spc="2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262626"/>
                </a:solidFill>
                <a:latin typeface="Arial MT"/>
                <a:cs typeface="Arial MT"/>
              </a:rPr>
              <a:t>also</a:t>
            </a:r>
            <a:r>
              <a:rPr sz="1700" spc="-1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1A1A1A"/>
                </a:solidFill>
                <a:latin typeface="Arial MT"/>
                <a:cs typeface="Arial MT"/>
              </a:rPr>
              <a:t>need</a:t>
            </a:r>
            <a:r>
              <a:rPr sz="1700" spc="-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282828"/>
                </a:solidFill>
                <a:latin typeface="Arial MT"/>
                <a:cs typeface="Arial MT"/>
              </a:rPr>
              <a:t>to</a:t>
            </a:r>
            <a:r>
              <a:rPr sz="1700" spc="-10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700" spc="-65" dirty="0">
                <a:solidFill>
                  <a:srgbClr val="131313"/>
                </a:solidFill>
                <a:latin typeface="Arial MT"/>
                <a:cs typeface="Arial MT"/>
              </a:rPr>
              <a:t>clean</a:t>
            </a:r>
            <a:r>
              <a:rPr sz="1700" spc="-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your </a:t>
            </a:r>
            <a:r>
              <a:rPr sz="1700" spc="-20" dirty="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r>
              <a:rPr sz="17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95" dirty="0">
                <a:solidFill>
                  <a:srgbClr val="0A0A0A"/>
                </a:solidFill>
                <a:latin typeface="Arial MT"/>
                <a:cs typeface="Arial MT"/>
              </a:rPr>
              <a:t>because</a:t>
            </a:r>
            <a:r>
              <a:rPr sz="1700" spc="1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of</a:t>
            </a:r>
            <a:r>
              <a:rPr sz="1700" spc="-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2A2A2A"/>
                </a:solidFill>
                <a:latin typeface="Arial MT"/>
                <a:cs typeface="Arial MT"/>
              </a:rPr>
              <a:t>any</a:t>
            </a:r>
            <a:r>
              <a:rPr sz="1700" spc="-1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outliers</a:t>
            </a:r>
            <a:r>
              <a:rPr sz="1700" spc="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sz="170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might</a:t>
            </a:r>
            <a:r>
              <a:rPr sz="1700" spc="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C1C1C"/>
                </a:solidFill>
                <a:latin typeface="Arial MT"/>
                <a:cs typeface="Arial MT"/>
              </a:rPr>
              <a:t>exist. </a:t>
            </a:r>
            <a:r>
              <a:rPr sz="1700" spc="-10" dirty="0">
                <a:solidFill>
                  <a:srgbClr val="0F0F0F"/>
                </a:solidFill>
                <a:latin typeface="Arial MT"/>
                <a:cs typeface="Arial MT"/>
              </a:rPr>
              <a:t>Outliers</a:t>
            </a:r>
            <a:r>
              <a:rPr sz="1700" spc="-8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100" dirty="0">
                <a:solidFill>
                  <a:srgbClr val="1C1C1C"/>
                </a:solidFill>
                <a:latin typeface="Arial MT"/>
                <a:cs typeface="Arial MT"/>
              </a:rPr>
              <a:t>are</a:t>
            </a:r>
            <a:r>
              <a:rPr sz="1700" spc="-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31313"/>
                </a:solidFill>
                <a:latin typeface="Arial MT"/>
                <a:cs typeface="Arial MT"/>
              </a:rPr>
              <a:t>points</a:t>
            </a:r>
            <a:r>
              <a:rPr sz="1700" spc="-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B2B2B"/>
                </a:solidFill>
                <a:latin typeface="Arial MT"/>
                <a:cs typeface="Arial MT"/>
              </a:rPr>
              <a:t>in</a:t>
            </a:r>
            <a:r>
              <a:rPr sz="1700" spc="-12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your</a:t>
            </a:r>
            <a:r>
              <a:rPr sz="1700" spc="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latin typeface="Arial MT"/>
                <a:cs typeface="Arial MT"/>
              </a:rPr>
              <a:t>dataset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31313"/>
                </a:solidFill>
                <a:latin typeface="Arial MT"/>
                <a:cs typeface="Arial MT"/>
              </a:rPr>
              <a:t>that</a:t>
            </a:r>
            <a:r>
              <a:rPr sz="1700" spc="-7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11111"/>
                </a:solidFill>
                <a:latin typeface="Arial MT"/>
                <a:cs typeface="Arial MT"/>
              </a:rPr>
              <a:t>lie</a:t>
            </a:r>
            <a:r>
              <a:rPr sz="17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at</a:t>
            </a:r>
            <a:r>
              <a:rPr sz="1700" spc="-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232323"/>
                </a:solidFill>
                <a:latin typeface="Arial MT"/>
                <a:cs typeface="Arial MT"/>
              </a:rPr>
              <a:t>an </a:t>
            </a:r>
            <a:r>
              <a:rPr sz="1700" spc="-20" dirty="0">
                <a:solidFill>
                  <a:srgbClr val="0E0E0E"/>
                </a:solidFill>
                <a:latin typeface="Arial MT"/>
                <a:cs typeface="Arial MT"/>
              </a:rPr>
              <a:t>abnormal</a:t>
            </a:r>
            <a:r>
              <a:rPr sz="1700" spc="-2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111111"/>
                </a:solidFill>
                <a:latin typeface="Arial MT"/>
                <a:cs typeface="Arial MT"/>
              </a:rPr>
              <a:t>distance</a:t>
            </a:r>
            <a:r>
              <a:rPr sz="170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C0C0C"/>
                </a:solidFill>
                <a:latin typeface="Arial MT"/>
                <a:cs typeface="Arial MT"/>
              </a:rPr>
              <a:t>from</a:t>
            </a:r>
            <a:r>
              <a:rPr sz="1700" spc="-6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D1D1D"/>
                </a:solidFill>
                <a:latin typeface="Arial MT"/>
                <a:cs typeface="Arial MT"/>
              </a:rPr>
              <a:t>other </a:t>
            </a:r>
            <a:r>
              <a:rPr sz="1650" spc="-35" dirty="0">
                <a:solidFill>
                  <a:srgbClr val="0E0E0E"/>
                </a:solidFill>
                <a:latin typeface="Arial MT"/>
                <a:cs typeface="Arial MT"/>
              </a:rPr>
              <a:t>values.</a:t>
            </a:r>
            <a:r>
              <a:rPr sz="1650" spc="-1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50" spc="-25" dirty="0">
                <a:solidFill>
                  <a:srgbClr val="131313"/>
                </a:solidFill>
                <a:latin typeface="Arial MT"/>
                <a:cs typeface="Arial MT"/>
              </a:rPr>
              <a:t>They</a:t>
            </a:r>
            <a:r>
              <a:rPr sz="1650" spc="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50" spc="-45" dirty="0">
                <a:solidFill>
                  <a:srgbClr val="212121"/>
                </a:solidFill>
                <a:latin typeface="Arial MT"/>
                <a:cs typeface="Arial MT"/>
              </a:rPr>
              <a:t>are</a:t>
            </a:r>
            <a:r>
              <a:rPr sz="1650" spc="-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50" spc="65" dirty="0">
                <a:solidFill>
                  <a:srgbClr val="282828"/>
                </a:solidFill>
                <a:latin typeface="Arial MT"/>
                <a:cs typeface="Arial MT"/>
              </a:rPr>
              <a:t>not</a:t>
            </a:r>
            <a:r>
              <a:rPr sz="1650" spc="-8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50" spc="-25" dirty="0">
                <a:solidFill>
                  <a:srgbClr val="181818"/>
                </a:solidFill>
                <a:latin typeface="Arial MT"/>
                <a:cs typeface="Arial MT"/>
              </a:rPr>
              <a:t>always</a:t>
            </a:r>
            <a:r>
              <a:rPr sz="1650" spc="-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F1F1F"/>
                </a:solidFill>
                <a:latin typeface="Arial MT"/>
                <a:cs typeface="Arial MT"/>
              </a:rPr>
              <a:t>something</a:t>
            </a:r>
            <a:r>
              <a:rPr sz="1650" spc="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50" spc="70" dirty="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sz="165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E0E0E"/>
                </a:solidFill>
                <a:latin typeface="Arial MT"/>
                <a:cs typeface="Arial MT"/>
              </a:rPr>
              <a:t>you</a:t>
            </a:r>
            <a:r>
              <a:rPr sz="1650" spc="-6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A1A1A"/>
                </a:solidFill>
                <a:latin typeface="Arial MT"/>
                <a:cs typeface="Arial MT"/>
              </a:rPr>
              <a:t>want</a:t>
            </a:r>
            <a:r>
              <a:rPr sz="165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82828"/>
                </a:solidFill>
                <a:latin typeface="Arial MT"/>
                <a:cs typeface="Arial MT"/>
              </a:rPr>
              <a:t>to</a:t>
            </a:r>
            <a:r>
              <a:rPr sz="1650" spc="5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50" spc="-20" dirty="0">
                <a:solidFill>
                  <a:srgbClr val="1C1C1C"/>
                </a:solidFill>
                <a:latin typeface="Arial MT"/>
                <a:cs typeface="Arial MT"/>
              </a:rPr>
              <a:t>clean</a:t>
            </a:r>
            <a:r>
              <a:rPr sz="1650" spc="-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31313"/>
                </a:solidFill>
                <a:latin typeface="Arial MT"/>
                <a:cs typeface="Arial MT"/>
              </a:rPr>
              <a:t>up,</a:t>
            </a:r>
            <a:r>
              <a:rPr sz="1650" spc="-114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50" spc="-55" dirty="0">
                <a:solidFill>
                  <a:srgbClr val="151515"/>
                </a:solidFill>
                <a:latin typeface="Arial MT"/>
                <a:cs typeface="Arial MT"/>
              </a:rPr>
              <a:t>because</a:t>
            </a:r>
            <a:r>
              <a:rPr sz="1650" spc="6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50" spc="-20" dirty="0">
                <a:solidFill>
                  <a:srgbClr val="181818"/>
                </a:solidFill>
                <a:latin typeface="Arial MT"/>
                <a:cs typeface="Arial MT"/>
              </a:rPr>
              <a:t>they </a:t>
            </a:r>
            <a:r>
              <a:rPr sz="1700" spc="-105" dirty="0">
                <a:solidFill>
                  <a:srgbClr val="1F1F1F"/>
                </a:solidFill>
                <a:latin typeface="Arial MT"/>
                <a:cs typeface="Arial MT"/>
              </a:rPr>
              <a:t>can</a:t>
            </a:r>
            <a:r>
              <a:rPr sz="1700" spc="-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0F0F0F"/>
                </a:solidFill>
                <a:latin typeface="Arial MT"/>
                <a:cs typeface="Arial MT"/>
              </a:rPr>
              <a:t>add</a:t>
            </a:r>
            <a:r>
              <a:rPr sz="1700" spc="-8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65" dirty="0">
                <a:solidFill>
                  <a:srgbClr val="161616"/>
                </a:solidFill>
                <a:latin typeface="Arial MT"/>
                <a:cs typeface="Arial MT"/>
              </a:rPr>
              <a:t>richness</a:t>
            </a:r>
            <a:r>
              <a:rPr sz="1700" spc="-5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700" spc="-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111"/>
                </a:solidFill>
                <a:latin typeface="Arial MT"/>
                <a:cs typeface="Arial MT"/>
              </a:rPr>
              <a:t>your</a:t>
            </a:r>
            <a:r>
              <a:rPr sz="1700" spc="-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131313"/>
                </a:solidFill>
                <a:latin typeface="Arial MT"/>
                <a:cs typeface="Arial MT"/>
              </a:rPr>
              <a:t>dataset.</a:t>
            </a:r>
            <a:r>
              <a:rPr sz="1700" spc="-6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0E0E0E"/>
                </a:solidFill>
                <a:latin typeface="Arial MT"/>
                <a:cs typeface="Arial MT"/>
              </a:rPr>
              <a:t>However,</a:t>
            </a:r>
            <a:r>
              <a:rPr sz="1700" spc="-2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they</a:t>
            </a:r>
            <a:r>
              <a:rPr sz="1700" spc="-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85" dirty="0">
                <a:solidFill>
                  <a:srgbClr val="2A2A2A"/>
                </a:solidFill>
                <a:latin typeface="Arial MT"/>
                <a:cs typeface="Arial MT"/>
              </a:rPr>
              <a:t>can</a:t>
            </a:r>
            <a:r>
              <a:rPr sz="170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212121"/>
                </a:solidFill>
                <a:latin typeface="Arial MT"/>
                <a:cs typeface="Arial MT"/>
              </a:rPr>
              <a:t>also</a:t>
            </a:r>
            <a:r>
              <a:rPr sz="1700" spc="-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70" dirty="0">
                <a:solidFill>
                  <a:srgbClr val="1F1F1F"/>
                </a:solidFill>
                <a:latin typeface="Arial MT"/>
                <a:cs typeface="Arial MT"/>
              </a:rPr>
              <a:t>make</a:t>
            </a:r>
            <a:r>
              <a:rPr sz="1700" spc="-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it</a:t>
            </a:r>
            <a:r>
              <a:rPr sz="17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C1C1C"/>
                </a:solidFill>
                <a:latin typeface="Arial MT"/>
                <a:cs typeface="Arial MT"/>
              </a:rPr>
              <a:t>more</a:t>
            </a:r>
            <a:r>
              <a:rPr sz="1700" spc="-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difficult</a:t>
            </a:r>
            <a:r>
              <a:rPr sz="1700" spc="5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A2A2A"/>
                </a:solidFill>
                <a:latin typeface="Arial MT"/>
                <a:cs typeface="Arial MT"/>
              </a:rPr>
              <a:t>to</a:t>
            </a:r>
            <a:r>
              <a:rPr sz="1700" spc="-2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00" spc="-80" dirty="0">
                <a:solidFill>
                  <a:srgbClr val="151515"/>
                </a:solidFill>
                <a:latin typeface="Arial MT"/>
                <a:cs typeface="Arial MT"/>
              </a:rPr>
              <a:t>make</a:t>
            </a:r>
            <a:r>
              <a:rPr sz="1700" spc="-4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212121"/>
                </a:solidFill>
                <a:latin typeface="Arial MT"/>
                <a:cs typeface="Arial MT"/>
              </a:rPr>
              <a:t>accurate</a:t>
            </a:r>
            <a:r>
              <a:rPr sz="1700" spc="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1C1C1C"/>
                </a:solidFill>
                <a:latin typeface="Arial MT"/>
                <a:cs typeface="Arial MT"/>
              </a:rPr>
              <a:t>predictions.</a:t>
            </a:r>
            <a:r>
              <a:rPr sz="1700" spc="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65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sz="1700" spc="-5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31313"/>
                </a:solidFill>
                <a:latin typeface="Arial MT"/>
                <a:cs typeface="Arial MT"/>
              </a:rPr>
              <a:t>outliers</a:t>
            </a:r>
            <a:r>
              <a:rPr sz="1700" spc="-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affect</a:t>
            </a:r>
            <a:r>
              <a:rPr sz="17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85" dirty="0">
                <a:solidFill>
                  <a:srgbClr val="151515"/>
                </a:solidFill>
                <a:latin typeface="Arial MT"/>
                <a:cs typeface="Arial MT"/>
              </a:rPr>
              <a:t>accuracy</a:t>
            </a:r>
            <a:r>
              <a:rPr sz="1700" spc="2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spc="-100" dirty="0">
                <a:solidFill>
                  <a:srgbClr val="0C0C0C"/>
                </a:solidFill>
                <a:latin typeface="Arial MT"/>
                <a:cs typeface="Arial MT"/>
              </a:rPr>
              <a:t>because</a:t>
            </a:r>
            <a:r>
              <a:rPr sz="1700" spc="-2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they</a:t>
            </a:r>
            <a:r>
              <a:rPr sz="1700" spc="-1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232323"/>
                </a:solidFill>
                <a:latin typeface="Arial MT"/>
                <a:cs typeface="Arial MT"/>
              </a:rPr>
              <a:t>skew </a:t>
            </a:r>
            <a:r>
              <a:rPr sz="1750" spc="-95" dirty="0">
                <a:solidFill>
                  <a:srgbClr val="070707"/>
                </a:solidFill>
                <a:latin typeface="Arial MT"/>
                <a:cs typeface="Arial MT"/>
              </a:rPr>
              <a:t>values</a:t>
            </a:r>
            <a:r>
              <a:rPr sz="1750" dirty="0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111111"/>
                </a:solidFill>
                <a:latin typeface="Arial MT"/>
                <a:cs typeface="Arial MT"/>
              </a:rPr>
              <a:t>away</a:t>
            </a:r>
            <a:r>
              <a:rPr sz="175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D1D1D"/>
                </a:solidFill>
                <a:latin typeface="Arial MT"/>
                <a:cs typeface="Arial MT"/>
              </a:rPr>
              <a:t>from</a:t>
            </a:r>
            <a:r>
              <a:rPr sz="1750" spc="-7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sz="1750" spc="1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62626"/>
                </a:solidFill>
                <a:latin typeface="Arial MT"/>
                <a:cs typeface="Arial MT"/>
              </a:rPr>
              <a:t>other</a:t>
            </a:r>
            <a:r>
              <a:rPr sz="1750" spc="-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42424"/>
                </a:solidFill>
                <a:latin typeface="Arial MT"/>
                <a:cs typeface="Arial MT"/>
              </a:rPr>
              <a:t>more</a:t>
            </a:r>
            <a:r>
              <a:rPr sz="1750" spc="-2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111111"/>
                </a:solidFill>
                <a:latin typeface="Arial MT"/>
                <a:cs typeface="Arial MT"/>
              </a:rPr>
              <a:t>normal</a:t>
            </a:r>
            <a:r>
              <a:rPr sz="17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0C0C0C"/>
                </a:solidFill>
                <a:latin typeface="Arial MT"/>
                <a:cs typeface="Arial MT"/>
              </a:rPr>
              <a:t>values</a:t>
            </a:r>
            <a:r>
              <a:rPr sz="1750" spc="-5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11111"/>
                </a:solidFill>
                <a:latin typeface="Arial MT"/>
                <a:cs typeface="Arial MT"/>
              </a:rPr>
              <a:t>that</a:t>
            </a:r>
            <a:r>
              <a:rPr sz="1750" spc="-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1A1A1A"/>
                </a:solidFill>
                <a:latin typeface="Arial MT"/>
                <a:cs typeface="Arial MT"/>
              </a:rPr>
              <a:t>are</a:t>
            </a:r>
            <a:r>
              <a:rPr sz="175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0F0F0F"/>
                </a:solidFill>
                <a:latin typeface="Arial MT"/>
                <a:cs typeface="Arial MT"/>
              </a:rPr>
              <a:t>related</a:t>
            </a:r>
            <a:r>
              <a:rPr sz="1750" spc="2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C1C1C"/>
                </a:solidFill>
                <a:latin typeface="Arial MT"/>
                <a:cs typeface="Arial MT"/>
              </a:rPr>
              <a:t>to</a:t>
            </a:r>
            <a:r>
              <a:rPr sz="1750" spc="-1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that</a:t>
            </a:r>
            <a:r>
              <a:rPr sz="1750" spc="-105" dirty="0"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0C0C0C"/>
                </a:solidFill>
                <a:latin typeface="Arial MT"/>
                <a:cs typeface="Arial MT"/>
              </a:rPr>
              <a:t>feature. </a:t>
            </a:r>
            <a:r>
              <a:rPr sz="1650" dirty="0">
                <a:solidFill>
                  <a:srgbClr val="282828"/>
                </a:solidFill>
                <a:latin typeface="Arial MT"/>
                <a:cs typeface="Arial MT"/>
              </a:rPr>
              <a:t>In</a:t>
            </a:r>
            <a:r>
              <a:rPr sz="1650" spc="-3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A1A1A"/>
                </a:solidFill>
                <a:latin typeface="Arial MT"/>
                <a:cs typeface="Arial MT"/>
              </a:rPr>
              <a:t>addition,</a:t>
            </a:r>
            <a:r>
              <a:rPr sz="1650" spc="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61616"/>
                </a:solidFill>
                <a:latin typeface="Arial MT"/>
                <a:cs typeface="Arial MT"/>
              </a:rPr>
              <a:t>an</a:t>
            </a:r>
            <a:r>
              <a:rPr sz="1650" spc="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C0C0C"/>
                </a:solidFill>
                <a:latin typeface="Arial MT"/>
                <a:cs typeface="Arial MT"/>
              </a:rPr>
              <a:t>outtier</a:t>
            </a:r>
            <a:r>
              <a:rPr sz="1650" spc="7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82828"/>
                </a:solidFill>
                <a:latin typeface="Arial MT"/>
                <a:cs typeface="Arial MT"/>
              </a:rPr>
              <a:t>might</a:t>
            </a:r>
            <a:r>
              <a:rPr sz="1650" spc="4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61616"/>
                </a:solidFill>
                <a:latin typeface="Arial MT"/>
                <a:cs typeface="Arial MT"/>
              </a:rPr>
              <a:t>indicate</a:t>
            </a:r>
            <a:r>
              <a:rPr sz="1650" spc="10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50" spc="50" dirty="0">
                <a:solidFill>
                  <a:srgbClr val="0F0F0F"/>
                </a:solidFill>
                <a:latin typeface="Arial MT"/>
                <a:cs typeface="Arial MT"/>
              </a:rPr>
              <a:t>that</a:t>
            </a:r>
            <a:r>
              <a:rPr sz="1650" spc="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50" spc="6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F1F1F"/>
                </a:solidFill>
                <a:latin typeface="Arial MT"/>
                <a:cs typeface="Arial MT"/>
              </a:rPr>
              <a:t>data</a:t>
            </a:r>
            <a:r>
              <a:rPr sz="1650" spc="114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C1C1C"/>
                </a:solidFill>
                <a:latin typeface="Arial MT"/>
                <a:cs typeface="Arial MT"/>
              </a:rPr>
              <a:t>point</a:t>
            </a:r>
            <a:r>
              <a:rPr sz="1650" spc="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12121"/>
                </a:solidFill>
                <a:latin typeface="Arial MT"/>
                <a:cs typeface="Arial MT"/>
              </a:rPr>
              <a:t>belongs</a:t>
            </a:r>
            <a:r>
              <a:rPr sz="1650" spc="1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650" spc="1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181818"/>
                </a:solidFill>
                <a:latin typeface="Arial MT"/>
                <a:cs typeface="Arial MT"/>
              </a:rPr>
              <a:t>another </a:t>
            </a:r>
            <a:r>
              <a:rPr sz="1700" spc="-10" dirty="0">
                <a:solidFill>
                  <a:srgbClr val="0A0A0A"/>
                </a:solidFill>
                <a:latin typeface="Arial MT"/>
                <a:cs typeface="Arial MT"/>
              </a:rPr>
              <a:t>column.</a:t>
            </a:r>
            <a:endParaRPr sz="1700">
              <a:latin typeface="Arial MT"/>
              <a:cs typeface="Arial MT"/>
            </a:endParaRPr>
          </a:p>
          <a:p>
            <a:pPr marL="12700" marR="3437890" indent="12065">
              <a:lnSpc>
                <a:spcPct val="100400"/>
              </a:lnSpc>
              <a:spcBef>
                <a:spcPts val="125"/>
              </a:spcBef>
            </a:pPr>
            <a:r>
              <a:rPr sz="1700" spc="-125" dirty="0">
                <a:solidFill>
                  <a:srgbClr val="1A1A1A"/>
                </a:solidFill>
                <a:latin typeface="Arial MT"/>
                <a:cs typeface="Arial MT"/>
              </a:rPr>
              <a:t>You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10" dirty="0">
                <a:solidFill>
                  <a:srgbClr val="0C0C0C"/>
                </a:solidFill>
                <a:latin typeface="Arial MT"/>
                <a:cs typeface="Arial MT"/>
              </a:rPr>
              <a:t>can</a:t>
            </a:r>
            <a:r>
              <a:rPr sz="1700" spc="-4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61616"/>
                </a:solidFill>
                <a:latin typeface="Arial MT"/>
                <a:cs typeface="Arial MT"/>
              </a:rPr>
              <a:t>think</a:t>
            </a:r>
            <a:r>
              <a:rPr sz="1700" spc="1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62626"/>
                </a:solidFill>
                <a:latin typeface="Arial MT"/>
                <a:cs typeface="Arial MT"/>
              </a:rPr>
              <a:t>of</a:t>
            </a:r>
            <a:r>
              <a:rPr sz="1700" spc="-1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outliers</a:t>
            </a:r>
            <a:r>
              <a:rPr sz="1700" spc="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160" dirty="0">
                <a:solidFill>
                  <a:srgbClr val="1C1C1C"/>
                </a:solidFill>
                <a:latin typeface="Arial MT"/>
                <a:cs typeface="Arial MT"/>
              </a:rPr>
              <a:t>as</a:t>
            </a:r>
            <a:r>
              <a:rPr sz="1700" spc="-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falling</a:t>
            </a:r>
            <a:r>
              <a:rPr sz="1700" spc="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232323"/>
                </a:solidFill>
                <a:latin typeface="Arial MT"/>
                <a:cs typeface="Arial MT"/>
              </a:rPr>
              <a:t>into</a:t>
            </a:r>
            <a:r>
              <a:rPr sz="1700" spc="8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50" spc="80" dirty="0">
                <a:solidFill>
                  <a:srgbClr val="181818"/>
                </a:solidFill>
                <a:latin typeface="Arial MT"/>
                <a:cs typeface="Arial MT"/>
              </a:rPr>
              <a:t>two</a:t>
            </a:r>
            <a:r>
              <a:rPr sz="1650" spc="-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E0E0E"/>
                </a:solidFill>
                <a:latin typeface="Arial MT"/>
                <a:cs typeface="Arial MT"/>
              </a:rPr>
              <a:t>broad</a:t>
            </a:r>
            <a:r>
              <a:rPr sz="1650" spc="-1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50" spc="-30" dirty="0">
                <a:solidFill>
                  <a:srgbClr val="1A1A1A"/>
                </a:solidFill>
                <a:latin typeface="Arial MT"/>
                <a:cs typeface="Arial MT"/>
              </a:rPr>
              <a:t>categories.</a:t>
            </a:r>
            <a:r>
              <a:rPr sz="1650" spc="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50" spc="-25" dirty="0">
                <a:solidFill>
                  <a:srgbClr val="0E0E0E"/>
                </a:solidFill>
                <a:latin typeface="Arial MT"/>
                <a:cs typeface="Arial MT"/>
              </a:rPr>
              <a:t>The</a:t>
            </a:r>
            <a:r>
              <a:rPr sz="1650" spc="-8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50" spc="80" dirty="0">
                <a:solidFill>
                  <a:srgbClr val="161616"/>
                </a:solidFill>
                <a:latin typeface="Arial MT"/>
                <a:cs typeface="Arial MT"/>
              </a:rPr>
              <a:t>two</a:t>
            </a:r>
            <a:r>
              <a:rPr sz="1650" spc="-5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161616"/>
                </a:solidFill>
                <a:latin typeface="Arial MT"/>
                <a:cs typeface="Arial MT"/>
              </a:rPr>
              <a:t>categories </a:t>
            </a:r>
            <a:r>
              <a:rPr sz="1650" spc="-20" dirty="0">
                <a:solidFill>
                  <a:srgbClr val="151515"/>
                </a:solidFill>
                <a:latin typeface="Arial MT"/>
                <a:cs typeface="Arial MT"/>
              </a:rPr>
              <a:t>are</a:t>
            </a:r>
            <a:r>
              <a:rPr sz="1650" spc="-10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0E0E0E"/>
                </a:solidFill>
                <a:latin typeface="Arial MT"/>
                <a:cs typeface="Arial MT"/>
              </a:rPr>
              <a:t>a</a:t>
            </a:r>
            <a:r>
              <a:rPr sz="1650" spc="-7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131313"/>
                </a:solidFill>
                <a:latin typeface="Arial MT"/>
                <a:cs typeface="Arial MT"/>
              </a:rPr>
              <a:t>singte</a:t>
            </a:r>
            <a:r>
              <a:rPr sz="16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variation</a:t>
            </a:r>
            <a:r>
              <a:rPr sz="1650" spc="-30" dirty="0">
                <a:latin typeface="Arial MT"/>
                <a:cs typeface="Arial MT"/>
              </a:rPr>
              <a:t> </a:t>
            </a:r>
            <a:r>
              <a:rPr sz="1650" spc="55" dirty="0">
                <a:solidFill>
                  <a:srgbClr val="181818"/>
                </a:solidFill>
                <a:latin typeface="Arial MT"/>
                <a:cs typeface="Arial MT"/>
              </a:rPr>
              <a:t>for</a:t>
            </a:r>
            <a:r>
              <a:rPr sz="1650" spc="-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50" spc="-110" dirty="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sz="1650" spc="-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81818"/>
                </a:solidFill>
                <a:latin typeface="Arial MT"/>
                <a:cs typeface="Arial MT"/>
              </a:rPr>
              <a:t>single </a:t>
            </a:r>
            <a:r>
              <a:rPr sz="1650" spc="-10" dirty="0">
                <a:solidFill>
                  <a:srgbClr val="1F1F1F"/>
                </a:solidFill>
                <a:latin typeface="Arial MT"/>
                <a:cs typeface="Arial MT"/>
              </a:rPr>
              <a:t>variable </a:t>
            </a:r>
            <a:r>
              <a:rPr sz="1650" spc="-10" dirty="0">
                <a:solidFill>
                  <a:srgbClr val="181818"/>
                </a:solidFill>
                <a:latin typeface="Arial MT"/>
                <a:cs typeface="Arial MT"/>
              </a:rPr>
              <a:t>(univariate)</a:t>
            </a:r>
            <a:r>
              <a:rPr sz="1650" spc="1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650" spc="-1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sz="1650" spc="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C1C1C"/>
                </a:solidFill>
                <a:latin typeface="Arial MT"/>
                <a:cs typeface="Arial MT"/>
              </a:rPr>
              <a:t>variation</a:t>
            </a:r>
            <a:r>
              <a:rPr sz="1650" spc="-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50" spc="80" dirty="0">
                <a:solidFill>
                  <a:srgbClr val="2B2B2B"/>
                </a:solidFill>
                <a:latin typeface="Arial MT"/>
                <a:cs typeface="Arial MT"/>
              </a:rPr>
              <a:t>of</a:t>
            </a:r>
            <a:r>
              <a:rPr sz="1650" spc="2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650" spc="55" dirty="0">
                <a:solidFill>
                  <a:srgbClr val="262626"/>
                </a:solidFill>
                <a:latin typeface="Arial MT"/>
                <a:cs typeface="Arial MT"/>
              </a:rPr>
              <a:t>two</a:t>
            </a:r>
            <a:r>
              <a:rPr sz="1650" spc="-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82828"/>
                </a:solidFill>
                <a:latin typeface="Arial MT"/>
                <a:cs typeface="Arial MT"/>
              </a:rPr>
              <a:t>or</a:t>
            </a:r>
            <a:r>
              <a:rPr sz="1650" spc="-1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50" spc="-20" dirty="0">
                <a:solidFill>
                  <a:srgbClr val="1C1C1C"/>
                </a:solidFill>
                <a:latin typeface="Arial MT"/>
                <a:cs typeface="Arial MT"/>
              </a:rPr>
              <a:t>more </a:t>
            </a:r>
            <a:r>
              <a:rPr sz="1700" spc="-40" dirty="0">
                <a:solidFill>
                  <a:srgbClr val="181818"/>
                </a:solidFill>
                <a:latin typeface="Arial MT"/>
                <a:cs typeface="Arial MT"/>
              </a:rPr>
              <a:t>variables</a:t>
            </a:r>
            <a:r>
              <a:rPr sz="17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51515"/>
                </a:solidFill>
                <a:latin typeface="Arial MT"/>
                <a:cs typeface="Arial MT"/>
              </a:rPr>
              <a:t>(multivariate).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659" y="1456645"/>
            <a:ext cx="11508361" cy="464136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181818"/>
                </a:solidFill>
                <a:latin typeface="Arial MT"/>
                <a:cs typeface="Arial MT"/>
              </a:rPr>
              <a:t>Machine</a:t>
            </a:r>
            <a:r>
              <a:rPr spc="114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pc="55" dirty="0">
                <a:solidFill>
                  <a:srgbClr val="0F0F0F"/>
                </a:solidFill>
                <a:latin typeface="Arial MT"/>
                <a:cs typeface="Arial MT"/>
              </a:rPr>
              <a:t>learning</a:t>
            </a:r>
            <a:r>
              <a:rPr spc="4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pc="60" dirty="0">
                <a:solidFill>
                  <a:srgbClr val="1C1C1C"/>
                </a:solidFill>
                <a:latin typeface="Arial MT"/>
                <a:cs typeface="Arial MT"/>
              </a:rPr>
              <a:t>pipeline</a:t>
            </a:r>
            <a:r>
              <a:rPr spc="10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pc="-1195" dirty="0">
                <a:solidFill>
                  <a:srgbClr val="1D1D1D"/>
                </a:solidFill>
                <a:latin typeface="Arial MT"/>
                <a:cs typeface="Arial MT"/>
              </a:rPr>
              <a:t>—</a:t>
            </a:r>
            <a:r>
              <a:rPr spc="-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242424"/>
                </a:solidFill>
                <a:latin typeface="Arial MT"/>
                <a:cs typeface="Arial MT"/>
              </a:rPr>
              <a:t>Select</a:t>
            </a:r>
            <a:r>
              <a:rPr spc="15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61616"/>
                </a:solidFill>
                <a:latin typeface="Arial MT"/>
                <a:cs typeface="Arial MT"/>
              </a:rPr>
              <a:t>and</a:t>
            </a:r>
            <a:r>
              <a:rPr spc="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pc="100" dirty="0">
                <a:solidFill>
                  <a:srgbClr val="161616"/>
                </a:solidFill>
                <a:latin typeface="Arial MT"/>
                <a:cs typeface="Arial MT"/>
              </a:rPr>
              <a:t>train</a:t>
            </a:r>
            <a:r>
              <a:rPr spc="-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pc="80" dirty="0">
                <a:solidFill>
                  <a:srgbClr val="1F1F1F"/>
                </a:solidFill>
                <a:latin typeface="Arial MT"/>
                <a:cs typeface="Arial MT"/>
              </a:rPr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9724" y="1584936"/>
            <a:ext cx="163195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-30" dirty="0">
                <a:solidFill>
                  <a:srgbClr val="1F1F1F"/>
                </a:solidFill>
                <a:latin typeface="Arial MT"/>
                <a:cs typeface="Arial MT"/>
              </a:rPr>
              <a:t>Business</a:t>
            </a:r>
            <a:r>
              <a:rPr sz="1600" spc="-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81818"/>
                </a:solidFill>
                <a:latin typeface="Arial MT"/>
                <a:cs typeface="Arial MT"/>
              </a:rPr>
              <a:t>prOblem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3293" y="1566087"/>
            <a:ext cx="1891664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100" dirty="0">
                <a:solidFill>
                  <a:srgbClr val="1F1F1F"/>
                </a:solidFill>
                <a:latin typeface="Arial MT"/>
                <a:cs typeface="Arial MT"/>
              </a:rPr>
              <a:t>New</a:t>
            </a:r>
            <a:r>
              <a:rPr sz="1750" spc="-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111111"/>
                </a:solidFill>
                <a:latin typeface="Arial MT"/>
                <a:cs typeface="Arial MT"/>
              </a:rPr>
              <a:t>data,</a:t>
            </a:r>
            <a:r>
              <a:rPr sz="1750" spc="-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161616"/>
                </a:solidFill>
                <a:latin typeface="Arial MT"/>
                <a:cs typeface="Arial MT"/>
              </a:rPr>
              <a:t>retraining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38333" y="5242887"/>
            <a:ext cx="3894454" cy="789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48485">
              <a:lnSpc>
                <a:spcPct val="100000"/>
              </a:lnSpc>
              <a:spcBef>
                <a:spcPts val="130"/>
              </a:spcBef>
            </a:pPr>
            <a:r>
              <a:rPr sz="1650" spc="-40" dirty="0">
                <a:solidFill>
                  <a:srgbClr val="161616"/>
                </a:solidFill>
                <a:latin typeface="Arial MT"/>
                <a:cs typeface="Arial MT"/>
              </a:rPr>
              <a:t>Feature</a:t>
            </a:r>
            <a:r>
              <a:rPr sz="1650" spc="-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augmentation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31313"/>
                </a:solidFill>
                <a:latin typeface="Arial MT"/>
                <a:cs typeface="Arial MT"/>
              </a:rPr>
              <a:t>Data</a:t>
            </a:r>
            <a:r>
              <a:rPr sz="1700" spc="-6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51515"/>
                </a:solidFill>
                <a:latin typeface="Arial MT"/>
                <a:cs typeface="Arial MT"/>
              </a:rPr>
              <a:t>augmentation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65049" y="3026251"/>
            <a:ext cx="31623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175" dirty="0">
                <a:solidFill>
                  <a:srgbClr val="1C1C1C"/>
                </a:solidFill>
                <a:latin typeface="Arial MT"/>
                <a:cs typeface="Arial MT"/>
              </a:rPr>
              <a:t>Yes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2145" y="2500946"/>
            <a:ext cx="1176634" cy="29144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27831" y="2265619"/>
            <a:ext cx="597368" cy="9956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136880" y="4065273"/>
            <a:ext cx="519430" cy="0"/>
          </a:xfrm>
          <a:custGeom>
            <a:avLst/>
            <a:gdLst/>
            <a:ahLst/>
            <a:cxnLst/>
            <a:rect l="l" t="t" r="r" b="b"/>
            <a:pathLst>
              <a:path w="519429">
                <a:moveTo>
                  <a:pt x="0" y="0"/>
                </a:moveTo>
                <a:lnTo>
                  <a:pt x="518925" y="0"/>
                </a:lnTo>
              </a:path>
            </a:pathLst>
          </a:custGeom>
          <a:ln w="21119">
            <a:solidFill>
              <a:srgbClr val="2B2B2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449" y="263824"/>
            <a:ext cx="1641475" cy="0"/>
          </a:xfrm>
          <a:custGeom>
            <a:avLst/>
            <a:gdLst/>
            <a:ahLst/>
            <a:cxnLst/>
            <a:rect l="l" t="t" r="r" b="b"/>
            <a:pathLst>
              <a:path w="1641475">
                <a:moveTo>
                  <a:pt x="0" y="0"/>
                </a:moveTo>
                <a:lnTo>
                  <a:pt x="1641253" y="0"/>
                </a:lnTo>
              </a:path>
            </a:pathLst>
          </a:custGeom>
          <a:ln w="3175">
            <a:solidFill>
              <a:srgbClr val="CC67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4011" y="6555825"/>
            <a:ext cx="3032097" cy="63357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25"/>
              </a:spcBef>
            </a:pPr>
            <a:r>
              <a:rPr spc="65" dirty="0">
                <a:solidFill>
                  <a:srgbClr val="181818"/>
                </a:solidFill>
                <a:latin typeface="Arial MT"/>
                <a:cs typeface="Arial MT"/>
              </a:rPr>
              <a:t>Model</a:t>
            </a:r>
            <a:r>
              <a:rPr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pc="85" dirty="0">
                <a:solidFill>
                  <a:srgbClr val="212121"/>
                </a:solidFill>
                <a:latin typeface="Arial MT"/>
                <a:cs typeface="Arial MT"/>
              </a:rPr>
              <a:t>training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2325" y="1186653"/>
            <a:ext cx="11333480" cy="54292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indent="5080">
              <a:lnSpc>
                <a:spcPts val="2000"/>
              </a:lnSpc>
              <a:spcBef>
                <a:spcPts val="229"/>
              </a:spcBef>
            </a:pPr>
            <a:r>
              <a:rPr sz="1700" dirty="0">
                <a:solidFill>
                  <a:srgbClr val="242424"/>
                </a:solidFill>
                <a:latin typeface="Calibri"/>
                <a:cs typeface="Calibri"/>
              </a:rPr>
              <a:t>After</a:t>
            </a:r>
            <a:r>
              <a:rPr sz="1700" spc="15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F1F1F"/>
                </a:solidFill>
                <a:latin typeface="Calibri"/>
                <a:cs typeface="Calibri"/>
              </a:rPr>
              <a:t>you</a:t>
            </a:r>
            <a:r>
              <a:rPr sz="1700" spc="10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81818"/>
                </a:solidFill>
                <a:latin typeface="Calibri"/>
                <a:cs typeface="Calibri"/>
              </a:rPr>
              <a:t>clean</a:t>
            </a:r>
            <a:r>
              <a:rPr sz="1700" spc="10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1C1C"/>
                </a:solidFill>
                <a:latin typeface="Calibri"/>
                <a:cs typeface="Calibri"/>
              </a:rPr>
              <a:t>your</a:t>
            </a:r>
            <a:r>
              <a:rPr sz="1700" spc="7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700" spc="50" dirty="0">
                <a:solidFill>
                  <a:srgbClr val="161616"/>
                </a:solidFill>
                <a:latin typeface="Calibri"/>
                <a:cs typeface="Calibri"/>
              </a:rPr>
              <a:t>data</a:t>
            </a:r>
            <a:r>
              <a:rPr sz="1700" spc="9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700" spc="65" dirty="0">
                <a:solidFill>
                  <a:srgbClr val="1A1A1A"/>
                </a:solidFill>
                <a:latin typeface="Calibri"/>
                <a:cs typeface="Calibri"/>
              </a:rPr>
              <a:t>and</a:t>
            </a:r>
            <a:r>
              <a:rPr sz="1700" spc="5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1C1C"/>
                </a:solidFill>
                <a:latin typeface="Calibri"/>
                <a:cs typeface="Calibri"/>
              </a:rPr>
              <a:t>identify</a:t>
            </a:r>
            <a:r>
              <a:rPr sz="1700" spc="254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12121"/>
                </a:solidFill>
                <a:latin typeface="Calibri"/>
                <a:cs typeface="Calibri"/>
              </a:rPr>
              <a:t>its</a:t>
            </a:r>
            <a:r>
              <a:rPr sz="1700" spc="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1C1C"/>
                </a:solidFill>
                <a:latin typeface="Calibri"/>
                <a:cs typeface="Calibri"/>
              </a:rPr>
              <a:t>features,</a:t>
            </a:r>
            <a:r>
              <a:rPr sz="1700" spc="27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61616"/>
                </a:solidFill>
                <a:latin typeface="Calibri"/>
                <a:cs typeface="Calibri"/>
              </a:rPr>
              <a:t>it's</a:t>
            </a:r>
            <a:r>
              <a:rPr sz="1700" spc="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81818"/>
                </a:solidFill>
                <a:latin typeface="Calibri"/>
                <a:cs typeface="Calibri"/>
              </a:rPr>
              <a:t>time</a:t>
            </a:r>
            <a:r>
              <a:rPr sz="1700" spc="16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F1F1F"/>
                </a:solidFill>
                <a:latin typeface="Calibri"/>
                <a:cs typeface="Calibri"/>
              </a:rPr>
              <a:t>to</a:t>
            </a:r>
            <a:r>
              <a:rPr sz="1700" spc="1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D1D1D"/>
                </a:solidFill>
                <a:latin typeface="Calibri"/>
                <a:cs typeface="Calibri"/>
              </a:rPr>
              <a:t>train</a:t>
            </a:r>
            <a:r>
              <a:rPr sz="1700" spc="114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81818"/>
                </a:solidFill>
                <a:latin typeface="Calibri"/>
                <a:cs typeface="Calibri"/>
              </a:rPr>
              <a:t>a</a:t>
            </a:r>
            <a:r>
              <a:rPr sz="1700" spc="8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11111"/>
                </a:solidFill>
                <a:latin typeface="Calibri"/>
                <a:cs typeface="Calibri"/>
              </a:rPr>
              <a:t>model.</a:t>
            </a:r>
            <a:r>
              <a:rPr sz="1700" spc="15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12121"/>
                </a:solidFill>
                <a:latin typeface="Calibri"/>
                <a:cs typeface="Calibri"/>
              </a:rPr>
              <a:t>You</a:t>
            </a:r>
            <a:r>
              <a:rPr sz="1700" spc="1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E0E0E"/>
                </a:solidFill>
                <a:latin typeface="Calibri"/>
                <a:cs typeface="Calibri"/>
              </a:rPr>
              <a:t>don't</a:t>
            </a:r>
            <a:r>
              <a:rPr sz="1700" spc="9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12121"/>
                </a:solidFill>
                <a:latin typeface="Calibri"/>
                <a:cs typeface="Calibri"/>
              </a:rPr>
              <a:t>use</a:t>
            </a:r>
            <a:r>
              <a:rPr sz="1700" spc="6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11111"/>
                </a:solidFill>
                <a:latin typeface="Calibri"/>
                <a:cs typeface="Calibri"/>
              </a:rPr>
              <a:t>all</a:t>
            </a:r>
            <a:r>
              <a:rPr sz="1700" spc="229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31313"/>
                </a:solidFill>
                <a:latin typeface="Calibri"/>
                <a:cs typeface="Calibri"/>
              </a:rPr>
              <a:t>the</a:t>
            </a:r>
            <a:r>
              <a:rPr sz="1700" spc="6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700" spc="50" dirty="0">
                <a:solidFill>
                  <a:srgbClr val="232323"/>
                </a:solidFill>
                <a:latin typeface="Calibri"/>
                <a:cs typeface="Calibri"/>
              </a:rPr>
              <a:t>data</a:t>
            </a:r>
            <a:r>
              <a:rPr sz="1700" spc="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62626"/>
                </a:solidFill>
                <a:latin typeface="Calibri"/>
                <a:cs typeface="Calibri"/>
              </a:rPr>
              <a:t>to</a:t>
            </a:r>
            <a:r>
              <a:rPr sz="1700" spc="10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C0C0C"/>
                </a:solidFill>
                <a:latin typeface="Calibri"/>
                <a:cs typeface="Calibri"/>
              </a:rPr>
              <a:t>train</a:t>
            </a:r>
            <a:r>
              <a:rPr sz="1700" spc="16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12121"/>
                </a:solidFill>
                <a:latin typeface="Calibri"/>
                <a:cs typeface="Calibri"/>
              </a:rPr>
              <a:t>your</a:t>
            </a:r>
            <a:r>
              <a:rPr sz="1700" spc="9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11111"/>
                </a:solidFill>
                <a:latin typeface="Calibri"/>
                <a:cs typeface="Calibri"/>
              </a:rPr>
              <a:t>model. </a:t>
            </a:r>
            <a:r>
              <a:rPr sz="1700" dirty="0">
                <a:solidFill>
                  <a:srgbClr val="111111"/>
                </a:solidFill>
                <a:latin typeface="Calibri"/>
                <a:cs typeface="Calibri"/>
              </a:rPr>
              <a:t>Instead,</a:t>
            </a:r>
            <a:r>
              <a:rPr sz="1700" spc="27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81818"/>
                </a:solidFill>
                <a:latin typeface="Calibri"/>
                <a:cs typeface="Calibri"/>
              </a:rPr>
              <a:t>you</a:t>
            </a:r>
            <a:r>
              <a:rPr sz="1700" spc="3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C0C0C"/>
                </a:solidFill>
                <a:latin typeface="Calibri"/>
                <a:cs typeface="Calibri"/>
              </a:rPr>
              <a:t>should</a:t>
            </a:r>
            <a:r>
              <a:rPr sz="1700" spc="17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31313"/>
                </a:solidFill>
                <a:latin typeface="Calibri"/>
                <a:cs typeface="Calibri"/>
              </a:rPr>
              <a:t>hold</a:t>
            </a:r>
            <a:r>
              <a:rPr sz="1700" spc="12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1C1C"/>
                </a:solidFill>
                <a:latin typeface="Calibri"/>
                <a:cs typeface="Calibri"/>
              </a:rPr>
              <a:t>some</a:t>
            </a:r>
            <a:r>
              <a:rPr sz="1700" spc="18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81818"/>
                </a:solidFill>
                <a:latin typeface="Calibri"/>
                <a:cs typeface="Calibri"/>
              </a:rPr>
              <a:t>data</a:t>
            </a:r>
            <a:r>
              <a:rPr sz="1700" spc="16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81818"/>
                </a:solidFill>
                <a:latin typeface="Calibri"/>
                <a:cs typeface="Calibri"/>
              </a:rPr>
              <a:t>back</a:t>
            </a:r>
            <a:r>
              <a:rPr sz="1700" spc="8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00" spc="50" dirty="0">
                <a:solidFill>
                  <a:srgbClr val="2F2F2F"/>
                </a:solidFill>
                <a:latin typeface="Calibri"/>
                <a:cs typeface="Calibri"/>
              </a:rPr>
              <a:t>so </a:t>
            </a:r>
            <a:r>
              <a:rPr sz="1700" spc="50" dirty="0">
                <a:solidFill>
                  <a:srgbClr val="212121"/>
                </a:solidFill>
                <a:latin typeface="Calibri"/>
                <a:cs typeface="Calibri"/>
              </a:rPr>
              <a:t>that</a:t>
            </a:r>
            <a:r>
              <a:rPr sz="1700" spc="9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F1F1F"/>
                </a:solidFill>
                <a:latin typeface="Calibri"/>
                <a:cs typeface="Calibri"/>
              </a:rPr>
              <a:t>you</a:t>
            </a:r>
            <a:r>
              <a:rPr sz="1700" spc="10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42424"/>
                </a:solidFill>
                <a:latin typeface="Calibri"/>
                <a:cs typeface="Calibri"/>
              </a:rPr>
              <a:t>can</a:t>
            </a:r>
            <a:r>
              <a:rPr sz="1700" spc="13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A1A1A"/>
                </a:solidFill>
                <a:latin typeface="Calibri"/>
                <a:cs typeface="Calibri"/>
              </a:rPr>
              <a:t>have</a:t>
            </a:r>
            <a:r>
              <a:rPr sz="1700" spc="1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1C1C"/>
                </a:solidFill>
                <a:latin typeface="Calibri"/>
                <a:cs typeface="Calibri"/>
              </a:rPr>
              <a:t>some</a:t>
            </a:r>
            <a:r>
              <a:rPr sz="1700" spc="18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A1A1A"/>
                </a:solidFill>
                <a:latin typeface="Calibri"/>
                <a:cs typeface="Calibri"/>
              </a:rPr>
              <a:t>data</a:t>
            </a:r>
            <a:r>
              <a:rPr sz="1700" spc="1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sz="1700" spc="12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262626"/>
                </a:solidFill>
                <a:latin typeface="Calibri"/>
                <a:cs typeface="Calibri"/>
              </a:rPr>
              <a:t>test</a:t>
            </a:r>
            <a:r>
              <a:rPr sz="1700" spc="15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with.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408" y="2100810"/>
            <a:ext cx="5435600" cy="8058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510" marR="5080" indent="-4445">
              <a:lnSpc>
                <a:spcPct val="100000"/>
              </a:lnSpc>
              <a:spcBef>
                <a:spcPts val="130"/>
              </a:spcBef>
            </a:pPr>
            <a:r>
              <a:rPr sz="1700" i="1" spc="-40" dirty="0">
                <a:solidFill>
                  <a:srgbClr val="1C1C1C"/>
                </a:solidFill>
                <a:latin typeface="Arial"/>
                <a:cs typeface="Arial"/>
              </a:rPr>
              <a:t>Training</a:t>
            </a:r>
            <a:r>
              <a:rPr sz="1700" i="1" spc="8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212121"/>
                </a:solidFill>
                <a:latin typeface="Arial"/>
                <a:cs typeface="Arial"/>
              </a:rPr>
              <a:t>data</a:t>
            </a:r>
            <a:r>
              <a:rPr sz="1700" i="1" spc="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700" spc="-65" dirty="0">
                <a:solidFill>
                  <a:srgbClr val="111111"/>
                </a:solidFill>
                <a:latin typeface="Arial MT"/>
                <a:cs typeface="Arial MT"/>
              </a:rPr>
              <a:t>feeds</a:t>
            </a:r>
            <a:r>
              <a:rPr sz="1700" spc="-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into</a:t>
            </a:r>
            <a:r>
              <a:rPr sz="1700" spc="-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the</a:t>
            </a:r>
            <a:r>
              <a:rPr sz="1700" spc="-7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algorithm</a:t>
            </a:r>
            <a:r>
              <a:rPr sz="17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that</a:t>
            </a:r>
            <a:r>
              <a:rPr sz="1700" spc="-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111"/>
                </a:solidFill>
                <a:latin typeface="Arial MT"/>
                <a:cs typeface="Arial MT"/>
              </a:rPr>
              <a:t>you</a:t>
            </a:r>
            <a:r>
              <a:rPr sz="170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111111"/>
                </a:solidFill>
                <a:latin typeface="Arial MT"/>
                <a:cs typeface="Arial MT"/>
              </a:rPr>
              <a:t>selected</a:t>
            </a:r>
            <a:r>
              <a:rPr sz="1700" spc="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40" dirty="0">
                <a:solidFill>
                  <a:srgbClr val="232323"/>
                </a:solidFill>
                <a:latin typeface="Arial MT"/>
                <a:cs typeface="Arial MT"/>
              </a:rPr>
              <a:t>to </a:t>
            </a:r>
            <a:r>
              <a:rPr sz="1700" spc="-40" dirty="0">
                <a:solidFill>
                  <a:srgbClr val="0C0C0C"/>
                </a:solidFill>
                <a:latin typeface="Arial MT"/>
                <a:cs typeface="Arial MT"/>
              </a:rPr>
              <a:t>produce</a:t>
            </a:r>
            <a:r>
              <a:rPr sz="1700" spc="-8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C1C1C"/>
                </a:solidFill>
                <a:latin typeface="Arial MT"/>
                <a:cs typeface="Arial MT"/>
              </a:rPr>
              <a:t>your</a:t>
            </a:r>
            <a:r>
              <a:rPr sz="1700" spc="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61616"/>
                </a:solidFill>
                <a:latin typeface="Arial MT"/>
                <a:cs typeface="Arial MT"/>
              </a:rPr>
              <a:t>model.</a:t>
            </a:r>
            <a:r>
              <a:rPr sz="1700" spc="-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100" dirty="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sz="1700" spc="-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31313"/>
                </a:solidFill>
                <a:latin typeface="Arial MT"/>
                <a:cs typeface="Arial MT"/>
              </a:rPr>
              <a:t>model</a:t>
            </a:r>
            <a:r>
              <a:rPr sz="1700" spc="-8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90" dirty="0">
                <a:solidFill>
                  <a:srgbClr val="282828"/>
                </a:solidFill>
                <a:latin typeface="Arial MT"/>
                <a:cs typeface="Arial MT"/>
              </a:rPr>
              <a:t>is</a:t>
            </a:r>
            <a:r>
              <a:rPr sz="1700" spc="-3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0F0F"/>
                </a:solidFill>
                <a:latin typeface="Arial MT"/>
                <a:cs typeface="Arial MT"/>
              </a:rPr>
              <a:t>then</a:t>
            </a:r>
            <a:r>
              <a:rPr sz="1700" spc="-5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80" dirty="0">
                <a:solidFill>
                  <a:srgbClr val="131313"/>
                </a:solidFill>
                <a:latin typeface="Arial MT"/>
                <a:cs typeface="Arial MT"/>
              </a:rPr>
              <a:t>used</a:t>
            </a:r>
            <a:r>
              <a:rPr sz="1700" spc="-1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61616"/>
                </a:solidFill>
                <a:latin typeface="Arial MT"/>
                <a:cs typeface="Arial MT"/>
              </a:rPr>
              <a:t>to</a:t>
            </a:r>
            <a:r>
              <a:rPr sz="1700" spc="-10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A1A1A"/>
                </a:solidFill>
                <a:latin typeface="Arial MT"/>
                <a:cs typeface="Arial MT"/>
              </a:rPr>
              <a:t>make </a:t>
            </a:r>
            <a:r>
              <a:rPr sz="1700" spc="-20" dirty="0">
                <a:solidFill>
                  <a:srgbClr val="111111"/>
                </a:solidFill>
                <a:latin typeface="Arial MT"/>
                <a:cs typeface="Arial MT"/>
              </a:rPr>
              <a:t>predictions</a:t>
            </a:r>
            <a:r>
              <a:rPr sz="1700" spc="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1C1C1C"/>
                </a:solidFill>
                <a:latin typeface="Arial MT"/>
                <a:cs typeface="Arial MT"/>
              </a:rPr>
              <a:t>over</a:t>
            </a:r>
            <a:r>
              <a:rPr sz="1700" spc="-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700" spc="-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111"/>
                </a:solidFill>
                <a:latin typeface="Arial MT"/>
                <a:cs typeface="Arial MT"/>
              </a:rPr>
              <a:t>validation</a:t>
            </a:r>
            <a:r>
              <a:rPr sz="1700" spc="-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61616"/>
                </a:solidFill>
                <a:latin typeface="Arial MT"/>
                <a:cs typeface="Arial MT"/>
              </a:rPr>
              <a:t>dataset.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994" y="3409696"/>
            <a:ext cx="5546725" cy="5645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dirty="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sz="1800" spc="-10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00" i="1" spc="-25" dirty="0">
                <a:solidFill>
                  <a:srgbClr val="1A1A1A"/>
                </a:solidFill>
                <a:latin typeface="Calibri"/>
                <a:cs typeface="Calibri"/>
              </a:rPr>
              <a:t>validation </a:t>
            </a:r>
            <a:r>
              <a:rPr sz="1800" i="1" spc="-25" dirty="0">
                <a:solidFill>
                  <a:srgbClr val="181818"/>
                </a:solidFill>
                <a:latin typeface="Calibri"/>
                <a:cs typeface="Calibri"/>
              </a:rPr>
              <a:t>dataset</a:t>
            </a:r>
            <a:r>
              <a:rPr sz="1800" i="1" spc="3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D1D1D"/>
                </a:solidFill>
                <a:latin typeface="Calibri"/>
                <a:cs typeface="Calibri"/>
              </a:rPr>
              <a:t>is</a:t>
            </a:r>
            <a:r>
              <a:rPr sz="1800" spc="-10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D1D1D"/>
                </a:solidFill>
                <a:latin typeface="Calibri"/>
                <a:cs typeface="Calibri"/>
              </a:rPr>
              <a:t>where</a:t>
            </a:r>
            <a:r>
              <a:rPr sz="1800" spc="1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C1C1C"/>
                </a:solidFill>
                <a:latin typeface="Calibri"/>
                <a:cs typeface="Calibri"/>
              </a:rPr>
              <a:t>you</a:t>
            </a:r>
            <a:r>
              <a:rPr sz="1800" spc="-3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81818"/>
                </a:solidFill>
                <a:latin typeface="Calibri"/>
                <a:cs typeface="Calibri"/>
              </a:rPr>
              <a:t>might</a:t>
            </a:r>
            <a:r>
              <a:rPr sz="1800" spc="-7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F0F0F"/>
                </a:solidFill>
                <a:latin typeface="Calibri"/>
                <a:cs typeface="Calibri"/>
              </a:rPr>
              <a:t>notice</a:t>
            </a:r>
            <a:r>
              <a:rPr sz="1800" spc="2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11111"/>
                </a:solidFill>
                <a:latin typeface="Calibri"/>
                <a:cs typeface="Calibri"/>
              </a:rPr>
              <a:t>things</a:t>
            </a:r>
            <a:r>
              <a:rPr sz="1800" spc="2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61616"/>
                </a:solidFill>
                <a:latin typeface="Calibri"/>
                <a:cs typeface="Calibri"/>
              </a:rPr>
              <a:t>that</a:t>
            </a:r>
            <a:endParaRPr sz="1800"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5"/>
              </a:spcBef>
            </a:pPr>
            <a:r>
              <a:rPr sz="1700" spc="-25" dirty="0">
                <a:solidFill>
                  <a:srgbClr val="131313"/>
                </a:solidFill>
                <a:latin typeface="Consolas"/>
                <a:cs typeface="Consolas"/>
              </a:rPr>
              <a:t>youwiñvvanttotweak,tune,andchange.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7141" y="4499343"/>
            <a:ext cx="8149590" cy="166179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2352040">
              <a:lnSpc>
                <a:spcPct val="99000"/>
              </a:lnSpc>
              <a:spcBef>
                <a:spcPts val="150"/>
              </a:spcBef>
            </a:pPr>
            <a:r>
              <a:rPr sz="1700" spc="-60" dirty="0">
                <a:solidFill>
                  <a:srgbClr val="262626"/>
                </a:solidFill>
                <a:latin typeface="Arial MT"/>
                <a:cs typeface="Arial MT"/>
              </a:rPr>
              <a:t>The </a:t>
            </a:r>
            <a:r>
              <a:rPr sz="1700" spc="-10" dirty="0">
                <a:solidFill>
                  <a:srgbClr val="212121"/>
                </a:solidFill>
                <a:latin typeface="Arial MT"/>
                <a:cs typeface="Arial MT"/>
              </a:rPr>
              <a:t>test</a:t>
            </a:r>
            <a:r>
              <a:rPr sz="1700" spc="-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0F0F0F"/>
                </a:solidFill>
                <a:latin typeface="Arial MT"/>
                <a:cs typeface="Arial MT"/>
              </a:rPr>
              <a:t>dr/toset—</a:t>
            </a:r>
            <a:r>
              <a:rPr sz="1700" spc="-45" dirty="0">
                <a:solidFill>
                  <a:srgbClr val="0F0F0F"/>
                </a:solidFill>
                <a:latin typeface="Arial MT"/>
                <a:cs typeface="Arial MT"/>
              </a:rPr>
              <a:t>which</a:t>
            </a:r>
            <a:r>
              <a:rPr sz="1700" spc="-7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1F1F1F"/>
                </a:solidFill>
                <a:latin typeface="Arial MT"/>
                <a:cs typeface="Arial MT"/>
              </a:rPr>
              <a:t>includes</a:t>
            </a:r>
            <a:r>
              <a:rPr sz="1700" spc="-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62626"/>
                </a:solidFill>
                <a:latin typeface="Arial MT"/>
                <a:cs typeface="Arial MT"/>
              </a:rPr>
              <a:t>only</a:t>
            </a:r>
            <a:r>
              <a:rPr sz="1700" spc="-7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232323"/>
                </a:solidFill>
                <a:latin typeface="Arial MT"/>
                <a:cs typeface="Arial MT"/>
              </a:rPr>
              <a:t>features,</a:t>
            </a:r>
            <a:r>
              <a:rPr sz="1700" spc="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100" dirty="0">
                <a:solidFill>
                  <a:srgbClr val="151515"/>
                </a:solidFill>
                <a:latin typeface="Arial MT"/>
                <a:cs typeface="Arial MT"/>
              </a:rPr>
              <a:t>because</a:t>
            </a:r>
            <a:r>
              <a:rPr sz="1700" spc="-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F1F1F"/>
                </a:solidFill>
                <a:latin typeface="Arial MT"/>
                <a:cs typeface="Arial MT"/>
              </a:rPr>
              <a:t>you </a:t>
            </a:r>
            <a:r>
              <a:rPr sz="1700" dirty="0">
                <a:solidFill>
                  <a:srgbClr val="111111"/>
                </a:solidFill>
                <a:latin typeface="Arial MT"/>
                <a:cs typeface="Arial MT"/>
              </a:rPr>
              <a:t>want</a:t>
            </a:r>
            <a:r>
              <a:rPr sz="1700" spc="-8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the</a:t>
            </a:r>
            <a:r>
              <a:rPr sz="170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0E0E0E"/>
                </a:solidFill>
                <a:latin typeface="Arial MT"/>
                <a:cs typeface="Arial MT"/>
              </a:rPr>
              <a:t>labels</a:t>
            </a:r>
            <a:r>
              <a:rPr sz="1700" spc="-7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0A0A0A"/>
                </a:solidFill>
                <a:latin typeface="Arial MT"/>
                <a:cs typeface="Arial MT"/>
              </a:rPr>
              <a:t>to</a:t>
            </a:r>
            <a:r>
              <a:rPr sz="1700" spc="-9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sz="1700" spc="-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predicted.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65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7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111111"/>
                </a:solidFill>
                <a:latin typeface="Arial MT"/>
                <a:cs typeface="Arial MT"/>
              </a:rPr>
              <a:t>performance</a:t>
            </a:r>
            <a:r>
              <a:rPr sz="1700" spc="1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D1D1D"/>
                </a:solidFill>
                <a:latin typeface="Arial MT"/>
                <a:cs typeface="Arial MT"/>
              </a:rPr>
              <a:t>you</a:t>
            </a:r>
            <a:r>
              <a:rPr sz="1700" spc="-5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get</a:t>
            </a:r>
            <a:r>
              <a:rPr sz="1700" spc="-9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C1C1C"/>
                </a:solidFill>
                <a:latin typeface="Arial MT"/>
                <a:cs typeface="Arial MT"/>
              </a:rPr>
              <a:t>here </a:t>
            </a:r>
            <a:r>
              <a:rPr sz="1700" dirty="0">
                <a:solidFill>
                  <a:srgbClr val="161616"/>
                </a:solidFill>
                <a:latin typeface="Arial MT"/>
                <a:cs typeface="Arial MT"/>
              </a:rPr>
              <a:t>with</a:t>
            </a:r>
            <a:r>
              <a:rPr sz="1700" spc="-1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1700" spc="-10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test</a:t>
            </a:r>
            <a:r>
              <a:rPr sz="1700" spc="-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0E0E0E"/>
                </a:solidFill>
                <a:latin typeface="Arial MT"/>
                <a:cs typeface="Arial MT"/>
              </a:rPr>
              <a:t>dataset</a:t>
            </a:r>
            <a:r>
              <a:rPr sz="1700" spc="6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282828"/>
                </a:solidFill>
                <a:latin typeface="Arial MT"/>
                <a:cs typeface="Arial MT"/>
              </a:rPr>
              <a:t>is</a:t>
            </a:r>
            <a:r>
              <a:rPr sz="1700" spc="-8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what</a:t>
            </a:r>
            <a:r>
              <a:rPr sz="1700" spc="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262626"/>
                </a:solidFill>
                <a:latin typeface="Arial MT"/>
                <a:cs typeface="Arial MT"/>
              </a:rPr>
              <a:t>you</a:t>
            </a:r>
            <a:r>
              <a:rPr sz="170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spc="-110" dirty="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sz="1700" spc="-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1F1F1F"/>
                </a:solidFill>
                <a:latin typeface="Arial MT"/>
                <a:cs typeface="Arial MT"/>
              </a:rPr>
              <a:t>reasonably</a:t>
            </a:r>
            <a:r>
              <a:rPr sz="1700" spc="7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0C0C0C"/>
                </a:solidFill>
                <a:latin typeface="Arial MT"/>
                <a:cs typeface="Arial MT"/>
              </a:rPr>
              <a:t>expect</a:t>
            </a:r>
            <a:r>
              <a:rPr sz="1700" spc="-3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2B2B2B"/>
                </a:solidFill>
                <a:latin typeface="Arial MT"/>
                <a:cs typeface="Arial MT"/>
              </a:rPr>
              <a:t>to</a:t>
            </a:r>
            <a:r>
              <a:rPr sz="1700" spc="-10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212121"/>
                </a:solidFill>
                <a:latin typeface="Arial MT"/>
                <a:cs typeface="Arial MT"/>
              </a:rPr>
              <a:t>see </a:t>
            </a:r>
            <a:r>
              <a:rPr sz="1700" spc="50" dirty="0">
                <a:solidFill>
                  <a:srgbClr val="1C1C1C"/>
                </a:solidFill>
                <a:latin typeface="Arial MT"/>
                <a:cs typeface="Arial MT"/>
              </a:rPr>
              <a:t>in</a:t>
            </a:r>
            <a:r>
              <a:rPr sz="1700" spc="-1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production.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700">
              <a:latin typeface="Arial MT"/>
              <a:cs typeface="Arial MT"/>
            </a:endParaRPr>
          </a:p>
          <a:p>
            <a:pPr marL="74930">
              <a:lnSpc>
                <a:spcPct val="100000"/>
              </a:lnSpc>
            </a:pPr>
            <a:r>
              <a:rPr sz="1550" spc="-60" dirty="0">
                <a:solidFill>
                  <a:srgbClr val="1A1A1A"/>
                </a:solidFill>
                <a:latin typeface="Arial MT"/>
                <a:cs typeface="Arial MT"/>
              </a:rPr>
              <a:t>Note:</a:t>
            </a:r>
            <a:r>
              <a:rPr sz="1550" spc="-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50" spc="-114" dirty="0">
                <a:solidFill>
                  <a:srgbClr val="0E0E0E"/>
                </a:solidFill>
                <a:latin typeface="Arial MT"/>
                <a:cs typeface="Arial MT"/>
              </a:rPr>
              <a:t>There</a:t>
            </a:r>
            <a:r>
              <a:rPr sz="1550" spc="-1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550" spc="-80" dirty="0">
                <a:solidFill>
                  <a:srgbClr val="232323"/>
                </a:solidFill>
                <a:latin typeface="Arial MT"/>
                <a:cs typeface="Arial MT"/>
              </a:rPr>
              <a:t>are</a:t>
            </a:r>
            <a:r>
              <a:rPr sz="1550" spc="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181818"/>
                </a:solidFill>
                <a:latin typeface="Arial MT"/>
                <a:cs typeface="Arial MT"/>
              </a:rPr>
              <a:t>other</a:t>
            </a:r>
            <a:r>
              <a:rPr sz="1550" spc="-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550" spc="-65" dirty="0">
                <a:solidFill>
                  <a:srgbClr val="1C1C1C"/>
                </a:solidFill>
                <a:latin typeface="Arial MT"/>
                <a:cs typeface="Arial MT"/>
              </a:rPr>
              <a:t>methods</a:t>
            </a:r>
            <a:r>
              <a:rPr sz="1550" spc="-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62626"/>
                </a:solidFill>
                <a:latin typeface="Arial MT"/>
                <a:cs typeface="Arial MT"/>
              </a:rPr>
              <a:t>for</a:t>
            </a:r>
            <a:r>
              <a:rPr sz="1550" spc="-6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A1A1A"/>
                </a:solidFill>
                <a:latin typeface="Arial MT"/>
                <a:cs typeface="Arial MT"/>
              </a:rPr>
              <a:t>splitting </a:t>
            </a:r>
            <a:r>
              <a:rPr sz="1550" spc="-90" dirty="0">
                <a:solidFill>
                  <a:srgbClr val="1C1C1C"/>
                </a:solidFill>
                <a:latin typeface="Arial MT"/>
                <a:cs typeface="Arial MT"/>
              </a:rPr>
              <a:t>and</a:t>
            </a:r>
            <a:r>
              <a:rPr sz="1550" spc="-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550" spc="-40" dirty="0">
                <a:solidFill>
                  <a:srgbClr val="181818"/>
                </a:solidFill>
                <a:latin typeface="Arial MT"/>
                <a:cs typeface="Arial MT"/>
              </a:rPr>
              <a:t>validating</a:t>
            </a:r>
            <a:r>
              <a:rPr sz="155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550" spc="-50" dirty="0">
                <a:solidFill>
                  <a:srgbClr val="131313"/>
                </a:solidFill>
                <a:latin typeface="Arial MT"/>
                <a:cs typeface="Arial MT"/>
              </a:rPr>
              <a:t>data</a:t>
            </a:r>
            <a:r>
              <a:rPr sz="1550" spc="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B2B2B"/>
                </a:solidFill>
                <a:latin typeface="Arial MT"/>
                <a:cs typeface="Arial MT"/>
              </a:rPr>
              <a:t>that</a:t>
            </a:r>
            <a:r>
              <a:rPr sz="1550" spc="-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550" spc="-125" dirty="0">
                <a:solidFill>
                  <a:srgbClr val="1A1A1A"/>
                </a:solidFill>
                <a:latin typeface="Arial MT"/>
                <a:cs typeface="Arial MT"/>
              </a:rPr>
              <a:t>are</a:t>
            </a:r>
            <a:r>
              <a:rPr sz="155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62626"/>
                </a:solidFill>
                <a:latin typeface="Arial MT"/>
                <a:cs typeface="Arial MT"/>
              </a:rPr>
              <a:t>not</a:t>
            </a:r>
            <a:r>
              <a:rPr sz="1550" spc="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550" spc="-125" dirty="0">
                <a:solidFill>
                  <a:srgbClr val="212121"/>
                </a:solidFill>
                <a:latin typeface="Arial MT"/>
                <a:cs typeface="Arial MT"/>
              </a:rPr>
              <a:t>discussed</a:t>
            </a:r>
            <a:r>
              <a:rPr sz="1550" spc="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550" spc="-30" dirty="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sz="1550" spc="-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81818"/>
                </a:solidFill>
                <a:latin typeface="Arial MT"/>
                <a:cs typeface="Arial MT"/>
              </a:rPr>
              <a:t>this</a:t>
            </a:r>
            <a:r>
              <a:rPr sz="155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1A1A1A"/>
                </a:solidFill>
                <a:latin typeface="Arial MT"/>
                <a:cs typeface="Arial MT"/>
              </a:rPr>
              <a:t>course.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70405" y="2118913"/>
            <a:ext cx="148971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dirty="0">
                <a:solidFill>
                  <a:srgbClr val="111111"/>
                </a:solidFill>
                <a:latin typeface="Consolas"/>
                <a:cs typeface="Consolas"/>
              </a:rPr>
              <a:t>10%-</a:t>
            </a:r>
            <a:r>
              <a:rPr sz="1700" spc="-10" dirty="0">
                <a:solidFill>
                  <a:srgbClr val="111111"/>
                </a:solidFill>
                <a:latin typeface="Consolas"/>
                <a:cs typeface="Consolas"/>
              </a:rPr>
              <a:t>Testdata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66749" y="2677313"/>
            <a:ext cx="207391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dirty="0">
                <a:solidFill>
                  <a:srgbClr val="111111"/>
                </a:solidFill>
                <a:latin typeface="Calibri"/>
                <a:cs typeface="Calibri"/>
              </a:rPr>
              <a:t>10%</a:t>
            </a:r>
            <a:r>
              <a:rPr sz="1650" spc="114" dirty="0">
                <a:solidFill>
                  <a:srgbClr val="111111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2A2A2A"/>
                </a:solidFill>
                <a:latin typeface="Calibri"/>
                <a:cs typeface="Calibri"/>
              </a:rPr>
              <a:t>-</a:t>
            </a:r>
            <a:r>
              <a:rPr sz="1650" spc="125" dirty="0">
                <a:solidFill>
                  <a:srgbClr val="2A2A2A"/>
                </a:solidFill>
                <a:latin typeface="Calibri"/>
                <a:cs typeface="Calibri"/>
              </a:rPr>
              <a:t>  </a:t>
            </a:r>
            <a:r>
              <a:rPr sz="1650" dirty="0">
                <a:solidFill>
                  <a:srgbClr val="0F0F0F"/>
                </a:solidFill>
                <a:latin typeface="Calibri"/>
                <a:cs typeface="Calibri"/>
              </a:rPr>
              <a:t>Validation</a:t>
            </a:r>
            <a:r>
              <a:rPr sz="1650" spc="26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650" spc="50" dirty="0">
                <a:solidFill>
                  <a:srgbClr val="0C0C0C"/>
                </a:solidFill>
                <a:latin typeface="Calibri"/>
                <a:cs typeface="Calibri"/>
              </a:rPr>
              <a:t>data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66939" y="3974381"/>
            <a:ext cx="1872614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-20" dirty="0">
                <a:solidFill>
                  <a:srgbClr val="111111"/>
                </a:solidFill>
                <a:latin typeface="Arial MT"/>
                <a:cs typeface="Arial MT"/>
              </a:rPr>
              <a:t>80%</a:t>
            </a:r>
            <a:r>
              <a:rPr sz="1700" spc="-1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A2A2A"/>
                </a:solidFill>
                <a:latin typeface="Arial MT"/>
                <a:cs typeface="Arial MT"/>
              </a:rPr>
              <a:t>-</a:t>
            </a:r>
            <a:r>
              <a:rPr sz="1700" spc="21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111111"/>
                </a:solidFill>
                <a:latin typeface="Arial MT"/>
                <a:cs typeface="Arial MT"/>
              </a:rPr>
              <a:t>Training</a:t>
            </a:r>
            <a:r>
              <a:rPr sz="1700" spc="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F1F1F"/>
                </a:solidFill>
                <a:latin typeface="Arial MT"/>
                <a:cs typeface="Arial MT"/>
              </a:rPr>
              <a:t>data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645" y="1632764"/>
            <a:ext cx="3247450" cy="1977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49279" y="1632764"/>
            <a:ext cx="3247450" cy="1977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85916" y="1632764"/>
            <a:ext cx="3247450" cy="197749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21716" y="243375"/>
            <a:ext cx="1645285" cy="0"/>
          </a:xfrm>
          <a:custGeom>
            <a:avLst/>
            <a:gdLst/>
            <a:ahLst/>
            <a:cxnLst/>
            <a:rect l="l" t="t" r="r" b="b"/>
            <a:pathLst>
              <a:path w="1645285">
                <a:moveTo>
                  <a:pt x="0" y="0"/>
                </a:moveTo>
                <a:lnTo>
                  <a:pt x="1644891" y="0"/>
                </a:lnTo>
              </a:path>
            </a:pathLst>
          </a:custGeom>
          <a:ln w="21165">
            <a:solidFill>
              <a:srgbClr val="C367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1498" y="6562902"/>
            <a:ext cx="3093242" cy="86175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dirty="0">
                <a:solidFill>
                  <a:srgbClr val="181818"/>
                </a:solidFill>
                <a:latin typeface="Arial"/>
                <a:cs typeface="Arial"/>
              </a:rPr>
              <a:t>Overfitting</a:t>
            </a:r>
            <a:r>
              <a:rPr sz="2200" b="1" spc="28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200" spc="70" dirty="0">
                <a:solidFill>
                  <a:srgbClr val="0C0C0C"/>
                </a:solidFill>
                <a:latin typeface="Arial MT"/>
                <a:cs typeface="Arial MT"/>
              </a:rPr>
              <a:t>and</a:t>
            </a:r>
            <a:r>
              <a:rPr sz="2200" spc="10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200" b="1" spc="-10" dirty="0">
                <a:solidFill>
                  <a:srgbClr val="1C1C1C"/>
                </a:solidFill>
                <a:latin typeface="Arial"/>
                <a:cs typeface="Arial"/>
              </a:rPr>
              <a:t>underfitting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1228" y="3139471"/>
            <a:ext cx="1172210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75" dirty="0">
                <a:solidFill>
                  <a:srgbClr val="1C1C1C"/>
                </a:solidFill>
                <a:latin typeface="Arial MT"/>
                <a:cs typeface="Arial MT"/>
              </a:rPr>
              <a:t>Overfitting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07007" y="3133172"/>
            <a:ext cx="1300480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50" dirty="0">
                <a:solidFill>
                  <a:srgbClr val="151515"/>
                </a:solidFill>
                <a:latin typeface="Arial MT"/>
                <a:cs typeface="Arial MT"/>
              </a:rPr>
              <a:t>Underfitting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15268" y="3139471"/>
            <a:ext cx="965200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95" dirty="0">
                <a:solidFill>
                  <a:srgbClr val="131313"/>
                </a:solidFill>
                <a:latin typeface="Calibri"/>
                <a:cs typeface="Calibri"/>
              </a:rPr>
              <a:t>Balanced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3925" y="3933949"/>
            <a:ext cx="11125835" cy="13061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685" marR="5080" indent="-7620">
              <a:lnSpc>
                <a:spcPct val="103200"/>
              </a:lnSpc>
              <a:spcBef>
                <a:spcPts val="75"/>
              </a:spcBef>
            </a:pP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1600" spc="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goal</a:t>
            </a:r>
            <a:r>
              <a:rPr sz="1600" spc="-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32323"/>
                </a:solidFill>
                <a:latin typeface="Arial MT"/>
                <a:cs typeface="Arial MT"/>
              </a:rPr>
              <a:t>of</a:t>
            </a:r>
            <a:r>
              <a:rPr sz="1600" spc="7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machine</a:t>
            </a:r>
            <a:r>
              <a:rPr sz="1600" spc="12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learning</a:t>
            </a:r>
            <a:r>
              <a:rPr sz="1600" spc="9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D2D2D"/>
                </a:solidFill>
                <a:latin typeface="Arial MT"/>
                <a:cs typeface="Arial MT"/>
              </a:rPr>
              <a:t>is</a:t>
            </a:r>
            <a:r>
              <a:rPr sz="1600" spc="-5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to</a:t>
            </a:r>
            <a:r>
              <a:rPr sz="1600" spc="30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0F0F0F"/>
                </a:solidFill>
                <a:latin typeface="Arial MT"/>
                <a:cs typeface="Arial MT"/>
              </a:rPr>
              <a:t>build</a:t>
            </a:r>
            <a:r>
              <a:rPr sz="1600" spc="5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a</a:t>
            </a:r>
            <a:r>
              <a:rPr sz="1600" spc="2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61616"/>
                </a:solidFill>
                <a:latin typeface="Arial MT"/>
                <a:cs typeface="Arial MT"/>
              </a:rPr>
              <a:t>model</a:t>
            </a:r>
            <a:r>
              <a:rPr sz="1600" spc="-5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sz="16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generalizes</a:t>
            </a:r>
            <a:r>
              <a:rPr sz="1600" spc="19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well.</a:t>
            </a:r>
            <a:r>
              <a:rPr sz="1600" spc="-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Put</a:t>
            </a:r>
            <a:r>
              <a:rPr sz="16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another</a:t>
            </a:r>
            <a:r>
              <a:rPr sz="1600" spc="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31313"/>
                </a:solidFill>
                <a:latin typeface="Arial MT"/>
                <a:cs typeface="Arial MT"/>
              </a:rPr>
              <a:t>way,</a:t>
            </a:r>
            <a:r>
              <a:rPr sz="1600" spc="6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you</a:t>
            </a:r>
            <a:r>
              <a:rPr sz="1600" spc="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want</a:t>
            </a:r>
            <a:r>
              <a:rPr sz="1600" spc="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your</a:t>
            </a:r>
            <a:r>
              <a:rPr sz="1600" spc="9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model</a:t>
            </a:r>
            <a:r>
              <a:rPr sz="16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600" spc="2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do</a:t>
            </a:r>
            <a:r>
              <a:rPr sz="16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40" dirty="0">
                <a:solidFill>
                  <a:srgbClr val="232323"/>
                </a:solidFill>
                <a:latin typeface="Arial MT"/>
                <a:cs typeface="Arial MT"/>
              </a:rPr>
              <a:t>well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sz="1600" spc="-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161616"/>
                </a:solidFill>
                <a:latin typeface="Arial MT"/>
                <a:cs typeface="Arial MT"/>
              </a:rPr>
              <a:t>both</a:t>
            </a:r>
            <a:r>
              <a:rPr sz="1600" spc="3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sz="1600" spc="5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data</a:t>
            </a:r>
            <a:r>
              <a:rPr sz="1600" spc="1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it</a:t>
            </a:r>
            <a:r>
              <a:rPr sz="1600" spc="2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already</a:t>
            </a:r>
            <a:r>
              <a:rPr sz="1600" spc="4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51515"/>
                </a:solidFill>
                <a:latin typeface="Arial MT"/>
                <a:cs typeface="Arial MT"/>
              </a:rPr>
              <a:t>has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6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D1D1D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r>
              <a:rPr sz="1600" spc="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it</a:t>
            </a:r>
            <a:r>
              <a:rPr sz="1600" spc="229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31313"/>
                </a:solidFill>
                <a:latin typeface="Arial MT"/>
                <a:cs typeface="Arial MT"/>
              </a:rPr>
              <a:t>does</a:t>
            </a:r>
            <a:r>
              <a:rPr sz="1600" spc="-3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not</a:t>
            </a:r>
            <a:r>
              <a:rPr sz="1600" spc="3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have.</a:t>
            </a:r>
            <a:r>
              <a:rPr sz="1600" spc="45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When</a:t>
            </a:r>
            <a:r>
              <a:rPr sz="1600" spc="8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you</a:t>
            </a:r>
            <a:r>
              <a:rPr sz="1600" spc="5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train</a:t>
            </a:r>
            <a:r>
              <a:rPr sz="1600" spc="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your</a:t>
            </a:r>
            <a:r>
              <a:rPr sz="1600" spc="5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model,</a:t>
            </a:r>
            <a:r>
              <a:rPr sz="1600" spc="-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recognize</a:t>
            </a:r>
            <a:r>
              <a:rPr sz="1600" spc="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81818"/>
                </a:solidFill>
                <a:latin typeface="Arial MT"/>
                <a:cs typeface="Arial MT"/>
              </a:rPr>
              <a:t>the</a:t>
            </a:r>
            <a:r>
              <a:rPr sz="1600" spc="-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danger</a:t>
            </a:r>
            <a:r>
              <a:rPr sz="1600" spc="1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232323"/>
                </a:solidFill>
                <a:latin typeface="Arial MT"/>
                <a:cs typeface="Arial MT"/>
              </a:rPr>
              <a:t>of </a:t>
            </a:r>
            <a:r>
              <a:rPr sz="1600" spc="50" dirty="0">
                <a:solidFill>
                  <a:srgbClr val="1C1C1C"/>
                </a:solidFill>
                <a:latin typeface="Arial MT"/>
                <a:cs typeface="Arial MT"/>
              </a:rPr>
              <a:t>overfltting</a:t>
            </a:r>
            <a:r>
              <a:rPr sz="1600" spc="15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or</a:t>
            </a:r>
            <a:r>
              <a:rPr sz="160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232323"/>
                </a:solidFill>
                <a:latin typeface="Arial MT"/>
                <a:cs typeface="Arial MT"/>
              </a:rPr>
              <a:t>underfltting</a:t>
            </a:r>
            <a:r>
              <a:rPr sz="1600" spc="-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model.</a:t>
            </a:r>
            <a:r>
              <a:rPr sz="1600" spc="-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Therefore,</a:t>
            </a:r>
            <a:r>
              <a:rPr sz="1600" spc="1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D1D1D"/>
                </a:solidFill>
                <a:latin typeface="Arial MT"/>
                <a:cs typeface="Arial MT"/>
              </a:rPr>
              <a:t>splitting</a:t>
            </a:r>
            <a:r>
              <a:rPr sz="1600" spc="5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sz="1600" spc="-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sz="1600" spc="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is</a:t>
            </a:r>
            <a:r>
              <a:rPr sz="1600" spc="-6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45" dirty="0">
                <a:solidFill>
                  <a:srgbClr val="181818"/>
                </a:solidFill>
                <a:latin typeface="Arial MT"/>
                <a:cs typeface="Arial MT"/>
              </a:rPr>
              <a:t>important.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600">
              <a:latin typeface="Arial MT"/>
              <a:cs typeface="Arial MT"/>
            </a:endParaRPr>
          </a:p>
          <a:p>
            <a:pPr marR="8890" algn="ctr">
              <a:lnSpc>
                <a:spcPct val="100000"/>
              </a:lnSpc>
            </a:pPr>
            <a:r>
              <a:rPr sz="1850" i="1" spc="-235" dirty="0">
                <a:solidFill>
                  <a:srgbClr val="111111"/>
                </a:solidFill>
                <a:latin typeface="Arial"/>
                <a:cs typeface="Arial"/>
              </a:rPr>
              <a:t>Choose</a:t>
            </a:r>
            <a:r>
              <a:rPr sz="1850" i="1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850" i="1" spc="-70" dirty="0">
                <a:solidFill>
                  <a:srgbClr val="1F1F1F"/>
                </a:solidFill>
                <a:latin typeface="Arial"/>
                <a:cs typeface="Arial"/>
              </a:rPr>
              <a:t>the</a:t>
            </a:r>
            <a:r>
              <a:rPr sz="1850" i="1" spc="-14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1850" i="1" spc="-95" dirty="0">
                <a:solidFill>
                  <a:srgbClr val="212121"/>
                </a:solidFill>
                <a:latin typeface="Arial"/>
                <a:cs typeface="Arial"/>
              </a:rPr>
              <a:t>buttons</a:t>
            </a:r>
            <a:r>
              <a:rPr sz="1850" i="1" spc="-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50" i="1" spc="-20" dirty="0">
                <a:solidFill>
                  <a:srgbClr val="1F1F1F"/>
                </a:solidFill>
                <a:latin typeface="Arial"/>
                <a:cs typeface="Arial"/>
              </a:rPr>
              <a:t>to</a:t>
            </a:r>
            <a:r>
              <a:rPr sz="1850" i="1" spc="-7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1850" i="1" spc="-125" dirty="0">
                <a:solidFill>
                  <a:srgbClr val="131313"/>
                </a:solidFill>
                <a:latin typeface="Arial"/>
                <a:cs typeface="Arial"/>
              </a:rPr>
              <a:t>learn</a:t>
            </a:r>
            <a:r>
              <a:rPr sz="1850" i="1" spc="-2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1850" i="1" spc="-180" dirty="0">
                <a:solidFill>
                  <a:srgbClr val="1C1C1C"/>
                </a:solidFill>
                <a:latin typeface="Arial"/>
                <a:cs typeface="Arial"/>
              </a:rPr>
              <a:t>more</a:t>
            </a:r>
            <a:r>
              <a:rPr sz="1850" i="1" spc="-3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850" i="1" spc="-105" dirty="0">
                <a:solidFill>
                  <a:srgbClr val="131313"/>
                </a:solidFill>
                <a:latin typeface="Arial"/>
                <a:cs typeface="Arial"/>
              </a:rPr>
              <a:t>about</a:t>
            </a:r>
            <a:r>
              <a:rPr sz="1850" i="1" spc="75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1850" i="1" spc="-25" dirty="0">
                <a:solidFill>
                  <a:srgbClr val="1A1A1A"/>
                </a:solidFill>
                <a:latin typeface="Arial"/>
                <a:cs typeface="Arial"/>
              </a:rPr>
              <a:t>fitting</a:t>
            </a:r>
            <a:r>
              <a:rPr sz="1850" i="1" spc="-3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850" i="1" spc="-70" dirty="0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sz="1850" i="1" spc="-180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1850" i="1" spc="-10" dirty="0">
                <a:solidFill>
                  <a:srgbClr val="131313"/>
                </a:solidFill>
                <a:latin typeface="Arial"/>
                <a:cs typeface="Arial"/>
              </a:rPr>
              <a:t>data.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9642" y="3860895"/>
            <a:ext cx="3338910" cy="12869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51543" y="1592980"/>
            <a:ext cx="350990" cy="37798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36335" y="1562980"/>
            <a:ext cx="0" cy="4431030"/>
          </a:xfrm>
          <a:custGeom>
            <a:avLst/>
            <a:gdLst/>
            <a:ahLst/>
            <a:cxnLst/>
            <a:rect l="l" t="t" r="r" b="b"/>
            <a:pathLst>
              <a:path h="4431030">
                <a:moveTo>
                  <a:pt x="0" y="4430833"/>
                </a:moveTo>
                <a:lnTo>
                  <a:pt x="0" y="0"/>
                </a:lnTo>
              </a:path>
            </a:pathLst>
          </a:custGeom>
          <a:ln w="3175">
            <a:solidFill>
              <a:srgbClr val="3B3B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740032" y="1463984"/>
            <a:ext cx="0" cy="4530090"/>
          </a:xfrm>
          <a:custGeom>
            <a:avLst/>
            <a:gdLst/>
            <a:ahLst/>
            <a:cxnLst/>
            <a:rect l="l" t="t" r="r" b="b"/>
            <a:pathLst>
              <a:path h="4530090">
                <a:moveTo>
                  <a:pt x="0" y="4529829"/>
                </a:moveTo>
                <a:lnTo>
                  <a:pt x="0" y="0"/>
                </a:lnTo>
              </a:path>
            </a:pathLst>
          </a:custGeom>
          <a:ln w="3175">
            <a:solidFill>
              <a:srgbClr val="3B3B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28145" y="3092923"/>
            <a:ext cx="0" cy="2397125"/>
          </a:xfrm>
          <a:custGeom>
            <a:avLst/>
            <a:gdLst/>
            <a:ahLst/>
            <a:cxnLst/>
            <a:rect l="l" t="t" r="r" b="b"/>
            <a:pathLst>
              <a:path h="2397125">
                <a:moveTo>
                  <a:pt x="0" y="2396910"/>
                </a:moveTo>
                <a:lnTo>
                  <a:pt x="0" y="0"/>
                </a:lnTo>
              </a:path>
            </a:pathLst>
          </a:custGeom>
          <a:ln w="3175">
            <a:solidFill>
              <a:srgbClr val="3B3B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4835" y="5992316"/>
            <a:ext cx="11325225" cy="0"/>
          </a:xfrm>
          <a:custGeom>
            <a:avLst/>
            <a:gdLst/>
            <a:ahLst/>
            <a:cxnLst/>
            <a:rect l="l" t="t" r="r" b="b"/>
            <a:pathLst>
              <a:path w="11325225">
                <a:moveTo>
                  <a:pt x="0" y="0"/>
                </a:moveTo>
                <a:lnTo>
                  <a:pt x="11324701" y="0"/>
                </a:lnTo>
              </a:path>
            </a:pathLst>
          </a:custGeom>
          <a:ln w="3175">
            <a:solidFill>
              <a:srgbClr val="3B3B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4835" y="1582479"/>
            <a:ext cx="11414760" cy="0"/>
          </a:xfrm>
          <a:custGeom>
            <a:avLst/>
            <a:gdLst/>
            <a:ahLst/>
            <a:cxnLst/>
            <a:rect l="l" t="t" r="r" b="b"/>
            <a:pathLst>
              <a:path w="11414760">
                <a:moveTo>
                  <a:pt x="0" y="0"/>
                </a:moveTo>
                <a:lnTo>
                  <a:pt x="11414698" y="0"/>
                </a:lnTo>
              </a:path>
            </a:pathLst>
          </a:custGeom>
          <a:ln w="3175">
            <a:solidFill>
              <a:srgbClr val="3B3B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99646" y="5461336"/>
            <a:ext cx="3576320" cy="0"/>
          </a:xfrm>
          <a:custGeom>
            <a:avLst/>
            <a:gdLst/>
            <a:ahLst/>
            <a:cxnLst/>
            <a:rect l="l" t="t" r="r" b="b"/>
            <a:pathLst>
              <a:path w="3576320">
                <a:moveTo>
                  <a:pt x="0" y="0"/>
                </a:moveTo>
                <a:lnTo>
                  <a:pt x="3575905" y="0"/>
                </a:lnTo>
              </a:path>
            </a:pathLst>
          </a:custGeom>
          <a:ln w="3175">
            <a:solidFill>
              <a:srgbClr val="3B3B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5833" y="295526"/>
            <a:ext cx="1605280" cy="0"/>
          </a:xfrm>
          <a:custGeom>
            <a:avLst/>
            <a:gdLst/>
            <a:ahLst/>
            <a:cxnLst/>
            <a:rect l="l" t="t" r="r" b="b"/>
            <a:pathLst>
              <a:path w="1605280">
                <a:moveTo>
                  <a:pt x="0" y="0"/>
                </a:moveTo>
                <a:lnTo>
                  <a:pt x="1604957" y="0"/>
                </a:lnTo>
              </a:path>
            </a:pathLst>
          </a:custGeom>
          <a:ln w="20999">
            <a:solidFill>
              <a:srgbClr val="FB57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21655" y="3239918"/>
            <a:ext cx="152995" cy="21599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33567" y="3662902"/>
            <a:ext cx="143996" cy="143994"/>
          </a:xfrm>
          <a:prstGeom prst="rect">
            <a:avLst/>
          </a:prstGeom>
        </p:spPr>
      </p:pic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113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15"/>
              </a:spcBef>
            </a:pPr>
            <a:r>
              <a:rPr sz="2200" b="1" dirty="0">
                <a:solidFill>
                  <a:srgbClr val="1F1F1F"/>
                </a:solidFill>
                <a:latin typeface="Arial"/>
                <a:cs typeface="Arial"/>
              </a:rPr>
              <a:t>Overfitting</a:t>
            </a:r>
            <a:r>
              <a:rPr sz="2200" b="1" spc="14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and</a:t>
            </a:r>
            <a:r>
              <a:rPr sz="2200" b="1" spc="60" dirty="0"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1F1F1F"/>
                </a:solidFill>
                <a:latin typeface="Arial"/>
                <a:cs typeface="Arial"/>
              </a:rPr>
              <a:t>underfitting</a:t>
            </a:r>
            <a:endParaRPr sz="2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7167" y="1729523"/>
            <a:ext cx="1076960" cy="273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0" dirty="0">
                <a:solidFill>
                  <a:srgbClr val="181818"/>
                </a:solidFill>
                <a:latin typeface="Arial"/>
                <a:cs typeface="Arial"/>
              </a:rPr>
              <a:t>Overfitting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3503" y="2247005"/>
            <a:ext cx="10786110" cy="15424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2540">
              <a:lnSpc>
                <a:spcPct val="102400"/>
              </a:lnSpc>
              <a:spcBef>
                <a:spcPts val="75"/>
              </a:spcBef>
            </a:pP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Your</a:t>
            </a:r>
            <a:r>
              <a:rPr sz="1600" spc="10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A1A1A"/>
                </a:solidFill>
                <a:latin typeface="Arial MT"/>
                <a:cs typeface="Arial MT"/>
              </a:rPr>
              <a:t>model</a:t>
            </a:r>
            <a:r>
              <a:rPr sz="1600" spc="-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D1D1D"/>
                </a:solidFill>
                <a:latin typeface="Arial MT"/>
                <a:cs typeface="Arial MT"/>
              </a:rPr>
              <a:t>is</a:t>
            </a:r>
            <a:r>
              <a:rPr sz="1600" spc="-8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i="1" dirty="0">
                <a:solidFill>
                  <a:srgbClr val="131313"/>
                </a:solidFill>
                <a:latin typeface="Arial"/>
                <a:cs typeface="Arial"/>
              </a:rPr>
              <a:t>overfitting</a:t>
            </a:r>
            <a:r>
              <a:rPr sz="1600" i="1" spc="254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your</a:t>
            </a:r>
            <a:r>
              <a:rPr sz="1600" spc="1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training</a:t>
            </a:r>
            <a:r>
              <a:rPr sz="1600" spc="1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data</a:t>
            </a:r>
            <a:r>
              <a:rPr sz="1600" spc="22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when</a:t>
            </a:r>
            <a:r>
              <a:rPr sz="1600" spc="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it</a:t>
            </a:r>
            <a:r>
              <a:rPr sz="1600" spc="27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performs</a:t>
            </a:r>
            <a:r>
              <a:rPr sz="1600" spc="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1C1C1C"/>
                </a:solidFill>
                <a:latin typeface="Arial MT"/>
                <a:cs typeface="Arial MT"/>
              </a:rPr>
              <a:t>well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on the</a:t>
            </a:r>
            <a:r>
              <a:rPr sz="1600" spc="7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training</a:t>
            </a:r>
            <a:r>
              <a:rPr sz="1600" spc="1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data,</a:t>
            </a:r>
            <a:r>
              <a:rPr sz="1600" spc="8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31313"/>
                </a:solidFill>
                <a:latin typeface="Arial MT"/>
                <a:cs typeface="Arial MT"/>
              </a:rPr>
              <a:t>but</a:t>
            </a:r>
            <a:r>
              <a:rPr sz="1600" spc="13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it</a:t>
            </a:r>
            <a:r>
              <a:rPr sz="1600" spc="18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doesn't</a:t>
            </a:r>
            <a:r>
              <a:rPr sz="1600" spc="114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32323"/>
                </a:solidFill>
                <a:latin typeface="Arial MT"/>
                <a:cs typeface="Arial MT"/>
              </a:rPr>
              <a:t>perform</a:t>
            </a:r>
            <a:r>
              <a:rPr sz="1600" spc="20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well</a:t>
            </a:r>
            <a:r>
              <a:rPr sz="16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62626"/>
                </a:solidFill>
                <a:latin typeface="Arial MT"/>
                <a:cs typeface="Arial MT"/>
              </a:rPr>
              <a:t>on </a:t>
            </a:r>
            <a:r>
              <a:rPr sz="1600" spc="10" dirty="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sz="1600" spc="8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0E0E0E"/>
                </a:solidFill>
                <a:latin typeface="Arial MT"/>
                <a:cs typeface="Arial MT"/>
              </a:rPr>
              <a:t>evaluation</a:t>
            </a:r>
            <a:r>
              <a:rPr sz="1600" spc="15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31313"/>
                </a:solidFill>
                <a:latin typeface="Arial MT"/>
                <a:cs typeface="Arial MT"/>
              </a:rPr>
              <a:t>data.</a:t>
            </a:r>
            <a:r>
              <a:rPr sz="1600" spc="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11111"/>
                </a:solidFill>
                <a:latin typeface="Arial MT"/>
                <a:cs typeface="Arial MT"/>
              </a:rPr>
              <a:t>Overfitting</a:t>
            </a:r>
            <a:r>
              <a:rPr sz="1600" spc="9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333333"/>
                </a:solidFill>
                <a:latin typeface="Arial MT"/>
                <a:cs typeface="Arial MT"/>
              </a:rPr>
              <a:t>is</a:t>
            </a:r>
            <a:r>
              <a:rPr sz="16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C1C1C"/>
                </a:solidFill>
                <a:latin typeface="Arial MT"/>
                <a:cs typeface="Arial MT"/>
              </a:rPr>
              <a:t>where</a:t>
            </a:r>
            <a:r>
              <a:rPr sz="1600" spc="1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0A0A0A"/>
                </a:solidFill>
                <a:latin typeface="Arial MT"/>
                <a:cs typeface="Arial MT"/>
              </a:rPr>
              <a:t>the</a:t>
            </a:r>
            <a:r>
              <a:rPr sz="1600" spc="3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A1A1A"/>
                </a:solidFill>
                <a:latin typeface="Arial MT"/>
                <a:cs typeface="Arial MT"/>
              </a:rPr>
              <a:t>model</a:t>
            </a:r>
            <a:r>
              <a:rPr sz="1600" spc="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learns</a:t>
            </a:r>
            <a:r>
              <a:rPr sz="1600" spc="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600" spc="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51515"/>
                </a:solidFill>
                <a:latin typeface="Arial MT"/>
                <a:cs typeface="Arial MT"/>
              </a:rPr>
              <a:t>particulars</a:t>
            </a:r>
            <a:r>
              <a:rPr sz="1600" spc="9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sz="1600" spc="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C1C1C"/>
                </a:solidFill>
                <a:latin typeface="Arial MT"/>
                <a:cs typeface="Arial MT"/>
              </a:rPr>
              <a:t>a</a:t>
            </a:r>
            <a:r>
              <a:rPr sz="1600" spc="7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r>
              <a:rPr sz="1600" spc="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set</a:t>
            </a:r>
            <a:r>
              <a:rPr sz="160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61616"/>
                </a:solidFill>
                <a:latin typeface="Arial MT"/>
                <a:cs typeface="Arial MT"/>
              </a:rPr>
              <a:t>too</a:t>
            </a:r>
            <a:r>
              <a:rPr sz="1600" spc="40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61616"/>
                </a:solidFill>
                <a:latin typeface="Arial MT"/>
                <a:cs typeface="Arial MT"/>
              </a:rPr>
              <a:t>well.</a:t>
            </a:r>
            <a:r>
              <a:rPr sz="1600" spc="-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1A1A1A"/>
                </a:solidFill>
                <a:latin typeface="Arial MT"/>
                <a:cs typeface="Arial MT"/>
              </a:rPr>
              <a:t>It's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81818"/>
                </a:solidFill>
                <a:latin typeface="Arial MT"/>
                <a:cs typeface="Arial MT"/>
              </a:rPr>
              <a:t>essentially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memorizing</a:t>
            </a:r>
            <a:r>
              <a:rPr sz="1600" spc="19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sz="1600" spc="8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training</a:t>
            </a:r>
            <a:r>
              <a:rPr sz="1600" spc="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data</a:t>
            </a:r>
            <a:r>
              <a:rPr sz="1600" spc="17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instead</a:t>
            </a:r>
            <a:r>
              <a:rPr sz="1600" spc="185" dirty="0"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D2D2D"/>
                </a:solidFill>
                <a:latin typeface="Arial MT"/>
                <a:cs typeface="Arial MT"/>
              </a:rPr>
              <a:t>of</a:t>
            </a:r>
            <a:r>
              <a:rPr sz="1600" spc="17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actually</a:t>
            </a:r>
            <a:r>
              <a:rPr sz="1600" spc="14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learning</a:t>
            </a:r>
            <a:r>
              <a:rPr sz="1600" spc="1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endParaRPr sz="1600">
              <a:latin typeface="Arial MT"/>
              <a:cs typeface="Arial MT"/>
            </a:endParaRPr>
          </a:p>
          <a:p>
            <a:pPr marL="12700" marR="5227320" indent="7620" algn="just">
              <a:lnSpc>
                <a:spcPct val="105200"/>
              </a:lnSpc>
            </a:pP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relationships</a:t>
            </a:r>
            <a:r>
              <a:rPr sz="1600" spc="1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between</a:t>
            </a:r>
            <a:r>
              <a:rPr sz="1600" spc="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features</a:t>
            </a:r>
            <a:r>
              <a:rPr sz="1600" spc="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6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labels.</a:t>
            </a:r>
            <a:r>
              <a:rPr sz="1600" spc="6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It's</a:t>
            </a:r>
            <a:r>
              <a:rPr sz="1600" spc="3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61616"/>
                </a:solidFill>
                <a:latin typeface="Arial MT"/>
                <a:cs typeface="Arial MT"/>
              </a:rPr>
              <a:t>important</a:t>
            </a:r>
            <a:r>
              <a:rPr sz="1600" spc="1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40" dirty="0">
                <a:solidFill>
                  <a:srgbClr val="181818"/>
                </a:solidFill>
                <a:latin typeface="Arial MT"/>
                <a:cs typeface="Arial MT"/>
              </a:rPr>
              <a:t>for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sz="1600" spc="3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32323"/>
                </a:solidFill>
                <a:latin typeface="Arial MT"/>
                <a:cs typeface="Arial MT"/>
              </a:rPr>
              <a:t>model</a:t>
            </a:r>
            <a:r>
              <a:rPr sz="1600" spc="-5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600" spc="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learn</a:t>
            </a:r>
            <a:r>
              <a:rPr sz="1600" spc="4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relationships</a:t>
            </a:r>
            <a:r>
              <a:rPr sz="1600" spc="18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and</a:t>
            </a:r>
            <a:r>
              <a:rPr sz="1600" spc="-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labels</a:t>
            </a:r>
            <a:r>
              <a:rPr sz="1600" spc="6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30" dirty="0">
                <a:solidFill>
                  <a:srgbClr val="1F1F1F"/>
                </a:solidFill>
                <a:latin typeface="Arial MT"/>
                <a:cs typeface="Arial MT"/>
              </a:rPr>
              <a:t>so</a:t>
            </a:r>
            <a:r>
              <a:rPr sz="1600" spc="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C1C1C"/>
                </a:solidFill>
                <a:latin typeface="Arial MT"/>
                <a:cs typeface="Arial MT"/>
              </a:rPr>
              <a:t>that</a:t>
            </a:r>
            <a:r>
              <a:rPr sz="1600" spc="1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it</a:t>
            </a:r>
            <a:r>
              <a:rPr sz="1600" spc="19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12121"/>
                </a:solidFill>
                <a:latin typeface="Arial MT"/>
                <a:cs typeface="Arial MT"/>
              </a:rPr>
              <a:t>can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apply</a:t>
            </a:r>
            <a:r>
              <a:rPr sz="1600" spc="15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what</a:t>
            </a:r>
            <a:r>
              <a:rPr sz="1600" spc="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it</a:t>
            </a:r>
            <a:r>
              <a:rPr sz="1600" spc="16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learns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2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new</a:t>
            </a:r>
            <a:r>
              <a:rPr sz="1600" spc="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data</a:t>
            </a:r>
            <a:r>
              <a:rPr sz="1600" spc="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in</a:t>
            </a:r>
            <a:r>
              <a:rPr sz="1600" spc="1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sz="1600" spc="-6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future.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53626" y="5605380"/>
            <a:ext cx="177800" cy="363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200" spc="-330" dirty="0">
                <a:latin typeface="Arial MT"/>
                <a:cs typeface="Arial MT"/>
              </a:rPr>
              <a:t>X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64723" y="1197044"/>
            <a:ext cx="530860" cy="857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175" spc="-517" baseline="-4077" dirty="0">
                <a:latin typeface="Arial MT"/>
                <a:cs typeface="Arial MT"/>
              </a:rPr>
              <a:t>“</a:t>
            </a:r>
            <a:r>
              <a:rPr sz="8175" spc="-375" baseline="-4077" dirty="0">
                <a:latin typeface="Arial MT"/>
                <a:cs typeface="Arial MT"/>
              </a:rPr>
              <a:t> </a:t>
            </a:r>
            <a:r>
              <a:rPr sz="5450" spc="-630" dirty="0">
                <a:latin typeface="Arial MT"/>
                <a:cs typeface="Arial MT"/>
              </a:rPr>
              <a:t>›</a:t>
            </a:r>
            <a:endParaRPr sz="5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35071" y="4656420"/>
            <a:ext cx="1512877" cy="3351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7598" y="4393707"/>
            <a:ext cx="1839006" cy="5797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94965" y="1567263"/>
            <a:ext cx="371424" cy="38048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578" y="217457"/>
            <a:ext cx="1621586" cy="7247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07733" y="1537067"/>
            <a:ext cx="0" cy="4460240"/>
          </a:xfrm>
          <a:custGeom>
            <a:avLst/>
            <a:gdLst/>
            <a:ahLst/>
            <a:cxnLst/>
            <a:rect l="l" t="t" r="r" b="b"/>
            <a:pathLst>
              <a:path h="4460240">
                <a:moveTo>
                  <a:pt x="0" y="4460100"/>
                </a:moveTo>
                <a:lnTo>
                  <a:pt x="0" y="0"/>
                </a:lnTo>
              </a:path>
            </a:pathLst>
          </a:custGeom>
          <a:ln w="3175">
            <a:solidFill>
              <a:srgbClr val="383B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19161" y="3086174"/>
            <a:ext cx="0" cy="2440305"/>
          </a:xfrm>
          <a:custGeom>
            <a:avLst/>
            <a:gdLst/>
            <a:ahLst/>
            <a:cxnLst/>
            <a:rect l="l" t="t" r="r" b="b"/>
            <a:pathLst>
              <a:path h="2440304">
                <a:moveTo>
                  <a:pt x="0" y="2439919"/>
                </a:moveTo>
                <a:lnTo>
                  <a:pt x="0" y="0"/>
                </a:lnTo>
              </a:path>
            </a:pathLst>
          </a:custGeom>
          <a:ln w="3175">
            <a:solidFill>
              <a:srgbClr val="383B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06223" y="1422318"/>
            <a:ext cx="11505565" cy="4575175"/>
            <a:chOff x="406223" y="1422318"/>
            <a:chExt cx="11505565" cy="4575175"/>
          </a:xfrm>
        </p:grpSpPr>
        <p:sp>
          <p:nvSpPr>
            <p:cNvPr id="9" name="object 9"/>
            <p:cNvSpPr/>
            <p:nvPr/>
          </p:nvSpPr>
          <p:spPr>
            <a:xfrm>
              <a:off x="11840373" y="1446476"/>
              <a:ext cx="0" cy="4551045"/>
            </a:xfrm>
            <a:custGeom>
              <a:avLst/>
              <a:gdLst/>
              <a:ahLst/>
              <a:cxnLst/>
              <a:rect l="l" t="t" r="r" b="b"/>
              <a:pathLst>
                <a:path h="4551045">
                  <a:moveTo>
                    <a:pt x="0" y="455069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383B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6223" y="5995659"/>
              <a:ext cx="11399520" cy="0"/>
            </a:xfrm>
            <a:custGeom>
              <a:avLst/>
              <a:gdLst/>
              <a:ahLst/>
              <a:cxnLst/>
              <a:rect l="l" t="t" r="r" b="b"/>
              <a:pathLst>
                <a:path w="11399520">
                  <a:moveTo>
                    <a:pt x="0" y="0"/>
                  </a:moveTo>
                  <a:lnTo>
                    <a:pt x="11399422" y="0"/>
                  </a:lnTo>
                </a:path>
              </a:pathLst>
            </a:custGeom>
            <a:ln w="3175">
              <a:solidFill>
                <a:srgbClr val="383B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90473" y="5506466"/>
              <a:ext cx="3627120" cy="0"/>
            </a:xfrm>
            <a:custGeom>
              <a:avLst/>
              <a:gdLst/>
              <a:ahLst/>
              <a:cxnLst/>
              <a:rect l="l" t="t" r="r" b="b"/>
              <a:pathLst>
                <a:path w="3627120">
                  <a:moveTo>
                    <a:pt x="0" y="0"/>
                  </a:moveTo>
                  <a:lnTo>
                    <a:pt x="3626677" y="0"/>
                  </a:lnTo>
                </a:path>
              </a:pathLst>
            </a:custGeom>
            <a:ln w="3175">
              <a:solidFill>
                <a:srgbClr val="383B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6223" y="1556696"/>
              <a:ext cx="11481435" cy="0"/>
            </a:xfrm>
            <a:custGeom>
              <a:avLst/>
              <a:gdLst/>
              <a:ahLst/>
              <a:cxnLst/>
              <a:rect l="l" t="t" r="r" b="b"/>
              <a:pathLst>
                <a:path w="11481435">
                  <a:moveTo>
                    <a:pt x="0" y="0"/>
                  </a:moveTo>
                  <a:lnTo>
                    <a:pt x="11480954" y="0"/>
                  </a:lnTo>
                </a:path>
              </a:pathLst>
            </a:custGeom>
            <a:ln w="3175">
              <a:solidFill>
                <a:srgbClr val="383B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35070" y="4004165"/>
              <a:ext cx="3342824" cy="50731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47922" y="1567263"/>
              <a:ext cx="63414" cy="27177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40261" y="1422318"/>
              <a:ext cx="335188" cy="117768"/>
            </a:xfrm>
            <a:prstGeom prst="rect">
              <a:avLst/>
            </a:prstGeom>
          </p:spPr>
        </p:pic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30"/>
              </a:spcBef>
            </a:pPr>
            <a:r>
              <a:rPr sz="2150" spc="130" dirty="0">
                <a:solidFill>
                  <a:srgbClr val="1F1F1F"/>
                </a:solidFill>
                <a:latin typeface="Arial MT"/>
                <a:cs typeface="Arial MT"/>
              </a:rPr>
              <a:t>Overfftting</a:t>
            </a:r>
            <a:r>
              <a:rPr sz="2150" spc="1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150" spc="65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2150" spc="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150" spc="140" dirty="0">
                <a:solidFill>
                  <a:srgbClr val="151515"/>
                </a:solidFill>
                <a:latin typeface="Arial MT"/>
                <a:cs typeface="Arial MT"/>
              </a:rPr>
              <a:t>underfitting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1800" y="1704794"/>
            <a:ext cx="10608310" cy="13049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spc="80" dirty="0">
                <a:solidFill>
                  <a:srgbClr val="111111"/>
                </a:solidFill>
                <a:latin typeface="Arial MT"/>
                <a:cs typeface="Arial MT"/>
              </a:rPr>
              <a:t>Underfitting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600">
              <a:latin typeface="Arial MT"/>
              <a:cs typeface="Arial MT"/>
            </a:endParaRPr>
          </a:p>
          <a:p>
            <a:pPr marL="13335" marR="5080" indent="2540">
              <a:lnSpc>
                <a:spcPts val="2000"/>
              </a:lnSpc>
              <a:tabLst>
                <a:tab pos="6399530" algn="l"/>
              </a:tabLst>
            </a:pPr>
            <a:r>
              <a:rPr sz="1850" spc="-45" dirty="0">
                <a:solidFill>
                  <a:srgbClr val="1C1C1C"/>
                </a:solidFill>
                <a:latin typeface="Calibri"/>
                <a:cs typeface="Calibri"/>
              </a:rPr>
              <a:t>Your</a:t>
            </a:r>
            <a:r>
              <a:rPr sz="1850" spc="-6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850" spc="-40" dirty="0">
                <a:solidFill>
                  <a:srgbClr val="161616"/>
                </a:solidFill>
                <a:latin typeface="Calibri"/>
                <a:cs typeface="Calibri"/>
              </a:rPr>
              <a:t>model</a:t>
            </a:r>
            <a:r>
              <a:rPr sz="1850" spc="-6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212121"/>
                </a:solidFill>
                <a:latin typeface="Calibri"/>
                <a:cs typeface="Calibri"/>
              </a:rPr>
              <a:t>is</a:t>
            </a:r>
            <a:r>
              <a:rPr sz="1850" spc="-1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850" i="1" spc="-45" dirty="0">
                <a:solidFill>
                  <a:srgbClr val="131313"/>
                </a:solidFill>
                <a:latin typeface="Calibri"/>
                <a:cs typeface="Calibri"/>
              </a:rPr>
              <a:t>underfitting</a:t>
            </a:r>
            <a:r>
              <a:rPr sz="1850" i="1" spc="-1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850" spc="-40" dirty="0">
                <a:solidFill>
                  <a:srgbClr val="131313"/>
                </a:solidFill>
                <a:latin typeface="Calibri"/>
                <a:cs typeface="Calibri"/>
              </a:rPr>
              <a:t>the</a:t>
            </a:r>
            <a:r>
              <a:rPr sz="1850" spc="-6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0F0F0F"/>
                </a:solidFill>
                <a:latin typeface="Calibri"/>
                <a:cs typeface="Calibri"/>
              </a:rPr>
              <a:t>training</a:t>
            </a:r>
            <a:r>
              <a:rPr sz="1850" spc="4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181818"/>
                </a:solidFill>
                <a:latin typeface="Calibri"/>
                <a:cs typeface="Calibri"/>
              </a:rPr>
              <a:t>data</a:t>
            </a:r>
            <a:r>
              <a:rPr sz="1850" spc="-4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50" spc="-60" dirty="0">
                <a:solidFill>
                  <a:srgbClr val="1C1C1C"/>
                </a:solidFill>
                <a:latin typeface="Calibri"/>
                <a:cs typeface="Calibri"/>
              </a:rPr>
              <a:t>when</a:t>
            </a:r>
            <a:r>
              <a:rPr sz="1850" spc="-4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850" spc="-30" dirty="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sz="1850" spc="-7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0C0C0C"/>
                </a:solidFill>
                <a:latin typeface="Calibri"/>
                <a:cs typeface="Calibri"/>
              </a:rPr>
              <a:t>model</a:t>
            </a:r>
            <a:r>
              <a:rPr sz="1850" spc="-8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850" spc="-35" dirty="0">
                <a:solidFill>
                  <a:srgbClr val="131313"/>
                </a:solidFill>
                <a:latin typeface="Calibri"/>
                <a:cs typeface="Calibri"/>
              </a:rPr>
              <a:t>performs</a:t>
            </a:r>
            <a:r>
              <a:rPr sz="185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850" spc="-30" dirty="0">
                <a:solidFill>
                  <a:srgbClr val="161616"/>
                </a:solidFill>
                <a:latin typeface="Calibri"/>
                <a:cs typeface="Calibri"/>
              </a:rPr>
              <a:t>poorly</a:t>
            </a:r>
            <a:r>
              <a:rPr sz="1850" spc="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232323"/>
                </a:solidFill>
                <a:latin typeface="Calibri"/>
                <a:cs typeface="Calibri"/>
              </a:rPr>
              <a:t>on</a:t>
            </a:r>
            <a:r>
              <a:rPr sz="1850" spc="-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1F1F1F"/>
                </a:solidFill>
                <a:latin typeface="Calibri"/>
                <a:cs typeface="Calibri"/>
              </a:rPr>
              <a:t>the</a:t>
            </a:r>
            <a:r>
              <a:rPr sz="1850" spc="-6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1F1F1F"/>
                </a:solidFill>
                <a:latin typeface="Calibri"/>
                <a:cs typeface="Calibri"/>
              </a:rPr>
              <a:t>training</a:t>
            </a:r>
            <a:r>
              <a:rPr sz="1850" spc="7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850" spc="-35" dirty="0">
                <a:latin typeface="Calibri"/>
                <a:cs typeface="Calibri"/>
              </a:rPr>
              <a:t>data.</a:t>
            </a:r>
            <a:r>
              <a:rPr sz="1850" spc="15" dirty="0">
                <a:latin typeface="Calibri"/>
                <a:cs typeface="Calibri"/>
              </a:rPr>
              <a:t> </a:t>
            </a:r>
            <a:r>
              <a:rPr sz="1850" spc="-35" dirty="0">
                <a:solidFill>
                  <a:srgbClr val="181818"/>
                </a:solidFill>
                <a:latin typeface="Calibri"/>
                <a:cs typeface="Calibri"/>
              </a:rPr>
              <a:t>The</a:t>
            </a:r>
            <a:r>
              <a:rPr sz="1850" spc="-7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0C0C0C"/>
                </a:solidFill>
                <a:latin typeface="Calibri"/>
                <a:cs typeface="Calibri"/>
              </a:rPr>
              <a:t>model</a:t>
            </a:r>
            <a:r>
              <a:rPr sz="1850" spc="-3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151515"/>
                </a:solidFill>
                <a:latin typeface="Calibri"/>
                <a:cs typeface="Calibri"/>
              </a:rPr>
              <a:t>can't </a:t>
            </a:r>
            <a:r>
              <a:rPr sz="1850" spc="-55" dirty="0">
                <a:solidFill>
                  <a:srgbClr val="161616"/>
                </a:solidFill>
                <a:latin typeface="Calibri"/>
                <a:cs typeface="Calibri"/>
              </a:rPr>
              <a:t>capture</a:t>
            </a:r>
            <a:r>
              <a:rPr sz="185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1C1C1C"/>
                </a:solidFill>
                <a:latin typeface="Calibri"/>
                <a:cs typeface="Calibri"/>
              </a:rPr>
              <a:t>the</a:t>
            </a:r>
            <a:r>
              <a:rPr sz="1850" spc="-5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850" spc="-40" dirty="0">
                <a:solidFill>
                  <a:srgbClr val="151515"/>
                </a:solidFill>
                <a:latin typeface="Calibri"/>
                <a:cs typeface="Calibri"/>
              </a:rPr>
              <a:t>relationship</a:t>
            </a:r>
            <a:r>
              <a:rPr sz="1850" spc="4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1850" spc="-55" dirty="0">
                <a:solidFill>
                  <a:srgbClr val="181818"/>
                </a:solidFill>
                <a:latin typeface="Calibri"/>
                <a:cs typeface="Calibri"/>
              </a:rPr>
              <a:t>between</a:t>
            </a:r>
            <a:r>
              <a:rPr sz="1850" spc="-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161616"/>
                </a:solidFill>
                <a:latin typeface="Calibri"/>
                <a:cs typeface="Calibri"/>
              </a:rPr>
              <a:t>the</a:t>
            </a:r>
            <a:r>
              <a:rPr sz="1850" spc="-4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1A1A1A"/>
                </a:solidFill>
                <a:latin typeface="Calibri"/>
                <a:cs typeface="Calibri"/>
              </a:rPr>
              <a:t>input </a:t>
            </a:r>
            <a:r>
              <a:rPr sz="1850" spc="-45" dirty="0">
                <a:solidFill>
                  <a:srgbClr val="1C1C1C"/>
                </a:solidFill>
                <a:latin typeface="Calibri"/>
                <a:cs typeface="Calibri"/>
              </a:rPr>
              <a:t>examples</a:t>
            </a:r>
            <a:r>
              <a:rPr sz="1850" spc="-2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850" spc="-25" dirty="0">
                <a:solidFill>
                  <a:srgbClr val="0F0F0F"/>
                </a:solidFill>
                <a:latin typeface="Calibri"/>
                <a:cs typeface="Calibri"/>
              </a:rPr>
              <a:t>(often</a:t>
            </a:r>
            <a:r>
              <a:rPr sz="1850" spc="-7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0C0C0C"/>
                </a:solidFill>
                <a:latin typeface="Calibri"/>
                <a:cs typeface="Calibri"/>
              </a:rPr>
              <a:t>called</a:t>
            </a:r>
            <a:r>
              <a:rPr sz="1850" dirty="0">
                <a:solidFill>
                  <a:srgbClr val="0C0C0C"/>
                </a:solidFill>
                <a:latin typeface="Calibri"/>
                <a:cs typeface="Calibri"/>
              </a:rPr>
              <a:t>	</a:t>
            </a:r>
            <a:r>
              <a:rPr sz="1850" dirty="0">
                <a:solidFill>
                  <a:srgbClr val="282828"/>
                </a:solidFill>
                <a:latin typeface="Calibri"/>
                <a:cs typeface="Calibri"/>
              </a:rPr>
              <a:t>and</a:t>
            </a:r>
            <a:r>
              <a:rPr sz="1850" spc="-8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850" spc="-40" dirty="0">
                <a:solidFill>
                  <a:srgbClr val="0F0F0F"/>
                </a:solidFill>
                <a:latin typeface="Calibri"/>
                <a:cs typeface="Calibri"/>
              </a:rPr>
              <a:t>the</a:t>
            </a:r>
            <a:r>
              <a:rPr sz="1850" spc="-6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target</a:t>
            </a:r>
            <a:r>
              <a:rPr sz="1850" spc="-15" dirty="0">
                <a:latin typeface="Calibri"/>
                <a:cs typeface="Calibri"/>
              </a:rPr>
              <a:t> </a:t>
            </a:r>
            <a:r>
              <a:rPr sz="1850" spc="-35" dirty="0">
                <a:solidFill>
                  <a:srgbClr val="1D1D1D"/>
                </a:solidFill>
                <a:latin typeface="Calibri"/>
                <a:cs typeface="Calibri"/>
              </a:rPr>
              <a:t>values</a:t>
            </a:r>
            <a:r>
              <a:rPr sz="1850" spc="-5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850" spc="-30" dirty="0">
                <a:solidFill>
                  <a:srgbClr val="262626"/>
                </a:solidFill>
                <a:latin typeface="Calibri"/>
                <a:cs typeface="Calibri"/>
              </a:rPr>
              <a:t>(often</a:t>
            </a:r>
            <a:r>
              <a:rPr sz="1850" spc="-1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1D1D1D"/>
                </a:solidFill>
                <a:latin typeface="Calibri"/>
                <a:cs typeface="Calibri"/>
              </a:rPr>
              <a:t>called</a:t>
            </a:r>
            <a:r>
              <a:rPr sz="1850" spc="114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0C0C0C"/>
                </a:solidFill>
                <a:latin typeface="Calibri"/>
                <a:cs typeface="Calibri"/>
              </a:rPr>
              <a:t>/.</a:t>
            </a:r>
            <a:r>
              <a:rPr sz="1850" spc="31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1A1A1A"/>
                </a:solidFill>
                <a:latin typeface="Calibri"/>
                <a:cs typeface="Calibri"/>
              </a:rPr>
              <a:t>This </a:t>
            </a:r>
            <a:r>
              <a:rPr sz="1850" spc="-20" dirty="0">
                <a:solidFill>
                  <a:srgbClr val="111111"/>
                </a:solidFill>
                <a:latin typeface="Calibri"/>
                <a:cs typeface="Calibri"/>
              </a:rPr>
              <a:t>inability</a:t>
            </a:r>
            <a:r>
              <a:rPr sz="1850" spc="3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850" spc="-60" dirty="0">
                <a:solidFill>
                  <a:srgbClr val="1A1A1A"/>
                </a:solidFill>
                <a:latin typeface="Calibri"/>
                <a:cs typeface="Calibri"/>
              </a:rPr>
              <a:t>causes</a:t>
            </a:r>
            <a:r>
              <a:rPr sz="1850" spc="-4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50" dirty="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sz="1850" spc="-4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underfitting.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719539" y="5613800"/>
            <a:ext cx="177800" cy="410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0" spc="-535" dirty="0">
                <a:latin typeface="Arial MT"/>
                <a:cs typeface="Arial MT"/>
              </a:rPr>
              <a:t>X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033" y="1434721"/>
            <a:ext cx="11468850" cy="455687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60197" y="269184"/>
            <a:ext cx="1636395" cy="0"/>
          </a:xfrm>
          <a:custGeom>
            <a:avLst/>
            <a:gdLst/>
            <a:ahLst/>
            <a:cxnLst/>
            <a:rect l="l" t="t" r="r" b="b"/>
            <a:pathLst>
              <a:path w="1636395">
                <a:moveTo>
                  <a:pt x="0" y="0"/>
                </a:moveTo>
                <a:lnTo>
                  <a:pt x="1636258" y="0"/>
                </a:lnTo>
              </a:path>
            </a:pathLst>
          </a:custGeom>
          <a:ln w="21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188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</a:pPr>
            <a:r>
              <a:rPr sz="2200" b="1" dirty="0">
                <a:solidFill>
                  <a:srgbClr val="181818"/>
                </a:solidFill>
                <a:latin typeface="Arial"/>
                <a:cs typeface="Arial"/>
              </a:rPr>
              <a:t>Overfitting</a:t>
            </a:r>
            <a:r>
              <a:rPr sz="2200" b="1" spc="14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12121"/>
                </a:solidFill>
                <a:latin typeface="Arial"/>
                <a:cs typeface="Arial"/>
              </a:rPr>
              <a:t>and</a:t>
            </a:r>
            <a:r>
              <a:rPr sz="2200" b="1" spc="6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1C1C1C"/>
                </a:solidFill>
                <a:latin typeface="Arial"/>
                <a:cs typeface="Arial"/>
              </a:rPr>
              <a:t>underfitting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5309" y="1711526"/>
            <a:ext cx="10640060" cy="15417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25"/>
              </a:spcBef>
            </a:pPr>
            <a:r>
              <a:rPr sz="1600" spc="-10" dirty="0">
                <a:solidFill>
                  <a:srgbClr val="131313"/>
                </a:solidFill>
                <a:latin typeface="Arial MT"/>
                <a:cs typeface="Arial MT"/>
              </a:rPr>
              <a:t>Balanced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600">
              <a:latin typeface="Arial MT"/>
              <a:cs typeface="Arial MT"/>
            </a:endParaRPr>
          </a:p>
          <a:p>
            <a:pPr marL="12700" marR="5080" indent="5080" algn="just">
              <a:lnSpc>
                <a:spcPct val="103600"/>
              </a:lnSpc>
              <a:spcBef>
                <a:spcPts val="5"/>
              </a:spcBef>
            </a:pP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Understanding</a:t>
            </a:r>
            <a:r>
              <a:rPr sz="1600" spc="13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i="1" dirty="0">
                <a:solidFill>
                  <a:srgbClr val="1F1F1F"/>
                </a:solidFill>
                <a:latin typeface="Arial"/>
                <a:cs typeface="Arial"/>
              </a:rPr>
              <a:t>model</a:t>
            </a:r>
            <a:r>
              <a:rPr sz="1600" i="1" spc="16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2D2D2D"/>
                </a:solidFill>
                <a:latin typeface="Arial"/>
                <a:cs typeface="Arial"/>
              </a:rPr>
              <a:t>fit</a:t>
            </a:r>
            <a:r>
              <a:rPr sz="1600" i="1" spc="39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is</a:t>
            </a:r>
            <a:r>
              <a:rPr sz="1600" spc="-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important</a:t>
            </a:r>
            <a:r>
              <a:rPr sz="1600" spc="75" dirty="0"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81818"/>
                </a:solidFill>
                <a:latin typeface="Arial MT"/>
                <a:cs typeface="Arial MT"/>
              </a:rPr>
              <a:t>for</a:t>
            </a:r>
            <a:r>
              <a:rPr sz="1600" spc="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45" dirty="0">
                <a:solidFill>
                  <a:srgbClr val="0F0F0F"/>
                </a:solidFill>
                <a:latin typeface="Arial MT"/>
                <a:cs typeface="Arial MT"/>
              </a:rPr>
              <a:t>finding</a:t>
            </a:r>
            <a:r>
              <a:rPr sz="1600" spc="7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the</a:t>
            </a:r>
            <a:r>
              <a:rPr sz="1600" spc="-7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11111"/>
                </a:solidFill>
                <a:latin typeface="Arial MT"/>
                <a:cs typeface="Arial MT"/>
              </a:rPr>
              <a:t>root</a:t>
            </a:r>
            <a:r>
              <a:rPr sz="1600" spc="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55" dirty="0">
                <a:solidFill>
                  <a:srgbClr val="1A1A1A"/>
                </a:solidFill>
                <a:latin typeface="Arial MT"/>
                <a:cs typeface="Arial MT"/>
              </a:rPr>
              <a:t>cause</a:t>
            </a:r>
            <a:r>
              <a:rPr sz="1600" spc="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sz="1600" spc="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poor</a:t>
            </a:r>
            <a:r>
              <a:rPr sz="1600" spc="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model</a:t>
            </a:r>
            <a:r>
              <a:rPr sz="1600" spc="-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45" dirty="0">
                <a:solidFill>
                  <a:srgbClr val="1A1A1A"/>
                </a:solidFill>
                <a:latin typeface="Arial MT"/>
                <a:cs typeface="Arial MT"/>
              </a:rPr>
              <a:t>accuracy.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This</a:t>
            </a:r>
            <a:r>
              <a:rPr sz="1600" spc="-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concept</a:t>
            </a:r>
            <a:r>
              <a:rPr sz="1600" spc="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guides you</a:t>
            </a:r>
            <a:r>
              <a:rPr sz="1600" spc="-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to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take</a:t>
            </a:r>
            <a:r>
              <a:rPr sz="1600" spc="114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corrective</a:t>
            </a:r>
            <a:r>
              <a:rPr sz="1600" spc="1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steps</a:t>
            </a:r>
            <a:r>
              <a:rPr sz="1600" spc="2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to</a:t>
            </a:r>
            <a:r>
              <a:rPr sz="1600" spc="29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determine</a:t>
            </a:r>
            <a:r>
              <a:rPr sz="1600" spc="204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whether</a:t>
            </a:r>
            <a:r>
              <a:rPr sz="1600" spc="1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383838"/>
                </a:solidFill>
                <a:latin typeface="Arial MT"/>
                <a:cs typeface="Arial MT"/>
              </a:rPr>
              <a:t>a</a:t>
            </a:r>
            <a:r>
              <a:rPr sz="1600" spc="3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predictive</a:t>
            </a:r>
            <a:r>
              <a:rPr sz="1600" spc="5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81818"/>
                </a:solidFill>
                <a:latin typeface="Arial MT"/>
                <a:cs typeface="Arial MT"/>
              </a:rPr>
              <a:t>model</a:t>
            </a:r>
            <a:r>
              <a:rPr sz="16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D2D2D"/>
                </a:solidFill>
                <a:latin typeface="Arial MT"/>
                <a:cs typeface="Arial MT"/>
              </a:rPr>
              <a:t>is</a:t>
            </a:r>
            <a:r>
              <a:rPr sz="1600" spc="-3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11111"/>
                </a:solidFill>
                <a:latin typeface="Arial MT"/>
                <a:cs typeface="Arial MT"/>
              </a:rPr>
              <a:t>underfitting</a:t>
            </a:r>
            <a:r>
              <a:rPr sz="1600" spc="1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or</a:t>
            </a:r>
            <a:r>
              <a:rPr sz="1600" spc="5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overfit:ting</a:t>
            </a:r>
            <a:r>
              <a:rPr sz="16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the</a:t>
            </a:r>
            <a:r>
              <a:rPr sz="1600" spc="-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training</a:t>
            </a:r>
            <a:r>
              <a:rPr sz="1600" spc="1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data.</a:t>
            </a:r>
            <a:r>
              <a:rPr sz="1600" spc="-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These </a:t>
            </a:r>
            <a:r>
              <a:rPr sz="1600" spc="-20" dirty="0">
                <a:solidFill>
                  <a:srgbClr val="212121"/>
                </a:solidFill>
                <a:latin typeface="Arial MT"/>
                <a:cs typeface="Arial MT"/>
              </a:rPr>
              <a:t>steps</a:t>
            </a:r>
            <a:r>
              <a:rPr sz="16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involve</a:t>
            </a:r>
            <a:r>
              <a:rPr sz="1600" spc="21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80808"/>
                </a:solidFill>
                <a:latin typeface="Arial MT"/>
                <a:cs typeface="Arial MT"/>
              </a:rPr>
              <a:t>looking</a:t>
            </a:r>
            <a:r>
              <a:rPr sz="1600" spc="22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at</a:t>
            </a:r>
            <a:r>
              <a:rPr sz="1600" spc="9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the</a:t>
            </a:r>
            <a:r>
              <a:rPr sz="1600" spc="13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prediction</a:t>
            </a:r>
            <a:r>
              <a:rPr sz="1600" spc="24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error</a:t>
            </a:r>
            <a:r>
              <a:rPr sz="1600" spc="27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on</a:t>
            </a:r>
            <a:r>
              <a:rPr sz="1600" spc="6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training</a:t>
            </a:r>
            <a:r>
              <a:rPr sz="1600" spc="20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70707"/>
                </a:solidFill>
                <a:latin typeface="Arial MT"/>
                <a:cs typeface="Arial MT"/>
              </a:rPr>
              <a:t>data</a:t>
            </a:r>
            <a:endParaRPr sz="1600">
              <a:latin typeface="Arial MT"/>
              <a:cs typeface="Arial MT"/>
            </a:endParaRPr>
          </a:p>
          <a:p>
            <a:pPr marL="17780" algn="just">
              <a:lnSpc>
                <a:spcPct val="100000"/>
              </a:lnSpc>
              <a:spcBef>
                <a:spcPts val="30"/>
              </a:spcBef>
            </a:pP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600" spc="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9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evaluation</a:t>
            </a:r>
            <a:r>
              <a:rPr sz="1600" spc="26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data.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2756" y="3767526"/>
            <a:ext cx="1248116" cy="10943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71815" y="3740393"/>
            <a:ext cx="913476" cy="11305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23158" y="4382541"/>
            <a:ext cx="877299" cy="41603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70304" y="256812"/>
            <a:ext cx="1649095" cy="0"/>
          </a:xfrm>
          <a:custGeom>
            <a:avLst/>
            <a:gdLst/>
            <a:ahLst/>
            <a:cxnLst/>
            <a:rect l="l" t="t" r="r" b="b"/>
            <a:pathLst>
              <a:path w="1649095">
                <a:moveTo>
                  <a:pt x="0" y="0"/>
                </a:moveTo>
                <a:lnTo>
                  <a:pt x="1649081" y="0"/>
                </a:lnTo>
              </a:path>
            </a:pathLst>
          </a:custGeom>
          <a:ln w="21103">
            <a:solidFill>
              <a:srgbClr val="DB64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79474" y="3735871"/>
            <a:ext cx="583358" cy="3210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56648" y="6548663"/>
            <a:ext cx="2297257" cy="85921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125"/>
              </a:spcBef>
            </a:pPr>
            <a:r>
              <a:rPr sz="2200" dirty="0">
                <a:solidFill>
                  <a:srgbClr val="161616"/>
                </a:solidFill>
                <a:latin typeface="Arial MT"/>
                <a:cs typeface="Arial MT"/>
              </a:rPr>
              <a:t>Choosing</a:t>
            </a:r>
            <a:r>
              <a:rPr sz="2200" spc="2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51515"/>
                </a:solidFill>
                <a:latin typeface="Arial MT"/>
                <a:cs typeface="Arial MT"/>
              </a:rPr>
              <a:t>a</a:t>
            </a:r>
            <a:r>
              <a:rPr sz="2200" spc="1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81818"/>
                </a:solidFill>
                <a:latin typeface="Arial MT"/>
                <a:cs typeface="Arial MT"/>
              </a:rPr>
              <a:t>machine</a:t>
            </a:r>
            <a:r>
              <a:rPr sz="2200" spc="19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81818"/>
                </a:solidFill>
                <a:latin typeface="Arial MT"/>
                <a:cs typeface="Arial MT"/>
              </a:rPr>
              <a:t>Learning</a:t>
            </a:r>
            <a:r>
              <a:rPr sz="2200" spc="9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200" spc="120" dirty="0">
                <a:latin typeface="Arial MT"/>
                <a:cs typeface="Arial MT"/>
              </a:rPr>
              <a:t>algorithm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3702" y="1200552"/>
            <a:ext cx="11244580" cy="15494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335" marR="228600" indent="-1270">
              <a:lnSpc>
                <a:spcPct val="104800"/>
              </a:lnSpc>
              <a:spcBef>
                <a:spcPts val="40"/>
              </a:spcBef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-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type</a:t>
            </a:r>
            <a:r>
              <a:rPr sz="1600" spc="5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F1F1F"/>
                </a:solidFill>
                <a:latin typeface="Arial MT"/>
                <a:cs typeface="Arial MT"/>
              </a:rPr>
              <a:t>of</a:t>
            </a:r>
            <a:r>
              <a:rPr sz="1600" spc="8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machine</a:t>
            </a:r>
            <a:r>
              <a:rPr sz="1600" spc="1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learning</a:t>
            </a:r>
            <a:r>
              <a:rPr sz="1600" spc="16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problem</a:t>
            </a:r>
            <a:r>
              <a:rPr sz="1600" spc="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0F0F0F"/>
                </a:solidFill>
                <a:latin typeface="Arial MT"/>
                <a:cs typeface="Arial MT"/>
              </a:rPr>
              <a:t>that</a:t>
            </a:r>
            <a:r>
              <a:rPr sz="1600" spc="5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you</a:t>
            </a:r>
            <a:r>
              <a:rPr sz="1600" spc="-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are</a:t>
            </a:r>
            <a:r>
              <a:rPr sz="1600" spc="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solving</a:t>
            </a:r>
            <a:r>
              <a:rPr sz="1600" spc="1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81818"/>
                </a:solidFill>
                <a:latin typeface="Arial MT"/>
                <a:cs typeface="Arial MT"/>
              </a:rPr>
              <a:t>will</a:t>
            </a:r>
            <a:r>
              <a:rPr sz="1600" spc="-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dictate</a:t>
            </a:r>
            <a:r>
              <a:rPr sz="1600" spc="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282828"/>
                </a:solidFill>
                <a:latin typeface="Arial MT"/>
                <a:cs typeface="Arial MT"/>
              </a:rPr>
              <a:t>the</a:t>
            </a:r>
            <a:r>
              <a:rPr sz="1600" spc="-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0A0A0A"/>
                </a:solidFill>
                <a:latin typeface="Arial MT"/>
                <a:cs typeface="Arial MT"/>
              </a:rPr>
              <a:t>algorithm</a:t>
            </a:r>
            <a:r>
              <a:rPr sz="1600" spc="7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latin typeface="Arial MT"/>
                <a:cs typeface="Arial MT"/>
              </a:rPr>
              <a:t>that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you</a:t>
            </a:r>
            <a:r>
              <a:rPr sz="1600" spc="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A1A1A"/>
                </a:solidFill>
                <a:latin typeface="Arial MT"/>
                <a:cs typeface="Arial MT"/>
              </a:rPr>
              <a:t>choose.</a:t>
            </a:r>
            <a:r>
              <a:rPr sz="16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31313"/>
                </a:solidFill>
                <a:latin typeface="Arial MT"/>
                <a:cs typeface="Arial MT"/>
              </a:rPr>
              <a:t>Recall</a:t>
            </a:r>
            <a:r>
              <a:rPr sz="1600" spc="-10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111111"/>
                </a:solidFill>
                <a:latin typeface="Arial MT"/>
                <a:cs typeface="Arial MT"/>
              </a:rPr>
              <a:t>that</a:t>
            </a:r>
            <a:r>
              <a:rPr sz="16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25" dirty="0">
                <a:solidFill>
                  <a:srgbClr val="0F0F0F"/>
                </a:solidFill>
                <a:latin typeface="Arial MT"/>
                <a:cs typeface="Arial MT"/>
              </a:rPr>
              <a:t>the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three</a:t>
            </a:r>
            <a:r>
              <a:rPr sz="1600" spc="10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types</a:t>
            </a:r>
            <a:r>
              <a:rPr sz="16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sz="1600" spc="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machine</a:t>
            </a:r>
            <a:r>
              <a:rPr sz="1600" spc="13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learning</a:t>
            </a:r>
            <a:r>
              <a:rPr sz="1600" spc="16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algorithms</a:t>
            </a:r>
            <a:r>
              <a:rPr sz="1600" spc="1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61616"/>
                </a:solidFill>
                <a:latin typeface="Arial MT"/>
                <a:cs typeface="Arial MT"/>
              </a:rPr>
              <a:t>are</a:t>
            </a:r>
            <a:r>
              <a:rPr sz="1600" spc="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supervised</a:t>
            </a:r>
            <a:r>
              <a:rPr sz="1600" spc="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learning,</a:t>
            </a:r>
            <a:r>
              <a:rPr sz="1600" spc="15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unsupervised</a:t>
            </a:r>
            <a:r>
              <a:rPr sz="1600" spc="2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learning,</a:t>
            </a:r>
            <a:r>
              <a:rPr sz="1600" spc="12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and</a:t>
            </a:r>
            <a:r>
              <a:rPr sz="1600" spc="8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reinforcement</a:t>
            </a:r>
            <a:r>
              <a:rPr sz="1600" spc="2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61616"/>
                </a:solidFill>
                <a:latin typeface="Arial MT"/>
                <a:cs typeface="Arial MT"/>
              </a:rPr>
              <a:t>learning. </a:t>
            </a:r>
            <a:r>
              <a:rPr sz="1600" spc="-65" dirty="0">
                <a:solidFill>
                  <a:srgbClr val="0C0C0C"/>
                </a:solidFill>
                <a:latin typeface="Arial MT"/>
                <a:cs typeface="Arial MT"/>
              </a:rPr>
              <a:t>Each</a:t>
            </a:r>
            <a:r>
              <a:rPr sz="1600" spc="4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type</a:t>
            </a:r>
            <a:r>
              <a:rPr sz="1600" spc="10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sz="1600" spc="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0E0E0E"/>
                </a:solidFill>
                <a:latin typeface="Arial MT"/>
                <a:cs typeface="Arial MT"/>
              </a:rPr>
              <a:t>algorithm</a:t>
            </a:r>
            <a:r>
              <a:rPr sz="1600" spc="7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C1C1C"/>
                </a:solidFill>
                <a:latin typeface="Arial MT"/>
                <a:cs typeface="Arial MT"/>
              </a:rPr>
              <a:t>will</a:t>
            </a:r>
            <a:r>
              <a:rPr sz="1600" spc="-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help</a:t>
            </a:r>
            <a:r>
              <a:rPr sz="1600" spc="-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you</a:t>
            </a:r>
            <a:r>
              <a:rPr sz="1600" spc="-2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to</a:t>
            </a:r>
            <a:r>
              <a:rPr sz="1600" spc="19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solve</a:t>
            </a:r>
            <a:r>
              <a:rPr sz="1600" spc="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80" dirty="0">
                <a:solidFill>
                  <a:srgbClr val="181818"/>
                </a:solidFill>
                <a:latin typeface="Arial MT"/>
                <a:cs typeface="Arial MT"/>
              </a:rPr>
              <a:t>a</a:t>
            </a:r>
            <a:r>
              <a:rPr sz="1600" spc="-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specific</a:t>
            </a:r>
            <a:r>
              <a:rPr sz="1600" spc="10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type</a:t>
            </a:r>
            <a:r>
              <a:rPr sz="1600" spc="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82828"/>
                </a:solidFill>
                <a:latin typeface="Arial MT"/>
                <a:cs typeface="Arial MT"/>
              </a:rPr>
              <a:t>of</a:t>
            </a:r>
            <a:r>
              <a:rPr sz="1600" spc="-1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80808"/>
                </a:solidFill>
                <a:latin typeface="Arial MT"/>
                <a:cs typeface="Arial MT"/>
              </a:rPr>
              <a:t>business</a:t>
            </a:r>
            <a:r>
              <a:rPr sz="1600" spc="9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31313"/>
                </a:solidFill>
                <a:latin typeface="Arial MT"/>
                <a:cs typeface="Arial MT"/>
              </a:rPr>
              <a:t>problem.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600">
              <a:latin typeface="Arial MT"/>
              <a:cs typeface="Arial MT"/>
            </a:endParaRPr>
          </a:p>
          <a:p>
            <a:pPr marL="19050" marR="5080" indent="-1270">
              <a:lnSpc>
                <a:spcPct val="102000"/>
              </a:lnSpc>
            </a:pP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Amazon</a:t>
            </a:r>
            <a:r>
              <a:rPr sz="1600" spc="1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30" dirty="0">
                <a:solidFill>
                  <a:srgbClr val="1C1C1C"/>
                </a:solidFill>
                <a:latin typeface="Arial MT"/>
                <a:cs typeface="Arial MT"/>
              </a:rPr>
              <a:t>SageMaker</a:t>
            </a:r>
            <a:r>
              <a:rPr sz="1600" spc="2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provides</a:t>
            </a:r>
            <a:r>
              <a:rPr sz="1600" spc="1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high-performance,</a:t>
            </a:r>
            <a:r>
              <a:rPr sz="1600" spc="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scalable</a:t>
            </a:r>
            <a:r>
              <a:rPr sz="1600" spc="1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machine</a:t>
            </a:r>
            <a:r>
              <a:rPr sz="1600" spc="1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learning</a:t>
            </a:r>
            <a:r>
              <a:rPr sz="1600" spc="1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algorithms </a:t>
            </a:r>
            <a:r>
              <a:rPr sz="1600" spc="80" dirty="0">
                <a:solidFill>
                  <a:srgbClr val="181818"/>
                </a:solidFill>
                <a:latin typeface="Arial MT"/>
                <a:cs typeface="Arial MT"/>
              </a:rPr>
              <a:t>that</a:t>
            </a:r>
            <a:r>
              <a:rPr sz="1600" spc="10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are</a:t>
            </a:r>
            <a:r>
              <a:rPr sz="1600" spc="1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optimized</a:t>
            </a:r>
            <a:r>
              <a:rPr sz="1600" spc="8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D1D1D"/>
                </a:solidFill>
                <a:latin typeface="Arial MT"/>
                <a:cs typeface="Arial MT"/>
              </a:rPr>
              <a:t>for</a:t>
            </a:r>
            <a:r>
              <a:rPr sz="1600" spc="4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F1F1F"/>
                </a:solidFill>
                <a:latin typeface="Arial MT"/>
                <a:cs typeface="Arial MT"/>
              </a:rPr>
              <a:t>speed,</a:t>
            </a:r>
            <a:r>
              <a:rPr sz="1600" spc="9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F0F0F"/>
                </a:solidFill>
                <a:latin typeface="Arial MT"/>
                <a:cs typeface="Arial MT"/>
              </a:rPr>
              <a:t>scale,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600" spc="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45" dirty="0">
                <a:solidFill>
                  <a:srgbClr val="161616"/>
                </a:solidFill>
                <a:latin typeface="Arial MT"/>
                <a:cs typeface="Arial MT"/>
              </a:rPr>
              <a:t>accuracy.</a:t>
            </a:r>
            <a:r>
              <a:rPr sz="1600" spc="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F1F1F"/>
                </a:solidFill>
                <a:latin typeface="Arial MT"/>
                <a:cs typeface="Arial MT"/>
              </a:rPr>
              <a:t>These</a:t>
            </a:r>
            <a:r>
              <a:rPr sz="1600" spc="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algorithms</a:t>
            </a:r>
            <a:r>
              <a:rPr sz="1600" spc="10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42424"/>
                </a:solidFill>
                <a:latin typeface="Arial MT"/>
                <a:cs typeface="Arial MT"/>
              </a:rPr>
              <a:t>are</a:t>
            </a:r>
            <a:r>
              <a:rPr sz="1600" spc="-4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11111"/>
                </a:solidFill>
                <a:latin typeface="Arial MT"/>
                <a:cs typeface="Arial MT"/>
              </a:rPr>
              <a:t>built</a:t>
            </a:r>
            <a:r>
              <a:rPr sz="1600" spc="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A1A1A"/>
                </a:solidFill>
                <a:latin typeface="Arial MT"/>
                <a:cs typeface="Arial MT"/>
              </a:rPr>
              <a:t>into</a:t>
            </a:r>
            <a:r>
              <a:rPr sz="1600" spc="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 MT"/>
                <a:cs typeface="Arial MT"/>
              </a:rPr>
              <a:t>SageMaker.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5420" y="5141375"/>
            <a:ext cx="2059305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10" dirty="0">
                <a:solidFill>
                  <a:srgbClr val="181818"/>
                </a:solidFill>
                <a:latin typeface="Arial MT"/>
                <a:cs typeface="Arial MT"/>
              </a:rPr>
              <a:t>Supervised</a:t>
            </a:r>
            <a:r>
              <a:rPr sz="1800" spc="-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D1D1D"/>
                </a:solidFill>
                <a:latin typeface="Arial MT"/>
                <a:cs typeface="Arial MT"/>
              </a:rPr>
              <a:t>learning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53459" y="5097911"/>
            <a:ext cx="233045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dirty="0">
                <a:solidFill>
                  <a:srgbClr val="131313"/>
                </a:solidFill>
                <a:latin typeface="Arial MT"/>
                <a:cs typeface="Arial MT"/>
              </a:rPr>
              <a:t>Unsupervised</a:t>
            </a:r>
            <a:r>
              <a:rPr sz="1750" spc="24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0C0C0C"/>
                </a:solidFill>
                <a:latin typeface="Arial MT"/>
                <a:cs typeface="Arial MT"/>
              </a:rPr>
              <a:t>learning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24447" y="5082587"/>
            <a:ext cx="2446655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dirty="0">
                <a:solidFill>
                  <a:srgbClr val="131313"/>
                </a:solidFill>
                <a:latin typeface="Arial MT"/>
                <a:cs typeface="Arial MT"/>
              </a:rPr>
              <a:t>Reinforcement</a:t>
            </a:r>
            <a:r>
              <a:rPr sz="1800" spc="16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81818"/>
                </a:solidFill>
                <a:latin typeface="Arial MT"/>
                <a:cs typeface="Arial MT"/>
              </a:rPr>
              <a:t>learning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701" y="1888382"/>
            <a:ext cx="11330357" cy="420146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131313"/>
                </a:solidFill>
                <a:latin typeface="Arial MT"/>
                <a:cs typeface="Arial MT"/>
              </a:rPr>
              <a:t>Machine</a:t>
            </a:r>
            <a:r>
              <a:rPr spc="1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pc="55" dirty="0">
                <a:solidFill>
                  <a:srgbClr val="161616"/>
                </a:solidFill>
                <a:latin typeface="Arial MT"/>
                <a:cs typeface="Arial MT"/>
              </a:rPr>
              <a:t>learning</a:t>
            </a:r>
            <a:r>
              <a:rPr spc="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pc="60" dirty="0">
                <a:solidFill>
                  <a:srgbClr val="161616"/>
                </a:solidFill>
                <a:latin typeface="Arial MT"/>
                <a:cs typeface="Arial MT"/>
              </a:rPr>
              <a:t>pipeline</a:t>
            </a:r>
            <a:r>
              <a:rPr spc="1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pc="-1195" dirty="0">
                <a:solidFill>
                  <a:srgbClr val="131313"/>
                </a:solidFill>
                <a:latin typeface="Arial MT"/>
                <a:cs typeface="Arial MT"/>
              </a:rPr>
              <a:t>—</a:t>
            </a:r>
            <a:r>
              <a:rPr spc="-4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81818"/>
                </a:solidFill>
                <a:latin typeface="Arial MT"/>
                <a:cs typeface="Arial MT"/>
              </a:rPr>
              <a:t>Tune</a:t>
            </a:r>
            <a:r>
              <a:rPr spc="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61616"/>
                </a:solidFill>
                <a:latin typeface="Arial MT"/>
                <a:cs typeface="Arial MT"/>
              </a:rPr>
              <a:t>and</a:t>
            </a:r>
            <a:r>
              <a:rPr spc="6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51515"/>
                </a:solidFill>
                <a:latin typeface="Arial MT"/>
                <a:cs typeface="Arial MT"/>
              </a:rPr>
              <a:t>evaluate</a:t>
            </a:r>
            <a:r>
              <a:rPr spc="16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pc="70" dirty="0">
                <a:latin typeface="Arial MT"/>
                <a:cs typeface="Arial MT"/>
              </a:rPr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5925" y="1557685"/>
            <a:ext cx="1630680" cy="304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-160" dirty="0">
                <a:solidFill>
                  <a:srgbClr val="161616"/>
                </a:solidFill>
                <a:latin typeface="Arial MT"/>
                <a:cs typeface="Arial MT"/>
              </a:rPr>
              <a:t>Business</a:t>
            </a:r>
            <a:r>
              <a:rPr sz="1800" spc="8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800" spc="-65" dirty="0">
                <a:solidFill>
                  <a:srgbClr val="0F0F0F"/>
                </a:solidFill>
                <a:latin typeface="Arial MT"/>
                <a:cs typeface="Arial MT"/>
              </a:rPr>
              <a:t>problem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4275" y="1570234"/>
            <a:ext cx="1891664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spc="-45" dirty="0">
                <a:solidFill>
                  <a:srgbClr val="1F1F1F"/>
                </a:solidFill>
                <a:latin typeface="Arial MT"/>
                <a:cs typeface="Arial MT"/>
              </a:rPr>
              <a:t>New</a:t>
            </a:r>
            <a:r>
              <a:rPr sz="1700" spc="-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0F0F0F"/>
                </a:solidFill>
                <a:latin typeface="Arial MT"/>
                <a:cs typeface="Arial MT"/>
              </a:rPr>
              <a:t>data,</a:t>
            </a:r>
            <a:r>
              <a:rPr sz="1700" spc="-7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61616"/>
                </a:solidFill>
                <a:latin typeface="Arial MT"/>
                <a:cs typeface="Arial MT"/>
              </a:rPr>
              <a:t>retraining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39911" y="5235849"/>
            <a:ext cx="3889375" cy="788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45945">
              <a:lnSpc>
                <a:spcPct val="100000"/>
              </a:lnSpc>
              <a:spcBef>
                <a:spcPts val="130"/>
              </a:spcBef>
            </a:pPr>
            <a:r>
              <a:rPr sz="1650" spc="-40" dirty="0">
                <a:solidFill>
                  <a:srgbClr val="131313"/>
                </a:solidFill>
                <a:latin typeface="Arial MT"/>
                <a:cs typeface="Arial MT"/>
              </a:rPr>
              <a:t>Feature</a:t>
            </a:r>
            <a:r>
              <a:rPr sz="1650" spc="-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0E0E0E"/>
                </a:solidFill>
                <a:latin typeface="Arial MT"/>
                <a:cs typeface="Arial MT"/>
              </a:rPr>
              <a:t>augmentation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75" dirty="0">
                <a:solidFill>
                  <a:srgbClr val="080808"/>
                </a:solidFill>
                <a:latin typeface="Arial MT"/>
                <a:cs typeface="Arial MT"/>
              </a:rPr>
              <a:t>Data</a:t>
            </a:r>
            <a:r>
              <a:rPr sz="1700" spc="-4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51515"/>
                </a:solidFill>
                <a:latin typeface="Arial MT"/>
                <a:cs typeface="Arial MT"/>
              </a:rPr>
              <a:t>augmentation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59381" y="3022174"/>
            <a:ext cx="31623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175" dirty="0">
                <a:solidFill>
                  <a:srgbClr val="2B2B2B"/>
                </a:solidFill>
                <a:latin typeface="Arial MT"/>
                <a:cs typeface="Arial MT"/>
              </a:rPr>
              <a:t>Yes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9643" y="2530927"/>
            <a:ext cx="1179285" cy="28937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28000" y="2267856"/>
            <a:ext cx="598714" cy="9978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137071" y="4080629"/>
            <a:ext cx="520700" cy="0"/>
          </a:xfrm>
          <a:custGeom>
            <a:avLst/>
            <a:gdLst/>
            <a:ahLst/>
            <a:cxnLst/>
            <a:rect l="l" t="t" r="r" b="b"/>
            <a:pathLst>
              <a:path w="520700">
                <a:moveTo>
                  <a:pt x="0" y="0"/>
                </a:moveTo>
                <a:lnTo>
                  <a:pt x="520094" y="0"/>
                </a:lnTo>
              </a:path>
            </a:pathLst>
          </a:custGeom>
          <a:ln w="21166">
            <a:solidFill>
              <a:srgbClr val="2328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6357" y="252486"/>
            <a:ext cx="1636395" cy="0"/>
          </a:xfrm>
          <a:custGeom>
            <a:avLst/>
            <a:gdLst/>
            <a:ahLst/>
            <a:cxnLst/>
            <a:rect l="l" t="t" r="r" b="b"/>
            <a:pathLst>
              <a:path w="1636395">
                <a:moveTo>
                  <a:pt x="0" y="0"/>
                </a:moveTo>
                <a:lnTo>
                  <a:pt x="1635880" y="0"/>
                </a:lnTo>
              </a:path>
            </a:pathLst>
          </a:custGeom>
          <a:ln w="21166">
            <a:solidFill>
              <a:srgbClr val="CC64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071" y="6563177"/>
            <a:ext cx="3093356" cy="86178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151515"/>
                </a:solidFill>
                <a:latin typeface="Arial MT"/>
                <a:cs typeface="Arial MT"/>
              </a:rPr>
              <a:t>Evaluate</a:t>
            </a:r>
            <a:r>
              <a:rPr sz="2200" spc="25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200" spc="70" dirty="0">
                <a:solidFill>
                  <a:srgbClr val="1D1D1D"/>
                </a:solidFill>
                <a:latin typeface="Arial MT"/>
                <a:cs typeface="Arial MT"/>
              </a:rPr>
              <a:t>and</a:t>
            </a:r>
            <a:r>
              <a:rPr sz="2200" spc="4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200" spc="70" dirty="0">
                <a:solidFill>
                  <a:srgbClr val="1C1C1C"/>
                </a:solidFill>
                <a:latin typeface="Arial MT"/>
                <a:cs typeface="Arial MT"/>
              </a:rPr>
              <a:t>tune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5838" y="1186491"/>
            <a:ext cx="11015345" cy="54419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7780" marR="5080" indent="-5715">
              <a:lnSpc>
                <a:spcPts val="2000"/>
              </a:lnSpc>
              <a:spcBef>
                <a:spcPts val="235"/>
              </a:spcBef>
            </a:pPr>
            <a:r>
              <a:rPr sz="1700" dirty="0">
                <a:solidFill>
                  <a:srgbClr val="242424"/>
                </a:solidFill>
                <a:latin typeface="Arial MT"/>
                <a:cs typeface="Arial MT"/>
              </a:rPr>
              <a:t>After</a:t>
            </a:r>
            <a:r>
              <a:rPr sz="1700" spc="-7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131313"/>
                </a:solidFill>
                <a:latin typeface="Arial MT"/>
                <a:cs typeface="Arial MT"/>
              </a:rPr>
              <a:t>you</a:t>
            </a:r>
            <a:r>
              <a:rPr sz="1700" spc="-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31313"/>
                </a:solidFill>
                <a:latin typeface="Arial MT"/>
                <a:cs typeface="Arial MT"/>
              </a:rPr>
              <a:t>train</a:t>
            </a:r>
            <a:r>
              <a:rPr sz="1700" spc="-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65" dirty="0">
                <a:solidFill>
                  <a:srgbClr val="1C1C1C"/>
                </a:solidFill>
                <a:latin typeface="Arial MT"/>
                <a:cs typeface="Arial MT"/>
              </a:rPr>
              <a:t>and </a:t>
            </a:r>
            <a:r>
              <a:rPr sz="1700" dirty="0">
                <a:solidFill>
                  <a:srgbClr val="1D1D1D"/>
                </a:solidFill>
                <a:latin typeface="Arial MT"/>
                <a:cs typeface="Arial MT"/>
              </a:rPr>
              <a:t>tune</a:t>
            </a:r>
            <a:r>
              <a:rPr sz="1700" spc="-1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your</a:t>
            </a:r>
            <a:r>
              <a:rPr sz="1700" spc="-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D1D1D"/>
                </a:solidFill>
                <a:latin typeface="Arial MT"/>
                <a:cs typeface="Arial MT"/>
              </a:rPr>
              <a:t>models</a:t>
            </a:r>
            <a:r>
              <a:rPr sz="1700" spc="-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1C1C1C"/>
                </a:solidFill>
                <a:latin typeface="Arial MT"/>
                <a:cs typeface="Arial MT"/>
              </a:rPr>
              <a:t>and</a:t>
            </a:r>
            <a:r>
              <a:rPr sz="1700" spc="-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55" dirty="0">
                <a:solidFill>
                  <a:srgbClr val="181818"/>
                </a:solidFill>
                <a:latin typeface="Arial MT"/>
                <a:cs typeface="Arial MT"/>
              </a:rPr>
              <a:t>decide</a:t>
            </a:r>
            <a:r>
              <a:rPr sz="1700" spc="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D1D1D"/>
                </a:solidFill>
                <a:latin typeface="Arial MT"/>
                <a:cs typeface="Arial MT"/>
              </a:rPr>
              <a:t>which</a:t>
            </a:r>
            <a:r>
              <a:rPr sz="1700" spc="-9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C1C1C"/>
                </a:solidFill>
                <a:latin typeface="Arial MT"/>
                <a:cs typeface="Arial MT"/>
              </a:rPr>
              <a:t>model</a:t>
            </a:r>
            <a:r>
              <a:rPr sz="1700" spc="-1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62626"/>
                </a:solidFill>
                <a:latin typeface="Arial MT"/>
                <a:cs typeface="Arial MT"/>
              </a:rPr>
              <a:t>is</a:t>
            </a:r>
            <a:r>
              <a:rPr sz="170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sz="1700" spc="-7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F1F1F"/>
                </a:solidFill>
                <a:latin typeface="Arial MT"/>
                <a:cs typeface="Arial MT"/>
              </a:rPr>
              <a:t>best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sz="1700" spc="-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F1F1F"/>
                </a:solidFill>
                <a:latin typeface="Arial MT"/>
                <a:cs typeface="Arial MT"/>
              </a:rPr>
              <a:t>your</a:t>
            </a:r>
            <a:r>
              <a:rPr sz="1700" spc="-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70" dirty="0">
                <a:solidFill>
                  <a:srgbClr val="1C1C1C"/>
                </a:solidFill>
                <a:latin typeface="Arial MT"/>
                <a:cs typeface="Arial MT"/>
              </a:rPr>
              <a:t>business</a:t>
            </a:r>
            <a:r>
              <a:rPr sz="1700" spc="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31313"/>
                </a:solidFill>
                <a:latin typeface="Arial MT"/>
                <a:cs typeface="Arial MT"/>
              </a:rPr>
              <a:t>problem,</a:t>
            </a:r>
            <a:r>
              <a:rPr sz="1700" spc="-4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1C1C1C"/>
                </a:solidFill>
                <a:latin typeface="Arial MT"/>
                <a:cs typeface="Arial MT"/>
              </a:rPr>
              <a:t>you</a:t>
            </a:r>
            <a:r>
              <a:rPr sz="1700" spc="-7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E0E0E"/>
                </a:solidFill>
                <a:latin typeface="Arial MT"/>
                <a:cs typeface="Arial MT"/>
              </a:rPr>
              <a:t>must</a:t>
            </a:r>
            <a:r>
              <a:rPr sz="1700" spc="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0F0F"/>
                </a:solidFill>
                <a:latin typeface="Arial MT"/>
                <a:cs typeface="Arial MT"/>
              </a:rPr>
              <a:t>evaluate 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your</a:t>
            </a:r>
            <a:r>
              <a:rPr sz="1700" spc="-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model.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105" dirty="0">
                <a:solidFill>
                  <a:srgbClr val="242424"/>
                </a:solidFill>
                <a:latin typeface="Arial MT"/>
                <a:cs typeface="Arial MT"/>
              </a:rPr>
              <a:t>You</a:t>
            </a:r>
            <a:r>
              <a:rPr sz="1700" spc="1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want</a:t>
            </a:r>
            <a:r>
              <a:rPr sz="170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65" dirty="0">
                <a:solidFill>
                  <a:srgbClr val="161616"/>
                </a:solidFill>
                <a:latin typeface="Arial MT"/>
                <a:cs typeface="Arial MT"/>
              </a:rPr>
              <a:t>to</a:t>
            </a:r>
            <a:r>
              <a:rPr sz="1700" spc="-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C1C1C"/>
                </a:solidFill>
                <a:latin typeface="Arial MT"/>
                <a:cs typeface="Arial MT"/>
              </a:rPr>
              <a:t>determine</a:t>
            </a:r>
            <a:r>
              <a:rPr sz="1700" spc="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F1F1F"/>
                </a:solidFill>
                <a:latin typeface="Arial MT"/>
                <a:cs typeface="Arial MT"/>
              </a:rPr>
              <a:t>whether</a:t>
            </a:r>
            <a:r>
              <a:rPr sz="1700" spc="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A2A2A"/>
                </a:solidFill>
                <a:latin typeface="Arial MT"/>
                <a:cs typeface="Arial MT"/>
              </a:rPr>
              <a:t>it</a:t>
            </a:r>
            <a:r>
              <a:rPr sz="1700" spc="11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00" spc="55" dirty="0">
                <a:solidFill>
                  <a:srgbClr val="242424"/>
                </a:solidFill>
                <a:latin typeface="Arial MT"/>
                <a:cs typeface="Arial MT"/>
              </a:rPr>
              <a:t>will</a:t>
            </a:r>
            <a:r>
              <a:rPr sz="1700" spc="-12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D1D1D"/>
                </a:solidFill>
                <a:latin typeface="Arial MT"/>
                <a:cs typeface="Arial MT"/>
              </a:rPr>
              <a:t>perform</a:t>
            </a:r>
            <a:r>
              <a:rPr sz="1700" spc="2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welt</a:t>
            </a:r>
            <a:r>
              <a:rPr sz="1700" spc="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A2A2A"/>
                </a:solidFill>
                <a:latin typeface="Arial MT"/>
                <a:cs typeface="Arial MT"/>
              </a:rPr>
              <a:t>in</a:t>
            </a:r>
            <a:r>
              <a:rPr sz="1700" spc="-12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C1C1C"/>
                </a:solidFill>
                <a:latin typeface="Arial MT"/>
                <a:cs typeface="Arial MT"/>
              </a:rPr>
              <a:t>predicting</a:t>
            </a:r>
            <a:r>
              <a:rPr sz="1700" spc="-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sz="1700" spc="-1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31313"/>
                </a:solidFill>
                <a:latin typeface="Arial MT"/>
                <a:cs typeface="Arial MT"/>
              </a:rPr>
              <a:t>target</a:t>
            </a:r>
            <a:r>
              <a:rPr sz="1700" spc="-4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on</a:t>
            </a:r>
            <a:r>
              <a:rPr sz="1700" spc="-114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C1C1C"/>
                </a:solidFill>
                <a:latin typeface="Arial MT"/>
                <a:cs typeface="Arial MT"/>
              </a:rPr>
              <a:t>new</a:t>
            </a:r>
            <a:r>
              <a:rPr sz="1700" spc="-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65" dirty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sz="1700" spc="-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C0C0C"/>
                </a:solidFill>
                <a:latin typeface="Arial MT"/>
                <a:cs typeface="Arial MT"/>
              </a:rPr>
              <a:t>future</a:t>
            </a:r>
            <a:r>
              <a:rPr sz="1700" spc="-4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111"/>
                </a:solidFill>
                <a:latin typeface="Arial MT"/>
                <a:cs typeface="Arial MT"/>
              </a:rPr>
              <a:t>data.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0087" y="1952973"/>
            <a:ext cx="5382895" cy="798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080">
              <a:lnSpc>
                <a:spcPct val="107700"/>
              </a:lnSpc>
              <a:spcBef>
                <a:spcPts val="105"/>
              </a:spcBef>
            </a:pPr>
            <a:r>
              <a:rPr sz="1550" dirty="0">
                <a:solidFill>
                  <a:srgbClr val="0C0C0C"/>
                </a:solidFill>
                <a:latin typeface="Arial MT"/>
                <a:cs typeface="Arial MT"/>
              </a:rPr>
              <a:t>During</a:t>
            </a:r>
            <a:r>
              <a:rPr sz="1550" spc="18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A0A0A"/>
                </a:solidFill>
                <a:latin typeface="Arial MT"/>
                <a:cs typeface="Arial MT"/>
              </a:rPr>
              <a:t>evaluation</a:t>
            </a:r>
            <a:r>
              <a:rPr sz="1550" spc="204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F1F1F"/>
                </a:solidFill>
                <a:latin typeface="Arial MT"/>
                <a:cs typeface="Arial MT"/>
              </a:rPr>
              <a:t>you</a:t>
            </a:r>
            <a:r>
              <a:rPr sz="1550" spc="1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A2A2A"/>
                </a:solidFill>
                <a:latin typeface="Arial MT"/>
                <a:cs typeface="Arial MT"/>
              </a:rPr>
              <a:t>are</a:t>
            </a:r>
            <a:r>
              <a:rPr sz="1550" spc="4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550" spc="60" dirty="0">
                <a:solidFill>
                  <a:srgbClr val="212121"/>
                </a:solidFill>
                <a:latin typeface="Arial MT"/>
                <a:cs typeface="Arial MT"/>
              </a:rPr>
              <a:t>testing</a:t>
            </a:r>
            <a:r>
              <a:rPr sz="1550" spc="1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550" spc="50" dirty="0">
                <a:solidFill>
                  <a:srgbClr val="242424"/>
                </a:solidFill>
                <a:latin typeface="Arial MT"/>
                <a:cs typeface="Arial MT"/>
              </a:rPr>
              <a:t>your</a:t>
            </a:r>
            <a:r>
              <a:rPr sz="1550" spc="1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550" spc="80" dirty="0">
                <a:solidFill>
                  <a:srgbClr val="1F1F1F"/>
                </a:solidFill>
                <a:latin typeface="Arial MT"/>
                <a:cs typeface="Arial MT"/>
              </a:rPr>
              <a:t>model</a:t>
            </a:r>
            <a:r>
              <a:rPr sz="1550" spc="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F0F0F"/>
                </a:solidFill>
                <a:latin typeface="Arial MT"/>
                <a:cs typeface="Arial MT"/>
              </a:rPr>
              <a:t>against</a:t>
            </a:r>
            <a:r>
              <a:rPr sz="1550" spc="21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550" spc="55" dirty="0">
                <a:solidFill>
                  <a:srgbClr val="1A1A1A"/>
                </a:solidFill>
                <a:latin typeface="Arial MT"/>
                <a:cs typeface="Arial MT"/>
              </a:rPr>
              <a:t>the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validation</a:t>
            </a:r>
            <a:r>
              <a:rPr sz="1600" spc="20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data</a:t>
            </a:r>
            <a:r>
              <a:rPr sz="1600" spc="8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you</a:t>
            </a:r>
            <a:r>
              <a:rPr sz="1600" spc="8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set</a:t>
            </a:r>
            <a:r>
              <a:rPr sz="1600" spc="9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aside.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The</a:t>
            </a:r>
            <a:r>
              <a:rPr sz="1600" spc="1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validation</a:t>
            </a:r>
            <a:r>
              <a:rPr sz="1600" spc="20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data</a:t>
            </a:r>
            <a:r>
              <a:rPr sz="1600" spc="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61616"/>
                </a:solidFill>
                <a:latin typeface="Arial MT"/>
                <a:cs typeface="Arial MT"/>
              </a:rPr>
              <a:t>provides </a:t>
            </a:r>
            <a:r>
              <a:rPr sz="1550" dirty="0">
                <a:solidFill>
                  <a:srgbClr val="1A1A1A"/>
                </a:solidFill>
                <a:latin typeface="Arial MT"/>
                <a:cs typeface="Arial MT"/>
              </a:rPr>
              <a:t>an</a:t>
            </a:r>
            <a:r>
              <a:rPr sz="1550" spc="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61616"/>
                </a:solidFill>
                <a:latin typeface="Arial MT"/>
                <a:cs typeface="Arial MT"/>
              </a:rPr>
              <a:t>unbiased</a:t>
            </a:r>
            <a:r>
              <a:rPr sz="1550" spc="18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C0C0C"/>
                </a:solidFill>
                <a:latin typeface="Arial MT"/>
                <a:cs typeface="Arial MT"/>
              </a:rPr>
              <a:t>evaluation</a:t>
            </a:r>
            <a:r>
              <a:rPr sz="1550" spc="20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42424"/>
                </a:solidFill>
                <a:latin typeface="Arial MT"/>
                <a:cs typeface="Arial MT"/>
              </a:rPr>
              <a:t>of</a:t>
            </a:r>
            <a:r>
              <a:rPr sz="1550" spc="19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D1D1D"/>
                </a:solidFill>
                <a:latin typeface="Arial MT"/>
                <a:cs typeface="Arial MT"/>
              </a:rPr>
              <a:t>a</a:t>
            </a:r>
            <a:r>
              <a:rPr sz="1550" spc="14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550" spc="80" dirty="0">
                <a:solidFill>
                  <a:srgbClr val="212121"/>
                </a:solidFill>
                <a:latin typeface="Arial MT"/>
                <a:cs typeface="Arial MT"/>
              </a:rPr>
              <a:t>model</a:t>
            </a:r>
            <a:r>
              <a:rPr sz="1550" spc="-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F1F1F"/>
                </a:solidFill>
                <a:latin typeface="Arial MT"/>
                <a:cs typeface="Arial MT"/>
              </a:rPr>
              <a:t>f1t</a:t>
            </a:r>
            <a:r>
              <a:rPr sz="1550" spc="18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A2A2A"/>
                </a:solidFill>
                <a:latin typeface="Arial MT"/>
                <a:cs typeface="Arial MT"/>
              </a:rPr>
              <a:t>while</a:t>
            </a:r>
            <a:r>
              <a:rPr sz="1550" spc="9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550" spc="85" dirty="0">
                <a:solidFill>
                  <a:srgbClr val="181818"/>
                </a:solidFill>
                <a:latin typeface="Arial MT"/>
                <a:cs typeface="Arial MT"/>
              </a:rPr>
              <a:t>tuning</a:t>
            </a:r>
            <a:r>
              <a:rPr sz="1550" spc="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1C1C1C"/>
                </a:solidFill>
                <a:latin typeface="Arial MT"/>
                <a:cs typeface="Arial MT"/>
              </a:rPr>
              <a:t>model.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251" y="2992461"/>
            <a:ext cx="5469255" cy="103886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3335" marR="5080" indent="-1270">
              <a:lnSpc>
                <a:spcPct val="106500"/>
              </a:lnSpc>
              <a:spcBef>
                <a:spcPts val="15"/>
              </a:spcBef>
            </a:pPr>
            <a:r>
              <a:rPr sz="1550" spc="50" dirty="0">
                <a:solidFill>
                  <a:srgbClr val="242424"/>
                </a:solidFill>
                <a:latin typeface="Calibri"/>
                <a:cs typeface="Calibri"/>
              </a:rPr>
              <a:t>The</a:t>
            </a:r>
            <a:r>
              <a:rPr sz="1550" spc="29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550" spc="90" dirty="0">
                <a:solidFill>
                  <a:srgbClr val="161616"/>
                </a:solidFill>
                <a:latin typeface="Calibri"/>
                <a:cs typeface="Calibri"/>
              </a:rPr>
              <a:t>test</a:t>
            </a:r>
            <a:r>
              <a:rPr sz="1550" spc="9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550" spc="95" dirty="0">
                <a:solidFill>
                  <a:srgbClr val="1C1C1C"/>
                </a:solidFill>
                <a:latin typeface="Calibri"/>
                <a:cs typeface="Calibri"/>
              </a:rPr>
              <a:t>data</a:t>
            </a:r>
            <a:r>
              <a:rPr sz="1550" spc="1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550" spc="100" dirty="0">
                <a:solidFill>
                  <a:srgbClr val="1C1C1C"/>
                </a:solidFill>
                <a:latin typeface="Calibri"/>
                <a:cs typeface="Calibri"/>
              </a:rPr>
              <a:t>has</a:t>
            </a:r>
            <a:r>
              <a:rPr sz="1550" spc="4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550" spc="114" dirty="0">
                <a:solidFill>
                  <a:srgbClr val="212121"/>
                </a:solidFill>
                <a:latin typeface="Calibri"/>
                <a:cs typeface="Calibri"/>
              </a:rPr>
              <a:t>known</a:t>
            </a:r>
            <a:r>
              <a:rPr sz="1550" spc="17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50" spc="100" dirty="0">
                <a:solidFill>
                  <a:srgbClr val="111111"/>
                </a:solidFill>
                <a:latin typeface="Calibri"/>
                <a:cs typeface="Calibri"/>
              </a:rPr>
              <a:t>values</a:t>
            </a:r>
            <a:r>
              <a:rPr sz="1550" spc="8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550" spc="120" dirty="0">
                <a:solidFill>
                  <a:srgbClr val="111111"/>
                </a:solidFill>
                <a:latin typeface="Calibri"/>
                <a:cs typeface="Calibri"/>
              </a:rPr>
              <a:t>and </a:t>
            </a:r>
            <a:r>
              <a:rPr sz="1550" dirty="0">
                <a:solidFill>
                  <a:srgbClr val="1F1F1F"/>
                </a:solidFill>
                <a:latin typeface="Calibri"/>
                <a:cs typeface="Calibri"/>
              </a:rPr>
              <a:t>tets</a:t>
            </a:r>
            <a:r>
              <a:rPr sz="1550" spc="1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81818"/>
                </a:solidFill>
                <a:latin typeface="Calibri"/>
                <a:cs typeface="Calibri"/>
              </a:rPr>
              <a:t>you</a:t>
            </a:r>
            <a:r>
              <a:rPr sz="1550" spc="32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550" spc="80" dirty="0">
                <a:solidFill>
                  <a:srgbClr val="1D1D1D"/>
                </a:solidFill>
                <a:latin typeface="Calibri"/>
                <a:cs typeface="Calibri"/>
              </a:rPr>
              <a:t>assess</a:t>
            </a:r>
            <a:r>
              <a:rPr sz="1550" spc="7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550" spc="50" dirty="0">
                <a:solidFill>
                  <a:srgbClr val="242424"/>
                </a:solidFill>
                <a:latin typeface="Calibri"/>
                <a:cs typeface="Calibri"/>
              </a:rPr>
              <a:t>the </a:t>
            </a:r>
            <a:r>
              <a:rPr sz="1600" spc="-10" dirty="0">
                <a:solidFill>
                  <a:srgbClr val="151515"/>
                </a:solidFill>
                <a:latin typeface="Arial MT"/>
                <a:cs typeface="Arial MT"/>
              </a:rPr>
              <a:t>accuracy</a:t>
            </a:r>
            <a:r>
              <a:rPr sz="1600" spc="18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of</a:t>
            </a:r>
            <a:r>
              <a:rPr sz="1600" spc="1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0A0A0A"/>
                </a:solidFill>
                <a:latin typeface="Arial MT"/>
                <a:cs typeface="Arial MT"/>
              </a:rPr>
              <a:t>the</a:t>
            </a:r>
            <a:r>
              <a:rPr sz="1600" spc="4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modet</a:t>
            </a:r>
            <a:r>
              <a:rPr sz="1600" spc="1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C1C1C"/>
                </a:solidFill>
                <a:latin typeface="Arial MT"/>
                <a:cs typeface="Arial MT"/>
              </a:rPr>
              <a:t>after</a:t>
            </a:r>
            <a:r>
              <a:rPr sz="1600" spc="10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tuning.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F2F2F"/>
                </a:solidFill>
                <a:latin typeface="Arial MT"/>
                <a:cs typeface="Arial MT"/>
              </a:rPr>
              <a:t>If</a:t>
            </a:r>
            <a:r>
              <a:rPr sz="1600" spc="15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1600" spc="4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model</a:t>
            </a:r>
            <a:r>
              <a:rPr sz="16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81818"/>
                </a:solidFill>
                <a:latin typeface="Arial MT"/>
                <a:cs typeface="Arial MT"/>
              </a:rPr>
              <a:t>performs </a:t>
            </a:r>
            <a:r>
              <a:rPr sz="1600" spc="50" dirty="0">
                <a:solidFill>
                  <a:srgbClr val="1D1D1D"/>
                </a:solidFill>
                <a:latin typeface="Arial MT"/>
                <a:cs typeface="Arial MT"/>
              </a:rPr>
              <a:t>wetl</a:t>
            </a:r>
            <a:r>
              <a:rPr sz="1600" spc="-4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on</a:t>
            </a:r>
            <a:r>
              <a:rPr sz="1600" spc="-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sz="1600" spc="4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test</a:t>
            </a:r>
            <a:r>
              <a:rPr sz="1600" spc="9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it</a:t>
            </a:r>
            <a:r>
              <a:rPr sz="1600" spc="3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232323"/>
                </a:solidFill>
                <a:latin typeface="Arial MT"/>
                <a:cs typeface="Arial MT"/>
              </a:rPr>
              <a:t>will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likely</a:t>
            </a:r>
            <a:r>
              <a:rPr sz="1600" spc="1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31313"/>
                </a:solidFill>
                <a:latin typeface="Arial MT"/>
                <a:cs typeface="Arial MT"/>
              </a:rPr>
              <a:t>perform</a:t>
            </a:r>
            <a:r>
              <a:rPr sz="1600" spc="8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81818"/>
                </a:solidFill>
                <a:latin typeface="Arial MT"/>
                <a:cs typeface="Arial MT"/>
              </a:rPr>
              <a:t>well</a:t>
            </a:r>
            <a:r>
              <a:rPr sz="16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313131"/>
                </a:solidFill>
                <a:latin typeface="Arial MT"/>
                <a:cs typeface="Arial MT"/>
              </a:rPr>
              <a:t>on</a:t>
            </a:r>
            <a:r>
              <a:rPr sz="1600" spc="4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new</a:t>
            </a:r>
            <a:r>
              <a:rPr sz="1600" spc="7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F0F0F"/>
                </a:solidFill>
                <a:latin typeface="Arial MT"/>
                <a:cs typeface="Arial MT"/>
              </a:rPr>
              <a:t>data </a:t>
            </a:r>
            <a:r>
              <a:rPr sz="1550" spc="105" dirty="0">
                <a:solidFill>
                  <a:srgbClr val="161616"/>
                </a:solidFill>
                <a:latin typeface="Arial MT"/>
                <a:cs typeface="Arial MT"/>
              </a:rPr>
              <a:t>with</a:t>
            </a:r>
            <a:r>
              <a:rPr sz="1550" spc="-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50" spc="55" dirty="0">
                <a:solidFill>
                  <a:srgbClr val="161616"/>
                </a:solidFill>
                <a:latin typeface="Arial MT"/>
                <a:cs typeface="Arial MT"/>
              </a:rPr>
              <a:t>unknown</a:t>
            </a:r>
            <a:r>
              <a:rPr sz="1550" spc="1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50" spc="60" dirty="0">
                <a:solidFill>
                  <a:srgbClr val="212121"/>
                </a:solidFill>
                <a:latin typeface="Arial MT"/>
                <a:cs typeface="Arial MT"/>
              </a:rPr>
              <a:t>target</a:t>
            </a:r>
            <a:r>
              <a:rPr sz="155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151515"/>
                </a:solidFill>
                <a:latin typeface="Arial MT"/>
                <a:cs typeface="Arial MT"/>
              </a:rPr>
              <a:t>values.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7856" y="4253919"/>
            <a:ext cx="5547360" cy="131381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This</a:t>
            </a:r>
            <a:r>
              <a:rPr sz="1600" spc="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is</a:t>
            </a:r>
            <a:r>
              <a:rPr sz="160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why</a:t>
            </a:r>
            <a:r>
              <a:rPr sz="1600" spc="-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it</a:t>
            </a:r>
            <a:r>
              <a:rPr sz="1600" spc="17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343434"/>
                </a:solidFill>
                <a:latin typeface="Arial MT"/>
                <a:cs typeface="Arial MT"/>
              </a:rPr>
              <a:t>is</a:t>
            </a:r>
            <a:r>
              <a:rPr sz="1600" spc="-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31313"/>
                </a:solidFill>
                <a:latin typeface="Arial MT"/>
                <a:cs typeface="Arial MT"/>
              </a:rPr>
              <a:t>important</a:t>
            </a:r>
            <a:r>
              <a:rPr sz="1600" spc="8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8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set</a:t>
            </a:r>
            <a:r>
              <a:rPr sz="1600" spc="-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aside</a:t>
            </a:r>
            <a:r>
              <a:rPr sz="1600" spc="1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enough</a:t>
            </a:r>
            <a:r>
              <a:rPr sz="1600" spc="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test</a:t>
            </a:r>
            <a:r>
              <a:rPr sz="1600" spc="6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data</a:t>
            </a:r>
            <a:r>
              <a:rPr sz="1600" spc="-1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endParaRPr sz="16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165"/>
              </a:spcBef>
            </a:pPr>
            <a:r>
              <a:rPr sz="1550" dirty="0">
                <a:solidFill>
                  <a:srgbClr val="181818"/>
                </a:solidFill>
                <a:latin typeface="Arial MT"/>
                <a:cs typeface="Arial MT"/>
              </a:rPr>
              <a:t>not</a:t>
            </a:r>
            <a:r>
              <a:rPr sz="1550" spc="29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D1D1D"/>
                </a:solidFill>
                <a:latin typeface="Arial MT"/>
                <a:cs typeface="Arial MT"/>
              </a:rPr>
              <a:t>use</a:t>
            </a:r>
            <a:r>
              <a:rPr sz="1550" spc="-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550" spc="114" dirty="0">
                <a:latin typeface="Arial MT"/>
                <a:cs typeface="Arial MT"/>
              </a:rPr>
              <a:t>that</a:t>
            </a:r>
            <a:r>
              <a:rPr sz="1550" spc="80" dirty="0"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F0F0F"/>
                </a:solidFill>
                <a:latin typeface="Arial MT"/>
                <a:cs typeface="Arial MT"/>
              </a:rPr>
              <a:t>data</a:t>
            </a:r>
            <a:r>
              <a:rPr sz="1550" spc="6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sz="1550" spc="2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550" spc="65" dirty="0">
                <a:solidFill>
                  <a:srgbClr val="161616"/>
                </a:solidFill>
                <a:latin typeface="Arial MT"/>
                <a:cs typeface="Arial MT"/>
              </a:rPr>
              <a:t>training</a:t>
            </a:r>
            <a:r>
              <a:rPr sz="1550" spc="13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82828"/>
                </a:solidFill>
                <a:latin typeface="Arial MT"/>
                <a:cs typeface="Arial MT"/>
              </a:rPr>
              <a:t>or</a:t>
            </a:r>
            <a:r>
              <a:rPr sz="1550" spc="5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validation.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550">
              <a:latin typeface="Arial MT"/>
              <a:cs typeface="Arial MT"/>
            </a:endParaRPr>
          </a:p>
          <a:p>
            <a:pPr marL="14604" marR="351155" indent="3175">
              <a:lnSpc>
                <a:spcPts val="2000"/>
              </a:lnSpc>
            </a:pPr>
            <a:r>
              <a:rPr sz="1700" spc="-75" dirty="0">
                <a:solidFill>
                  <a:srgbClr val="1C1C1C"/>
                </a:solidFill>
                <a:latin typeface="Arial MT"/>
                <a:cs typeface="Arial MT"/>
              </a:rPr>
              <a:t>Remember</a:t>
            </a:r>
            <a:r>
              <a:rPr sz="1700" spc="7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sz="1700" spc="-5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61616"/>
                </a:solidFill>
                <a:latin typeface="Arial MT"/>
                <a:cs typeface="Arial MT"/>
              </a:rPr>
              <a:t>normal</a:t>
            </a:r>
            <a:r>
              <a:rPr sz="1700" spc="1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split</a:t>
            </a:r>
            <a:r>
              <a:rPr sz="1700" spc="-6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232323"/>
                </a:solidFill>
                <a:latin typeface="Arial MT"/>
                <a:cs typeface="Arial MT"/>
              </a:rPr>
              <a:t>is</a:t>
            </a:r>
            <a:r>
              <a:rPr sz="1700" spc="-7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204" dirty="0">
                <a:solidFill>
                  <a:srgbClr val="111111"/>
                </a:solidFill>
                <a:latin typeface="Arial MT"/>
                <a:cs typeface="Arial MT"/>
              </a:rPr>
              <a:t>80a/a</a:t>
            </a:r>
            <a:r>
              <a:rPr sz="1700" spc="6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62626"/>
                </a:solidFill>
                <a:latin typeface="Arial MT"/>
                <a:cs typeface="Arial MT"/>
              </a:rPr>
              <a:t>for</a:t>
            </a:r>
            <a:r>
              <a:rPr sz="1700" spc="-8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training,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10%</a:t>
            </a:r>
            <a:r>
              <a:rPr sz="1700" spc="-1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232323"/>
                </a:solidFill>
                <a:latin typeface="Arial MT"/>
                <a:cs typeface="Arial MT"/>
              </a:rPr>
              <a:t>for </a:t>
            </a:r>
            <a:r>
              <a:rPr sz="1700" spc="-10" dirty="0">
                <a:solidFill>
                  <a:srgbClr val="131313"/>
                </a:solidFill>
                <a:latin typeface="Arial MT"/>
                <a:cs typeface="Arial MT"/>
              </a:rPr>
              <a:t>validation,</a:t>
            </a:r>
            <a:r>
              <a:rPr sz="1700" spc="1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0E0E0E"/>
                </a:solidFill>
                <a:latin typeface="Arial MT"/>
                <a:cs typeface="Arial MT"/>
              </a:rPr>
              <a:t>and</a:t>
            </a:r>
            <a:r>
              <a:rPr sz="1700" spc="-5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10%</a:t>
            </a:r>
            <a:r>
              <a:rPr sz="1700" spc="-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for</a:t>
            </a:r>
            <a:r>
              <a:rPr sz="1700" spc="-1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testing.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64634" y="2139747"/>
            <a:ext cx="151130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110" dirty="0">
                <a:solidFill>
                  <a:srgbClr val="181818"/>
                </a:solidFill>
                <a:latin typeface="Arial MT"/>
                <a:cs typeface="Arial MT"/>
              </a:rPr>
              <a:t>10%</a:t>
            </a:r>
            <a:r>
              <a:rPr sz="1550" spc="-1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550" spc="60" dirty="0">
                <a:solidFill>
                  <a:srgbClr val="2A2A2A"/>
                </a:solidFill>
                <a:latin typeface="Arial MT"/>
                <a:cs typeface="Arial MT"/>
              </a:rPr>
              <a:t>-</a:t>
            </a:r>
            <a:r>
              <a:rPr sz="1550" spc="20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F1F1F"/>
                </a:solidFill>
                <a:latin typeface="Arial MT"/>
                <a:cs typeface="Arial MT"/>
              </a:rPr>
              <a:t>Test</a:t>
            </a:r>
            <a:r>
              <a:rPr sz="1550" spc="1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181818"/>
                </a:solidFill>
                <a:latin typeface="Arial MT"/>
                <a:cs typeface="Arial MT"/>
              </a:rPr>
              <a:t>data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67851" y="2674205"/>
            <a:ext cx="206692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86409" algn="l"/>
              </a:tabLst>
            </a:pPr>
            <a:r>
              <a:rPr sz="1700" spc="-204" dirty="0">
                <a:solidFill>
                  <a:srgbClr val="181818"/>
                </a:solidFill>
                <a:latin typeface="Calibri"/>
                <a:cs typeface="Calibri"/>
              </a:rPr>
              <a:t>1</a:t>
            </a:r>
            <a:r>
              <a:rPr sz="1700" spc="-10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00" spc="-35" dirty="0">
                <a:solidFill>
                  <a:srgbClr val="212121"/>
                </a:solidFill>
                <a:latin typeface="Calibri"/>
                <a:cs typeface="Calibri"/>
              </a:rPr>
              <a:t>0%</a:t>
            </a:r>
            <a:r>
              <a:rPr sz="1700" dirty="0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sz="1700" dirty="0">
                <a:solidFill>
                  <a:srgbClr val="2F2F2F"/>
                </a:solidFill>
                <a:latin typeface="Calibri"/>
                <a:cs typeface="Calibri"/>
              </a:rPr>
              <a:t>-</a:t>
            </a:r>
            <a:r>
              <a:rPr sz="1700" spc="100" dirty="0">
                <a:solidFill>
                  <a:srgbClr val="2F2F2F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181818"/>
                </a:solidFill>
                <a:latin typeface="Calibri"/>
                <a:cs typeface="Calibri"/>
              </a:rPr>
              <a:t>Validation</a:t>
            </a:r>
            <a:r>
              <a:rPr sz="1700" spc="16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181818"/>
                </a:solidFill>
                <a:latin typeface="Calibri"/>
                <a:cs typeface="Calibri"/>
              </a:rPr>
              <a:t>data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69343" y="3999391"/>
            <a:ext cx="187706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85" dirty="0">
                <a:solidFill>
                  <a:srgbClr val="262626"/>
                </a:solidFill>
                <a:latin typeface="Arial MT"/>
                <a:cs typeface="Arial MT"/>
              </a:rPr>
              <a:t>80%</a:t>
            </a:r>
            <a:r>
              <a:rPr sz="1550" spc="-6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550" spc="50" dirty="0">
                <a:solidFill>
                  <a:srgbClr val="2F2F2F"/>
                </a:solidFill>
                <a:latin typeface="Arial MT"/>
                <a:cs typeface="Arial MT"/>
              </a:rPr>
              <a:t>-</a:t>
            </a:r>
            <a:r>
              <a:rPr sz="1550" spc="39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C1C1C"/>
                </a:solidFill>
                <a:latin typeface="Arial MT"/>
                <a:cs typeface="Arial MT"/>
              </a:rPr>
              <a:t>Training</a:t>
            </a:r>
            <a:r>
              <a:rPr sz="1550" spc="1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1D1D1D"/>
                </a:solidFill>
                <a:latin typeface="Arial MT"/>
                <a:cs typeface="Arial MT"/>
              </a:rPr>
              <a:t>data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6182" y="3378510"/>
            <a:ext cx="9608064" cy="15862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5082" y="224175"/>
            <a:ext cx="1649686" cy="725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5833" y="6573633"/>
            <a:ext cx="2510786" cy="8610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25"/>
              </a:spcBef>
            </a:pPr>
            <a:r>
              <a:rPr sz="2500" dirty="0">
                <a:latin typeface="Calibri"/>
                <a:cs typeface="Calibri"/>
              </a:rPr>
              <a:t>Success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metric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7513" y="1218353"/>
            <a:ext cx="11263630" cy="15487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5240" marR="328930" indent="3175">
              <a:lnSpc>
                <a:spcPct val="104099"/>
              </a:lnSpc>
              <a:spcBef>
                <a:spcPts val="55"/>
              </a:spcBef>
            </a:pP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Evaluation</a:t>
            </a:r>
            <a:r>
              <a:rPr sz="1600" spc="15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relies </a:t>
            </a:r>
            <a:r>
              <a:rPr sz="1600" spc="65" dirty="0">
                <a:solidFill>
                  <a:srgbClr val="282828"/>
                </a:solidFill>
                <a:latin typeface="Arial MT"/>
                <a:cs typeface="Arial MT"/>
              </a:rPr>
              <a:t>on</a:t>
            </a:r>
            <a:r>
              <a:rPr sz="1600" spc="3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an</a:t>
            </a:r>
            <a:r>
              <a:rPr sz="1600" spc="-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appropriate</a:t>
            </a:r>
            <a:r>
              <a:rPr sz="1600" spc="204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metric</a:t>
            </a:r>
            <a:r>
              <a:rPr sz="1600" spc="-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for</a:t>
            </a:r>
            <a:r>
              <a:rPr sz="1600" spc="29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your</a:t>
            </a:r>
            <a:r>
              <a:rPr sz="1600" spc="1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Arial MT"/>
                <a:cs typeface="Arial MT"/>
              </a:rPr>
              <a:t>business</a:t>
            </a:r>
            <a:r>
              <a:rPr sz="1600" spc="114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situation.</a:t>
            </a:r>
            <a:r>
              <a:rPr sz="1600" spc="3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Think</a:t>
            </a:r>
            <a:r>
              <a:rPr sz="1600" spc="7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back</a:t>
            </a:r>
            <a:r>
              <a:rPr sz="1600" spc="9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sz="1600" spc="3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earlier</a:t>
            </a:r>
            <a:r>
              <a:rPr sz="1600" spc="1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section</a:t>
            </a:r>
            <a:r>
              <a:rPr sz="1600" spc="1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on</a:t>
            </a:r>
            <a:r>
              <a:rPr sz="1600" spc="-2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spc="45" dirty="0">
                <a:solidFill>
                  <a:srgbClr val="181818"/>
                </a:solidFill>
                <a:latin typeface="Arial MT"/>
                <a:cs typeface="Arial MT"/>
              </a:rPr>
              <a:t>problem </a:t>
            </a:r>
            <a:r>
              <a:rPr sz="1600" spc="50" dirty="0">
                <a:solidFill>
                  <a:srgbClr val="151515"/>
                </a:solidFill>
                <a:latin typeface="Arial MT"/>
                <a:cs typeface="Arial MT"/>
              </a:rPr>
              <a:t>formulation.</a:t>
            </a:r>
            <a:r>
              <a:rPr sz="1600" spc="12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During</a:t>
            </a:r>
            <a:r>
              <a:rPr sz="16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F1F1F"/>
                </a:solidFill>
                <a:latin typeface="Arial MT"/>
                <a:cs typeface="Arial MT"/>
              </a:rPr>
              <a:t>that</a:t>
            </a:r>
            <a:r>
              <a:rPr sz="1600" spc="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81818"/>
                </a:solidFill>
                <a:latin typeface="Arial MT"/>
                <a:cs typeface="Arial MT"/>
              </a:rPr>
              <a:t>phase,</a:t>
            </a:r>
            <a:r>
              <a:rPr sz="1600" spc="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you</a:t>
            </a:r>
            <a:r>
              <a:rPr sz="1600" spc="8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defined</a:t>
            </a:r>
            <a:r>
              <a:rPr sz="1600" spc="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your</a:t>
            </a:r>
            <a:r>
              <a:rPr sz="1600" spc="1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C1C1C"/>
                </a:solidFill>
                <a:latin typeface="Arial MT"/>
                <a:cs typeface="Arial MT"/>
              </a:rPr>
              <a:t>business</a:t>
            </a:r>
            <a:r>
              <a:rPr sz="1600" spc="2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problem</a:t>
            </a:r>
            <a:r>
              <a:rPr sz="16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outcome,</a:t>
            </a:r>
            <a:r>
              <a:rPr sz="1600" spc="1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sz="1600" spc="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you</a:t>
            </a:r>
            <a:r>
              <a:rPr sz="1600" spc="8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crafted</a:t>
            </a:r>
            <a:r>
              <a:rPr sz="1600" spc="5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sz="1600" spc="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A1A1A"/>
                </a:solidFill>
                <a:latin typeface="Arial MT"/>
                <a:cs typeface="Arial MT"/>
              </a:rPr>
              <a:t>business</a:t>
            </a:r>
            <a:r>
              <a:rPr sz="16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metric</a:t>
            </a:r>
            <a:r>
              <a:rPr sz="1600" spc="8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to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evaluate</a:t>
            </a:r>
            <a:r>
              <a:rPr sz="1600" spc="10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31313"/>
                </a:solidFill>
                <a:latin typeface="Arial MT"/>
                <a:cs typeface="Arial MT"/>
              </a:rPr>
              <a:t>success.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600">
              <a:latin typeface="Arial MT"/>
              <a:cs typeface="Arial MT"/>
            </a:endParaRPr>
          </a:p>
          <a:p>
            <a:pPr marL="13335" marR="5080" indent="-1270">
              <a:lnSpc>
                <a:spcPct val="102200"/>
              </a:lnSpc>
            </a:pP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31313"/>
                </a:solidFill>
                <a:latin typeface="Arial MT"/>
                <a:cs typeface="Arial MT"/>
              </a:rPr>
              <a:t>model</a:t>
            </a:r>
            <a:r>
              <a:rPr sz="1600" spc="-7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metric</a:t>
            </a:r>
            <a:r>
              <a:rPr sz="1600" spc="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61616"/>
                </a:solidFill>
                <a:latin typeface="Arial MT"/>
                <a:cs typeface="Arial MT"/>
              </a:rPr>
              <a:t>that</a:t>
            </a:r>
            <a:r>
              <a:rPr sz="1600" spc="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you</a:t>
            </a:r>
            <a:r>
              <a:rPr sz="1600" spc="3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12121"/>
                </a:solidFill>
                <a:latin typeface="Arial MT"/>
                <a:cs typeface="Arial MT"/>
              </a:rPr>
              <a:t>choose</a:t>
            </a:r>
            <a:r>
              <a:rPr sz="16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D2D2D"/>
                </a:solidFill>
                <a:latin typeface="Arial MT"/>
                <a:cs typeface="Arial MT"/>
              </a:rPr>
              <a:t>at</a:t>
            </a:r>
            <a:r>
              <a:rPr sz="1600" spc="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this</a:t>
            </a:r>
            <a:r>
              <a:rPr sz="160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Arial MT"/>
                <a:cs typeface="Arial MT"/>
              </a:rPr>
              <a:t>phase</a:t>
            </a:r>
            <a:r>
              <a:rPr sz="1600" spc="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should</a:t>
            </a:r>
            <a:r>
              <a:rPr sz="1600" spc="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be</a:t>
            </a:r>
            <a:r>
              <a:rPr sz="1600" spc="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linked</a:t>
            </a:r>
            <a:r>
              <a:rPr sz="1600" spc="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6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51515"/>
                </a:solidFill>
                <a:latin typeface="Arial MT"/>
                <a:cs typeface="Arial MT"/>
              </a:rPr>
              <a:t>that</a:t>
            </a:r>
            <a:r>
              <a:rPr sz="1600" spc="3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E0E0E"/>
                </a:solidFill>
                <a:latin typeface="Arial MT"/>
                <a:cs typeface="Arial MT"/>
              </a:rPr>
              <a:t>business</a:t>
            </a:r>
            <a:r>
              <a:rPr sz="1600" spc="17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metric</a:t>
            </a:r>
            <a:r>
              <a:rPr sz="1600" spc="1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60" dirty="0">
                <a:solidFill>
                  <a:srgbClr val="282828"/>
                </a:solidFill>
                <a:latin typeface="Arial MT"/>
                <a:cs typeface="Arial MT"/>
              </a:rPr>
              <a:t>as</a:t>
            </a:r>
            <a:r>
              <a:rPr sz="1600" spc="-6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closely</a:t>
            </a:r>
            <a:r>
              <a:rPr sz="1600" spc="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65" dirty="0">
                <a:solidFill>
                  <a:srgbClr val="2F2F2F"/>
                </a:solidFill>
                <a:latin typeface="Arial MT"/>
                <a:cs typeface="Arial MT"/>
              </a:rPr>
              <a:t>as</a:t>
            </a:r>
            <a:r>
              <a:rPr sz="1600" spc="-3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possible.</a:t>
            </a:r>
            <a:r>
              <a:rPr sz="1600" spc="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Frequently, 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212121"/>
                </a:solidFill>
                <a:latin typeface="Arial MT"/>
                <a:cs typeface="Arial MT"/>
              </a:rPr>
              <a:t>two</a:t>
            </a:r>
            <a:r>
              <a:rPr sz="1600" spc="-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metrics</a:t>
            </a:r>
            <a:r>
              <a:rPr sz="1600" spc="-3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have</a:t>
            </a:r>
            <a:r>
              <a:rPr sz="1600" spc="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a</a:t>
            </a:r>
            <a:r>
              <a:rPr sz="1600" spc="-1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32323"/>
                </a:solidFill>
                <a:latin typeface="Arial MT"/>
                <a:cs typeface="Arial MT"/>
              </a:rPr>
              <a:t>high</a:t>
            </a:r>
            <a:r>
              <a:rPr sz="1600" spc="-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 MT"/>
                <a:cs typeface="Arial MT"/>
              </a:rPr>
              <a:t>correlation.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9849" y="5126023"/>
            <a:ext cx="2061210" cy="54419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461645" marR="5080" indent="-449580">
              <a:lnSpc>
                <a:spcPts val="2000"/>
              </a:lnSpc>
              <a:spcBef>
                <a:spcPts val="234"/>
              </a:spcBef>
            </a:pPr>
            <a:r>
              <a:rPr sz="1700" spc="-35" dirty="0">
                <a:solidFill>
                  <a:srgbClr val="080808"/>
                </a:solidFill>
                <a:latin typeface="Arial MT"/>
                <a:cs typeface="Arial MT"/>
              </a:rPr>
              <a:t>Fraudulent</a:t>
            </a:r>
            <a:r>
              <a:rPr sz="1700" spc="-1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61616"/>
                </a:solidFill>
                <a:latin typeface="Arial MT"/>
                <a:cs typeface="Arial MT"/>
              </a:rPr>
              <a:t>credit</a:t>
            </a:r>
            <a:r>
              <a:rPr sz="1700" spc="-6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1C1C1C"/>
                </a:solidFill>
                <a:latin typeface="Arial MT"/>
                <a:cs typeface="Arial MT"/>
              </a:rPr>
              <a:t>card </a:t>
            </a:r>
            <a:r>
              <a:rPr sz="1700" spc="-10" dirty="0">
                <a:solidFill>
                  <a:srgbClr val="1F1F1F"/>
                </a:solidFill>
                <a:latin typeface="Arial MT"/>
                <a:cs typeface="Arial MT"/>
              </a:rPr>
              <a:t>transactions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72841" y="5111672"/>
            <a:ext cx="2261235" cy="5619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0320" marR="5080" indent="-8255">
              <a:lnSpc>
                <a:spcPts val="1960"/>
              </a:lnSpc>
              <a:spcBef>
                <a:spcPts val="415"/>
              </a:spcBef>
            </a:pPr>
            <a:r>
              <a:rPr sz="1850" spc="-110" dirty="0">
                <a:solidFill>
                  <a:srgbClr val="161616"/>
                </a:solidFill>
                <a:latin typeface="Arial MT"/>
                <a:cs typeface="Arial MT"/>
              </a:rPr>
              <a:t>10%</a:t>
            </a:r>
            <a:r>
              <a:rPr sz="1850" spc="-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850" spc="-100" dirty="0">
                <a:solidFill>
                  <a:srgbClr val="1C1C1C"/>
                </a:solidFill>
                <a:latin typeface="Arial MT"/>
                <a:cs typeface="Arial MT"/>
              </a:rPr>
              <a:t>reduction</a:t>
            </a:r>
            <a:r>
              <a:rPr sz="1850" spc="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282828"/>
                </a:solidFill>
                <a:latin typeface="Arial MT"/>
                <a:cs typeface="Arial MT"/>
              </a:rPr>
              <a:t>in</a:t>
            </a:r>
            <a:r>
              <a:rPr sz="1850" spc="-114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0E0E0E"/>
                </a:solidFill>
                <a:latin typeface="Arial MT"/>
                <a:cs typeface="Arial MT"/>
              </a:rPr>
              <a:t>fraud </a:t>
            </a:r>
            <a:r>
              <a:rPr sz="1850" spc="-95" dirty="0">
                <a:solidFill>
                  <a:srgbClr val="212121"/>
                </a:solidFill>
                <a:latin typeface="Arial MT"/>
                <a:cs typeface="Arial MT"/>
              </a:rPr>
              <a:t>claim</a:t>
            </a:r>
            <a:r>
              <a:rPr sz="1850" spc="-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2A2A2A"/>
                </a:solidFill>
                <a:latin typeface="Arial MT"/>
                <a:cs typeface="Arial MT"/>
              </a:rPr>
              <a:t>in</a:t>
            </a:r>
            <a:r>
              <a:rPr sz="1850" spc="-18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850" spc="-70" dirty="0">
                <a:solidFill>
                  <a:srgbClr val="242424"/>
                </a:solidFill>
                <a:latin typeface="Arial MT"/>
                <a:cs typeface="Arial MT"/>
              </a:rPr>
              <a:t>6-month</a:t>
            </a:r>
            <a:r>
              <a:rPr sz="1850" spc="-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850" spc="-75" dirty="0">
                <a:solidFill>
                  <a:srgbClr val="0E0E0E"/>
                </a:solidFill>
                <a:latin typeface="Arial MT"/>
                <a:cs typeface="Arial MT"/>
              </a:rPr>
              <a:t>period</a:t>
            </a:r>
            <a:endParaRPr sz="1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915" y="1343480"/>
            <a:ext cx="4387306" cy="30094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5104" y="201326"/>
            <a:ext cx="1649773" cy="725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3881" y="6546623"/>
            <a:ext cx="3072927" cy="90647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solidFill>
                  <a:srgbClr val="212121"/>
                </a:solidFill>
                <a:latin typeface="Arial MT"/>
                <a:cs typeface="Arial MT"/>
              </a:rPr>
              <a:t>Tuning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1404" y="4631593"/>
            <a:ext cx="3916045" cy="614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955" marR="5080" indent="-8890">
              <a:lnSpc>
                <a:spcPct val="107400"/>
              </a:lnSpc>
              <a:spcBef>
                <a:spcPts val="90"/>
              </a:spcBef>
            </a:pPr>
            <a:r>
              <a:rPr sz="1800" dirty="0">
                <a:solidFill>
                  <a:srgbClr val="161616"/>
                </a:solidFill>
                <a:latin typeface="Arial MT"/>
                <a:cs typeface="Arial MT"/>
              </a:rPr>
              <a:t>The </a:t>
            </a:r>
            <a:r>
              <a:rPr sz="1800" spc="55" dirty="0">
                <a:solidFill>
                  <a:srgbClr val="232323"/>
                </a:solidFill>
                <a:latin typeface="Arial MT"/>
                <a:cs typeface="Arial MT"/>
              </a:rPr>
              <a:t>goal</a:t>
            </a:r>
            <a:r>
              <a:rPr sz="1800" spc="-6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1D1D1D"/>
                </a:solidFill>
                <a:latin typeface="Arial MT"/>
                <a:cs typeface="Arial MT"/>
              </a:rPr>
              <a:t>of</a:t>
            </a:r>
            <a:r>
              <a:rPr sz="1800" spc="9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C1C1C"/>
                </a:solidFill>
                <a:latin typeface="Arial MT"/>
                <a:cs typeface="Arial MT"/>
              </a:rPr>
              <a:t>training</a:t>
            </a:r>
            <a:r>
              <a:rPr sz="1800" spc="1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B2B2B"/>
                </a:solidFill>
                <a:latin typeface="Arial MT"/>
                <a:cs typeface="Arial MT"/>
              </a:rPr>
              <a:t>is</a:t>
            </a:r>
            <a:r>
              <a:rPr sz="1800" spc="-1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800" spc="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800" spc="60" dirty="0">
                <a:solidFill>
                  <a:srgbClr val="0F0F0F"/>
                </a:solidFill>
                <a:latin typeface="Arial MT"/>
                <a:cs typeface="Arial MT"/>
              </a:rPr>
              <a:t>model</a:t>
            </a:r>
            <a:r>
              <a:rPr sz="1800" spc="-7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800" spc="100" dirty="0">
                <a:solidFill>
                  <a:srgbClr val="0A0A0A"/>
                </a:solidFill>
                <a:latin typeface="Arial MT"/>
                <a:cs typeface="Arial MT"/>
              </a:rPr>
              <a:t>that</a:t>
            </a:r>
            <a:r>
              <a:rPr sz="180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1C1C1C"/>
                </a:solidFill>
                <a:latin typeface="Arial MT"/>
                <a:cs typeface="Arial MT"/>
              </a:rPr>
              <a:t>is </a:t>
            </a:r>
            <a:r>
              <a:rPr sz="1800" dirty="0">
                <a:solidFill>
                  <a:srgbClr val="131313"/>
                </a:solidFill>
                <a:latin typeface="Arial MT"/>
                <a:cs typeface="Arial MT"/>
              </a:rPr>
              <a:t>balanced</a:t>
            </a:r>
            <a:r>
              <a:rPr sz="1800" spc="-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A0A0A"/>
                </a:solidFill>
                <a:latin typeface="Arial MT"/>
                <a:cs typeface="Arial MT"/>
              </a:rPr>
              <a:t>and</a:t>
            </a:r>
            <a:r>
              <a:rPr sz="1800" spc="-7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0F0F"/>
                </a:solidFill>
                <a:latin typeface="Arial MT"/>
                <a:cs typeface="Arial MT"/>
              </a:rPr>
              <a:t>generalizes</a:t>
            </a:r>
            <a:r>
              <a:rPr sz="1800" spc="6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800" spc="40" dirty="0">
                <a:solidFill>
                  <a:srgbClr val="212121"/>
                </a:solidFill>
                <a:latin typeface="Arial MT"/>
                <a:cs typeface="Arial MT"/>
              </a:rPr>
              <a:t>well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37101" y="2028762"/>
            <a:ext cx="5815330" cy="18389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5080">
              <a:lnSpc>
                <a:spcPct val="96800"/>
              </a:lnSpc>
              <a:spcBef>
                <a:spcPts val="200"/>
              </a:spcBef>
            </a:pPr>
            <a:r>
              <a:rPr sz="1750" spc="-155" dirty="0">
                <a:solidFill>
                  <a:srgbClr val="232323"/>
                </a:solidFill>
                <a:latin typeface="Arial MT"/>
                <a:cs typeface="Arial MT"/>
              </a:rPr>
              <a:t>You</a:t>
            </a:r>
            <a:r>
              <a:rPr sz="175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181818"/>
                </a:solidFill>
                <a:latin typeface="Arial MT"/>
                <a:cs typeface="Arial MT"/>
              </a:rPr>
              <a:t>can</a:t>
            </a:r>
            <a:r>
              <a:rPr sz="175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A2A2A"/>
                </a:solidFill>
                <a:latin typeface="Arial MT"/>
                <a:cs typeface="Arial MT"/>
              </a:rPr>
              <a:t>take</a:t>
            </a:r>
            <a:r>
              <a:rPr sz="1750" spc="-5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0A0A0A"/>
                </a:solidFill>
                <a:latin typeface="Arial MT"/>
                <a:cs typeface="Arial MT"/>
              </a:rPr>
              <a:t>an</a:t>
            </a:r>
            <a:r>
              <a:rPr sz="1750" spc="-9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1C1C1C"/>
                </a:solidFill>
                <a:latin typeface="Arial MT"/>
                <a:cs typeface="Arial MT"/>
              </a:rPr>
              <a:t>instance</a:t>
            </a:r>
            <a:r>
              <a:rPr sz="1750" spc="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32323"/>
                </a:solidFill>
                <a:latin typeface="Arial MT"/>
                <a:cs typeface="Arial MT"/>
              </a:rPr>
              <a:t>that</a:t>
            </a:r>
            <a:r>
              <a:rPr sz="1750" spc="-2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81818"/>
                </a:solidFill>
                <a:latin typeface="Arial MT"/>
                <a:cs typeface="Arial MT"/>
              </a:rPr>
              <a:t>the</a:t>
            </a:r>
            <a:r>
              <a:rPr sz="1750" spc="-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latin typeface="Arial MT"/>
                <a:cs typeface="Arial MT"/>
              </a:rPr>
              <a:t>model</a:t>
            </a:r>
            <a:r>
              <a:rPr sz="1750" spc="-105" dirty="0"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1A1A1A"/>
                </a:solidFill>
                <a:latin typeface="Arial MT"/>
                <a:cs typeface="Arial MT"/>
              </a:rPr>
              <a:t>has</a:t>
            </a:r>
            <a:r>
              <a:rPr sz="1750" spc="-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62626"/>
                </a:solidFill>
                <a:latin typeface="Arial MT"/>
                <a:cs typeface="Arial MT"/>
              </a:rPr>
              <a:t>not</a:t>
            </a:r>
            <a:r>
              <a:rPr sz="1750" spc="-6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1A1A1A"/>
                </a:solidFill>
                <a:latin typeface="Arial MT"/>
                <a:cs typeface="Arial MT"/>
              </a:rPr>
              <a:t>seen,</a:t>
            </a:r>
            <a:r>
              <a:rPr sz="175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50" i="1" spc="-80" dirty="0">
                <a:solidFill>
                  <a:srgbClr val="1C1C1C"/>
                </a:solidFill>
                <a:latin typeface="Arial"/>
                <a:cs typeface="Arial"/>
              </a:rPr>
              <a:t>and</a:t>
            </a:r>
            <a:r>
              <a:rPr sz="1750" i="1" spc="4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750" spc="-25" dirty="0">
                <a:solidFill>
                  <a:srgbClr val="212121"/>
                </a:solidFill>
                <a:latin typeface="Arial MT"/>
                <a:cs typeface="Arial MT"/>
              </a:rPr>
              <a:t>use </a:t>
            </a:r>
            <a:r>
              <a:rPr sz="1750" dirty="0">
                <a:solidFill>
                  <a:srgbClr val="242424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750" spc="1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31313"/>
                </a:solidFill>
                <a:latin typeface="Arial MT"/>
                <a:cs typeface="Arial MT"/>
              </a:rPr>
              <a:t>perform</a:t>
            </a:r>
            <a:r>
              <a:rPr sz="1750" spc="-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50" spc="-175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750" spc="-7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latin typeface="Arial MT"/>
                <a:cs typeface="Arial MT"/>
              </a:rPr>
              <a:t>prediction.</a:t>
            </a:r>
            <a:r>
              <a:rPr sz="1750" spc="-70" dirty="0">
                <a:latin typeface="Arial MT"/>
                <a:cs typeface="Arial MT"/>
              </a:rPr>
              <a:t> </a:t>
            </a:r>
            <a:r>
              <a:rPr sz="1750" spc="-150" dirty="0">
                <a:solidFill>
                  <a:srgbClr val="131313"/>
                </a:solidFill>
                <a:latin typeface="Arial MT"/>
                <a:cs typeface="Arial MT"/>
              </a:rPr>
              <a:t>Because</a:t>
            </a:r>
            <a:r>
              <a:rPr sz="1750" spc="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131313"/>
                </a:solidFill>
                <a:latin typeface="Arial MT"/>
                <a:cs typeface="Arial MT"/>
              </a:rPr>
              <a:t>you</a:t>
            </a:r>
            <a:r>
              <a:rPr sz="1750" spc="-10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151515"/>
                </a:solidFill>
                <a:latin typeface="Arial MT"/>
                <a:cs typeface="Arial MT"/>
              </a:rPr>
              <a:t>already </a:t>
            </a:r>
            <a:r>
              <a:rPr sz="1750" spc="-50" dirty="0">
                <a:solidFill>
                  <a:srgbClr val="232323"/>
                </a:solidFill>
                <a:latin typeface="Arial MT"/>
                <a:cs typeface="Arial MT"/>
              </a:rPr>
              <a:t>know</a:t>
            </a:r>
            <a:r>
              <a:rPr sz="1750" spc="-7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1C1C1C"/>
                </a:solidFill>
                <a:latin typeface="Arial MT"/>
                <a:cs typeface="Arial MT"/>
              </a:rPr>
              <a:t>the</a:t>
            </a:r>
            <a:r>
              <a:rPr sz="1750" spc="50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1A1A1A"/>
                </a:solidFill>
                <a:latin typeface="Arial MT"/>
                <a:cs typeface="Arial MT"/>
              </a:rPr>
              <a:t>target</a:t>
            </a:r>
            <a:r>
              <a:rPr sz="1750" spc="-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2121"/>
                </a:solidFill>
                <a:latin typeface="Arial MT"/>
                <a:cs typeface="Arial MT"/>
              </a:rPr>
              <a:t>in</a:t>
            </a:r>
            <a:r>
              <a:rPr sz="1750" spc="-1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42424"/>
                </a:solidFill>
                <a:latin typeface="Arial MT"/>
                <a:cs typeface="Arial MT"/>
              </a:rPr>
              <a:t>your</a:t>
            </a:r>
            <a:r>
              <a:rPr sz="17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62626"/>
                </a:solidFill>
                <a:latin typeface="Arial MT"/>
                <a:cs typeface="Arial MT"/>
              </a:rPr>
              <a:t>test</a:t>
            </a:r>
            <a:r>
              <a:rPr sz="1750" spc="-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151515"/>
                </a:solidFill>
                <a:latin typeface="Arial MT"/>
                <a:cs typeface="Arial MT"/>
              </a:rPr>
              <a:t>data,</a:t>
            </a:r>
            <a:r>
              <a:rPr sz="1750" spc="1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131313"/>
                </a:solidFill>
                <a:latin typeface="Arial MT"/>
                <a:cs typeface="Arial MT"/>
              </a:rPr>
              <a:t>you</a:t>
            </a:r>
            <a:r>
              <a:rPr sz="1750" spc="-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A2A2A"/>
                </a:solidFill>
                <a:latin typeface="Arial MT"/>
                <a:cs typeface="Arial MT"/>
              </a:rPr>
              <a:t>can</a:t>
            </a:r>
            <a:r>
              <a:rPr sz="1750" spc="-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0F0F0F"/>
                </a:solidFill>
                <a:latin typeface="Arial MT"/>
                <a:cs typeface="Arial MT"/>
              </a:rPr>
              <a:t>compare</a:t>
            </a:r>
            <a:r>
              <a:rPr sz="1750" spc="9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62626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62626"/>
                </a:solidFill>
                <a:latin typeface="Arial MT"/>
                <a:cs typeface="Arial MT"/>
              </a:rPr>
              <a:t>two</a:t>
            </a:r>
            <a:r>
              <a:rPr sz="1750" spc="-9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0A0A0A"/>
                </a:solidFill>
                <a:latin typeface="Arial MT"/>
                <a:cs typeface="Arial MT"/>
              </a:rPr>
              <a:t>values.</a:t>
            </a:r>
            <a:r>
              <a:rPr sz="1750" spc="-7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2121"/>
                </a:solidFill>
                <a:latin typeface="Arial MT"/>
                <a:cs typeface="Arial MT"/>
              </a:rPr>
              <a:t>From </a:t>
            </a:r>
            <a:r>
              <a:rPr sz="1700" spc="-55" dirty="0">
                <a:solidFill>
                  <a:srgbClr val="1D1D1D"/>
                </a:solidFill>
                <a:latin typeface="Arial MT"/>
                <a:cs typeface="Arial MT"/>
              </a:rPr>
              <a:t>these</a:t>
            </a:r>
            <a:r>
              <a:rPr sz="1700" spc="-6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070707"/>
                </a:solidFill>
                <a:latin typeface="Arial MT"/>
                <a:cs typeface="Arial MT"/>
              </a:rPr>
              <a:t>comparisons,</a:t>
            </a:r>
            <a:r>
              <a:rPr sz="1700" spc="60" dirty="0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1F1F1F"/>
                </a:solidFill>
                <a:latin typeface="Arial MT"/>
                <a:cs typeface="Arial MT"/>
              </a:rPr>
              <a:t>you </a:t>
            </a:r>
            <a:r>
              <a:rPr sz="1700" spc="-75" dirty="0">
                <a:solidFill>
                  <a:srgbClr val="080808"/>
                </a:solidFill>
                <a:latin typeface="Arial MT"/>
                <a:cs typeface="Arial MT"/>
              </a:rPr>
              <a:t>can</a:t>
            </a:r>
            <a:r>
              <a:rPr sz="1700" spc="-45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0F0F0F"/>
                </a:solidFill>
                <a:latin typeface="Arial MT"/>
                <a:cs typeface="Arial MT"/>
              </a:rPr>
              <a:t>calculate</a:t>
            </a:r>
            <a:r>
              <a:rPr sz="1700" spc="-1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1D1D1D"/>
                </a:solidFill>
                <a:latin typeface="Arial MT"/>
                <a:cs typeface="Arial MT"/>
              </a:rPr>
              <a:t>metrics,</a:t>
            </a:r>
            <a:r>
              <a:rPr sz="1700" spc="-4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0C0C0C"/>
                </a:solidFill>
                <a:latin typeface="Arial MT"/>
                <a:cs typeface="Arial MT"/>
              </a:rPr>
              <a:t>which</a:t>
            </a:r>
            <a:r>
              <a:rPr sz="1700" spc="-9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212121"/>
                </a:solidFill>
                <a:latin typeface="Arial MT"/>
                <a:cs typeface="Arial MT"/>
              </a:rPr>
              <a:t>give</a:t>
            </a:r>
            <a:r>
              <a:rPr sz="1700" spc="-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212121"/>
                </a:solidFill>
                <a:latin typeface="Arial MT"/>
                <a:cs typeface="Arial MT"/>
              </a:rPr>
              <a:t>you </a:t>
            </a:r>
            <a:r>
              <a:rPr sz="1750" spc="-60" dirty="0">
                <a:solidFill>
                  <a:srgbClr val="161616"/>
                </a:solidFill>
                <a:latin typeface="Arial MT"/>
                <a:cs typeface="Arial MT"/>
              </a:rPr>
              <a:t>data</a:t>
            </a:r>
            <a:r>
              <a:rPr sz="1750" spc="-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A2A2A"/>
                </a:solidFill>
                <a:latin typeface="Arial MT"/>
                <a:cs typeface="Arial MT"/>
              </a:rPr>
              <a:t>on</a:t>
            </a:r>
            <a:r>
              <a:rPr sz="1750" spc="-114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1A1A1A"/>
                </a:solidFill>
                <a:latin typeface="Arial MT"/>
                <a:cs typeface="Arial MT"/>
              </a:rPr>
              <a:t>how</a:t>
            </a:r>
            <a:r>
              <a:rPr sz="1750" spc="-7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31313"/>
                </a:solidFill>
                <a:latin typeface="Arial MT"/>
                <a:cs typeface="Arial MT"/>
              </a:rPr>
              <a:t>well</a:t>
            </a:r>
            <a:r>
              <a:rPr sz="1750" spc="-16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sz="1750" spc="-114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151515"/>
                </a:solidFill>
                <a:latin typeface="Arial MT"/>
                <a:cs typeface="Arial MT"/>
              </a:rPr>
              <a:t>model</a:t>
            </a:r>
            <a:r>
              <a:rPr sz="1750" spc="-6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131313"/>
                </a:solidFill>
                <a:latin typeface="Arial MT"/>
                <a:cs typeface="Arial MT"/>
              </a:rPr>
              <a:t>performs.</a:t>
            </a:r>
            <a:r>
              <a:rPr sz="1750" spc="1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50" spc="-155" dirty="0">
                <a:solidFill>
                  <a:srgbClr val="1F1F1F"/>
                </a:solidFill>
                <a:latin typeface="Arial MT"/>
                <a:cs typeface="Arial MT"/>
              </a:rPr>
              <a:t>You</a:t>
            </a:r>
            <a:r>
              <a:rPr sz="1750" spc="-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1C1C1C"/>
                </a:solidFill>
                <a:latin typeface="Arial MT"/>
                <a:cs typeface="Arial MT"/>
              </a:rPr>
              <a:t>then</a:t>
            </a:r>
            <a:r>
              <a:rPr sz="1750" spc="-10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C1C1C"/>
                </a:solidFill>
                <a:latin typeface="Arial MT"/>
                <a:cs typeface="Arial MT"/>
              </a:rPr>
              <a:t>modify</a:t>
            </a:r>
            <a:r>
              <a:rPr sz="1750" spc="-8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0F0F0F"/>
                </a:solidFill>
                <a:latin typeface="Arial MT"/>
                <a:cs typeface="Arial MT"/>
              </a:rPr>
              <a:t>the </a:t>
            </a:r>
            <a:r>
              <a:rPr sz="1750" spc="-45" dirty="0">
                <a:solidFill>
                  <a:srgbClr val="161616"/>
                </a:solidFill>
                <a:latin typeface="Arial MT"/>
                <a:cs typeface="Arial MT"/>
              </a:rPr>
              <a:t>model's</a:t>
            </a:r>
            <a:r>
              <a:rPr sz="1750" spc="6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1D1D1D"/>
                </a:solidFill>
                <a:latin typeface="Arial MT"/>
                <a:cs typeface="Arial MT"/>
              </a:rPr>
              <a:t>data,</a:t>
            </a:r>
            <a:r>
              <a:rPr sz="1750" spc="-2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0F0F0F"/>
                </a:solidFill>
                <a:latin typeface="Arial MT"/>
                <a:cs typeface="Arial MT"/>
              </a:rPr>
              <a:t>features,</a:t>
            </a:r>
            <a:r>
              <a:rPr sz="1750" spc="4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A1A1A"/>
                </a:solidFill>
                <a:latin typeface="Arial MT"/>
                <a:cs typeface="Arial MT"/>
              </a:rPr>
              <a:t>or</a:t>
            </a:r>
            <a:r>
              <a:rPr sz="175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111111"/>
                </a:solidFill>
                <a:latin typeface="Arial MT"/>
                <a:cs typeface="Arial MT"/>
              </a:rPr>
              <a:t>hyperparameters</a:t>
            </a:r>
            <a:r>
              <a:rPr sz="1750" spc="-1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D1D1D"/>
                </a:solidFill>
                <a:latin typeface="Arial MT"/>
                <a:cs typeface="Arial MT"/>
              </a:rPr>
              <a:t>until</a:t>
            </a:r>
            <a:r>
              <a:rPr sz="1750" spc="-7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161616"/>
                </a:solidFill>
                <a:latin typeface="Arial MT"/>
                <a:cs typeface="Arial MT"/>
              </a:rPr>
              <a:t>you</a:t>
            </a:r>
            <a:r>
              <a:rPr sz="1750" spc="-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31313"/>
                </a:solidFill>
                <a:latin typeface="Arial MT"/>
                <a:cs typeface="Arial MT"/>
              </a:rPr>
              <a:t>find</a:t>
            </a:r>
            <a:r>
              <a:rPr sz="1750" spc="-9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151515"/>
                </a:solidFill>
                <a:latin typeface="Arial MT"/>
                <a:cs typeface="Arial MT"/>
              </a:rPr>
              <a:t>the </a:t>
            </a:r>
            <a:r>
              <a:rPr sz="1750" spc="-30" dirty="0">
                <a:solidFill>
                  <a:srgbClr val="1D1D1D"/>
                </a:solidFill>
                <a:latin typeface="Arial MT"/>
                <a:cs typeface="Arial MT"/>
              </a:rPr>
              <a:t>model</a:t>
            </a:r>
            <a:r>
              <a:rPr sz="1750" spc="-1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111111"/>
                </a:solidFill>
                <a:latin typeface="Arial MT"/>
                <a:cs typeface="Arial MT"/>
              </a:rPr>
              <a:t>that</a:t>
            </a:r>
            <a:r>
              <a:rPr sz="1750" spc="-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181818"/>
                </a:solidFill>
                <a:latin typeface="Arial MT"/>
                <a:cs typeface="Arial MT"/>
              </a:rPr>
              <a:t>yields</a:t>
            </a:r>
            <a:r>
              <a:rPr sz="1750" spc="-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750" spc="-1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1A1A1A"/>
                </a:solidFill>
                <a:latin typeface="Arial MT"/>
                <a:cs typeface="Arial MT"/>
              </a:rPr>
              <a:t>best</a:t>
            </a:r>
            <a:r>
              <a:rPr sz="1750" spc="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111111"/>
                </a:solidFill>
                <a:latin typeface="Arial MT"/>
                <a:cs typeface="Arial MT"/>
              </a:rPr>
              <a:t>results.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958" y="1339341"/>
            <a:ext cx="11595783" cy="47645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519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120"/>
              </a:spcBef>
            </a:pPr>
            <a:r>
              <a:rPr sz="2200" dirty="0">
                <a:solidFill>
                  <a:srgbClr val="232323"/>
                </a:solidFill>
                <a:latin typeface="Arial MT"/>
                <a:cs typeface="Arial MT"/>
              </a:rPr>
              <a:t>Machine</a:t>
            </a:r>
            <a:r>
              <a:rPr sz="2200" spc="2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200" spc="60" dirty="0">
                <a:solidFill>
                  <a:srgbClr val="111111"/>
                </a:solidFill>
                <a:latin typeface="Arial MT"/>
                <a:cs typeface="Arial MT"/>
              </a:rPr>
              <a:t>learning</a:t>
            </a:r>
            <a:r>
              <a:rPr sz="2200" spc="1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200" spc="70" dirty="0">
                <a:latin typeface="Arial MT"/>
                <a:cs typeface="Arial MT"/>
              </a:rPr>
              <a:t>pipeline</a:t>
            </a:r>
            <a:r>
              <a:rPr sz="2200" spc="215" dirty="0">
                <a:latin typeface="Arial MT"/>
                <a:cs typeface="Arial MT"/>
              </a:rPr>
              <a:t> </a:t>
            </a:r>
            <a:r>
              <a:rPr sz="2200" spc="-1145" dirty="0">
                <a:solidFill>
                  <a:srgbClr val="2A2A2A"/>
                </a:solidFill>
                <a:latin typeface="Arial MT"/>
                <a:cs typeface="Arial MT"/>
              </a:rPr>
              <a:t>—</a:t>
            </a:r>
            <a:r>
              <a:rPr sz="2200" spc="4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81818"/>
                </a:solidFill>
                <a:latin typeface="Arial MT"/>
                <a:cs typeface="Arial MT"/>
              </a:rPr>
              <a:t>Deploy</a:t>
            </a:r>
            <a:r>
              <a:rPr sz="2200" spc="1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200" spc="80" dirty="0">
                <a:latin typeface="Arial MT"/>
                <a:cs typeface="Arial MT"/>
              </a:rPr>
              <a:t>model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3226" y="1577555"/>
            <a:ext cx="1628775" cy="304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-160" dirty="0">
                <a:solidFill>
                  <a:srgbClr val="1F1F1F"/>
                </a:solidFill>
                <a:latin typeface="Arial MT"/>
                <a:cs typeface="Arial MT"/>
              </a:rPr>
              <a:t>Business</a:t>
            </a:r>
            <a:r>
              <a:rPr sz="1800" spc="8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800" spc="-70" dirty="0">
                <a:solidFill>
                  <a:srgbClr val="0F0F0F"/>
                </a:solidFill>
                <a:latin typeface="Arial MT"/>
                <a:cs typeface="Arial MT"/>
              </a:rPr>
              <a:t>problem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3974" y="1583822"/>
            <a:ext cx="1886585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100" dirty="0">
                <a:solidFill>
                  <a:srgbClr val="131313"/>
                </a:solidFill>
                <a:latin typeface="Arial MT"/>
                <a:cs typeface="Arial MT"/>
              </a:rPr>
              <a:t>New</a:t>
            </a:r>
            <a:r>
              <a:rPr sz="1750" spc="-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151515"/>
                </a:solidFill>
                <a:latin typeface="Arial MT"/>
                <a:cs typeface="Arial MT"/>
              </a:rPr>
              <a:t>data,</a:t>
            </a:r>
            <a:r>
              <a:rPr sz="1750" spc="-4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131313"/>
                </a:solidFill>
                <a:latin typeface="Arial MT"/>
                <a:cs typeface="Arial MT"/>
              </a:rPr>
              <a:t>retraining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41103" y="5251019"/>
            <a:ext cx="3884929" cy="7880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43405">
              <a:lnSpc>
                <a:spcPct val="100000"/>
              </a:lnSpc>
              <a:spcBef>
                <a:spcPts val="125"/>
              </a:spcBef>
            </a:pPr>
            <a:r>
              <a:rPr sz="1650" spc="-40" dirty="0">
                <a:solidFill>
                  <a:srgbClr val="161616"/>
                </a:solidFill>
                <a:latin typeface="Arial MT"/>
                <a:cs typeface="Arial MT"/>
              </a:rPr>
              <a:t>Feature</a:t>
            </a:r>
            <a:r>
              <a:rPr sz="1650" spc="-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augmentation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r>
              <a:rPr sz="1700" spc="-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0F0F"/>
                </a:solidFill>
                <a:latin typeface="Arial MT"/>
                <a:cs typeface="Arial MT"/>
              </a:rPr>
              <a:t>augmentation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53726" y="3040172"/>
            <a:ext cx="315595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175" dirty="0">
                <a:solidFill>
                  <a:srgbClr val="1D1D1D"/>
                </a:solidFill>
                <a:latin typeface="Arial MT"/>
                <a:cs typeface="Arial MT"/>
              </a:rPr>
              <a:t>Yes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7516" y="3072436"/>
            <a:ext cx="2117516" cy="17120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58726" y="3198587"/>
            <a:ext cx="1144360" cy="13155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54694" y="3108478"/>
            <a:ext cx="1928291" cy="163996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77567" y="286599"/>
            <a:ext cx="1624965" cy="0"/>
          </a:xfrm>
          <a:custGeom>
            <a:avLst/>
            <a:gdLst/>
            <a:ahLst/>
            <a:cxnLst/>
            <a:rect l="l" t="t" r="r" b="b"/>
            <a:pathLst>
              <a:path w="1624964">
                <a:moveTo>
                  <a:pt x="0" y="0"/>
                </a:moveTo>
                <a:lnTo>
                  <a:pt x="1624931" y="0"/>
                </a:lnTo>
              </a:path>
            </a:pathLst>
          </a:custGeom>
          <a:ln w="210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549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14"/>
              </a:spcBef>
            </a:pPr>
            <a:r>
              <a:rPr spc="55" dirty="0">
                <a:solidFill>
                  <a:srgbClr val="181818"/>
                </a:solidFill>
                <a:latin typeface="Arial MT"/>
                <a:cs typeface="Arial MT"/>
              </a:rPr>
              <a:t>Model</a:t>
            </a:r>
            <a:r>
              <a:rPr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A0A0A"/>
                </a:solidFill>
                <a:latin typeface="Arial MT"/>
                <a:cs typeface="Arial MT"/>
              </a:rPr>
              <a:t>deployment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4929" y="1222285"/>
            <a:ext cx="11280140" cy="103949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473075" indent="1905">
              <a:lnSpc>
                <a:spcPct val="103499"/>
              </a:lnSpc>
              <a:spcBef>
                <a:spcPts val="55"/>
              </a:spcBef>
            </a:pPr>
            <a:r>
              <a:rPr sz="1600" spc="50" dirty="0">
                <a:solidFill>
                  <a:srgbClr val="181818"/>
                </a:solidFill>
                <a:latin typeface="Arial MT"/>
                <a:cs typeface="Arial MT"/>
              </a:rPr>
              <a:t>After</a:t>
            </a:r>
            <a:r>
              <a:rPr sz="1600" spc="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D2D2D"/>
                </a:solidFill>
                <a:latin typeface="Arial MT"/>
                <a:cs typeface="Arial MT"/>
              </a:rPr>
              <a:t>you</a:t>
            </a:r>
            <a:r>
              <a:rPr sz="1600" spc="7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61616"/>
                </a:solidFill>
                <a:latin typeface="Arial MT"/>
                <a:cs typeface="Arial MT"/>
              </a:rPr>
              <a:t>have</a:t>
            </a:r>
            <a:r>
              <a:rPr sz="1600" spc="1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trained,</a:t>
            </a:r>
            <a:r>
              <a:rPr sz="1600" spc="114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tuned,</a:t>
            </a:r>
            <a:r>
              <a:rPr sz="1600" spc="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and</a:t>
            </a:r>
            <a:r>
              <a:rPr sz="1600" spc="-10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tested</a:t>
            </a:r>
            <a:r>
              <a:rPr sz="1600" spc="3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your</a:t>
            </a:r>
            <a:r>
              <a:rPr sz="1600" spc="8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model,</a:t>
            </a:r>
            <a:r>
              <a:rPr sz="1600" spc="1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you</a:t>
            </a:r>
            <a:r>
              <a:rPr sz="1600" spc="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are</a:t>
            </a:r>
            <a:r>
              <a:rPr sz="1600" spc="-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ready</a:t>
            </a:r>
            <a:r>
              <a:rPr sz="1600" spc="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600" spc="2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deploy</a:t>
            </a:r>
            <a:r>
              <a:rPr sz="1600" spc="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it.</a:t>
            </a:r>
            <a:r>
              <a:rPr sz="1600" spc="95" dirty="0"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test</a:t>
            </a:r>
            <a:r>
              <a:rPr sz="1600" spc="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z="1600" spc="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get</a:t>
            </a:r>
            <a:r>
              <a:rPr sz="1600" spc="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performance</a:t>
            </a:r>
            <a:r>
              <a:rPr sz="1600" spc="21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Arial MT"/>
                <a:cs typeface="Arial MT"/>
              </a:rPr>
              <a:t>metrics </a:t>
            </a:r>
            <a:r>
              <a:rPr sz="1600" spc="80" dirty="0">
                <a:solidFill>
                  <a:srgbClr val="262626"/>
                </a:solidFill>
                <a:latin typeface="Arial MT"/>
                <a:cs typeface="Arial MT"/>
              </a:rPr>
              <a:t>from</a:t>
            </a:r>
            <a:r>
              <a:rPr sz="1600" spc="1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your</a:t>
            </a:r>
            <a:r>
              <a:rPr sz="1600" spc="15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model,</a:t>
            </a:r>
            <a:r>
              <a:rPr sz="1600" spc="8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you</a:t>
            </a:r>
            <a:r>
              <a:rPr sz="1600" spc="-1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must</a:t>
            </a:r>
            <a:r>
              <a:rPr sz="1600" spc="5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make</a:t>
            </a:r>
            <a:r>
              <a:rPr sz="16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inferences</a:t>
            </a:r>
            <a:r>
              <a:rPr sz="1600" spc="1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or</a:t>
            </a:r>
            <a:r>
              <a:rPr sz="1600" spc="4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predictions</a:t>
            </a:r>
            <a:r>
              <a:rPr sz="1600" spc="1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0E0E0E"/>
                </a:solidFill>
                <a:latin typeface="Arial MT"/>
                <a:cs typeface="Arial MT"/>
              </a:rPr>
              <a:t>from</a:t>
            </a:r>
            <a:r>
              <a:rPr sz="1600" spc="1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1600" spc="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model—which</a:t>
            </a:r>
            <a:r>
              <a:rPr sz="1600" spc="19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typically</a:t>
            </a:r>
            <a:r>
              <a:rPr sz="1600" spc="19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requires</a:t>
            </a:r>
            <a:r>
              <a:rPr sz="1600" spc="1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Arial MT"/>
                <a:cs typeface="Arial MT"/>
              </a:rPr>
              <a:t>deployment.</a:t>
            </a:r>
            <a:endParaRPr sz="1600">
              <a:latin typeface="Arial MT"/>
              <a:cs typeface="Arial MT"/>
            </a:endParaRPr>
          </a:p>
          <a:p>
            <a:pPr marL="15875" marR="5080">
              <a:lnSpc>
                <a:spcPts val="2060"/>
              </a:lnSpc>
              <a:spcBef>
                <a:spcPts val="20"/>
              </a:spcBef>
            </a:pP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Deployment</a:t>
            </a:r>
            <a:r>
              <a:rPr sz="1600" spc="19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for</a:t>
            </a:r>
            <a:r>
              <a:rPr sz="1600" spc="2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testing</a:t>
            </a:r>
            <a:r>
              <a:rPr sz="1600" spc="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is</a:t>
            </a:r>
            <a:r>
              <a:rPr sz="1600" spc="-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different</a:t>
            </a:r>
            <a:r>
              <a:rPr sz="1600" spc="8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131313"/>
                </a:solidFill>
                <a:latin typeface="Arial MT"/>
                <a:cs typeface="Arial MT"/>
              </a:rPr>
              <a:t>from</a:t>
            </a:r>
            <a:r>
              <a:rPr sz="1600" spc="-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production,</a:t>
            </a:r>
            <a:r>
              <a:rPr sz="1600" spc="9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although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sz="1600" spc="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Arial MT"/>
                <a:cs typeface="Arial MT"/>
              </a:rPr>
              <a:t>mechanics</a:t>
            </a:r>
            <a:r>
              <a:rPr sz="1600" spc="1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45" dirty="0">
                <a:solidFill>
                  <a:srgbClr val="111111"/>
                </a:solidFill>
                <a:latin typeface="Arial MT"/>
                <a:cs typeface="Arial MT"/>
              </a:rPr>
              <a:t>are</a:t>
            </a:r>
            <a:r>
              <a:rPr sz="1600" spc="-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51515"/>
                </a:solidFill>
                <a:latin typeface="Arial MT"/>
                <a:cs typeface="Arial MT"/>
              </a:rPr>
              <a:t>the</a:t>
            </a:r>
            <a:r>
              <a:rPr sz="1600" spc="-1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same.</a:t>
            </a:r>
            <a:r>
              <a:rPr sz="1600" spc="49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12121"/>
                </a:solidFill>
                <a:latin typeface="Arial MT"/>
                <a:cs typeface="Arial MT"/>
              </a:rPr>
              <a:t>These</a:t>
            </a:r>
            <a:r>
              <a:rPr sz="1600" spc="1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40" dirty="0">
                <a:solidFill>
                  <a:srgbClr val="1D1D1D"/>
                </a:solidFill>
                <a:latin typeface="Arial MT"/>
                <a:cs typeface="Arial MT"/>
              </a:rPr>
              <a:t>assessments</a:t>
            </a:r>
            <a:r>
              <a:rPr sz="1600" spc="13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51515"/>
                </a:solidFill>
                <a:latin typeface="Arial MT"/>
                <a:cs typeface="Arial MT"/>
              </a:rPr>
              <a:t>can</a:t>
            </a:r>
            <a:r>
              <a:rPr sz="1600" spc="-2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 MT"/>
                <a:cs typeface="Arial MT"/>
              </a:rPr>
              <a:t>involve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anything</a:t>
            </a:r>
            <a:r>
              <a:rPr sz="1600" spc="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161616"/>
                </a:solidFill>
                <a:latin typeface="Arial MT"/>
                <a:cs typeface="Arial MT"/>
              </a:rPr>
              <a:t>from</a:t>
            </a:r>
            <a:r>
              <a:rPr sz="1600" spc="-3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a</a:t>
            </a:r>
            <a:r>
              <a:rPr sz="1600" spc="3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C1C1C"/>
                </a:solidFill>
                <a:latin typeface="Arial MT"/>
                <a:cs typeface="Arial MT"/>
              </a:rPr>
              <a:t>few</a:t>
            </a:r>
            <a:r>
              <a:rPr sz="1600" spc="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requests</a:t>
            </a:r>
            <a:r>
              <a:rPr sz="1600" spc="7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to</a:t>
            </a:r>
            <a:r>
              <a:rPr sz="1600" spc="25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deployments</a:t>
            </a:r>
            <a:r>
              <a:rPr sz="1600" spc="10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latin typeface="Arial MT"/>
                <a:cs typeface="Arial MT"/>
              </a:rPr>
              <a:t>that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handle</a:t>
            </a:r>
            <a:r>
              <a:rPr sz="1600" spc="-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tens</a:t>
            </a:r>
            <a:r>
              <a:rPr sz="1600" spc="1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sz="16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thousands</a:t>
            </a:r>
            <a:r>
              <a:rPr sz="1600" spc="1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61616"/>
                </a:solidFill>
                <a:latin typeface="Arial MT"/>
                <a:cs typeface="Arial MT"/>
              </a:rPr>
              <a:t>of</a:t>
            </a:r>
            <a:r>
              <a:rPr sz="1600" spc="-1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requests.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5021" y="5108189"/>
            <a:ext cx="925194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Arial MT"/>
                <a:cs typeface="Arial MT"/>
              </a:rPr>
              <a:t>Trained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37663" y="5012825"/>
            <a:ext cx="775970" cy="363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00" spc="-65" dirty="0">
                <a:solidFill>
                  <a:srgbClr val="1C1C1C"/>
                </a:solidFill>
                <a:latin typeface="Arial MT"/>
                <a:cs typeface="Arial MT"/>
              </a:rPr>
              <a:t>Tuned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94497" y="5112695"/>
            <a:ext cx="82867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Arial MT"/>
                <a:cs typeface="Arial MT"/>
              </a:rPr>
              <a:t>Tested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2594" y="2076616"/>
            <a:ext cx="1609805" cy="2080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5434" y="2483591"/>
            <a:ext cx="1700244" cy="14379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35323" y="2040440"/>
            <a:ext cx="2043910" cy="21795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1236" y="222613"/>
            <a:ext cx="1645980" cy="633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9762" y="6553353"/>
            <a:ext cx="3083953" cy="9043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25"/>
              </a:spcBef>
            </a:pPr>
            <a:r>
              <a:rPr sz="2200" dirty="0">
                <a:solidFill>
                  <a:srgbClr val="181818"/>
                </a:solidFill>
                <a:latin typeface="Arial MT"/>
                <a:cs typeface="Arial MT"/>
              </a:rPr>
              <a:t>Amazon</a:t>
            </a:r>
            <a:r>
              <a:rPr sz="2200" spc="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200" spc="-295" dirty="0">
                <a:solidFill>
                  <a:srgbClr val="111111"/>
                </a:solidFill>
                <a:latin typeface="Arial MT"/>
                <a:cs typeface="Arial MT"/>
              </a:rPr>
              <a:t>caLL</a:t>
            </a:r>
            <a:r>
              <a:rPr sz="2200" spc="2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2200" spc="50" dirty="0">
                <a:solidFill>
                  <a:srgbClr val="0F0F0F"/>
                </a:solidFill>
                <a:latin typeface="Arial MT"/>
                <a:cs typeface="Arial MT"/>
              </a:rPr>
              <a:t>center</a:t>
            </a:r>
            <a:r>
              <a:rPr sz="2200" spc="114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case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60" dirty="0">
                <a:solidFill>
                  <a:srgbClr val="1C1C1C"/>
                </a:solidFill>
                <a:latin typeface="Arial MT"/>
                <a:cs typeface="Arial MT"/>
              </a:rPr>
              <a:t>study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6612" y="1210020"/>
            <a:ext cx="11023600" cy="5276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1270">
              <a:lnSpc>
                <a:spcPct val="103899"/>
              </a:lnSpc>
              <a:spcBef>
                <a:spcPts val="55"/>
              </a:spcBef>
            </a:pPr>
            <a:r>
              <a:rPr sz="1600" spc="-10" dirty="0">
                <a:solidFill>
                  <a:srgbClr val="1F1F1F"/>
                </a:solidFill>
                <a:latin typeface="Arial MT"/>
                <a:cs typeface="Arial MT"/>
              </a:rPr>
              <a:t>Several</a:t>
            </a:r>
            <a:r>
              <a:rPr sz="1600" spc="-8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82828"/>
                </a:solidFill>
                <a:latin typeface="Arial MT"/>
                <a:cs typeface="Arial MT"/>
              </a:rPr>
              <a:t>years</a:t>
            </a:r>
            <a:r>
              <a:rPr sz="1600" spc="7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51515"/>
                </a:solidFill>
                <a:latin typeface="Arial MT"/>
                <a:cs typeface="Arial MT"/>
              </a:rPr>
              <a:t>ago,</a:t>
            </a:r>
            <a:r>
              <a:rPr sz="1600" spc="-2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Amazon</a:t>
            </a:r>
            <a:r>
              <a:rPr sz="1600" spc="10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needed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to</a:t>
            </a:r>
            <a:r>
              <a:rPr sz="1600" spc="19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improve</a:t>
            </a:r>
            <a:r>
              <a:rPr sz="1600" spc="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way</a:t>
            </a:r>
            <a:r>
              <a:rPr sz="1600" spc="6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it</a:t>
            </a:r>
            <a:r>
              <a:rPr sz="1600" spc="204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routed</a:t>
            </a:r>
            <a:r>
              <a:rPr sz="1600" spc="-7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customer</a:t>
            </a:r>
            <a:r>
              <a:rPr sz="1600" spc="10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service</a:t>
            </a:r>
            <a:r>
              <a:rPr sz="1600" spc="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calls,</a:t>
            </a:r>
            <a:r>
              <a:rPr sz="1600" spc="-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so</a:t>
            </a:r>
            <a:r>
              <a:rPr sz="1600" spc="-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it</a:t>
            </a:r>
            <a:r>
              <a:rPr sz="1600" spc="19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looked</a:t>
            </a:r>
            <a:r>
              <a:rPr sz="160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to</a:t>
            </a:r>
            <a:r>
              <a:rPr sz="1600" spc="1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machine</a:t>
            </a:r>
            <a:r>
              <a:rPr sz="1600" spc="6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61616"/>
                </a:solidFill>
                <a:latin typeface="Arial MT"/>
                <a:cs typeface="Arial MT"/>
              </a:rPr>
              <a:t>learning </a:t>
            </a:r>
            <a:r>
              <a:rPr sz="1600" spc="65" dirty="0">
                <a:solidFill>
                  <a:srgbClr val="1F1F1F"/>
                </a:solidFill>
                <a:latin typeface="Arial MT"/>
                <a:cs typeface="Arial MT"/>
              </a:rPr>
              <a:t>for</a:t>
            </a:r>
            <a:r>
              <a:rPr sz="1600" spc="9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help.</a:t>
            </a:r>
            <a:r>
              <a:rPr sz="1600" spc="10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sz="1600" spc="9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original</a:t>
            </a:r>
            <a:r>
              <a:rPr sz="1600" spc="114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routing</a:t>
            </a:r>
            <a:r>
              <a:rPr sz="1600" spc="18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system</a:t>
            </a:r>
            <a:r>
              <a:rPr sz="1600" spc="18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worked</a:t>
            </a:r>
            <a:r>
              <a:rPr sz="1600" spc="7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like</a:t>
            </a:r>
            <a:r>
              <a:rPr sz="1600" spc="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62626"/>
                </a:solidFill>
                <a:latin typeface="Arial MT"/>
                <a:cs typeface="Arial MT"/>
              </a:rPr>
              <a:t>this.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4661" y="4521097"/>
            <a:ext cx="11062335" cy="130873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8415" marR="5080" indent="635">
              <a:lnSpc>
                <a:spcPct val="99000"/>
              </a:lnSpc>
              <a:spcBef>
                <a:spcPts val="150"/>
              </a:spcBef>
            </a:pPr>
            <a:r>
              <a:rPr sz="1700" spc="-70" dirty="0">
                <a:solidFill>
                  <a:srgbClr val="212121"/>
                </a:solidFill>
                <a:latin typeface="Arial MT"/>
                <a:cs typeface="Arial MT"/>
              </a:rPr>
              <a:t>Amazon</a:t>
            </a:r>
            <a:r>
              <a:rPr sz="1700" spc="-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61616"/>
                </a:solidFill>
                <a:latin typeface="Arial MT"/>
                <a:cs typeface="Arial MT"/>
              </a:rPr>
              <a:t>determined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that</a:t>
            </a:r>
            <a:r>
              <a:rPr sz="1700" spc="-1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700" spc="-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51515"/>
                </a:solidFill>
                <a:latin typeface="Arial MT"/>
                <a:cs typeface="Arial MT"/>
              </a:rPr>
              <a:t>current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routing</a:t>
            </a:r>
            <a:r>
              <a:rPr sz="1700" spc="-8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1C1C1C"/>
                </a:solidFill>
                <a:latin typeface="Arial MT"/>
                <a:cs typeface="Arial MT"/>
              </a:rPr>
              <a:t>system</a:t>
            </a:r>
            <a:r>
              <a:rPr sz="1700" spc="-1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100" dirty="0">
                <a:solidFill>
                  <a:srgbClr val="1C1C1C"/>
                </a:solidFill>
                <a:latin typeface="Arial MT"/>
                <a:cs typeface="Arial MT"/>
              </a:rPr>
              <a:t>was</a:t>
            </a:r>
            <a:r>
              <a:rPr sz="1700" spc="-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C0C0C"/>
                </a:solidFill>
                <a:latin typeface="Arial MT"/>
                <a:cs typeface="Arial MT"/>
              </a:rPr>
              <a:t>problematic.</a:t>
            </a:r>
            <a:r>
              <a:rPr sz="1700" spc="4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spc="-80" dirty="0">
                <a:solidFill>
                  <a:srgbClr val="1F1F1F"/>
                </a:solidFill>
                <a:latin typeface="Arial MT"/>
                <a:cs typeface="Arial MT"/>
              </a:rPr>
              <a:t>For</a:t>
            </a:r>
            <a:r>
              <a:rPr sz="1700" spc="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latin typeface="Arial MT"/>
                <a:cs typeface="Arial MT"/>
              </a:rPr>
              <a:t>Amazon,</a:t>
            </a:r>
            <a:r>
              <a:rPr sz="1700" spc="60" dirty="0"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81818"/>
                </a:solidFill>
                <a:latin typeface="Arial MT"/>
                <a:cs typeface="Arial MT"/>
              </a:rPr>
              <a:t>dealing</a:t>
            </a:r>
            <a:r>
              <a:rPr sz="1700" spc="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with</a:t>
            </a:r>
            <a:r>
              <a:rPr sz="1700" spc="-114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61616"/>
                </a:solidFill>
                <a:latin typeface="Arial MT"/>
                <a:cs typeface="Arial MT"/>
              </a:rPr>
              <a:t>hundreds</a:t>
            </a:r>
            <a:r>
              <a:rPr sz="1700" spc="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sz="1700" spc="-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millions</a:t>
            </a:r>
            <a:r>
              <a:rPr sz="1700" spc="-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of </a:t>
            </a:r>
            <a:r>
              <a:rPr sz="1700" spc="-35" dirty="0">
                <a:solidFill>
                  <a:srgbClr val="1C1C1C"/>
                </a:solidFill>
                <a:latin typeface="Arial MT"/>
                <a:cs typeface="Arial MT"/>
              </a:rPr>
              <a:t>customer</a:t>
            </a:r>
            <a:r>
              <a:rPr sz="1700" spc="-8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1F1F1F"/>
                </a:solidFill>
                <a:latin typeface="Arial MT"/>
                <a:cs typeface="Arial MT"/>
              </a:rPr>
              <a:t>calls</a:t>
            </a:r>
            <a:r>
              <a:rPr sz="1700" spc="-9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150" dirty="0">
                <a:solidFill>
                  <a:srgbClr val="1D1D1D"/>
                </a:solidFill>
                <a:latin typeface="Arial MT"/>
                <a:cs typeface="Arial MT"/>
              </a:rPr>
              <a:t>a</a:t>
            </a:r>
            <a:r>
              <a:rPr sz="1700" spc="-4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spc="-85" dirty="0">
                <a:solidFill>
                  <a:srgbClr val="1C1C1C"/>
                </a:solidFill>
                <a:latin typeface="Arial MT"/>
                <a:cs typeface="Arial MT"/>
              </a:rPr>
              <a:t>year,</a:t>
            </a:r>
            <a:r>
              <a:rPr sz="1700" spc="-6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82828"/>
                </a:solidFill>
                <a:latin typeface="Arial MT"/>
                <a:cs typeface="Arial MT"/>
              </a:rPr>
              <a:t>it</a:t>
            </a:r>
            <a:r>
              <a:rPr sz="1700" spc="9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700" spc="-120" dirty="0">
                <a:solidFill>
                  <a:srgbClr val="111111"/>
                </a:solidFill>
                <a:latin typeface="Arial MT"/>
                <a:cs typeface="Arial MT"/>
              </a:rPr>
              <a:t>was</a:t>
            </a:r>
            <a:r>
              <a:rPr sz="1700" spc="-9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inefficient.</a:t>
            </a:r>
            <a:r>
              <a:rPr sz="1700" spc="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It</a:t>
            </a:r>
            <a:r>
              <a:rPr sz="1700" spc="-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F1F1F"/>
                </a:solidFill>
                <a:latin typeface="Arial MT"/>
                <a:cs typeface="Arial MT"/>
              </a:rPr>
              <a:t>cost</a:t>
            </a:r>
            <a:r>
              <a:rPr sz="1700" spc="-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150" dirty="0">
                <a:solidFill>
                  <a:srgbClr val="262626"/>
                </a:solidFill>
                <a:latin typeface="Arial MT"/>
                <a:cs typeface="Arial MT"/>
              </a:rPr>
              <a:t>a</a:t>
            </a:r>
            <a:r>
              <a:rPr sz="1700" spc="-5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31313"/>
                </a:solidFill>
                <a:latin typeface="Arial MT"/>
                <a:cs typeface="Arial MT"/>
              </a:rPr>
              <a:t>lot</a:t>
            </a:r>
            <a:r>
              <a:rPr sz="1700" spc="40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61616"/>
                </a:solidFill>
                <a:latin typeface="Arial MT"/>
                <a:cs typeface="Arial MT"/>
              </a:rPr>
              <a:t>of</a:t>
            </a:r>
            <a:r>
              <a:rPr sz="1700" spc="-9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Arial MT"/>
                <a:cs typeface="Arial MT"/>
              </a:rPr>
              <a:t>money</a:t>
            </a:r>
            <a:r>
              <a:rPr sz="1700" spc="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161616"/>
                </a:solidFill>
                <a:latin typeface="Arial MT"/>
                <a:cs typeface="Arial MT"/>
              </a:rPr>
              <a:t>and </a:t>
            </a:r>
            <a:r>
              <a:rPr sz="1700" spc="-55" dirty="0">
                <a:solidFill>
                  <a:srgbClr val="151515"/>
                </a:solidFill>
                <a:latin typeface="Arial MT"/>
                <a:cs typeface="Arial MT"/>
              </a:rPr>
              <a:t>wasted</a:t>
            </a:r>
            <a:r>
              <a:rPr sz="1700" spc="-6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0C0C0C"/>
                </a:solidFill>
                <a:latin typeface="Arial MT"/>
                <a:cs typeface="Arial MT"/>
              </a:rPr>
              <a:t>a</a:t>
            </a:r>
            <a:r>
              <a:rPr sz="1700" spc="-6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82828"/>
                </a:solidFill>
                <a:latin typeface="Arial MT"/>
                <a:cs typeface="Arial MT"/>
              </a:rPr>
              <a:t>lot</a:t>
            </a:r>
            <a:r>
              <a:rPr sz="1700" spc="18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62626"/>
                </a:solidFill>
                <a:latin typeface="Arial MT"/>
                <a:cs typeface="Arial MT"/>
              </a:rPr>
              <a:t>of</a:t>
            </a:r>
            <a:r>
              <a:rPr sz="1700" spc="-1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11111"/>
                </a:solidFill>
                <a:latin typeface="Arial MT"/>
                <a:cs typeface="Arial MT"/>
              </a:rPr>
              <a:t>time.</a:t>
            </a:r>
            <a:r>
              <a:rPr sz="1700" spc="-1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81818"/>
                </a:solidFill>
                <a:latin typeface="Arial MT"/>
                <a:cs typeface="Arial MT"/>
              </a:rPr>
              <a:t>Worst</a:t>
            </a:r>
            <a:r>
              <a:rPr sz="1700" spc="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of</a:t>
            </a:r>
            <a:r>
              <a:rPr sz="1700" spc="-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all,</a:t>
            </a:r>
            <a:r>
              <a:rPr sz="1700" spc="-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it</a:t>
            </a:r>
            <a:r>
              <a:rPr sz="1700" spc="9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120" dirty="0">
                <a:solidFill>
                  <a:srgbClr val="0C0C0C"/>
                </a:solidFill>
                <a:latin typeface="Arial MT"/>
                <a:cs typeface="Arial MT"/>
              </a:rPr>
              <a:t>was</a:t>
            </a:r>
            <a:r>
              <a:rPr sz="1700" spc="-1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62626"/>
                </a:solidFill>
                <a:latin typeface="Arial MT"/>
                <a:cs typeface="Arial MT"/>
              </a:rPr>
              <a:t>not</a:t>
            </a:r>
            <a:r>
              <a:rPr sz="1700" spc="-3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spc="-145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700" spc="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good </a:t>
            </a:r>
            <a:r>
              <a:rPr sz="1650" spc="-20" dirty="0">
                <a:solidFill>
                  <a:srgbClr val="0E0E0E"/>
                </a:solidFill>
                <a:latin typeface="Arial MT"/>
                <a:cs typeface="Arial MT"/>
              </a:rPr>
              <a:t>way</a:t>
            </a:r>
            <a:r>
              <a:rPr sz="1650" spc="-1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282828"/>
                </a:solidFill>
                <a:latin typeface="Arial MT"/>
                <a:cs typeface="Arial MT"/>
              </a:rPr>
              <a:t>to</a:t>
            </a:r>
            <a:r>
              <a:rPr sz="1650" spc="204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A1A1A"/>
                </a:solidFill>
                <a:latin typeface="Arial MT"/>
                <a:cs typeface="Arial MT"/>
              </a:rPr>
              <a:t>get</a:t>
            </a:r>
            <a:r>
              <a:rPr sz="1650" spc="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F1F1F"/>
                </a:solidFill>
                <a:latin typeface="Arial MT"/>
                <a:cs typeface="Arial MT"/>
              </a:rPr>
              <a:t>our</a:t>
            </a:r>
            <a:r>
              <a:rPr sz="1650" spc="-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50" spc="-25" dirty="0">
                <a:solidFill>
                  <a:srgbClr val="1F1F1F"/>
                </a:solidFill>
                <a:latin typeface="Arial MT"/>
                <a:cs typeface="Arial MT"/>
              </a:rPr>
              <a:t>customers</a:t>
            </a:r>
            <a:r>
              <a:rPr sz="1650" spc="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sz="1650" spc="-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131313"/>
                </a:solidFill>
                <a:latin typeface="Arial MT"/>
                <a:cs typeface="Arial MT"/>
              </a:rPr>
              <a:t>help</a:t>
            </a:r>
            <a:r>
              <a:rPr sz="1650" spc="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50" spc="50" dirty="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sz="1650" dirty="0">
                <a:solidFill>
                  <a:srgbClr val="1A1A1A"/>
                </a:solidFill>
                <a:latin typeface="Arial MT"/>
                <a:cs typeface="Arial MT"/>
              </a:rPr>
              <a:t> they</a:t>
            </a:r>
            <a:r>
              <a:rPr sz="1650" spc="-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needed.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Next,</a:t>
            </a:r>
            <a:r>
              <a:rPr sz="16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you'tl</a:t>
            </a:r>
            <a:r>
              <a:rPr sz="1600" spc="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walk</a:t>
            </a:r>
            <a:r>
              <a:rPr sz="1600" spc="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31313"/>
                </a:solidFill>
                <a:latin typeface="Arial MT"/>
                <a:cs typeface="Arial MT"/>
              </a:rPr>
              <a:t>through</a:t>
            </a:r>
            <a:r>
              <a:rPr sz="1600" spc="1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how</a:t>
            </a:r>
            <a:r>
              <a:rPr sz="1600" spc="6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Amazon</a:t>
            </a:r>
            <a:r>
              <a:rPr sz="1600" spc="8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used</a:t>
            </a:r>
            <a:r>
              <a:rPr sz="1600" spc="-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ML</a:t>
            </a:r>
            <a:r>
              <a:rPr sz="1600" spc="-1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600" spc="204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solve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this</a:t>
            </a:r>
            <a:r>
              <a:rPr sz="1600" spc="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E0E0E"/>
                </a:solidFill>
                <a:latin typeface="Arial MT"/>
                <a:cs typeface="Arial MT"/>
              </a:rPr>
              <a:t>business</a:t>
            </a:r>
            <a:r>
              <a:rPr sz="1600" spc="15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problem.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46515" y="4864036"/>
            <a:ext cx="1847850" cy="553085"/>
            <a:chOff x="9646515" y="4864036"/>
            <a:chExt cx="1847850" cy="5530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08096" y="5199176"/>
              <a:ext cx="443830" cy="2173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46515" y="4864036"/>
              <a:ext cx="1005411" cy="3532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88157" y="5208235"/>
              <a:ext cx="806140" cy="20833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9451772" y="4861016"/>
            <a:ext cx="0" cy="691515"/>
          </a:xfrm>
          <a:custGeom>
            <a:avLst/>
            <a:gdLst/>
            <a:ahLst/>
            <a:cxnLst/>
            <a:rect l="l" t="t" r="r" b="b"/>
            <a:pathLst>
              <a:path h="691514">
                <a:moveTo>
                  <a:pt x="0" y="691416"/>
                </a:moveTo>
                <a:lnTo>
                  <a:pt x="0" y="0"/>
                </a:lnTo>
              </a:path>
            </a:pathLst>
          </a:custGeom>
          <a:ln w="21134">
            <a:solidFill>
              <a:srgbClr val="4B48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9441205" y="4861016"/>
            <a:ext cx="2077720" cy="691515"/>
            <a:chOff x="9441205" y="4861016"/>
            <a:chExt cx="2077720" cy="691515"/>
          </a:xfrm>
        </p:grpSpPr>
        <p:sp>
          <p:nvSpPr>
            <p:cNvPr id="8" name="object 8"/>
            <p:cNvSpPr/>
            <p:nvPr/>
          </p:nvSpPr>
          <p:spPr>
            <a:xfrm>
              <a:off x="11507884" y="4861016"/>
              <a:ext cx="0" cy="691515"/>
            </a:xfrm>
            <a:custGeom>
              <a:avLst/>
              <a:gdLst/>
              <a:ahLst/>
              <a:cxnLst/>
              <a:rect l="l" t="t" r="r" b="b"/>
              <a:pathLst>
                <a:path h="691514">
                  <a:moveTo>
                    <a:pt x="0" y="691416"/>
                  </a:moveTo>
                  <a:lnTo>
                    <a:pt x="0" y="0"/>
                  </a:lnTo>
                </a:path>
              </a:pathLst>
            </a:custGeom>
            <a:ln w="21134">
              <a:solidFill>
                <a:srgbClr val="4B4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441205" y="4871583"/>
              <a:ext cx="2077720" cy="0"/>
            </a:xfrm>
            <a:custGeom>
              <a:avLst/>
              <a:gdLst/>
              <a:ahLst/>
              <a:cxnLst/>
              <a:rect l="l" t="t" r="r" b="b"/>
              <a:pathLst>
                <a:path w="2077720">
                  <a:moveTo>
                    <a:pt x="0" y="0"/>
                  </a:moveTo>
                  <a:lnTo>
                    <a:pt x="2077246" y="0"/>
                  </a:lnTo>
                </a:path>
              </a:pathLst>
            </a:custGeom>
            <a:ln w="21135">
              <a:solidFill>
                <a:srgbClr val="4B4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441205" y="5541867"/>
              <a:ext cx="2077720" cy="0"/>
            </a:xfrm>
            <a:custGeom>
              <a:avLst/>
              <a:gdLst/>
              <a:ahLst/>
              <a:cxnLst/>
              <a:rect l="l" t="t" r="r" b="b"/>
              <a:pathLst>
                <a:path w="2077720">
                  <a:moveTo>
                    <a:pt x="0" y="0"/>
                  </a:moveTo>
                  <a:lnTo>
                    <a:pt x="2077246" y="0"/>
                  </a:lnTo>
                </a:path>
              </a:pathLst>
            </a:custGeom>
            <a:ln w="21135">
              <a:solidFill>
                <a:srgbClr val="4B4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611793" y="4861016"/>
              <a:ext cx="0" cy="691515"/>
            </a:xfrm>
            <a:custGeom>
              <a:avLst/>
              <a:gdLst/>
              <a:ahLst/>
              <a:cxnLst/>
              <a:rect l="l" t="t" r="r" b="b"/>
              <a:pathLst>
                <a:path h="691514">
                  <a:moveTo>
                    <a:pt x="0" y="691416"/>
                  </a:moveTo>
                  <a:lnTo>
                    <a:pt x="0" y="0"/>
                  </a:lnTo>
                </a:path>
              </a:pathLst>
            </a:custGeom>
            <a:ln w="21134">
              <a:solidFill>
                <a:srgbClr val="4B4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653436" y="4861016"/>
              <a:ext cx="0" cy="691515"/>
            </a:xfrm>
            <a:custGeom>
              <a:avLst/>
              <a:gdLst/>
              <a:ahLst/>
              <a:cxnLst/>
              <a:rect l="l" t="t" r="r" b="b"/>
              <a:pathLst>
                <a:path h="691514">
                  <a:moveTo>
                    <a:pt x="0" y="691416"/>
                  </a:moveTo>
                  <a:lnTo>
                    <a:pt x="0" y="0"/>
                  </a:lnTo>
                </a:path>
              </a:pathLst>
            </a:custGeom>
            <a:ln w="21134">
              <a:solidFill>
                <a:srgbClr val="4B4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41205" y="5454306"/>
              <a:ext cx="2077720" cy="0"/>
            </a:xfrm>
            <a:custGeom>
              <a:avLst/>
              <a:gdLst/>
              <a:ahLst/>
              <a:cxnLst/>
              <a:rect l="l" t="t" r="r" b="b"/>
              <a:pathLst>
                <a:path w="2077720">
                  <a:moveTo>
                    <a:pt x="0" y="0"/>
                  </a:moveTo>
                  <a:lnTo>
                    <a:pt x="2077246" y="0"/>
                  </a:lnTo>
                </a:path>
              </a:pathLst>
            </a:custGeom>
            <a:ln w="21135">
              <a:solidFill>
                <a:srgbClr val="4B4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441205" y="5206725"/>
              <a:ext cx="2077720" cy="0"/>
            </a:xfrm>
            <a:custGeom>
              <a:avLst/>
              <a:gdLst/>
              <a:ahLst/>
              <a:cxnLst/>
              <a:rect l="l" t="t" r="r" b="b"/>
              <a:pathLst>
                <a:path w="2077720">
                  <a:moveTo>
                    <a:pt x="0" y="0"/>
                  </a:moveTo>
                  <a:lnTo>
                    <a:pt x="2077246" y="0"/>
                  </a:lnTo>
                </a:path>
              </a:pathLst>
            </a:custGeom>
            <a:ln w="21135">
              <a:solidFill>
                <a:srgbClr val="4B4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91490" y="5196158"/>
              <a:ext cx="0" cy="356870"/>
            </a:xfrm>
            <a:custGeom>
              <a:avLst/>
              <a:gdLst/>
              <a:ahLst/>
              <a:cxnLst/>
              <a:rect l="l" t="t" r="r" b="b"/>
              <a:pathLst>
                <a:path h="356870">
                  <a:moveTo>
                    <a:pt x="0" y="356275"/>
                  </a:moveTo>
                  <a:lnTo>
                    <a:pt x="0" y="0"/>
                  </a:lnTo>
                </a:path>
              </a:pathLst>
            </a:custGeom>
            <a:ln w="21134">
              <a:solidFill>
                <a:srgbClr val="4B4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441205" y="5273150"/>
              <a:ext cx="761365" cy="0"/>
            </a:xfrm>
            <a:custGeom>
              <a:avLst/>
              <a:gdLst/>
              <a:ahLst/>
              <a:cxnLst/>
              <a:rect l="l" t="t" r="r" b="b"/>
              <a:pathLst>
                <a:path w="761365">
                  <a:moveTo>
                    <a:pt x="0" y="0"/>
                  </a:moveTo>
                  <a:lnTo>
                    <a:pt x="760852" y="0"/>
                  </a:lnTo>
                </a:path>
              </a:pathLst>
            </a:custGeom>
            <a:ln w="21135">
              <a:solidFill>
                <a:srgbClr val="4B48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9057" y="984251"/>
            <a:ext cx="12183110" cy="4930775"/>
            <a:chOff x="9057" y="984251"/>
            <a:chExt cx="12183110" cy="4930775"/>
          </a:xfrm>
        </p:grpSpPr>
        <p:sp>
          <p:nvSpPr>
            <p:cNvPr id="18" name="object 18"/>
            <p:cNvSpPr/>
            <p:nvPr/>
          </p:nvSpPr>
          <p:spPr>
            <a:xfrm>
              <a:off x="10567" y="984251"/>
              <a:ext cx="0" cy="4930775"/>
            </a:xfrm>
            <a:custGeom>
              <a:avLst/>
              <a:gdLst/>
              <a:ahLst/>
              <a:cxnLst/>
              <a:rect l="l" t="t" r="r" b="b"/>
              <a:pathLst>
                <a:path h="4930775">
                  <a:moveTo>
                    <a:pt x="0" y="49304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4F60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057" y="993309"/>
              <a:ext cx="12183110" cy="3175"/>
            </a:xfrm>
            <a:custGeom>
              <a:avLst/>
              <a:gdLst/>
              <a:ahLst/>
              <a:cxnLst/>
              <a:rect l="l" t="t" r="r" b="b"/>
              <a:pathLst>
                <a:path w="12183110" h="3175">
                  <a:moveTo>
                    <a:pt x="12298933" y="3048"/>
                  </a:moveTo>
                  <a:lnTo>
                    <a:pt x="0" y="3048"/>
                  </a:lnTo>
                  <a:lnTo>
                    <a:pt x="0" y="0"/>
                  </a:lnTo>
                  <a:lnTo>
                    <a:pt x="12298933" y="0"/>
                  </a:lnTo>
                  <a:lnTo>
                    <a:pt x="12298933" y="3048"/>
                  </a:lnTo>
                  <a:close/>
                </a:path>
              </a:pathLst>
            </a:custGeom>
            <a:solidFill>
              <a:srgbClr val="4F60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461945" y="270189"/>
            <a:ext cx="1651635" cy="0"/>
          </a:xfrm>
          <a:custGeom>
            <a:avLst/>
            <a:gdLst/>
            <a:ahLst/>
            <a:cxnLst/>
            <a:rect l="l" t="t" r="r" b="b"/>
            <a:pathLst>
              <a:path w="1651635">
                <a:moveTo>
                  <a:pt x="0" y="0"/>
                </a:moveTo>
                <a:lnTo>
                  <a:pt x="1651532" y="0"/>
                </a:lnTo>
              </a:path>
            </a:pathLst>
          </a:custGeom>
          <a:ln w="21135">
            <a:solidFill>
              <a:srgbClr val="B857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10679100" y="4864036"/>
            <a:ext cx="824865" cy="353695"/>
            <a:chOff x="10679100" y="4864036"/>
            <a:chExt cx="824865" cy="353695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79100" y="4864036"/>
              <a:ext cx="824256" cy="35325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79100" y="4864036"/>
              <a:ext cx="824256" cy="353256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5714" y="217352"/>
            <a:ext cx="2898482" cy="46195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57" y="5902671"/>
            <a:ext cx="12182942" cy="147945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44745" y="1287822"/>
            <a:ext cx="11412220" cy="2326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That's</a:t>
            </a:r>
            <a:r>
              <a:rPr sz="1600" spc="1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81818"/>
                </a:solidFill>
                <a:latin typeface="Arial MT"/>
                <a:cs typeface="Arial MT"/>
              </a:rPr>
              <a:t>correct.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600">
              <a:latin typeface="Arial MT"/>
              <a:cs typeface="Arial MT"/>
            </a:endParaRPr>
          </a:p>
          <a:p>
            <a:pPr marL="21590" marR="5080" indent="-9525">
              <a:lnSpc>
                <a:spcPct val="104000"/>
              </a:lnSpc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6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F1F1F"/>
                </a:solidFill>
                <a:latin typeface="Arial MT"/>
                <a:cs typeface="Arial MT"/>
              </a:rPr>
              <a:t>business</a:t>
            </a:r>
            <a:r>
              <a:rPr sz="160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problem</a:t>
            </a:r>
            <a:r>
              <a:rPr sz="1600" spc="1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51515"/>
                </a:solidFill>
                <a:latin typeface="Arial MT"/>
                <a:cs typeface="Arial MT"/>
              </a:rPr>
              <a:t>of</a:t>
            </a:r>
            <a:r>
              <a:rPr sz="1600" spc="9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routing</a:t>
            </a:r>
            <a:r>
              <a:rPr sz="1600" spc="1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customers</a:t>
            </a:r>
            <a:r>
              <a:rPr sz="1600" spc="114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to</a:t>
            </a:r>
            <a:r>
              <a:rPr sz="1600" spc="22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correct</a:t>
            </a:r>
            <a:r>
              <a:rPr sz="1600" spc="19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agent</a:t>
            </a:r>
            <a:r>
              <a:rPr sz="1600" spc="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must</a:t>
            </a:r>
            <a:r>
              <a:rPr sz="1600" spc="7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be</a:t>
            </a:r>
            <a:r>
              <a:rPr sz="1600" spc="1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converted</a:t>
            </a:r>
            <a:r>
              <a:rPr sz="1600" spc="10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D1D1D"/>
                </a:solidFill>
                <a:latin typeface="Arial MT"/>
                <a:cs typeface="Arial MT"/>
              </a:rPr>
              <a:t>into</a:t>
            </a:r>
            <a:r>
              <a:rPr sz="1600" spc="1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a</a:t>
            </a:r>
            <a:r>
              <a:rPr sz="1600" spc="12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machine</a:t>
            </a:r>
            <a:r>
              <a:rPr sz="1600" spc="13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learning</a:t>
            </a:r>
            <a:r>
              <a:rPr sz="16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problem.</a:t>
            </a:r>
            <a:r>
              <a:rPr sz="1600" spc="7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A1A1A"/>
                </a:solidFill>
                <a:latin typeface="Arial MT"/>
                <a:cs typeface="Arial MT"/>
              </a:rPr>
              <a:t>When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it</a:t>
            </a:r>
            <a:r>
              <a:rPr sz="1600" spc="24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is</a:t>
            </a:r>
            <a:r>
              <a:rPr sz="1600" spc="-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converted</a:t>
            </a:r>
            <a:r>
              <a:rPr sz="1600" spc="1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to</a:t>
            </a:r>
            <a:r>
              <a:rPr sz="1600" spc="229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sz="1600" spc="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machine</a:t>
            </a:r>
            <a:r>
              <a:rPr sz="1600" spc="13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learning</a:t>
            </a:r>
            <a:r>
              <a:rPr sz="1600" spc="10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problem,</a:t>
            </a:r>
            <a:r>
              <a:rPr sz="1600" spc="1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it</a:t>
            </a:r>
            <a:r>
              <a:rPr sz="1600" spc="22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becomes</a:t>
            </a:r>
            <a:r>
              <a:rPr sz="1600" spc="9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A1A1A"/>
                </a:solidFill>
                <a:latin typeface="Arial MT"/>
                <a:cs typeface="Arial MT"/>
              </a:rPr>
              <a:t>identifying</a:t>
            </a:r>
            <a:r>
              <a:rPr sz="16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patterns</a:t>
            </a:r>
            <a:r>
              <a:rPr sz="1600" spc="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D2D2D"/>
                </a:solidFill>
                <a:latin typeface="Arial MT"/>
                <a:cs typeface="Arial MT"/>
              </a:rPr>
              <a:t>in</a:t>
            </a:r>
            <a:r>
              <a:rPr sz="1600" spc="4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customer</a:t>
            </a:r>
            <a:r>
              <a:rPr sz="1600" spc="18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sz="1600" spc="6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0E0E0E"/>
                </a:solidFill>
                <a:latin typeface="Arial MT"/>
                <a:cs typeface="Arial MT"/>
              </a:rPr>
              <a:t>that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could</a:t>
            </a:r>
            <a:r>
              <a:rPr sz="1600" spc="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be</a:t>
            </a:r>
            <a:r>
              <a:rPr sz="1600" spc="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61616"/>
                </a:solidFill>
                <a:latin typeface="Arial MT"/>
                <a:cs typeface="Arial MT"/>
              </a:rPr>
              <a:t>used</a:t>
            </a:r>
            <a:r>
              <a:rPr sz="1600" spc="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50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predict</a:t>
            </a:r>
            <a:r>
              <a:rPr sz="1600" spc="1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accurate</a:t>
            </a:r>
            <a:r>
              <a:rPr sz="1600" spc="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customer</a:t>
            </a:r>
            <a:r>
              <a:rPr sz="1600" spc="2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Arial MT"/>
                <a:cs typeface="Arial MT"/>
              </a:rPr>
              <a:t>routing.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600">
              <a:latin typeface="Arial MT"/>
              <a:cs typeface="Arial MT"/>
            </a:endParaRPr>
          </a:p>
          <a:p>
            <a:pPr marL="19050" marR="26670" indent="635">
              <a:lnSpc>
                <a:spcPct val="105900"/>
              </a:lnSpc>
              <a:spcBef>
                <a:spcPts val="5"/>
              </a:spcBef>
            </a:pPr>
            <a:r>
              <a:rPr sz="1600" spc="-30" dirty="0">
                <a:solidFill>
                  <a:srgbClr val="111111"/>
                </a:solidFill>
                <a:latin typeface="Arial MT"/>
                <a:cs typeface="Arial MT"/>
              </a:rPr>
              <a:t>Based</a:t>
            </a:r>
            <a:r>
              <a:rPr sz="1600" spc="1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on</a:t>
            </a:r>
            <a:r>
              <a:rPr sz="16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600" spc="1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wording</a:t>
            </a:r>
            <a:r>
              <a:rPr sz="1600" spc="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61616"/>
                </a:solidFill>
                <a:latin typeface="Arial MT"/>
                <a:cs typeface="Arial MT"/>
              </a:rPr>
              <a:t>of</a:t>
            </a:r>
            <a:r>
              <a:rPr sz="1600" spc="1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this</a:t>
            </a:r>
            <a:r>
              <a:rPr sz="1600" spc="5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E0E0E"/>
                </a:solidFill>
                <a:latin typeface="Arial MT"/>
                <a:cs typeface="Arial MT"/>
              </a:rPr>
              <a:t>ML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problem,</a:t>
            </a:r>
            <a:r>
              <a:rPr sz="1600" spc="16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it</a:t>
            </a:r>
            <a:r>
              <a:rPr sz="1600" spc="2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is</a:t>
            </a:r>
            <a:r>
              <a:rPr sz="1600" spc="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80808"/>
                </a:solidFill>
                <a:latin typeface="Arial MT"/>
                <a:cs typeface="Arial MT"/>
              </a:rPr>
              <a:t>clearly</a:t>
            </a:r>
            <a:r>
              <a:rPr sz="1600" spc="19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a</a:t>
            </a:r>
            <a:r>
              <a:rPr sz="1600" spc="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multiclass</a:t>
            </a:r>
            <a:r>
              <a:rPr sz="1600" spc="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classification</a:t>
            </a:r>
            <a:r>
              <a:rPr sz="1600" spc="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problem.</a:t>
            </a:r>
            <a:r>
              <a:rPr sz="1600" spc="12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multiclass</a:t>
            </a:r>
            <a:r>
              <a:rPr sz="1600" spc="18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problem</a:t>
            </a:r>
            <a:r>
              <a:rPr sz="1600" spc="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B2B2B"/>
                </a:solidFill>
                <a:latin typeface="Arial MT"/>
                <a:cs typeface="Arial MT"/>
              </a:rPr>
              <a:t>is</a:t>
            </a:r>
            <a:r>
              <a:rPr sz="1600" spc="-2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600" spc="25" dirty="0">
                <a:solidFill>
                  <a:srgbClr val="242424"/>
                </a:solidFill>
                <a:latin typeface="Arial MT"/>
                <a:cs typeface="Arial MT"/>
              </a:rPr>
              <a:t>the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problem</a:t>
            </a:r>
            <a:r>
              <a:rPr sz="1600" spc="1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62626"/>
                </a:solidFill>
                <a:latin typeface="Arial MT"/>
                <a:cs typeface="Arial MT"/>
              </a:rPr>
              <a:t>of</a:t>
            </a:r>
            <a:r>
              <a:rPr sz="1600" spc="5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classifying</a:t>
            </a:r>
            <a:r>
              <a:rPr sz="1600" spc="8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instances</a:t>
            </a:r>
            <a:r>
              <a:rPr sz="1600" spc="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212121"/>
                </a:solidFill>
                <a:latin typeface="Arial MT"/>
                <a:cs typeface="Arial MT"/>
              </a:rPr>
              <a:t>into</a:t>
            </a:r>
            <a:r>
              <a:rPr sz="1600" spc="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one</a:t>
            </a:r>
            <a:r>
              <a:rPr sz="1600" spc="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62626"/>
                </a:solidFill>
                <a:latin typeface="Arial MT"/>
                <a:cs typeface="Arial MT"/>
              </a:rPr>
              <a:t>of</a:t>
            </a:r>
            <a:r>
              <a:rPr sz="1600" spc="8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three</a:t>
            </a:r>
            <a:r>
              <a:rPr sz="1600" spc="6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or</a:t>
            </a:r>
            <a:r>
              <a:rPr sz="1600" spc="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more</a:t>
            </a:r>
            <a:r>
              <a:rPr sz="1600" spc="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-75" dirty="0">
                <a:solidFill>
                  <a:srgbClr val="1C1C1C"/>
                </a:solidFill>
                <a:latin typeface="Arial MT"/>
                <a:cs typeface="Arial MT"/>
              </a:rPr>
              <a:t>classes.</a:t>
            </a:r>
            <a:r>
              <a:rPr sz="1600" spc="9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This</a:t>
            </a:r>
            <a:r>
              <a:rPr sz="1600" spc="-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232323"/>
                </a:solidFill>
                <a:latin typeface="Arial MT"/>
                <a:cs typeface="Arial MT"/>
              </a:rPr>
              <a:t>case</a:t>
            </a:r>
            <a:r>
              <a:rPr sz="1600" spc="9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involves</a:t>
            </a:r>
            <a:r>
              <a:rPr sz="1600" spc="3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more</a:t>
            </a:r>
            <a:r>
              <a:rPr sz="1600" spc="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32323"/>
                </a:solidFill>
                <a:latin typeface="Arial MT"/>
                <a:cs typeface="Arial MT"/>
              </a:rPr>
              <a:t>than</a:t>
            </a:r>
            <a:r>
              <a:rPr sz="1600" spc="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F1F1F"/>
                </a:solidFill>
                <a:latin typeface="Arial MT"/>
                <a:cs typeface="Arial MT"/>
              </a:rPr>
              <a:t>two</a:t>
            </a:r>
            <a:r>
              <a:rPr sz="1600" spc="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options</a:t>
            </a:r>
            <a:r>
              <a:rPr sz="1600" spc="1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to</a:t>
            </a:r>
            <a:r>
              <a:rPr sz="1600" spc="18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direct</a:t>
            </a:r>
            <a:r>
              <a:rPr sz="1600" spc="14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a</a:t>
            </a:r>
            <a:r>
              <a:rPr sz="1600" spc="7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call.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Predicting</a:t>
            </a:r>
            <a:r>
              <a:rPr sz="1600" spc="1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which</a:t>
            </a:r>
            <a:r>
              <a:rPr sz="1600" spc="1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1D1D1D"/>
                </a:solidFill>
                <a:latin typeface="Arial MT"/>
                <a:cs typeface="Arial MT"/>
              </a:rPr>
              <a:t>class</a:t>
            </a:r>
            <a:r>
              <a:rPr sz="1600" spc="6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1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customer</a:t>
            </a:r>
            <a:r>
              <a:rPr sz="1600" spc="29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call</a:t>
            </a:r>
            <a:r>
              <a:rPr sz="1600" spc="-9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should</a:t>
            </a:r>
            <a:r>
              <a:rPr sz="1600" spc="9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be</a:t>
            </a:r>
            <a:r>
              <a:rPr sz="1600" spc="7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routed</a:t>
            </a:r>
            <a:r>
              <a:rPr sz="1600" spc="1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sz="1600" spc="2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can</a:t>
            </a:r>
            <a:r>
              <a:rPr sz="1600" spc="3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be</a:t>
            </a:r>
            <a:r>
              <a:rPr sz="1600" spc="7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identified</a:t>
            </a:r>
            <a:r>
              <a:rPr sz="1600" spc="25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31313"/>
                </a:solidFill>
                <a:latin typeface="Arial MT"/>
                <a:cs typeface="Arial MT"/>
              </a:rPr>
              <a:t>with</a:t>
            </a:r>
            <a:r>
              <a:rPr sz="1600" spc="3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patterns</a:t>
            </a:r>
            <a:r>
              <a:rPr sz="1600" spc="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in</a:t>
            </a:r>
            <a:r>
              <a:rPr sz="1600" spc="114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600" spc="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customer</a:t>
            </a:r>
            <a:r>
              <a:rPr sz="1600" spc="2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E0E0E"/>
                </a:solidFill>
                <a:latin typeface="Arial MT"/>
                <a:cs typeface="Arial MT"/>
              </a:rPr>
              <a:t>data.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072" y="261934"/>
            <a:ext cx="1647189" cy="0"/>
          </a:xfrm>
          <a:custGeom>
            <a:avLst/>
            <a:gdLst/>
            <a:ahLst/>
            <a:cxnLst/>
            <a:rect l="l" t="t" r="r" b="b"/>
            <a:pathLst>
              <a:path w="1647189">
                <a:moveTo>
                  <a:pt x="0" y="0"/>
                </a:moveTo>
                <a:lnTo>
                  <a:pt x="1647087" y="0"/>
                </a:lnTo>
              </a:path>
            </a:pathLst>
          </a:custGeom>
          <a:ln w="3175">
            <a:solidFill>
              <a:srgbClr val="BF6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35"/>
              </a:spcBef>
            </a:pPr>
            <a:r>
              <a:rPr dirty="0">
                <a:solidFill>
                  <a:srgbClr val="151515"/>
                </a:solidFill>
                <a:latin typeface="Arial MT"/>
                <a:cs typeface="Arial MT"/>
              </a:rPr>
              <a:t>Data</a:t>
            </a:r>
            <a:r>
              <a:rPr spc="-2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pc="-70" dirty="0">
                <a:solidFill>
                  <a:srgbClr val="151515"/>
                </a:solidFill>
                <a:latin typeface="Arial MT"/>
                <a:cs typeface="Arial MT"/>
              </a:rPr>
              <a:t>coLLection</a:t>
            </a:r>
            <a:r>
              <a:rPr spc="17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1C1C1C"/>
                </a:solidFill>
                <a:latin typeface="Arial MT"/>
                <a:cs typeface="Arial MT"/>
              </a:rPr>
              <a:t>and</a:t>
            </a:r>
            <a:r>
              <a:rPr spc="-4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pc="45" dirty="0">
                <a:solidFill>
                  <a:srgbClr val="1C1C1C"/>
                </a:solidFill>
                <a:latin typeface="Arial MT"/>
                <a:cs typeface="Arial MT"/>
              </a:rPr>
              <a:t>feature</a:t>
            </a:r>
            <a:r>
              <a:rPr spc="5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0F0F"/>
                </a:solidFill>
                <a:latin typeface="Arial MT"/>
                <a:cs typeface="Arial MT"/>
              </a:rPr>
              <a:t>engineering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4410" y="1200689"/>
            <a:ext cx="11300460" cy="13061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780" marR="5080">
              <a:lnSpc>
                <a:spcPct val="104299"/>
              </a:lnSpc>
              <a:spcBef>
                <a:spcPts val="55"/>
              </a:spcBef>
            </a:pPr>
            <a:r>
              <a:rPr sz="1600" spc="60" dirty="0">
                <a:solidFill>
                  <a:srgbClr val="2A2A2A"/>
                </a:solidFill>
                <a:latin typeface="Arial MT"/>
                <a:cs typeface="Arial MT"/>
              </a:rPr>
              <a:t>After</a:t>
            </a:r>
            <a:r>
              <a:rPr sz="1600" spc="-1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31313"/>
                </a:solidFill>
                <a:latin typeface="Arial MT"/>
                <a:cs typeface="Arial MT"/>
              </a:rPr>
              <a:t>problem</a:t>
            </a:r>
            <a:r>
              <a:rPr sz="1600" spc="-3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0A0A0A"/>
                </a:solidFill>
                <a:latin typeface="Arial MT"/>
                <a:cs typeface="Arial MT"/>
              </a:rPr>
              <a:t>formulation</a:t>
            </a:r>
            <a:r>
              <a:rPr sz="1600" spc="5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is</a:t>
            </a:r>
            <a:r>
              <a:rPr sz="1600" spc="-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data</a:t>
            </a:r>
            <a:r>
              <a:rPr sz="1600" spc="8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collection</a:t>
            </a:r>
            <a:r>
              <a:rPr sz="1600" spc="14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feature</a:t>
            </a:r>
            <a:r>
              <a:rPr sz="1600" spc="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engineering.</a:t>
            </a:r>
            <a:r>
              <a:rPr sz="1600" spc="1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The</a:t>
            </a:r>
            <a:r>
              <a:rPr sz="1600" spc="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dataset</a:t>
            </a:r>
            <a:r>
              <a:rPr sz="1600" spc="12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was</a:t>
            </a:r>
            <a:r>
              <a:rPr sz="1600" spc="7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private</a:t>
            </a:r>
            <a:r>
              <a:rPr sz="1600" spc="1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data</a:t>
            </a:r>
            <a:r>
              <a:rPr sz="1600" spc="-3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0F0F0F"/>
                </a:solidFill>
                <a:latin typeface="Arial MT"/>
                <a:cs typeface="Arial MT"/>
              </a:rPr>
              <a:t>that</a:t>
            </a:r>
            <a:r>
              <a:rPr sz="1600" spc="7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12121"/>
                </a:solidFill>
                <a:latin typeface="Arial MT"/>
                <a:cs typeface="Arial MT"/>
              </a:rPr>
              <a:t>came</a:t>
            </a:r>
            <a:r>
              <a:rPr sz="16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61616"/>
                </a:solidFill>
                <a:latin typeface="Arial MT"/>
                <a:cs typeface="Arial MT"/>
              </a:rPr>
              <a:t>from</a:t>
            </a:r>
            <a:r>
              <a:rPr sz="1600" spc="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212121"/>
                </a:solidFill>
                <a:latin typeface="Arial MT"/>
                <a:cs typeface="Arial MT"/>
              </a:rPr>
              <a:t>within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Amazon</a:t>
            </a:r>
            <a:r>
              <a:rPr sz="1600" spc="1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C1C1C"/>
                </a:solidFill>
                <a:latin typeface="Arial MT"/>
                <a:cs typeface="Arial MT"/>
              </a:rPr>
              <a:t>systems.</a:t>
            </a:r>
            <a:r>
              <a:rPr sz="1600" spc="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1600" spc="114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data</a:t>
            </a:r>
            <a:r>
              <a:rPr sz="1600" spc="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scientists</a:t>
            </a:r>
            <a:r>
              <a:rPr sz="1600" spc="14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gathered</a:t>
            </a:r>
            <a:r>
              <a:rPr sz="1600" spc="8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historical</a:t>
            </a:r>
            <a:r>
              <a:rPr sz="1600" spc="6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customer</a:t>
            </a:r>
            <a:r>
              <a:rPr sz="1600" spc="1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data</a:t>
            </a:r>
            <a:r>
              <a:rPr sz="1600" spc="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95" dirty="0">
                <a:solidFill>
                  <a:srgbClr val="1A1A1A"/>
                </a:solidFill>
                <a:latin typeface="Arial MT"/>
                <a:cs typeface="Arial MT"/>
              </a:rPr>
              <a:t>with</a:t>
            </a:r>
            <a:r>
              <a:rPr sz="1600" spc="-1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2D2D2D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correct</a:t>
            </a:r>
            <a:r>
              <a:rPr sz="1600" spc="114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labels</a:t>
            </a:r>
            <a:r>
              <a:rPr sz="1600" spc="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and</a:t>
            </a:r>
            <a:r>
              <a:rPr sz="1600" spc="-6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customer</a:t>
            </a:r>
            <a:r>
              <a:rPr sz="1600" spc="2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agent</a:t>
            </a:r>
            <a:r>
              <a:rPr sz="1600" spc="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skills.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r>
              <a:rPr sz="1600" spc="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must</a:t>
            </a:r>
            <a:r>
              <a:rPr sz="1600" spc="7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be</a:t>
            </a:r>
            <a:r>
              <a:rPr sz="1600" spc="-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prepared</a:t>
            </a:r>
            <a:r>
              <a:rPr sz="1600" spc="9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31313"/>
                </a:solidFill>
                <a:latin typeface="Arial MT"/>
                <a:cs typeface="Arial MT"/>
              </a:rPr>
              <a:t>for</a:t>
            </a:r>
            <a:r>
              <a:rPr sz="1600" spc="6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use.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60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</a:pP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What</a:t>
            </a:r>
            <a:r>
              <a:rPr sz="1600" spc="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should</a:t>
            </a:r>
            <a:r>
              <a:rPr sz="1600" spc="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sz="1600" spc="8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data</a:t>
            </a:r>
            <a:r>
              <a:rPr sz="1600" spc="2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35" dirty="0">
                <a:solidFill>
                  <a:srgbClr val="131313"/>
                </a:solidFill>
                <a:latin typeface="Arial MT"/>
                <a:cs typeface="Arial MT"/>
              </a:rPr>
              <a:t>science</a:t>
            </a:r>
            <a:r>
              <a:rPr sz="1600" spc="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A1A1A"/>
                </a:solidFill>
                <a:latin typeface="Arial MT"/>
                <a:cs typeface="Arial MT"/>
              </a:rPr>
              <a:t>team</a:t>
            </a:r>
            <a:r>
              <a:rPr sz="1600" spc="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do</a:t>
            </a:r>
            <a:r>
              <a:rPr sz="1600" spc="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F1F1F"/>
                </a:solidFill>
                <a:latin typeface="Arial MT"/>
                <a:cs typeface="Arial MT"/>
              </a:rPr>
              <a:t>after</a:t>
            </a:r>
            <a:r>
              <a:rPr sz="1600" spc="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12121"/>
                </a:solidFill>
                <a:latin typeface="Arial MT"/>
                <a:cs typeface="Arial MT"/>
              </a:rPr>
              <a:t>they</a:t>
            </a:r>
            <a:r>
              <a:rPr sz="16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decide</a:t>
            </a:r>
            <a:r>
              <a:rPr sz="1600" spc="114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which</a:t>
            </a:r>
            <a:r>
              <a:rPr sz="1600" spc="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features</a:t>
            </a:r>
            <a:r>
              <a:rPr sz="1600" spc="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A0A0A"/>
                </a:solidFill>
                <a:latin typeface="Arial MT"/>
                <a:cs typeface="Arial MT"/>
              </a:rPr>
              <a:t>to</a:t>
            </a:r>
            <a:r>
              <a:rPr sz="1600" spc="22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select?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1891" y="3080893"/>
            <a:ext cx="1778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50" dirty="0">
                <a:solidFill>
                  <a:srgbClr val="B8B8B8"/>
                </a:solidFill>
                <a:latin typeface="Arial MT"/>
                <a:cs typeface="Arial MT"/>
              </a:rPr>
              <a:t>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5999" y="3008228"/>
            <a:ext cx="581977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1D1D1D"/>
                </a:solidFill>
                <a:latin typeface="Arial MT"/>
                <a:cs typeface="Arial MT"/>
              </a:rPr>
              <a:t>Use</a:t>
            </a:r>
            <a:r>
              <a:rPr sz="1600" spc="1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feature</a:t>
            </a:r>
            <a:r>
              <a:rPr sz="1600" spc="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extraction</a:t>
            </a:r>
            <a:r>
              <a:rPr sz="1600" spc="1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to</a:t>
            </a:r>
            <a:r>
              <a:rPr sz="1600" spc="28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choose</a:t>
            </a:r>
            <a:r>
              <a:rPr sz="1600" spc="16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a</a:t>
            </a:r>
            <a:r>
              <a:rPr sz="1600" spc="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machine</a:t>
            </a:r>
            <a:r>
              <a:rPr sz="1600" spc="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learning</a:t>
            </a:r>
            <a:r>
              <a:rPr sz="1600" spc="1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45" dirty="0">
                <a:solidFill>
                  <a:srgbClr val="151515"/>
                </a:solidFill>
                <a:latin typeface="Arial MT"/>
                <a:cs typeface="Arial MT"/>
              </a:rPr>
              <a:t>algorithm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3529" y="4007370"/>
            <a:ext cx="19748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50" dirty="0">
                <a:solidFill>
                  <a:srgbClr val="B8B8B8"/>
                </a:solidFill>
                <a:latin typeface="Arial MT"/>
                <a:cs typeface="Arial MT"/>
              </a:rPr>
              <a:t>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5083" y="3921080"/>
            <a:ext cx="387096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80" dirty="0">
                <a:solidFill>
                  <a:srgbClr val="161616"/>
                </a:solidFill>
                <a:latin typeface="Arial MT"/>
                <a:cs typeface="Arial MT"/>
              </a:rPr>
              <a:t>Use</a:t>
            </a:r>
            <a:r>
              <a:rPr sz="1600" spc="8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feature</a:t>
            </a:r>
            <a:r>
              <a:rPr sz="1600" spc="1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extraction</a:t>
            </a:r>
            <a:r>
              <a:rPr sz="1600" spc="20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to</a:t>
            </a:r>
            <a:r>
              <a:rPr sz="1600" spc="3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split</a:t>
            </a:r>
            <a:r>
              <a:rPr sz="1600" spc="114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latin typeface="Arial MT"/>
                <a:cs typeface="Arial MT"/>
              </a:rPr>
              <a:t>the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F0F0F"/>
                </a:solidFill>
                <a:latin typeface="Arial MT"/>
                <a:cs typeface="Arial MT"/>
              </a:rPr>
              <a:t>dataset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5083" y="4829391"/>
            <a:ext cx="529844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80" dirty="0">
                <a:solidFill>
                  <a:srgbClr val="111111"/>
                </a:solidFill>
                <a:latin typeface="Arial MT"/>
                <a:cs typeface="Arial MT"/>
              </a:rPr>
              <a:t>Use</a:t>
            </a:r>
            <a:r>
              <a:rPr sz="1600" spc="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feature</a:t>
            </a:r>
            <a:r>
              <a:rPr sz="1600" spc="5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extraction</a:t>
            </a:r>
            <a:r>
              <a:rPr sz="1600" spc="1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to</a:t>
            </a:r>
            <a:r>
              <a:rPr sz="1600" spc="28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convert</a:t>
            </a:r>
            <a:r>
              <a:rPr sz="1600" spc="6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data</a:t>
            </a:r>
            <a:r>
              <a:rPr sz="1600" spc="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212121"/>
                </a:solidFill>
                <a:latin typeface="Arial MT"/>
                <a:cs typeface="Arial MT"/>
              </a:rPr>
              <a:t>into</a:t>
            </a:r>
            <a:r>
              <a:rPr sz="1600" spc="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a</a:t>
            </a:r>
            <a:r>
              <a:rPr sz="1600" spc="12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usable</a:t>
            </a:r>
            <a:r>
              <a:rPr sz="1600" spc="8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1D1D1D"/>
                </a:solidFill>
                <a:latin typeface="Arial MT"/>
                <a:cs typeface="Arial MT"/>
              </a:rPr>
              <a:t>form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5999" y="5751326"/>
            <a:ext cx="411734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232323"/>
                </a:solidFill>
                <a:latin typeface="Arial MT"/>
                <a:cs typeface="Arial MT"/>
              </a:rPr>
              <a:t>Use</a:t>
            </a:r>
            <a:r>
              <a:rPr sz="1600" spc="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2400" baseline="1736" dirty="0">
                <a:solidFill>
                  <a:srgbClr val="161616"/>
                </a:solidFill>
                <a:latin typeface="Arial MT"/>
                <a:cs typeface="Arial MT"/>
              </a:rPr>
              <a:t>feature</a:t>
            </a:r>
            <a:r>
              <a:rPr sz="2400" spc="97" baseline="1736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2400" baseline="1736" dirty="0">
                <a:solidFill>
                  <a:srgbClr val="131313"/>
                </a:solidFill>
                <a:latin typeface="Arial MT"/>
                <a:cs typeface="Arial MT"/>
              </a:rPr>
              <a:t>extraction</a:t>
            </a:r>
            <a:r>
              <a:rPr sz="2400" spc="217" baseline="1736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400" baseline="1736" dirty="0">
                <a:solidFill>
                  <a:srgbClr val="1F1F1F"/>
                </a:solidFill>
                <a:latin typeface="Arial MT"/>
                <a:cs typeface="Arial MT"/>
              </a:rPr>
              <a:t>to</a:t>
            </a:r>
            <a:r>
              <a:rPr sz="2400" spc="450" baseline="1736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400" spc="-30" baseline="1736" dirty="0">
                <a:solidFill>
                  <a:srgbClr val="1D1D1D"/>
                </a:solidFill>
                <a:latin typeface="Arial MT"/>
                <a:cs typeface="Arial MT"/>
              </a:rPr>
              <a:t>choose</a:t>
            </a:r>
            <a:r>
              <a:rPr sz="2400" spc="195" baseline="1736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2400" baseline="1736" dirty="0">
                <a:solidFill>
                  <a:srgbClr val="212121"/>
                </a:solidFill>
                <a:latin typeface="Arial MT"/>
                <a:cs typeface="Arial MT"/>
              </a:rPr>
              <a:t>new</a:t>
            </a:r>
            <a:r>
              <a:rPr sz="2400" spc="202" baseline="1736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400" spc="-15" baseline="1736" dirty="0">
                <a:solidFill>
                  <a:srgbClr val="1C1C1C"/>
                </a:solidFill>
                <a:latin typeface="Arial MT"/>
                <a:cs typeface="Arial MT"/>
              </a:rPr>
              <a:t>labels.</a:t>
            </a:r>
            <a:endParaRPr sz="2400" baseline="1736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7204" y="206757"/>
            <a:ext cx="1645285" cy="90170"/>
            <a:chOff x="487204" y="206757"/>
            <a:chExt cx="1645285" cy="901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204" y="260684"/>
              <a:ext cx="1635806" cy="359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7204" y="206757"/>
              <a:ext cx="1644794" cy="89878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8096" y="5770249"/>
            <a:ext cx="224698" cy="224696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rgbClr val="1C1C1C"/>
                </a:solidFill>
                <a:latin typeface="Arial MT"/>
                <a:cs typeface="Arial MT"/>
              </a:rPr>
              <a:t>Select</a:t>
            </a:r>
            <a:r>
              <a:rPr sz="2200" spc="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2200" spc="55" dirty="0">
                <a:latin typeface="Arial MT"/>
                <a:cs typeface="Arial MT"/>
              </a:rPr>
              <a:t>and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110" dirty="0">
                <a:solidFill>
                  <a:srgbClr val="131313"/>
                </a:solidFill>
                <a:latin typeface="Arial MT"/>
                <a:cs typeface="Arial MT"/>
              </a:rPr>
              <a:t>train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985" y="1184470"/>
            <a:ext cx="10897235" cy="2069464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indent="6350" algn="just">
              <a:lnSpc>
                <a:spcPts val="1980"/>
              </a:lnSpc>
              <a:spcBef>
                <a:spcPts val="235"/>
              </a:spcBef>
            </a:pPr>
            <a:r>
              <a:rPr sz="1700" spc="-65" dirty="0">
                <a:solidFill>
                  <a:srgbClr val="212121"/>
                </a:solidFill>
                <a:latin typeface="Arial MT"/>
                <a:cs typeface="Arial MT"/>
              </a:rPr>
              <a:t>Now</a:t>
            </a:r>
            <a:r>
              <a:rPr sz="1700" spc="-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C0C0C"/>
                </a:solidFill>
                <a:latin typeface="Arial MT"/>
                <a:cs typeface="Arial MT"/>
              </a:rPr>
              <a:t>that</a:t>
            </a:r>
            <a:r>
              <a:rPr sz="1700" spc="-6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D1D1D"/>
                </a:solidFill>
                <a:latin typeface="Arial MT"/>
                <a:cs typeface="Arial MT"/>
              </a:rPr>
              <a:t>the</a:t>
            </a:r>
            <a:r>
              <a:rPr sz="1700" spc="-6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050505"/>
                </a:solidFill>
                <a:latin typeface="Arial MT"/>
                <a:cs typeface="Arial MT"/>
              </a:rPr>
              <a:t>data</a:t>
            </a:r>
            <a:r>
              <a:rPr sz="1700" spc="-30" dirty="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sz="1700" spc="-120" dirty="0">
                <a:solidFill>
                  <a:srgbClr val="161616"/>
                </a:solidFill>
                <a:latin typeface="Arial MT"/>
                <a:cs typeface="Arial MT"/>
              </a:rPr>
              <a:t>has</a:t>
            </a:r>
            <a:r>
              <a:rPr sz="1700" spc="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80" dirty="0">
                <a:solidFill>
                  <a:srgbClr val="1C1C1C"/>
                </a:solidFill>
                <a:latin typeface="Arial MT"/>
                <a:cs typeface="Arial MT"/>
              </a:rPr>
              <a:t>been</a:t>
            </a:r>
            <a:r>
              <a:rPr sz="1700" spc="1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151515"/>
                </a:solidFill>
                <a:latin typeface="Arial MT"/>
                <a:cs typeface="Arial MT"/>
              </a:rPr>
              <a:t>prepared</a:t>
            </a:r>
            <a:r>
              <a:rPr sz="1700" spc="-3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700" spc="-6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1700" spc="-9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61616"/>
                </a:solidFill>
                <a:latin typeface="Arial MT"/>
                <a:cs typeface="Arial MT"/>
              </a:rPr>
              <a:t>features</a:t>
            </a:r>
            <a:r>
              <a:rPr sz="1700" spc="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70" dirty="0">
                <a:solidFill>
                  <a:srgbClr val="181818"/>
                </a:solidFill>
                <a:latin typeface="Arial MT"/>
                <a:cs typeface="Arial MT"/>
              </a:rPr>
              <a:t>and</a:t>
            </a:r>
            <a:r>
              <a:rPr sz="1700" spc="-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algorithm</a:t>
            </a:r>
            <a:r>
              <a:rPr sz="17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spc="-95" dirty="0">
                <a:solidFill>
                  <a:srgbClr val="1C1C1C"/>
                </a:solidFill>
                <a:latin typeface="Arial MT"/>
                <a:cs typeface="Arial MT"/>
              </a:rPr>
              <a:t>have</a:t>
            </a:r>
            <a:r>
              <a:rPr sz="1700" spc="-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65" dirty="0">
                <a:solidFill>
                  <a:srgbClr val="0F0F0F"/>
                </a:solidFill>
                <a:latin typeface="Arial MT"/>
                <a:cs typeface="Arial MT"/>
              </a:rPr>
              <a:t>been</a:t>
            </a:r>
            <a:r>
              <a:rPr sz="1700" spc="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100" dirty="0">
                <a:solidFill>
                  <a:srgbClr val="1C1C1C"/>
                </a:solidFill>
                <a:latin typeface="Arial MT"/>
                <a:cs typeface="Arial MT"/>
              </a:rPr>
              <a:t>chosen,</a:t>
            </a:r>
            <a:r>
              <a:rPr sz="1700" spc="1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the</a:t>
            </a:r>
            <a:r>
              <a:rPr sz="1700" spc="-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E0E0E"/>
                </a:solidFill>
                <a:latin typeface="Arial MT"/>
                <a:cs typeface="Arial MT"/>
              </a:rPr>
              <a:t>model</a:t>
            </a:r>
            <a:r>
              <a:rPr sz="1700" spc="-6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700" spc="-110" dirty="0">
                <a:solidFill>
                  <a:srgbClr val="212121"/>
                </a:solidFill>
                <a:latin typeface="Arial MT"/>
                <a:cs typeface="Arial MT"/>
              </a:rPr>
              <a:t>can</a:t>
            </a:r>
            <a:r>
              <a:rPr sz="17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181818"/>
                </a:solidFill>
                <a:latin typeface="Arial MT"/>
                <a:cs typeface="Arial MT"/>
              </a:rPr>
              <a:t>be</a:t>
            </a:r>
            <a:r>
              <a:rPr sz="1700" spc="-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0F0F0F"/>
                </a:solidFill>
                <a:latin typeface="Arial MT"/>
                <a:cs typeface="Arial MT"/>
              </a:rPr>
              <a:t>trained.</a:t>
            </a:r>
            <a:r>
              <a:rPr sz="1700" spc="-3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131313"/>
                </a:solidFill>
                <a:latin typeface="Arial MT"/>
                <a:cs typeface="Arial MT"/>
              </a:rPr>
              <a:t>The </a:t>
            </a:r>
            <a:r>
              <a:rPr sz="1700" spc="-10" dirty="0">
                <a:solidFill>
                  <a:srgbClr val="131313"/>
                </a:solidFill>
                <a:latin typeface="Arial MT"/>
                <a:cs typeface="Arial MT"/>
              </a:rPr>
              <a:t>fundamental</a:t>
            </a:r>
            <a:r>
              <a:rPr sz="1700" spc="-1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spc="-30" dirty="0">
                <a:solidFill>
                  <a:srgbClr val="1F1F1F"/>
                </a:solidFill>
                <a:latin typeface="Arial MT"/>
                <a:cs typeface="Arial MT"/>
              </a:rPr>
              <a:t>goal</a:t>
            </a:r>
            <a:r>
              <a:rPr sz="1700" spc="-9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82828"/>
                </a:solidFill>
                <a:latin typeface="Arial MT"/>
                <a:cs typeface="Arial MT"/>
              </a:rPr>
              <a:t>of</a:t>
            </a:r>
            <a:r>
              <a:rPr sz="1700" spc="-12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700" spc="-275" dirty="0">
                <a:solidFill>
                  <a:srgbClr val="1C1C1C"/>
                </a:solidFill>
                <a:latin typeface="Arial MT"/>
                <a:cs typeface="Arial MT"/>
              </a:rPr>
              <a:t>I’•1L</a:t>
            </a:r>
            <a:r>
              <a:rPr sz="1700" spc="1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90" dirty="0">
                <a:solidFill>
                  <a:srgbClr val="2D2D2D"/>
                </a:solidFill>
                <a:latin typeface="Arial MT"/>
                <a:cs typeface="Arial MT"/>
              </a:rPr>
              <a:t>is</a:t>
            </a:r>
            <a:r>
              <a:rPr sz="1700" spc="-3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700" spc="6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700" spc="-1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080808"/>
                </a:solidFill>
                <a:latin typeface="Arial MT"/>
                <a:cs typeface="Arial MT"/>
              </a:rPr>
              <a:t>generalize</a:t>
            </a:r>
            <a:r>
              <a:rPr sz="1700" spc="-5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1A1A1A"/>
                </a:solidFill>
                <a:latin typeface="Arial MT"/>
                <a:cs typeface="Arial MT"/>
              </a:rPr>
              <a:t>beyond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51515"/>
                </a:solidFill>
                <a:latin typeface="Arial MT"/>
                <a:cs typeface="Arial MT"/>
              </a:rPr>
              <a:t>the</a:t>
            </a:r>
            <a:r>
              <a:rPr sz="1700" spc="-7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r>
              <a:rPr sz="1700" spc="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181818"/>
                </a:solidFill>
                <a:latin typeface="Arial MT"/>
                <a:cs typeface="Arial MT"/>
              </a:rPr>
              <a:t>instances</a:t>
            </a:r>
            <a:r>
              <a:rPr sz="1700" spc="-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32323"/>
                </a:solidFill>
                <a:latin typeface="Arial MT"/>
                <a:cs typeface="Arial MT"/>
              </a:rPr>
              <a:t>that</a:t>
            </a:r>
            <a:r>
              <a:rPr sz="1700" spc="-8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700" spc="-70" dirty="0">
                <a:solidFill>
                  <a:srgbClr val="242424"/>
                </a:solidFill>
                <a:latin typeface="Arial MT"/>
                <a:cs typeface="Arial MT"/>
              </a:rPr>
              <a:t>are</a:t>
            </a:r>
            <a:r>
              <a:rPr sz="1700" spc="-3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00" spc="-120" dirty="0">
                <a:solidFill>
                  <a:srgbClr val="1F1F1F"/>
                </a:solidFill>
                <a:latin typeface="Arial MT"/>
                <a:cs typeface="Arial MT"/>
              </a:rPr>
              <a:t>used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60" dirty="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sz="1700" spc="-6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F0F0F"/>
                </a:solidFill>
                <a:latin typeface="Arial MT"/>
                <a:cs typeface="Arial MT"/>
              </a:rPr>
              <a:t>train</a:t>
            </a:r>
            <a:r>
              <a:rPr sz="1700" spc="-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1C1C1C"/>
                </a:solidFill>
                <a:latin typeface="Arial MT"/>
                <a:cs typeface="Arial MT"/>
              </a:rPr>
              <a:t>models.</a:t>
            </a:r>
            <a:r>
              <a:rPr sz="1700" spc="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700" spc="-80" dirty="0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sz="1700" spc="1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0A0A0A"/>
                </a:solidFill>
                <a:latin typeface="Arial MT"/>
                <a:cs typeface="Arial MT"/>
              </a:rPr>
              <a:t>dataset</a:t>
            </a:r>
            <a:r>
              <a:rPr sz="1700" spc="114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700" spc="-140" dirty="0">
                <a:solidFill>
                  <a:srgbClr val="161616"/>
                </a:solidFill>
                <a:latin typeface="Arial MT"/>
                <a:cs typeface="Arial MT"/>
              </a:rPr>
              <a:t>was</a:t>
            </a:r>
            <a:r>
              <a:rPr sz="1700" spc="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split </a:t>
            </a:r>
            <a:r>
              <a:rPr sz="1700" dirty="0">
                <a:solidFill>
                  <a:srgbClr val="1A1A1A"/>
                </a:solidFill>
                <a:latin typeface="Arial MT"/>
                <a:cs typeface="Arial MT"/>
              </a:rPr>
              <a:t>into</a:t>
            </a:r>
            <a:r>
              <a:rPr sz="1700" spc="-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62626"/>
                </a:solidFill>
                <a:latin typeface="Arial MT"/>
                <a:cs typeface="Arial MT"/>
              </a:rPr>
              <a:t>80</a:t>
            </a:r>
            <a:r>
              <a:rPr sz="1700" spc="-1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1A1A1A"/>
                </a:solidFill>
                <a:latin typeface="Arial MT"/>
                <a:cs typeface="Arial MT"/>
              </a:rPr>
              <a:t>percent</a:t>
            </a:r>
            <a:r>
              <a:rPr sz="17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080808"/>
                </a:solidFill>
                <a:latin typeface="Arial MT"/>
                <a:cs typeface="Arial MT"/>
              </a:rPr>
              <a:t>training</a:t>
            </a:r>
            <a:r>
              <a:rPr sz="1700" spc="-3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700" spc="-60" dirty="0">
                <a:solidFill>
                  <a:srgbClr val="111111"/>
                </a:solidFill>
                <a:latin typeface="Arial MT"/>
                <a:cs typeface="Arial MT"/>
              </a:rPr>
              <a:t>data,</a:t>
            </a:r>
            <a:r>
              <a:rPr sz="1700" spc="-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D1D1D"/>
                </a:solidFill>
                <a:latin typeface="Arial MT"/>
                <a:cs typeface="Arial MT"/>
              </a:rPr>
              <a:t>10</a:t>
            </a:r>
            <a:r>
              <a:rPr sz="1700" spc="-11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181818"/>
                </a:solidFill>
                <a:latin typeface="Arial MT"/>
                <a:cs typeface="Arial MT"/>
              </a:rPr>
              <a:t>percent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C0C0C"/>
                </a:solidFill>
                <a:latin typeface="Arial MT"/>
                <a:cs typeface="Arial MT"/>
              </a:rPr>
              <a:t>validation</a:t>
            </a:r>
            <a:r>
              <a:rPr sz="1700" spc="3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data,</a:t>
            </a:r>
            <a:r>
              <a:rPr sz="1700" spc="-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131313"/>
                </a:solidFill>
                <a:latin typeface="Arial MT"/>
                <a:cs typeface="Arial MT"/>
              </a:rPr>
              <a:t>and</a:t>
            </a:r>
            <a:r>
              <a:rPr sz="1700" spc="-8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F1F1F"/>
                </a:solidFill>
                <a:latin typeface="Arial MT"/>
                <a:cs typeface="Arial MT"/>
              </a:rPr>
              <a:t>10</a:t>
            </a:r>
            <a:r>
              <a:rPr sz="1700" spc="-10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262626"/>
                </a:solidFill>
                <a:latin typeface="Arial MT"/>
                <a:cs typeface="Arial MT"/>
              </a:rPr>
              <a:t>percent</a:t>
            </a:r>
            <a:r>
              <a:rPr sz="1700" spc="-2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12121"/>
                </a:solidFill>
                <a:latin typeface="Arial MT"/>
                <a:cs typeface="Arial MT"/>
              </a:rPr>
              <a:t>test</a:t>
            </a:r>
            <a:r>
              <a:rPr sz="1700" spc="-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111"/>
                </a:solidFill>
                <a:latin typeface="Arial MT"/>
                <a:cs typeface="Arial MT"/>
              </a:rPr>
              <a:t>data.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700">
              <a:latin typeface="Arial MT"/>
              <a:cs typeface="Arial MT"/>
            </a:endParaRPr>
          </a:p>
          <a:p>
            <a:pPr marL="15240" algn="just">
              <a:lnSpc>
                <a:spcPct val="100000"/>
              </a:lnSpc>
            </a:pP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What</a:t>
            </a:r>
            <a:r>
              <a:rPr sz="1600" spc="8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is</a:t>
            </a:r>
            <a:r>
              <a:rPr sz="1600" spc="-1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the</a:t>
            </a:r>
            <a:r>
              <a:rPr sz="1600" spc="8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benefit</a:t>
            </a:r>
            <a:r>
              <a:rPr sz="1600" spc="114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82828"/>
                </a:solidFill>
                <a:latin typeface="Arial MT"/>
                <a:cs typeface="Arial MT"/>
              </a:rPr>
              <a:t>of</a:t>
            </a:r>
            <a:r>
              <a:rPr sz="1600" spc="19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splitting</a:t>
            </a:r>
            <a:r>
              <a:rPr sz="1600" spc="13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all</a:t>
            </a:r>
            <a:r>
              <a:rPr sz="1600" spc="10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available</a:t>
            </a:r>
            <a:r>
              <a:rPr sz="1600" spc="27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data</a:t>
            </a:r>
            <a:r>
              <a:rPr sz="1600" spc="2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11111"/>
                </a:solidFill>
                <a:latin typeface="Arial MT"/>
                <a:cs typeface="Arial MT"/>
              </a:rPr>
              <a:t>into</a:t>
            </a:r>
            <a:r>
              <a:rPr sz="1600" spc="9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training,</a:t>
            </a:r>
            <a:r>
              <a:rPr sz="1600" spc="19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validation,</a:t>
            </a:r>
            <a:r>
              <a:rPr sz="1600" spc="18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sz="1600" spc="1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test</a:t>
            </a:r>
            <a:r>
              <a:rPr sz="1600" spc="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Arial MT"/>
                <a:cs typeface="Arial MT"/>
              </a:rPr>
              <a:t>subsets?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600">
              <a:latin typeface="Arial MT"/>
              <a:cs typeface="Arial MT"/>
            </a:endParaRPr>
          </a:p>
          <a:p>
            <a:pPr marL="660400">
              <a:lnSpc>
                <a:spcPct val="100000"/>
              </a:lnSpc>
            </a:pP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The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model</a:t>
            </a:r>
            <a:r>
              <a:rPr sz="1600" spc="-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61616"/>
                </a:solidFill>
                <a:latin typeface="Arial MT"/>
                <a:cs typeface="Arial MT"/>
              </a:rPr>
              <a:t>has </a:t>
            </a:r>
            <a:r>
              <a:rPr sz="1600" spc="-40" dirty="0">
                <a:solidFill>
                  <a:srgbClr val="161616"/>
                </a:solidFill>
                <a:latin typeface="Arial MT"/>
                <a:cs typeface="Arial MT"/>
              </a:rPr>
              <a:t>less</a:t>
            </a:r>
            <a:r>
              <a:rPr sz="1600" spc="-2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r>
              <a:rPr sz="1600" spc="-8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to</a:t>
            </a:r>
            <a:r>
              <a:rPr sz="1600" spc="1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51515"/>
                </a:solidFill>
                <a:latin typeface="Arial MT"/>
                <a:cs typeface="Arial MT"/>
              </a:rPr>
              <a:t>process</a:t>
            </a:r>
            <a:r>
              <a:rPr sz="1600" spc="6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45" dirty="0">
                <a:solidFill>
                  <a:srgbClr val="212121"/>
                </a:solidFill>
                <a:latin typeface="Arial MT"/>
                <a:cs typeface="Arial MT"/>
              </a:rPr>
              <a:t>so</a:t>
            </a:r>
            <a:r>
              <a:rPr sz="1600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it</a:t>
            </a:r>
            <a:r>
              <a:rPr sz="1600" spc="2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131313"/>
                </a:solidFill>
                <a:latin typeface="Arial MT"/>
                <a:cs typeface="Arial MT"/>
              </a:rPr>
              <a:t>will</a:t>
            </a:r>
            <a:r>
              <a:rPr sz="1600" spc="-8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run</a:t>
            </a:r>
            <a:r>
              <a:rPr sz="1600" spc="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faster.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6955" y="3881580"/>
            <a:ext cx="1016000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dirty="0">
                <a:solidFill>
                  <a:srgbClr val="262626"/>
                </a:solidFill>
                <a:latin typeface="Arial MT"/>
                <a:cs typeface="Arial MT"/>
              </a:rPr>
              <a:t>The</a:t>
            </a:r>
            <a:r>
              <a:rPr sz="1550" spc="8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550" spc="70" dirty="0">
                <a:solidFill>
                  <a:srgbClr val="1A1A1A"/>
                </a:solidFill>
                <a:latin typeface="Arial MT"/>
                <a:cs typeface="Arial MT"/>
              </a:rPr>
              <a:t>model</a:t>
            </a:r>
            <a:r>
              <a:rPr sz="1550" spc="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50" spc="90" dirty="0">
                <a:solidFill>
                  <a:srgbClr val="1C1C1C"/>
                </a:solidFill>
                <a:latin typeface="Arial MT"/>
                <a:cs typeface="Arial MT"/>
              </a:rPr>
              <a:t>will</a:t>
            </a:r>
            <a:r>
              <a:rPr sz="1550" spc="-2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sz="1550" spc="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11111"/>
                </a:solidFill>
                <a:latin typeface="Arial MT"/>
                <a:cs typeface="Arial MT"/>
              </a:rPr>
              <a:t>evaluated</a:t>
            </a:r>
            <a:r>
              <a:rPr sz="1550" spc="18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F2F2F"/>
                </a:solidFill>
                <a:latin typeface="Arial MT"/>
                <a:cs typeface="Arial MT"/>
              </a:rPr>
              <a:t>on</a:t>
            </a:r>
            <a:r>
              <a:rPr sz="1550" spc="-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550" spc="75" dirty="0">
                <a:solidFill>
                  <a:srgbClr val="1C1C1C"/>
                </a:solidFill>
                <a:latin typeface="Arial MT"/>
                <a:cs typeface="Arial MT"/>
              </a:rPr>
              <a:t>the</a:t>
            </a:r>
            <a:r>
              <a:rPr sz="1550" spc="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A1A1A"/>
                </a:solidFill>
                <a:latin typeface="Arial MT"/>
                <a:cs typeface="Arial MT"/>
              </a:rPr>
              <a:t>same </a:t>
            </a:r>
            <a:r>
              <a:rPr sz="1550" spc="55" dirty="0">
                <a:solidFill>
                  <a:srgbClr val="181818"/>
                </a:solidFill>
                <a:latin typeface="Arial MT"/>
                <a:cs typeface="Arial MT"/>
              </a:rPr>
              <a:t>training</a:t>
            </a:r>
            <a:r>
              <a:rPr sz="1550" spc="1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D1D1D"/>
                </a:solidFill>
                <a:latin typeface="Arial MT"/>
                <a:cs typeface="Arial MT"/>
              </a:rPr>
              <a:t>data</a:t>
            </a:r>
            <a:r>
              <a:rPr sz="1550" spc="13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C1C1C"/>
                </a:solidFill>
                <a:latin typeface="Arial MT"/>
                <a:cs typeface="Arial MT"/>
              </a:rPr>
              <a:t>to</a:t>
            </a:r>
            <a:r>
              <a:rPr sz="1550" spc="26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161616"/>
                </a:solidFill>
                <a:latin typeface="Arial MT"/>
                <a:cs typeface="Arial MT"/>
              </a:rPr>
              <a:t>see</a:t>
            </a:r>
            <a:r>
              <a:rPr sz="1550" spc="9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32323"/>
                </a:solidFill>
                <a:latin typeface="Arial MT"/>
                <a:cs typeface="Arial MT"/>
              </a:rPr>
              <a:t>whether</a:t>
            </a:r>
            <a:r>
              <a:rPr sz="1550" spc="1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82828"/>
                </a:solidFill>
                <a:latin typeface="Arial MT"/>
                <a:cs typeface="Arial MT"/>
              </a:rPr>
              <a:t>it</a:t>
            </a:r>
            <a:r>
              <a:rPr sz="1550" spc="31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A2A2A"/>
                </a:solidFill>
                <a:latin typeface="Arial MT"/>
                <a:cs typeface="Arial MT"/>
              </a:rPr>
              <a:t>is</a:t>
            </a:r>
            <a:r>
              <a:rPr sz="1550" spc="2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61616"/>
                </a:solidFill>
                <a:latin typeface="Arial MT"/>
                <a:cs typeface="Arial MT"/>
              </a:rPr>
              <a:t>able</a:t>
            </a:r>
            <a:r>
              <a:rPr sz="1550" spc="-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sz="1550" spc="2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61616"/>
                </a:solidFill>
                <a:latin typeface="Arial MT"/>
                <a:cs typeface="Arial MT"/>
              </a:rPr>
              <a:t>remember</a:t>
            </a:r>
            <a:r>
              <a:rPr sz="1550" spc="18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51515"/>
                </a:solidFill>
                <a:latin typeface="Arial MT"/>
                <a:cs typeface="Arial MT"/>
              </a:rPr>
              <a:t>the</a:t>
            </a:r>
            <a:r>
              <a:rPr sz="1550" spc="24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550" spc="55" dirty="0">
                <a:solidFill>
                  <a:srgbClr val="232323"/>
                </a:solidFill>
                <a:latin typeface="Arial MT"/>
                <a:cs typeface="Arial MT"/>
              </a:rPr>
              <a:t>training</a:t>
            </a:r>
            <a:r>
              <a:rPr sz="1550" spc="1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111111"/>
                </a:solidFill>
                <a:latin typeface="Arial MT"/>
                <a:cs typeface="Arial MT"/>
              </a:rPr>
              <a:t>data.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6809" y="4783115"/>
            <a:ext cx="9867900" cy="1387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sz="1600" spc="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model</a:t>
            </a:r>
            <a:r>
              <a:rPr sz="1600" spc="-3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12121"/>
                </a:solidFill>
                <a:latin typeface="Arial MT"/>
                <a:cs typeface="Arial MT"/>
              </a:rPr>
              <a:t>can</a:t>
            </a:r>
            <a:r>
              <a:rPr sz="1600" spc="-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be</a:t>
            </a:r>
            <a:r>
              <a:rPr sz="1600" spc="-7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validated</a:t>
            </a:r>
            <a:r>
              <a:rPr sz="1600" spc="-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0E0E0E"/>
                </a:solidFill>
                <a:latin typeface="Arial MT"/>
                <a:cs typeface="Arial MT"/>
              </a:rPr>
              <a:t>as</a:t>
            </a:r>
            <a:r>
              <a:rPr sz="1600" spc="-1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either</a:t>
            </a:r>
            <a:r>
              <a:rPr sz="1600" spc="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95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6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F0F0F"/>
                </a:solidFill>
                <a:latin typeface="Arial MT"/>
                <a:cs typeface="Arial MT"/>
              </a:rPr>
              <a:t>supervised,</a:t>
            </a:r>
            <a:r>
              <a:rPr sz="1600" spc="9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an</a:t>
            </a:r>
            <a:r>
              <a:rPr sz="1600" spc="1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unsupervised,</a:t>
            </a:r>
            <a:r>
              <a:rPr sz="1600" spc="2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or</a:t>
            </a:r>
            <a:r>
              <a:rPr sz="1600" spc="5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a</a:t>
            </a:r>
            <a:r>
              <a:rPr sz="1600" spc="6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reinforcement</a:t>
            </a:r>
            <a:r>
              <a:rPr sz="1600" spc="18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learning</a:t>
            </a:r>
            <a:r>
              <a:rPr sz="1600" spc="10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31313"/>
                </a:solidFill>
                <a:latin typeface="Arial MT"/>
                <a:cs typeface="Arial MT"/>
              </a:rPr>
              <a:t>problem.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600">
              <a:latin typeface="Arial MT"/>
              <a:cs typeface="Arial MT"/>
            </a:endParaRPr>
          </a:p>
          <a:p>
            <a:pPr marL="12700" marR="5080" indent="-635">
              <a:lnSpc>
                <a:spcPct val="106900"/>
              </a:lnSpc>
            </a:pP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1600" spc="2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model</a:t>
            </a:r>
            <a:r>
              <a:rPr sz="1600" spc="-3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A1A1A"/>
                </a:solidFill>
                <a:latin typeface="Arial MT"/>
                <a:cs typeface="Arial MT"/>
              </a:rPr>
              <a:t>can</a:t>
            </a:r>
            <a:r>
              <a:rPr sz="1600" spc="-4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be</a:t>
            </a:r>
            <a:r>
              <a:rPr sz="1600" spc="-3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evaluated</a:t>
            </a:r>
            <a:r>
              <a:rPr sz="1600" spc="114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on</a:t>
            </a:r>
            <a:r>
              <a:rPr sz="1600" spc="-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data</a:t>
            </a:r>
            <a:r>
              <a:rPr sz="1600" spc="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latin typeface="Arial MT"/>
                <a:cs typeface="Arial MT"/>
              </a:rPr>
              <a:t>that</a:t>
            </a:r>
            <a:r>
              <a:rPr sz="1600" spc="90" dirty="0">
                <a:latin typeface="Arial MT"/>
                <a:cs typeface="Arial MT"/>
              </a:rPr>
              <a:t> </a:t>
            </a:r>
            <a:r>
              <a:rPr sz="1600" spc="-60" dirty="0">
                <a:solidFill>
                  <a:srgbClr val="131313"/>
                </a:solidFill>
                <a:latin typeface="Arial MT"/>
                <a:cs typeface="Arial MT"/>
              </a:rPr>
              <a:t>was</a:t>
            </a:r>
            <a:r>
              <a:rPr sz="1600" spc="-3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not</a:t>
            </a:r>
            <a:r>
              <a:rPr sz="1600" spc="39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used</a:t>
            </a:r>
            <a:r>
              <a:rPr sz="1600" spc="-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D1D1D"/>
                </a:solidFill>
                <a:latin typeface="Arial MT"/>
                <a:cs typeface="Arial MT"/>
              </a:rPr>
              <a:t>for</a:t>
            </a:r>
            <a:r>
              <a:rPr sz="1600" spc="1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training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to</a:t>
            </a:r>
            <a:r>
              <a:rPr sz="1600" spc="17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100" dirty="0">
                <a:solidFill>
                  <a:srgbClr val="1F1F1F"/>
                </a:solidFill>
                <a:latin typeface="Arial MT"/>
                <a:cs typeface="Arial MT"/>
              </a:rPr>
              <a:t>assess</a:t>
            </a:r>
            <a:r>
              <a:rPr sz="1600" spc="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how</a:t>
            </a:r>
            <a:r>
              <a:rPr sz="1600" spc="3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welt</a:t>
            </a:r>
            <a:r>
              <a:rPr sz="1600" spc="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D2D2D"/>
                </a:solidFill>
                <a:latin typeface="Arial MT"/>
                <a:cs typeface="Arial MT"/>
              </a:rPr>
              <a:t>it</a:t>
            </a:r>
            <a:r>
              <a:rPr sz="1600" spc="18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sz="16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generalizing</a:t>
            </a:r>
            <a:r>
              <a:rPr sz="1600" spc="2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61616"/>
                </a:solidFill>
                <a:latin typeface="Arial MT"/>
                <a:cs typeface="Arial MT"/>
              </a:rPr>
              <a:t>new </a:t>
            </a:r>
            <a:r>
              <a:rPr sz="1600" spc="-10" dirty="0">
                <a:solidFill>
                  <a:srgbClr val="0F0F0F"/>
                </a:solidFill>
                <a:latin typeface="Arial MT"/>
                <a:cs typeface="Arial MT"/>
              </a:rPr>
              <a:t>information.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3324" y="297058"/>
            <a:ext cx="1631950" cy="0"/>
          </a:xfrm>
          <a:custGeom>
            <a:avLst/>
            <a:gdLst/>
            <a:ahLst/>
            <a:cxnLst/>
            <a:rect l="l" t="t" r="r" b="b"/>
            <a:pathLst>
              <a:path w="1631950">
                <a:moveTo>
                  <a:pt x="0" y="0"/>
                </a:moveTo>
                <a:lnTo>
                  <a:pt x="1631558" y="0"/>
                </a:lnTo>
              </a:path>
            </a:pathLst>
          </a:custGeom>
          <a:ln w="21110">
            <a:solidFill>
              <a:srgbClr val="D464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608" y="4921835"/>
            <a:ext cx="244281" cy="2442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3798" y="6591098"/>
            <a:ext cx="3085181" cy="85951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181818"/>
                </a:solidFill>
                <a:latin typeface="Arial MT"/>
                <a:cs typeface="Arial MT"/>
              </a:rPr>
              <a:t>Tune</a:t>
            </a:r>
            <a:r>
              <a:rPr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pc="55" dirty="0">
                <a:solidFill>
                  <a:srgbClr val="232323"/>
                </a:solidFill>
                <a:latin typeface="Arial MT"/>
                <a:cs typeface="Arial MT"/>
              </a:rPr>
              <a:t>and</a:t>
            </a:r>
            <a:r>
              <a:rPr spc="-1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161616"/>
                </a:solidFill>
                <a:latin typeface="Arial MT"/>
                <a:cs typeface="Arial MT"/>
              </a:rPr>
              <a:t>evaluate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7669" y="1241130"/>
            <a:ext cx="11068050" cy="13011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635">
              <a:lnSpc>
                <a:spcPct val="103899"/>
              </a:lnSpc>
              <a:spcBef>
                <a:spcPts val="55"/>
              </a:spcBef>
            </a:pP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Training</a:t>
            </a:r>
            <a:r>
              <a:rPr sz="1600" spc="9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C1C1C"/>
                </a:solidFill>
                <a:latin typeface="Arial MT"/>
                <a:cs typeface="Arial MT"/>
              </a:rPr>
              <a:t>the</a:t>
            </a:r>
            <a:r>
              <a:rPr sz="1600" spc="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model</a:t>
            </a:r>
            <a:r>
              <a:rPr sz="16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requires</a:t>
            </a:r>
            <a:r>
              <a:rPr sz="1600" spc="19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deploying</a:t>
            </a:r>
            <a:r>
              <a:rPr sz="1600" spc="18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35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85" dirty="0">
                <a:solidFill>
                  <a:srgbClr val="2D2D2D"/>
                </a:solidFill>
                <a:latin typeface="Arial MT"/>
                <a:cs typeface="Arial MT"/>
              </a:rPr>
              <a:t>a</a:t>
            </a:r>
            <a:r>
              <a:rPr sz="1600" spc="-1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test</a:t>
            </a:r>
            <a:r>
              <a:rPr sz="1600" spc="14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environment.</a:t>
            </a:r>
            <a:r>
              <a:rPr sz="1600" spc="1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282828"/>
                </a:solidFill>
                <a:latin typeface="Arial MT"/>
                <a:cs typeface="Arial MT"/>
              </a:rPr>
              <a:t>After</a:t>
            </a:r>
            <a:r>
              <a:rPr sz="1600" spc="12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running</a:t>
            </a:r>
            <a:r>
              <a:rPr sz="1600" spc="1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7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training</a:t>
            </a:r>
            <a:r>
              <a:rPr sz="1600" spc="1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job,</a:t>
            </a:r>
            <a:r>
              <a:rPr sz="1600" spc="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evaluate</a:t>
            </a:r>
            <a:r>
              <a:rPr sz="1600" spc="1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212121"/>
                </a:solidFill>
                <a:latin typeface="Arial MT"/>
                <a:cs typeface="Arial MT"/>
              </a:rPr>
              <a:t>model</a:t>
            </a:r>
            <a:r>
              <a:rPr sz="1600" spc="-6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and</a:t>
            </a:r>
            <a:r>
              <a:rPr sz="1600" spc="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12121"/>
                </a:solidFill>
                <a:latin typeface="Arial MT"/>
                <a:cs typeface="Arial MT"/>
              </a:rPr>
              <a:t>make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iterative</a:t>
            </a:r>
            <a:r>
              <a:rPr sz="1600" spc="3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tweaks</a:t>
            </a:r>
            <a:r>
              <a:rPr sz="1600" spc="8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to</a:t>
            </a:r>
            <a:r>
              <a:rPr sz="1600" spc="29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F1F1F"/>
                </a:solidFill>
                <a:latin typeface="Arial MT"/>
                <a:cs typeface="Arial MT"/>
              </a:rPr>
              <a:t>the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model</a:t>
            </a:r>
            <a:r>
              <a:rPr sz="1600" spc="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data.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The</a:t>
            </a:r>
            <a:r>
              <a:rPr sz="1600" spc="9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D1D1D"/>
                </a:solidFill>
                <a:latin typeface="Arial MT"/>
                <a:cs typeface="Arial MT"/>
              </a:rPr>
              <a:t>tuning</a:t>
            </a:r>
            <a:r>
              <a:rPr sz="1600" spc="2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and</a:t>
            </a:r>
            <a:r>
              <a:rPr sz="1600" spc="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evaluation</a:t>
            </a:r>
            <a:r>
              <a:rPr sz="1600" spc="11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-30" dirty="0">
                <a:solidFill>
                  <a:srgbClr val="181818"/>
                </a:solidFill>
                <a:latin typeface="Arial MT"/>
                <a:cs typeface="Arial MT"/>
              </a:rPr>
              <a:t>process</a:t>
            </a:r>
            <a:r>
              <a:rPr sz="1600" spc="9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is</a:t>
            </a:r>
            <a:r>
              <a:rPr sz="1600" spc="-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to</a:t>
            </a:r>
            <a:r>
              <a:rPr sz="1600" spc="33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understand</a:t>
            </a:r>
            <a:r>
              <a:rPr sz="1600" spc="15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32323"/>
                </a:solidFill>
                <a:latin typeface="Arial MT"/>
                <a:cs typeface="Arial MT"/>
              </a:rPr>
              <a:t>how</a:t>
            </a:r>
            <a:r>
              <a:rPr sz="1600" spc="7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61616"/>
                </a:solidFill>
                <a:latin typeface="Arial MT"/>
                <a:cs typeface="Arial MT"/>
              </a:rPr>
              <a:t>well</a:t>
            </a:r>
            <a:r>
              <a:rPr sz="1600" spc="-8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the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model</a:t>
            </a:r>
            <a:r>
              <a:rPr sz="1600" spc="4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C1C1C"/>
                </a:solidFill>
                <a:latin typeface="Arial MT"/>
                <a:cs typeface="Arial MT"/>
              </a:rPr>
              <a:t>is </a:t>
            </a:r>
            <a:r>
              <a:rPr sz="1600" spc="-10" dirty="0">
                <a:solidFill>
                  <a:srgbClr val="111111"/>
                </a:solidFill>
                <a:latin typeface="Arial MT"/>
                <a:cs typeface="Arial MT"/>
              </a:rPr>
              <a:t>performing.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60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What</a:t>
            </a:r>
            <a:r>
              <a:rPr sz="1600" spc="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is</a:t>
            </a:r>
            <a:r>
              <a:rPr sz="1600" spc="-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happening</a:t>
            </a:r>
            <a:r>
              <a:rPr sz="1600" spc="1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if</a:t>
            </a:r>
            <a:r>
              <a:rPr sz="1600" spc="2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D2D2D"/>
                </a:solidFill>
                <a:latin typeface="Arial MT"/>
                <a:cs typeface="Arial MT"/>
              </a:rPr>
              <a:t>a</a:t>
            </a:r>
            <a:r>
              <a:rPr sz="1600" spc="2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model</a:t>
            </a:r>
            <a:r>
              <a:rPr sz="1600" spc="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A2A2A"/>
                </a:solidFill>
                <a:latin typeface="Arial MT"/>
                <a:cs typeface="Arial MT"/>
              </a:rPr>
              <a:t>is</a:t>
            </a:r>
            <a:r>
              <a:rPr sz="1600" spc="3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overfitting?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4885" y="3113962"/>
            <a:ext cx="193675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10" dirty="0">
                <a:solidFill>
                  <a:srgbClr val="BFBFBF"/>
                </a:solidFill>
                <a:latin typeface="Arial MT"/>
                <a:cs typeface="Arial MT"/>
              </a:rPr>
              <a:t>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9086" y="3041581"/>
            <a:ext cx="610997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model</a:t>
            </a:r>
            <a:r>
              <a:rPr sz="1600" spc="6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performs</a:t>
            </a:r>
            <a:r>
              <a:rPr sz="1600" spc="13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too</a:t>
            </a:r>
            <a:r>
              <a:rPr sz="1600" spc="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fast</a:t>
            </a:r>
            <a:r>
              <a:rPr sz="1600" spc="2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sz="1600" spc="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cannot</a:t>
            </a:r>
            <a:r>
              <a:rPr sz="1600" spc="19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A0A0A"/>
                </a:solidFill>
                <a:latin typeface="Arial MT"/>
                <a:cs typeface="Arial MT"/>
              </a:rPr>
              <a:t>reach</a:t>
            </a:r>
            <a:r>
              <a:rPr sz="1600" spc="2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an</a:t>
            </a:r>
            <a:r>
              <a:rPr sz="1600" spc="5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61616"/>
                </a:solidFill>
                <a:latin typeface="Arial MT"/>
                <a:cs typeface="Arial MT"/>
              </a:rPr>
              <a:t>optimum</a:t>
            </a:r>
            <a:r>
              <a:rPr sz="1600" spc="14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81818"/>
                </a:solidFill>
                <a:latin typeface="Arial MT"/>
                <a:cs typeface="Arial MT"/>
              </a:rPr>
              <a:t>value.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5582" y="4027758"/>
            <a:ext cx="137795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-50" dirty="0">
                <a:solidFill>
                  <a:srgbClr val="BABABA"/>
                </a:solidFill>
                <a:latin typeface="Arial MT"/>
                <a:cs typeface="Arial MT"/>
              </a:rPr>
              <a:t>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9086" y="3946331"/>
            <a:ext cx="901573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sz="1600" spc="7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C1C1C"/>
                </a:solidFill>
                <a:latin typeface="Arial MT"/>
                <a:cs typeface="Arial MT"/>
              </a:rPr>
              <a:t>model</a:t>
            </a:r>
            <a:r>
              <a:rPr sz="1600" spc="-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performs</a:t>
            </a:r>
            <a:r>
              <a:rPr sz="1600" spc="14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32323"/>
                </a:solidFill>
                <a:latin typeface="Arial MT"/>
                <a:cs typeface="Arial MT"/>
              </a:rPr>
              <a:t>well</a:t>
            </a:r>
            <a:r>
              <a:rPr sz="1600" spc="-3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on</a:t>
            </a:r>
            <a:r>
              <a:rPr sz="1600" spc="7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D1D1D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training</a:t>
            </a:r>
            <a:r>
              <a:rPr sz="1600" spc="114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data,</a:t>
            </a:r>
            <a:r>
              <a:rPr sz="1600" spc="-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but</a:t>
            </a:r>
            <a:r>
              <a:rPr sz="1600" spc="2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it</a:t>
            </a:r>
            <a:r>
              <a:rPr sz="1600" spc="30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doesn't</a:t>
            </a:r>
            <a:r>
              <a:rPr sz="1600" spc="16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D1D1D"/>
                </a:solidFill>
                <a:latin typeface="Arial MT"/>
                <a:cs typeface="Arial MT"/>
              </a:rPr>
              <a:t>perform</a:t>
            </a:r>
            <a:r>
              <a:rPr sz="1600" spc="10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11111"/>
                </a:solidFill>
                <a:latin typeface="Arial MT"/>
                <a:cs typeface="Arial MT"/>
              </a:rPr>
              <a:t>well</a:t>
            </a:r>
            <a:r>
              <a:rPr sz="1600" spc="-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A1A1A"/>
                </a:solidFill>
                <a:latin typeface="Arial MT"/>
                <a:cs typeface="Arial MT"/>
              </a:rPr>
              <a:t>on</a:t>
            </a:r>
            <a:r>
              <a:rPr sz="1600" spc="-10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262626"/>
                </a:solidFill>
                <a:latin typeface="Arial MT"/>
                <a:cs typeface="Arial MT"/>
              </a:rPr>
              <a:t>the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evaluation</a:t>
            </a:r>
            <a:r>
              <a:rPr sz="1600" spc="16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F0F0F"/>
                </a:solidFill>
                <a:latin typeface="Arial MT"/>
                <a:cs typeface="Arial MT"/>
              </a:rPr>
              <a:t>data.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9086" y="4747034"/>
            <a:ext cx="10292715" cy="5276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9050" marR="5080" indent="-6985">
              <a:lnSpc>
                <a:spcPct val="103899"/>
              </a:lnSpc>
              <a:spcBef>
                <a:spcPts val="55"/>
              </a:spcBef>
            </a:pP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600" spc="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model</a:t>
            </a:r>
            <a:r>
              <a:rPr sz="1600" spc="1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performs</a:t>
            </a:r>
            <a:r>
              <a:rPr sz="1600" spc="19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poorly</a:t>
            </a:r>
            <a:r>
              <a:rPr sz="1600" spc="24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on</a:t>
            </a:r>
            <a:r>
              <a:rPr sz="1600" spc="1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1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training</a:t>
            </a:r>
            <a:r>
              <a:rPr sz="1600" spc="2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22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600" spc="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can't</a:t>
            </a:r>
            <a:r>
              <a:rPr sz="1600" spc="19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capture</a:t>
            </a:r>
            <a:r>
              <a:rPr sz="1600" spc="204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600" spc="12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relationship</a:t>
            </a:r>
            <a:r>
              <a:rPr sz="1600" spc="1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between</a:t>
            </a:r>
            <a:r>
              <a:rPr sz="1600" spc="16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the</a:t>
            </a:r>
            <a:r>
              <a:rPr sz="1600" spc="114" dirty="0"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1F1F1F"/>
                </a:solidFill>
                <a:latin typeface="Arial MT"/>
                <a:cs typeface="Arial MT"/>
              </a:rPr>
              <a:t>input</a:t>
            </a:r>
            <a:r>
              <a:rPr sz="1600" spc="114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11111"/>
                </a:solidFill>
                <a:latin typeface="Arial MT"/>
                <a:cs typeface="Arial MT"/>
              </a:rPr>
              <a:t>examples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and</a:t>
            </a:r>
            <a:r>
              <a:rPr sz="1600" spc="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target</a:t>
            </a:r>
            <a:r>
              <a:rPr sz="1600" spc="1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C1C1C"/>
                </a:solidFill>
                <a:latin typeface="Arial MT"/>
                <a:cs typeface="Arial MT"/>
              </a:rPr>
              <a:t>values.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4885" y="5855352"/>
            <a:ext cx="18034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spc="-50" dirty="0">
                <a:solidFill>
                  <a:srgbClr val="B1B1B1"/>
                </a:solidFill>
                <a:latin typeface="Arial MT"/>
                <a:cs typeface="Arial MT"/>
              </a:rPr>
              <a:t>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9086" y="5773925"/>
            <a:ext cx="63411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The</a:t>
            </a:r>
            <a:r>
              <a:rPr sz="1600" spc="7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model</a:t>
            </a:r>
            <a:r>
              <a:rPr sz="1600" spc="4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performs</a:t>
            </a:r>
            <a:r>
              <a:rPr sz="1600" spc="114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32323"/>
                </a:solidFill>
                <a:latin typeface="Arial MT"/>
                <a:cs typeface="Arial MT"/>
              </a:rPr>
              <a:t>too</a:t>
            </a:r>
            <a:r>
              <a:rPr sz="1600" spc="11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slowly</a:t>
            </a:r>
            <a:r>
              <a:rPr sz="1600" spc="1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60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cannot</a:t>
            </a:r>
            <a:r>
              <a:rPr sz="1600" spc="114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reach</a:t>
            </a:r>
            <a:r>
              <a:rPr sz="1600" spc="8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an</a:t>
            </a:r>
            <a:r>
              <a:rPr sz="1600" spc="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61616"/>
                </a:solidFill>
                <a:latin typeface="Arial MT"/>
                <a:cs typeface="Arial MT"/>
              </a:rPr>
              <a:t>optimum</a:t>
            </a:r>
            <a:r>
              <a:rPr sz="1600" spc="1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E0E0E"/>
                </a:solidFill>
                <a:latin typeface="Arial MT"/>
                <a:cs typeface="Arial MT"/>
              </a:rPr>
              <a:t>value.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3784" y="3342622"/>
            <a:ext cx="1716716" cy="14532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38796" y="2897549"/>
            <a:ext cx="2061876" cy="21981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542" y="199866"/>
            <a:ext cx="1653134" cy="6358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626768" y="2938423"/>
            <a:ext cx="1635125" cy="2112010"/>
            <a:chOff x="1626768" y="2938423"/>
            <a:chExt cx="1635125" cy="2112010"/>
          </a:xfrm>
        </p:grpSpPr>
        <p:sp>
          <p:nvSpPr>
            <p:cNvPr id="6" name="object 6"/>
            <p:cNvSpPr/>
            <p:nvPr/>
          </p:nvSpPr>
          <p:spPr>
            <a:xfrm>
              <a:off x="1644935" y="4767155"/>
              <a:ext cx="1066165" cy="0"/>
            </a:xfrm>
            <a:custGeom>
              <a:avLst/>
              <a:gdLst/>
              <a:ahLst/>
              <a:cxnLst/>
              <a:rect l="l" t="t" r="r" b="b"/>
              <a:pathLst>
                <a:path w="1066164">
                  <a:moveTo>
                    <a:pt x="0" y="0"/>
                  </a:moveTo>
                  <a:lnTo>
                    <a:pt x="1065756" y="0"/>
                  </a:lnTo>
                </a:path>
              </a:pathLst>
            </a:custGeom>
            <a:ln w="21193">
              <a:solidFill>
                <a:srgbClr val="4B54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2675" y="3687780"/>
              <a:ext cx="1099062" cy="10354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26768" y="2938423"/>
              <a:ext cx="1630427" cy="2111822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35852" y="6562583"/>
            <a:ext cx="1780298" cy="95372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5"/>
              </a:spcBef>
            </a:pPr>
            <a:r>
              <a:rPr dirty="0">
                <a:solidFill>
                  <a:srgbClr val="161616"/>
                </a:solidFill>
                <a:latin typeface="Arial MT"/>
                <a:cs typeface="Arial MT"/>
              </a:rPr>
              <a:t>Amazoc</a:t>
            </a:r>
            <a:r>
              <a:rPr spc="13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pc="-160" dirty="0">
                <a:latin typeface="Arial MT"/>
                <a:cs typeface="Arial MT"/>
              </a:rPr>
              <a:t>caLt</a:t>
            </a:r>
            <a:r>
              <a:rPr spc="25" dirty="0">
                <a:latin typeface="Arial MT"/>
                <a:cs typeface="Arial MT"/>
              </a:rPr>
              <a:t> </a:t>
            </a:r>
            <a:r>
              <a:rPr dirty="0">
                <a:solidFill>
                  <a:srgbClr val="131313"/>
                </a:solidFill>
                <a:latin typeface="Arial MT"/>
                <a:cs typeface="Arial MT"/>
              </a:rPr>
              <a:t>center</a:t>
            </a:r>
            <a:r>
              <a:rPr spc="14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pc="-80" dirty="0">
                <a:solidFill>
                  <a:srgbClr val="161616"/>
                </a:solidFill>
                <a:latin typeface="Arial MT"/>
                <a:cs typeface="Arial MT"/>
              </a:rPr>
              <a:t>case</a:t>
            </a:r>
            <a:r>
              <a:rPr spc="8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181818"/>
                </a:solidFill>
                <a:latin typeface="Arial MT"/>
                <a:cs typeface="Arial MT"/>
              </a:rPr>
              <a:t>study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82963" y="1196149"/>
            <a:ext cx="11367135" cy="10477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" marR="5080" indent="-3810">
              <a:lnSpc>
                <a:spcPct val="104299"/>
              </a:lnSpc>
              <a:spcBef>
                <a:spcPts val="55"/>
              </a:spcBef>
            </a:pP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When</a:t>
            </a:r>
            <a:r>
              <a:rPr sz="1600" spc="3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C0C0C"/>
                </a:solidFill>
                <a:latin typeface="Arial MT"/>
                <a:cs typeface="Arial MT"/>
              </a:rPr>
              <a:t>call</a:t>
            </a:r>
            <a:r>
              <a:rPr sz="1600" spc="-6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center</a:t>
            </a:r>
            <a:r>
              <a:rPr sz="1600" spc="9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F1F1F"/>
                </a:solidFill>
                <a:latin typeface="Arial MT"/>
                <a:cs typeface="Arial MT"/>
              </a:rPr>
              <a:t>mod.el</a:t>
            </a:r>
            <a:r>
              <a:rPr sz="1600" spc="-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61616"/>
                </a:solidFill>
                <a:latin typeface="Arial MT"/>
                <a:cs typeface="Arial MT"/>
              </a:rPr>
              <a:t>was</a:t>
            </a:r>
            <a:r>
              <a:rPr sz="1600" spc="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deployed,</a:t>
            </a:r>
            <a:r>
              <a:rPr sz="1600" spc="1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the</a:t>
            </a:r>
            <a:r>
              <a:rPr sz="1600" spc="3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number</a:t>
            </a:r>
            <a:r>
              <a:rPr sz="1600" spc="19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81818"/>
                </a:solidFill>
                <a:latin typeface="Arial MT"/>
                <a:cs typeface="Arial MT"/>
              </a:rPr>
              <a:t>of</a:t>
            </a:r>
            <a:r>
              <a:rPr sz="1600" spc="47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transfers</a:t>
            </a:r>
            <a:r>
              <a:rPr sz="1600" spc="1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181818"/>
                </a:solidFill>
                <a:latin typeface="Arial MT"/>
                <a:cs typeface="Arial MT"/>
              </a:rPr>
              <a:t>did</a:t>
            </a:r>
            <a:r>
              <a:rPr sz="1600" spc="-6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30" dirty="0">
                <a:solidFill>
                  <a:srgbClr val="1C1C1C"/>
                </a:solidFill>
                <a:latin typeface="Arial MT"/>
                <a:cs typeface="Arial MT"/>
              </a:rPr>
              <a:t>decrease,</a:t>
            </a:r>
            <a:r>
              <a:rPr sz="1600" spc="114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which</a:t>
            </a:r>
            <a:r>
              <a:rPr sz="1600" spc="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resulted</a:t>
            </a:r>
            <a:r>
              <a:rPr sz="1600" spc="7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in</a:t>
            </a:r>
            <a:r>
              <a:rPr sz="1600" spc="7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a</a:t>
            </a:r>
            <a:r>
              <a:rPr sz="1600" spc="9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51515"/>
                </a:solidFill>
                <a:latin typeface="Arial MT"/>
                <a:cs typeface="Arial MT"/>
              </a:rPr>
              <a:t>much</a:t>
            </a:r>
            <a:r>
              <a:rPr sz="1600" spc="2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40" dirty="0">
                <a:solidFill>
                  <a:srgbClr val="1A1A1A"/>
                </a:solidFill>
                <a:latin typeface="Arial MT"/>
                <a:cs typeface="Arial MT"/>
              </a:rPr>
              <a:t>better</a:t>
            </a:r>
            <a:r>
              <a:rPr sz="1600" spc="500" dirty="0">
                <a:solidFill>
                  <a:srgbClr val="1A1A1A"/>
                </a:solidFill>
                <a:latin typeface="Arial MT"/>
                <a:cs typeface="Arial MT"/>
              </a:rPr>
              <a:t> 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customer</a:t>
            </a:r>
            <a:r>
              <a:rPr sz="1600" spc="18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81818"/>
                </a:solidFill>
                <a:latin typeface="Arial MT"/>
                <a:cs typeface="Arial MT"/>
              </a:rPr>
              <a:t>experience.</a:t>
            </a:r>
            <a:r>
              <a:rPr sz="1600" spc="10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This</a:t>
            </a:r>
            <a:r>
              <a:rPr sz="1600" spc="6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outcome</a:t>
            </a:r>
            <a:r>
              <a:rPr sz="1600" spc="1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shows</a:t>
            </a:r>
            <a:r>
              <a:rPr sz="1600" spc="3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F1F1F"/>
                </a:solidFill>
                <a:latin typeface="Arial MT"/>
                <a:cs typeface="Arial MT"/>
              </a:rPr>
              <a:t>that</a:t>
            </a:r>
            <a:r>
              <a:rPr sz="160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C1C1C"/>
                </a:solidFill>
                <a:latin typeface="Arial MT"/>
                <a:cs typeface="Arial MT"/>
              </a:rPr>
              <a:t>the</a:t>
            </a:r>
            <a:r>
              <a:rPr sz="1600" spc="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model</a:t>
            </a:r>
            <a:r>
              <a:rPr sz="1600" spc="5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metric</a:t>
            </a:r>
            <a:r>
              <a:rPr sz="1600" spc="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and</a:t>
            </a:r>
            <a:r>
              <a:rPr sz="1600" spc="-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sz="1600" spc="3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65" dirty="0">
                <a:solidFill>
                  <a:srgbClr val="151515"/>
                </a:solidFill>
                <a:latin typeface="Arial MT"/>
                <a:cs typeface="Arial MT"/>
              </a:rPr>
              <a:t>success</a:t>
            </a:r>
            <a:r>
              <a:rPr sz="1600" spc="8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metric</a:t>
            </a:r>
            <a:r>
              <a:rPr sz="1600" spc="9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were</a:t>
            </a:r>
            <a:r>
              <a:rPr sz="1600" spc="7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matched,</a:t>
            </a:r>
            <a:r>
              <a:rPr sz="1600" spc="16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and</a:t>
            </a:r>
            <a:r>
              <a:rPr sz="1600" spc="-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sz="1600" spc="5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model </a:t>
            </a:r>
            <a:r>
              <a:rPr sz="1600" spc="-25" dirty="0">
                <a:solidFill>
                  <a:srgbClr val="212121"/>
                </a:solidFill>
                <a:latin typeface="Arial MT"/>
                <a:cs typeface="Arial MT"/>
              </a:rPr>
              <a:t>was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designed</a:t>
            </a:r>
            <a:r>
              <a:rPr sz="1600" spc="14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wetl. </a:t>
            </a:r>
            <a:r>
              <a:rPr sz="1600" spc="50" dirty="0">
                <a:solidFill>
                  <a:srgbClr val="242424"/>
                </a:solidFill>
                <a:latin typeface="Arial MT"/>
                <a:cs typeface="Arial MT"/>
              </a:rPr>
              <a:t>With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81818"/>
                </a:solidFill>
                <a:latin typeface="Arial MT"/>
                <a:cs typeface="Arial MT"/>
              </a:rPr>
              <a:t>the</a:t>
            </a:r>
            <a:r>
              <a:rPr sz="1600" spc="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machine</a:t>
            </a:r>
            <a:r>
              <a:rPr sz="1600" spc="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learning</a:t>
            </a:r>
            <a:r>
              <a:rPr sz="1600" spc="8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modet</a:t>
            </a:r>
            <a:r>
              <a:rPr sz="1600" spc="5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sz="1600" spc="1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E0E0E"/>
                </a:solidFill>
                <a:latin typeface="Arial MT"/>
                <a:cs typeface="Arial MT"/>
              </a:rPr>
              <a:t>place,</a:t>
            </a:r>
            <a:r>
              <a:rPr sz="1600" spc="1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customer</a:t>
            </a:r>
            <a:r>
              <a:rPr sz="1600" spc="16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gets</a:t>
            </a:r>
            <a:r>
              <a:rPr sz="1600" spc="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directed</a:t>
            </a:r>
            <a:r>
              <a:rPr sz="1600" spc="4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to</a:t>
            </a:r>
            <a:r>
              <a:rPr sz="1600" spc="13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A1A1A"/>
                </a:solidFill>
                <a:latin typeface="Arial MT"/>
                <a:cs typeface="Arial MT"/>
              </a:rPr>
              <a:t>correct</a:t>
            </a:r>
            <a:r>
              <a:rPr sz="1600" spc="8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agent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sz="1600" spc="-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232323"/>
                </a:solidFill>
                <a:latin typeface="Arial MT"/>
                <a:cs typeface="Arial MT"/>
              </a:rPr>
              <a:t>first</a:t>
            </a:r>
            <a:r>
              <a:rPr sz="1600" spc="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40" dirty="0">
                <a:solidFill>
                  <a:srgbClr val="111111"/>
                </a:solidFill>
                <a:latin typeface="Arial MT"/>
                <a:cs typeface="Arial MT"/>
              </a:rPr>
              <a:t>time.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This</a:t>
            </a:r>
            <a:r>
              <a:rPr sz="1600" spc="-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change</a:t>
            </a:r>
            <a:r>
              <a:rPr sz="1600" spc="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12121"/>
                </a:solidFill>
                <a:latin typeface="Arial MT"/>
                <a:cs typeface="Arial MT"/>
              </a:rPr>
              <a:t>saved</a:t>
            </a:r>
            <a:r>
              <a:rPr sz="16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a</a:t>
            </a:r>
            <a:r>
              <a:rPr sz="1600" spc="-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lot</a:t>
            </a:r>
            <a:r>
              <a:rPr sz="1600" spc="45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of</a:t>
            </a:r>
            <a:r>
              <a:rPr sz="1600" spc="31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money,</a:t>
            </a:r>
            <a:r>
              <a:rPr sz="1600" spc="3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-30" dirty="0">
                <a:solidFill>
                  <a:srgbClr val="0F0F0F"/>
                </a:solidFill>
                <a:latin typeface="Arial MT"/>
                <a:cs typeface="Arial MT"/>
              </a:rPr>
              <a:t>saved</a:t>
            </a:r>
            <a:r>
              <a:rPr sz="1600" spc="3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2A2A2A"/>
                </a:solidFill>
                <a:latin typeface="Arial MT"/>
                <a:cs typeface="Arial MT"/>
              </a:rPr>
              <a:t>time,</a:t>
            </a:r>
            <a:r>
              <a:rPr sz="1600" spc="-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sz="1600" spc="-2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A1A1A"/>
                </a:solidFill>
                <a:latin typeface="Arial MT"/>
                <a:cs typeface="Arial MT"/>
              </a:rPr>
              <a:t>was</a:t>
            </a:r>
            <a:r>
              <a:rPr sz="1600" spc="-7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a</a:t>
            </a:r>
            <a:r>
              <a:rPr sz="1600" spc="-4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good</a:t>
            </a:r>
            <a:r>
              <a:rPr sz="1600" spc="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way</a:t>
            </a:r>
            <a:r>
              <a:rPr sz="1600" spc="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sz="1600" spc="22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get</a:t>
            </a:r>
            <a:r>
              <a:rPr sz="1600" spc="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our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customers</a:t>
            </a:r>
            <a:r>
              <a:rPr sz="1600" spc="13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62626"/>
                </a:solidFill>
                <a:latin typeface="Arial MT"/>
                <a:cs typeface="Arial MT"/>
              </a:rPr>
              <a:t>the help</a:t>
            </a:r>
            <a:r>
              <a:rPr sz="160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262626"/>
                </a:solidFill>
                <a:latin typeface="Arial MT"/>
                <a:cs typeface="Arial MT"/>
              </a:rPr>
              <a:t>that</a:t>
            </a:r>
            <a:r>
              <a:rPr sz="1600" spc="1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they</a:t>
            </a:r>
            <a:r>
              <a:rPr sz="1600" spc="1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needed.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954" y="260614"/>
            <a:ext cx="1635786" cy="6291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017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114"/>
              </a:spcBef>
            </a:pPr>
            <a:r>
              <a:rPr sz="1900" spc="-10" dirty="0">
                <a:latin typeface="Arial MT"/>
                <a:cs typeface="Arial MT"/>
              </a:rPr>
              <a:t>Knowledge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131313"/>
                </a:solidFill>
                <a:latin typeface="Arial MT"/>
                <a:cs typeface="Arial MT"/>
              </a:rPr>
              <a:t>check</a:t>
            </a:r>
            <a:r>
              <a:rPr sz="1900" spc="-8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900" spc="30" dirty="0">
                <a:solidFill>
                  <a:srgbClr val="2F2F2F"/>
                </a:solidFill>
                <a:latin typeface="Arial MT"/>
                <a:cs typeface="Arial MT"/>
              </a:rPr>
              <a:t>01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8246" y="951714"/>
            <a:ext cx="10288905" cy="1344295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 marR="5080" indent="3175">
              <a:lnSpc>
                <a:spcPts val="1980"/>
              </a:lnSpc>
              <a:spcBef>
                <a:spcPts val="334"/>
              </a:spcBef>
            </a:pPr>
            <a:r>
              <a:rPr sz="1800" spc="-85" dirty="0">
                <a:solidFill>
                  <a:srgbClr val="131313"/>
                </a:solidFill>
                <a:latin typeface="Arial MT"/>
                <a:cs typeface="Arial MT"/>
              </a:rPr>
              <a:t>Which</a:t>
            </a:r>
            <a:r>
              <a:rPr sz="1800" spc="-4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A1A1A"/>
                </a:solidFill>
                <a:latin typeface="Arial MT"/>
                <a:cs typeface="Arial MT"/>
              </a:rPr>
              <a:t>option</a:t>
            </a:r>
            <a:r>
              <a:rPr sz="1800" spc="-1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C1C1C"/>
                </a:solidFill>
                <a:latin typeface="Arial MT"/>
                <a:cs typeface="Arial MT"/>
              </a:rPr>
              <a:t>is</a:t>
            </a:r>
            <a:r>
              <a:rPr sz="1800" spc="-229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C1C1C"/>
                </a:solidFill>
                <a:latin typeface="Arial MT"/>
                <a:cs typeface="Arial MT"/>
              </a:rPr>
              <a:t>true</a:t>
            </a:r>
            <a:r>
              <a:rPr sz="1800" spc="-1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111111"/>
                </a:solidFill>
                <a:latin typeface="Arial MT"/>
                <a:cs typeface="Arial MT"/>
              </a:rPr>
              <a:t>about</a:t>
            </a:r>
            <a:r>
              <a:rPr sz="1800" spc="-1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800" spc="-200" dirty="0">
                <a:solidFill>
                  <a:srgbClr val="0A0A0A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800" spc="-35" dirty="0">
                <a:solidFill>
                  <a:srgbClr val="1A1A1A"/>
                </a:solidFill>
                <a:latin typeface="Arial MT"/>
                <a:cs typeface="Arial MT"/>
              </a:rPr>
              <a:t>model</a:t>
            </a:r>
            <a:r>
              <a:rPr sz="1800" spc="-9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12121"/>
                </a:solidFill>
                <a:latin typeface="Arial MT"/>
                <a:cs typeface="Arial MT"/>
              </a:rPr>
              <a:t>if</a:t>
            </a:r>
            <a:r>
              <a:rPr sz="18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C1C1C"/>
                </a:solidFill>
                <a:latin typeface="Arial MT"/>
                <a:cs typeface="Arial MT"/>
              </a:rPr>
              <a:t>it</a:t>
            </a:r>
            <a:r>
              <a:rPr sz="1800" spc="10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D1D1D"/>
                </a:solidFill>
                <a:latin typeface="Arial MT"/>
                <a:cs typeface="Arial MT"/>
              </a:rPr>
              <a:t>is</a:t>
            </a:r>
            <a:r>
              <a:rPr sz="1800" spc="-17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800" spc="-45" dirty="0">
                <a:solidFill>
                  <a:srgbClr val="131313"/>
                </a:solidFill>
                <a:latin typeface="Arial MT"/>
                <a:cs typeface="Arial MT"/>
              </a:rPr>
              <a:t>memorizing</a:t>
            </a:r>
            <a:r>
              <a:rPr sz="1800" spc="-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sz="1800" spc="-1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51515"/>
                </a:solidFill>
                <a:latin typeface="Arial MT"/>
                <a:cs typeface="Arial MT"/>
              </a:rPr>
              <a:t>training</a:t>
            </a:r>
            <a:r>
              <a:rPr sz="1800" spc="-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80808"/>
                </a:solidFill>
                <a:latin typeface="Arial MT"/>
                <a:cs typeface="Arial MT"/>
              </a:rPr>
              <a:t>data,</a:t>
            </a:r>
            <a:r>
              <a:rPr sz="1800" spc="-125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1800" spc="-150" dirty="0">
                <a:solidFill>
                  <a:srgbClr val="151515"/>
                </a:solidFill>
                <a:latin typeface="Arial MT"/>
                <a:cs typeface="Arial MT"/>
              </a:rPr>
              <a:t>as</a:t>
            </a:r>
            <a:r>
              <a:rPr sz="1800" spc="-7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800" spc="-100" dirty="0">
                <a:solidFill>
                  <a:srgbClr val="111111"/>
                </a:solidFill>
                <a:latin typeface="Arial MT"/>
                <a:cs typeface="Arial MT"/>
              </a:rPr>
              <a:t>opposed</a:t>
            </a:r>
            <a:r>
              <a:rPr sz="1800" spc="-3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800" spc="65" dirty="0">
                <a:solidFill>
                  <a:srgbClr val="151515"/>
                </a:solidFill>
                <a:latin typeface="Arial MT"/>
                <a:cs typeface="Arial MT"/>
              </a:rPr>
              <a:t>to</a:t>
            </a:r>
            <a:r>
              <a:rPr sz="1800" spc="-12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161616"/>
                </a:solidFill>
                <a:latin typeface="Arial MT"/>
                <a:cs typeface="Arial MT"/>
              </a:rPr>
              <a:t>actually</a:t>
            </a:r>
            <a:r>
              <a:rPr sz="1800" spc="-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151515"/>
                </a:solidFill>
                <a:latin typeface="Arial MT"/>
                <a:cs typeface="Arial MT"/>
              </a:rPr>
              <a:t>learning</a:t>
            </a:r>
            <a:r>
              <a:rPr sz="1800" spc="-5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212121"/>
                </a:solidFill>
                <a:latin typeface="Arial MT"/>
                <a:cs typeface="Arial MT"/>
              </a:rPr>
              <a:t>the </a:t>
            </a:r>
            <a:r>
              <a:rPr sz="1800" spc="-30" dirty="0">
                <a:solidFill>
                  <a:srgbClr val="1C1C1C"/>
                </a:solidFill>
                <a:latin typeface="Arial MT"/>
                <a:cs typeface="Arial MT"/>
              </a:rPr>
              <a:t>relationships</a:t>
            </a:r>
            <a:r>
              <a:rPr sz="1800" spc="-5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800" spc="-60" dirty="0">
                <a:solidFill>
                  <a:srgbClr val="1A1A1A"/>
                </a:solidFill>
                <a:latin typeface="Arial MT"/>
                <a:cs typeface="Arial MT"/>
              </a:rPr>
              <a:t>between</a:t>
            </a:r>
            <a:r>
              <a:rPr sz="1800" spc="-2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1A1A1A"/>
                </a:solidFill>
                <a:latin typeface="Arial MT"/>
                <a:cs typeface="Arial MT"/>
              </a:rPr>
              <a:t>features</a:t>
            </a:r>
            <a:r>
              <a:rPr sz="1800" spc="-3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800" spc="-70" dirty="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sz="1800" spc="-12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11111"/>
                </a:solidFill>
                <a:latin typeface="Arial MT"/>
                <a:cs typeface="Arial MT"/>
              </a:rPr>
              <a:t>labels?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1800">
              <a:latin typeface="Arial MT"/>
              <a:cs typeface="Arial MT"/>
            </a:endParaRPr>
          </a:p>
          <a:p>
            <a:pPr marL="394970">
              <a:lnSpc>
                <a:spcPct val="100000"/>
              </a:lnSpc>
            </a:pPr>
            <a:r>
              <a:rPr sz="1750" dirty="0">
                <a:solidFill>
                  <a:srgbClr val="282828"/>
                </a:solidFill>
                <a:latin typeface="Calibri"/>
                <a:cs typeface="Calibri"/>
              </a:rPr>
              <a:t>It</a:t>
            </a:r>
            <a:r>
              <a:rPr sz="1750" spc="2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313131"/>
                </a:solidFill>
                <a:latin typeface="Calibri"/>
                <a:cs typeface="Calibri"/>
              </a:rPr>
              <a:t>is</a:t>
            </a:r>
            <a:r>
              <a:rPr sz="1750" spc="9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0C0C0C"/>
                </a:solidFill>
                <a:latin typeface="Calibri"/>
                <a:cs typeface="Calibri"/>
              </a:rPr>
              <a:t>overfitted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080" y="2538823"/>
            <a:ext cx="16510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spc="-50" dirty="0">
                <a:solidFill>
                  <a:srgbClr val="AEAEAE"/>
                </a:solidFill>
                <a:latin typeface="Calibri"/>
                <a:cs typeface="Calibri"/>
              </a:rPr>
              <a:t>O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1896" y="2493884"/>
            <a:ext cx="2385060" cy="280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dirty="0">
                <a:solidFill>
                  <a:srgbClr val="111111"/>
                </a:solidFill>
                <a:latin typeface="Calibri"/>
                <a:cs typeface="Calibri"/>
              </a:rPr>
              <a:t>It</a:t>
            </a:r>
            <a:r>
              <a:rPr sz="1650" spc="26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F1F1F"/>
                </a:solidFill>
                <a:latin typeface="Calibri"/>
                <a:cs typeface="Calibri"/>
              </a:rPr>
              <a:t>is</a:t>
            </a:r>
            <a:r>
              <a:rPr sz="1650" spc="1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1A1A1A"/>
                </a:solidFill>
                <a:latin typeface="Calibri"/>
                <a:cs typeface="Calibri"/>
              </a:rPr>
              <a:t>ready</a:t>
            </a:r>
            <a:r>
              <a:rPr sz="1650" spc="6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0E0E0E"/>
                </a:solidFill>
                <a:latin typeface="Calibri"/>
                <a:cs typeface="Calibri"/>
              </a:rPr>
              <a:t>for</a:t>
            </a:r>
            <a:r>
              <a:rPr sz="1650" spc="21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161616"/>
                </a:solidFill>
                <a:latin typeface="Calibri"/>
                <a:cs typeface="Calibri"/>
              </a:rPr>
              <a:t>deployment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0778" y="3017926"/>
            <a:ext cx="177800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15" dirty="0">
                <a:solidFill>
                  <a:srgbClr val="B5B5B5"/>
                </a:solidFill>
                <a:latin typeface="Calibri"/>
                <a:cs typeface="Calibri"/>
              </a:rPr>
              <a:t>O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372" y="2977481"/>
            <a:ext cx="1233170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solidFill>
                  <a:srgbClr val="212121"/>
                </a:solidFill>
                <a:latin typeface="Calibri"/>
                <a:cs typeface="Calibri"/>
              </a:rPr>
              <a:t>It</a:t>
            </a:r>
            <a:r>
              <a:rPr sz="1700" spc="10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700" spc="55" dirty="0">
                <a:solidFill>
                  <a:srgbClr val="282828"/>
                </a:solidFill>
                <a:latin typeface="Calibri"/>
                <a:cs typeface="Calibri"/>
              </a:rPr>
              <a:t>is</a:t>
            </a:r>
            <a:r>
              <a:rPr sz="1700" spc="-6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1A1A1A"/>
                </a:solidFill>
                <a:latin typeface="Calibri"/>
                <a:cs typeface="Calibri"/>
              </a:rPr>
              <a:t>balanced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1372" y="3458331"/>
            <a:ext cx="1450975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baseline="1633" dirty="0">
                <a:solidFill>
                  <a:srgbClr val="282828"/>
                </a:solidFill>
                <a:latin typeface="Calibri"/>
                <a:cs typeface="Calibri"/>
              </a:rPr>
              <a:t>It</a:t>
            </a:r>
            <a:r>
              <a:rPr sz="2550" spc="179" baseline="1633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1C1C1C"/>
                </a:solidFill>
                <a:latin typeface="Calibri"/>
                <a:cs typeface="Calibri"/>
              </a:rPr>
              <a:t>is</a:t>
            </a:r>
            <a:r>
              <a:rPr sz="1700" spc="2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spc="-15" baseline="1633" dirty="0">
                <a:solidFill>
                  <a:srgbClr val="1A1A1A"/>
                </a:solidFill>
                <a:latin typeface="Calibri"/>
                <a:cs typeface="Calibri"/>
              </a:rPr>
              <a:t>underfitted</a:t>
            </a:r>
            <a:endParaRPr sz="2550" baseline="1633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118" y="209971"/>
            <a:ext cx="1654658" cy="6364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35"/>
              </a:spcBef>
            </a:pPr>
            <a:r>
              <a:rPr sz="1900" dirty="0">
                <a:latin typeface="Arial MT"/>
                <a:cs typeface="Arial MT"/>
              </a:rPr>
              <a:t>Knowledge</a:t>
            </a:r>
            <a:r>
              <a:rPr sz="1900" spc="-20" dirty="0">
                <a:latin typeface="Arial MT"/>
                <a:cs typeface="Arial MT"/>
              </a:rPr>
              <a:t> check</a:t>
            </a:r>
            <a:r>
              <a:rPr sz="1900" spc="-100" dirty="0"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242424"/>
                </a:solidFill>
                <a:latin typeface="Arial MT"/>
                <a:cs typeface="Arial MT"/>
              </a:rPr>
              <a:t>02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715" y="936209"/>
            <a:ext cx="10015855" cy="267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At</a:t>
            </a:r>
            <a:r>
              <a:rPr sz="1600" spc="29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A1A1A"/>
                </a:solidFill>
                <a:latin typeface="Arial MT"/>
                <a:cs typeface="Arial MT"/>
              </a:rPr>
              <a:t>which</a:t>
            </a:r>
            <a:r>
              <a:rPr sz="1600" spc="8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stage</a:t>
            </a:r>
            <a:r>
              <a:rPr sz="1600" spc="1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of</a:t>
            </a:r>
            <a:r>
              <a:rPr sz="1600" spc="2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121"/>
                </a:solidFill>
                <a:latin typeface="Arial MT"/>
                <a:cs typeface="Arial MT"/>
              </a:rPr>
              <a:t>data</a:t>
            </a:r>
            <a:r>
              <a:rPr sz="1600" spc="1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0A0A0A"/>
                </a:solidFill>
                <a:latin typeface="Arial MT"/>
                <a:cs typeface="Arial MT"/>
              </a:rPr>
              <a:t>preparation</a:t>
            </a:r>
            <a:r>
              <a:rPr sz="1600" spc="14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51515"/>
                </a:solidFill>
                <a:latin typeface="Arial MT"/>
                <a:cs typeface="Arial MT"/>
              </a:rPr>
              <a:t>would</a:t>
            </a:r>
            <a:r>
              <a:rPr sz="1600" spc="2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a</a:t>
            </a:r>
            <a:r>
              <a:rPr sz="1600" spc="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developer</a:t>
            </a:r>
            <a:r>
              <a:rPr sz="1600" spc="22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1818"/>
                </a:solidFill>
                <a:latin typeface="Arial MT"/>
                <a:cs typeface="Arial MT"/>
              </a:rPr>
              <a:t>make</a:t>
            </a:r>
            <a:r>
              <a:rPr sz="1600" spc="11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sure</a:t>
            </a:r>
            <a:r>
              <a:rPr sz="1600" spc="6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95" dirty="0">
                <a:solidFill>
                  <a:srgbClr val="1A1A1A"/>
                </a:solidFill>
                <a:latin typeface="Arial MT"/>
                <a:cs typeface="Arial MT"/>
              </a:rPr>
              <a:t>that</a:t>
            </a:r>
            <a:r>
              <a:rPr sz="1600" spc="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D2D2D"/>
                </a:solidFill>
                <a:latin typeface="Arial MT"/>
                <a:cs typeface="Arial MT"/>
              </a:rPr>
              <a:t>a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II</a:t>
            </a:r>
            <a:r>
              <a:rPr sz="1600" spc="27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sz="1600" spc="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r>
              <a:rPr sz="1600" spc="10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F1F1F"/>
                </a:solidFill>
                <a:latin typeface="Arial MT"/>
                <a:cs typeface="Arial MT"/>
              </a:rPr>
              <a:t>strings</a:t>
            </a:r>
            <a:r>
              <a:rPr sz="160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42424"/>
                </a:solidFill>
                <a:latin typeface="Arial MT"/>
                <a:cs typeface="Arial MT"/>
              </a:rPr>
              <a:t>are</a:t>
            </a:r>
            <a:r>
              <a:rPr sz="1600" spc="7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F0F0F"/>
                </a:solidFill>
                <a:latin typeface="Arial MT"/>
                <a:cs typeface="Arial MT"/>
              </a:rPr>
              <a:t>consistent?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6483" y="1947386"/>
            <a:ext cx="2038350" cy="177101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40"/>
              </a:spcBef>
            </a:pPr>
            <a:r>
              <a:rPr sz="1750" dirty="0">
                <a:solidFill>
                  <a:srgbClr val="161616"/>
                </a:solidFill>
                <a:latin typeface="Calibri"/>
                <a:cs typeface="Calibri"/>
              </a:rPr>
              <a:t>Cleaning</a:t>
            </a:r>
            <a:r>
              <a:rPr sz="1750" spc="20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0F0F0F"/>
                </a:solidFill>
                <a:latin typeface="Calibri"/>
                <a:cs typeface="Calibri"/>
              </a:rPr>
              <a:t>data</a:t>
            </a:r>
            <a:endParaRPr sz="1750">
              <a:latin typeface="Calibri"/>
              <a:cs typeface="Calibri"/>
            </a:endParaRPr>
          </a:p>
          <a:p>
            <a:pPr marL="64135" marR="55880" indent="-1270">
              <a:lnSpc>
                <a:spcPts val="3870"/>
              </a:lnSpc>
              <a:spcBef>
                <a:spcPts val="219"/>
              </a:spcBef>
            </a:pPr>
            <a:r>
              <a:rPr sz="1800" spc="-75" dirty="0">
                <a:solidFill>
                  <a:srgbClr val="212121"/>
                </a:solidFill>
                <a:latin typeface="Arial MT"/>
                <a:cs typeface="Arial MT"/>
              </a:rPr>
              <a:t>Finding</a:t>
            </a:r>
            <a:r>
              <a:rPr sz="1800" spc="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700" spc="-112" baseline="1543" dirty="0">
                <a:solidFill>
                  <a:srgbClr val="1C1C1C"/>
                </a:solidFill>
                <a:latin typeface="Arial MT"/>
                <a:cs typeface="Arial MT"/>
              </a:rPr>
              <a:t>missin</a:t>
            </a:r>
            <a:r>
              <a:rPr sz="2700" spc="-112" baseline="-9259" dirty="0">
                <a:solidFill>
                  <a:srgbClr val="1C1C1C"/>
                </a:solidFill>
                <a:latin typeface="Arial MT"/>
                <a:cs typeface="Arial MT"/>
              </a:rPr>
              <a:t>9</a:t>
            </a:r>
            <a:r>
              <a:rPr sz="2700" spc="-292" baseline="-9259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800" spc="-75" dirty="0">
                <a:solidFill>
                  <a:srgbClr val="131313"/>
                </a:solidFill>
                <a:latin typeface="Arial MT"/>
                <a:cs typeface="Arial MT"/>
              </a:rPr>
              <a:t>data </a:t>
            </a:r>
            <a:r>
              <a:rPr sz="1750" spc="-85" dirty="0">
                <a:latin typeface="Arial MT"/>
                <a:cs typeface="Arial MT"/>
              </a:rPr>
              <a:t>Encoding</a:t>
            </a:r>
            <a:r>
              <a:rPr sz="1750" spc="25" dirty="0"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0C0C0C"/>
                </a:solidFill>
                <a:latin typeface="Arial MT"/>
                <a:cs typeface="Arial MT"/>
              </a:rPr>
              <a:t>data </a:t>
            </a:r>
            <a:r>
              <a:rPr sz="1750" spc="-30" dirty="0">
                <a:solidFill>
                  <a:srgbClr val="1A1A1A"/>
                </a:solidFill>
                <a:latin typeface="Arial MT"/>
                <a:cs typeface="Arial MT"/>
              </a:rPr>
              <a:t>Handling </a:t>
            </a:r>
            <a:r>
              <a:rPr sz="1750" spc="-10" dirty="0">
                <a:solidFill>
                  <a:srgbClr val="1A1A1A"/>
                </a:solidFill>
                <a:latin typeface="Arial MT"/>
                <a:cs typeface="Arial MT"/>
              </a:rPr>
              <a:t>outliers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31" y="216599"/>
            <a:ext cx="1633237" cy="7218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883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25"/>
              </a:spcBef>
            </a:pPr>
            <a:r>
              <a:rPr sz="1700" spc="85" dirty="0">
                <a:solidFill>
                  <a:srgbClr val="131313"/>
                </a:solidFill>
                <a:latin typeface="Arial MT"/>
                <a:cs typeface="Arial MT"/>
              </a:rPr>
              <a:t>Knowledge</a:t>
            </a:r>
            <a:r>
              <a:rPr sz="1700" spc="36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81818"/>
                </a:solidFill>
                <a:latin typeface="Arial MT"/>
                <a:cs typeface="Arial MT"/>
              </a:rPr>
              <a:t>check</a:t>
            </a:r>
            <a:r>
              <a:rPr sz="1700" spc="204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212121"/>
                </a:solidFill>
                <a:latin typeface="Arial MT"/>
                <a:cs typeface="Arial MT"/>
              </a:rPr>
              <a:t>04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272" y="931030"/>
            <a:ext cx="11176635" cy="26111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1905">
              <a:lnSpc>
                <a:spcPct val="103600"/>
              </a:lnSpc>
              <a:spcBef>
                <a:spcPts val="60"/>
              </a:spcBef>
            </a:pPr>
            <a:r>
              <a:rPr sz="1600" dirty="0">
                <a:solidFill>
                  <a:srgbClr val="282828"/>
                </a:solidFill>
                <a:latin typeface="Arial MT"/>
                <a:cs typeface="Arial MT"/>
              </a:rPr>
              <a:t>In</a:t>
            </a:r>
            <a:r>
              <a:rPr sz="1600" spc="19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which</a:t>
            </a:r>
            <a:r>
              <a:rPr sz="1600" spc="114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phase</a:t>
            </a:r>
            <a:r>
              <a:rPr sz="1600" spc="14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151515"/>
                </a:solidFill>
                <a:latin typeface="Arial MT"/>
                <a:cs typeface="Arial MT"/>
              </a:rPr>
              <a:t>of</a:t>
            </a:r>
            <a:r>
              <a:rPr sz="1600" spc="7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1A1A1A"/>
                </a:solidFill>
                <a:latin typeface="Arial MT"/>
                <a:cs typeface="Arial MT"/>
              </a:rPr>
              <a:t>the</a:t>
            </a:r>
            <a:r>
              <a:rPr sz="1600" spc="-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F1F1F"/>
                </a:solidFill>
                <a:latin typeface="Arial MT"/>
                <a:cs typeface="Arial MT"/>
              </a:rPr>
              <a:t>ML</a:t>
            </a:r>
            <a:r>
              <a:rPr sz="1600" spc="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51515"/>
                </a:solidFill>
                <a:latin typeface="Arial MT"/>
                <a:cs typeface="Arial MT"/>
              </a:rPr>
              <a:t>pipeline</a:t>
            </a:r>
            <a:r>
              <a:rPr sz="1600" spc="5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61616"/>
                </a:solidFill>
                <a:latin typeface="Arial MT"/>
                <a:cs typeface="Arial MT"/>
              </a:rPr>
              <a:t>does</a:t>
            </a:r>
            <a:r>
              <a:rPr sz="1600" spc="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32323"/>
                </a:solidFill>
                <a:latin typeface="Arial MT"/>
                <a:cs typeface="Arial MT"/>
              </a:rPr>
              <a:t>a</a:t>
            </a:r>
            <a:r>
              <a:rPr sz="1600" spc="5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developer</a:t>
            </a:r>
            <a:r>
              <a:rPr sz="1600" spc="20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50" dirty="0">
                <a:solidFill>
                  <a:srgbClr val="151515"/>
                </a:solidFill>
                <a:latin typeface="Arial MT"/>
                <a:cs typeface="Arial MT"/>
              </a:rPr>
              <a:t>determine</a:t>
            </a:r>
            <a:r>
              <a:rPr sz="1600" spc="15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C1C1C"/>
                </a:solidFill>
                <a:latin typeface="Arial MT"/>
                <a:cs typeface="Arial MT"/>
              </a:rPr>
              <a:t>whether</a:t>
            </a:r>
            <a:r>
              <a:rPr sz="1600" spc="17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600" spc="75" dirty="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sz="1600" spc="9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151515"/>
                </a:solidFill>
                <a:latin typeface="Arial MT"/>
                <a:cs typeface="Arial MT"/>
              </a:rPr>
              <a:t>model</a:t>
            </a:r>
            <a:r>
              <a:rPr sz="1600" spc="2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600" spc="140" dirty="0">
                <a:solidFill>
                  <a:srgbClr val="1F1F1F"/>
                </a:solidFill>
                <a:latin typeface="Arial MT"/>
                <a:cs typeface="Arial MT"/>
              </a:rPr>
              <a:t>will</a:t>
            </a:r>
            <a:r>
              <a:rPr sz="1600" spc="-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181818"/>
                </a:solidFill>
                <a:latin typeface="Arial MT"/>
                <a:cs typeface="Arial MT"/>
              </a:rPr>
              <a:t>perform</a:t>
            </a:r>
            <a:r>
              <a:rPr sz="1600" spc="1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90" dirty="0">
                <a:solidFill>
                  <a:srgbClr val="181818"/>
                </a:solidFill>
                <a:latin typeface="Arial MT"/>
                <a:cs typeface="Arial MT"/>
              </a:rPr>
              <a:t>well</a:t>
            </a:r>
            <a:r>
              <a:rPr sz="1600" spc="-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80" dirty="0">
                <a:solidFill>
                  <a:srgbClr val="2D2D2D"/>
                </a:solidFill>
                <a:latin typeface="Arial MT"/>
                <a:cs typeface="Arial MT"/>
              </a:rPr>
              <a:t>in</a:t>
            </a:r>
            <a:r>
              <a:rPr sz="1600" spc="10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600" spc="60" dirty="0">
                <a:solidFill>
                  <a:srgbClr val="161616"/>
                </a:solidFill>
                <a:latin typeface="Arial MT"/>
                <a:cs typeface="Arial MT"/>
              </a:rPr>
              <a:t>predicting</a:t>
            </a:r>
            <a:r>
              <a:rPr sz="1600" spc="1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1F1F1F"/>
                </a:solidFill>
                <a:latin typeface="Arial MT"/>
                <a:cs typeface="Arial MT"/>
              </a:rPr>
              <a:t>the </a:t>
            </a:r>
            <a:r>
              <a:rPr sz="1600" spc="70" dirty="0">
                <a:solidFill>
                  <a:srgbClr val="181818"/>
                </a:solidFill>
                <a:latin typeface="Arial MT"/>
                <a:cs typeface="Arial MT"/>
              </a:rPr>
              <a:t>target</a:t>
            </a:r>
            <a:r>
              <a:rPr sz="1600" spc="14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11111"/>
                </a:solidFill>
                <a:latin typeface="Arial MT"/>
                <a:cs typeface="Arial MT"/>
              </a:rPr>
              <a:t>on</a:t>
            </a:r>
            <a:r>
              <a:rPr sz="1600" spc="14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D1D1D"/>
                </a:solidFill>
                <a:latin typeface="Arial MT"/>
                <a:cs typeface="Arial MT"/>
              </a:rPr>
              <a:t>new</a:t>
            </a:r>
            <a:r>
              <a:rPr sz="1600" spc="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31313"/>
                </a:solidFill>
                <a:latin typeface="Arial MT"/>
                <a:cs typeface="Arial MT"/>
              </a:rPr>
              <a:t>and</a:t>
            </a:r>
            <a:r>
              <a:rPr sz="1600" spc="11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600" spc="70" dirty="0">
                <a:solidFill>
                  <a:srgbClr val="181818"/>
                </a:solidFill>
                <a:latin typeface="Arial MT"/>
                <a:cs typeface="Arial MT"/>
              </a:rPr>
              <a:t>future</a:t>
            </a:r>
            <a:r>
              <a:rPr sz="1600" spc="114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51515"/>
                </a:solidFill>
                <a:latin typeface="Arial MT"/>
                <a:cs typeface="Arial MT"/>
              </a:rPr>
              <a:t>data?</a:t>
            </a:r>
            <a:endParaRPr sz="1600">
              <a:latin typeface="Arial MT"/>
              <a:cs typeface="Arial MT"/>
            </a:endParaRPr>
          </a:p>
          <a:p>
            <a:pPr marL="399415" marR="8180070" indent="-3175">
              <a:lnSpc>
                <a:spcPct val="204100"/>
              </a:lnSpc>
              <a:spcBef>
                <a:spcPts val="1165"/>
              </a:spcBef>
            </a:pPr>
            <a:r>
              <a:rPr sz="1550" dirty="0">
                <a:solidFill>
                  <a:srgbClr val="1F1F1F"/>
                </a:solidFill>
                <a:latin typeface="Arial MT"/>
                <a:cs typeface="Arial MT"/>
              </a:rPr>
              <a:t>Feature</a:t>
            </a:r>
            <a:r>
              <a:rPr sz="155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1A1A1A"/>
                </a:solidFill>
                <a:latin typeface="Arial MT"/>
                <a:cs typeface="Arial MT"/>
              </a:rPr>
              <a:t>engineering </a:t>
            </a:r>
            <a:r>
              <a:rPr sz="1550" dirty="0">
                <a:solidFill>
                  <a:srgbClr val="131313"/>
                </a:solidFill>
                <a:latin typeface="Arial MT"/>
                <a:cs typeface="Arial MT"/>
              </a:rPr>
              <a:t>Evaluating</a:t>
            </a:r>
            <a:r>
              <a:rPr sz="1550" spc="20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1D1D1D"/>
                </a:solidFill>
                <a:latin typeface="Arial MT"/>
                <a:cs typeface="Arial MT"/>
              </a:rPr>
              <a:t>and</a:t>
            </a:r>
            <a:r>
              <a:rPr sz="1550" spc="15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550" spc="55" dirty="0">
                <a:solidFill>
                  <a:srgbClr val="1C1C1C"/>
                </a:solidFill>
                <a:latin typeface="Arial MT"/>
                <a:cs typeface="Arial MT"/>
              </a:rPr>
              <a:t>tuning </a:t>
            </a:r>
            <a:r>
              <a:rPr sz="1550" dirty="0">
                <a:solidFill>
                  <a:srgbClr val="1A1A1A"/>
                </a:solidFill>
                <a:latin typeface="Arial MT"/>
                <a:cs typeface="Arial MT"/>
              </a:rPr>
              <a:t>Training</a:t>
            </a:r>
            <a:r>
              <a:rPr sz="1550" spc="15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550" spc="50" dirty="0">
                <a:solidFill>
                  <a:srgbClr val="181818"/>
                </a:solidFill>
                <a:latin typeface="Arial MT"/>
                <a:cs typeface="Arial MT"/>
              </a:rPr>
              <a:t>the</a:t>
            </a:r>
            <a:r>
              <a:rPr sz="1550" spc="1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550" spc="40" dirty="0">
                <a:solidFill>
                  <a:srgbClr val="1A1A1A"/>
                </a:solidFill>
                <a:latin typeface="Arial MT"/>
                <a:cs typeface="Arial MT"/>
              </a:rPr>
              <a:t>model </a:t>
            </a:r>
            <a:r>
              <a:rPr sz="1600" spc="65" dirty="0">
                <a:latin typeface="Calibri"/>
                <a:cs typeface="Calibri"/>
              </a:rPr>
              <a:t>Collecting</a:t>
            </a:r>
            <a:r>
              <a:rPr sz="1600" spc="229" dirty="0">
                <a:latin typeface="Calibri"/>
                <a:cs typeface="Calibri"/>
              </a:rPr>
              <a:t> </a:t>
            </a:r>
            <a:r>
              <a:rPr sz="1600" spc="85" dirty="0">
                <a:solidFill>
                  <a:srgbClr val="1F1F1F"/>
                </a:solidFill>
                <a:latin typeface="Calibri"/>
                <a:cs typeface="Calibri"/>
              </a:rPr>
              <a:t>and</a:t>
            </a:r>
            <a:r>
              <a:rPr sz="1600" spc="8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70" dirty="0">
                <a:solidFill>
                  <a:srgbClr val="131313"/>
                </a:solidFill>
                <a:latin typeface="Calibri"/>
                <a:cs typeface="Calibri"/>
              </a:rPr>
              <a:t>labeling</a:t>
            </a:r>
            <a:r>
              <a:rPr sz="1600" spc="24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600" spc="55" dirty="0">
                <a:solidFill>
                  <a:srgbClr val="151515"/>
                </a:solidFill>
                <a:latin typeface="Calibri"/>
                <a:cs typeface="Calibri"/>
              </a:rPr>
              <a:t>data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010" y="10331"/>
            <a:ext cx="1643380" cy="6824345"/>
            <a:chOff x="9010" y="10331"/>
            <a:chExt cx="1643380" cy="6824345"/>
          </a:xfrm>
        </p:grpSpPr>
        <p:sp>
          <p:nvSpPr>
            <p:cNvPr id="3" name="object 3"/>
            <p:cNvSpPr/>
            <p:nvPr/>
          </p:nvSpPr>
          <p:spPr>
            <a:xfrm>
              <a:off x="28533" y="10331"/>
              <a:ext cx="0" cy="6824345"/>
            </a:xfrm>
            <a:custGeom>
              <a:avLst/>
              <a:gdLst/>
              <a:ahLst/>
              <a:cxnLst/>
              <a:rect l="l" t="t" r="r" b="b"/>
              <a:pathLst>
                <a:path h="6824345">
                  <a:moveTo>
                    <a:pt x="0" y="682405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010" y="6832882"/>
              <a:ext cx="1643380" cy="0"/>
            </a:xfrm>
            <a:custGeom>
              <a:avLst/>
              <a:gdLst/>
              <a:ahLst/>
              <a:cxnLst/>
              <a:rect l="l" t="t" r="r" b="b"/>
              <a:pathLst>
                <a:path w="1643380">
                  <a:moveTo>
                    <a:pt x="0" y="0"/>
                  </a:moveTo>
                  <a:lnTo>
                    <a:pt x="1642935" y="0"/>
                  </a:lnTo>
                </a:path>
              </a:pathLst>
            </a:custGeom>
            <a:ln w="3175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937282" y="6337297"/>
            <a:ext cx="2544445" cy="0"/>
          </a:xfrm>
          <a:custGeom>
            <a:avLst/>
            <a:gdLst/>
            <a:ahLst/>
            <a:cxnLst/>
            <a:rect l="l" t="t" r="r" b="b"/>
            <a:pathLst>
              <a:path w="2544445">
                <a:moveTo>
                  <a:pt x="0" y="0"/>
                </a:moveTo>
                <a:lnTo>
                  <a:pt x="2543997" y="0"/>
                </a:lnTo>
              </a:path>
            </a:pathLst>
          </a:custGeom>
          <a:ln w="3175">
            <a:solidFill>
              <a:srgbClr val="4F54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7406726" y="13334"/>
            <a:ext cx="4784725" cy="6821170"/>
            <a:chOff x="7406726" y="13334"/>
            <a:chExt cx="4784725" cy="68211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21216" y="1563164"/>
              <a:ext cx="774913" cy="19823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406726" y="13334"/>
              <a:ext cx="4784725" cy="6821170"/>
            </a:xfrm>
            <a:custGeom>
              <a:avLst/>
              <a:gdLst/>
              <a:ahLst/>
              <a:cxnLst/>
              <a:rect l="l" t="t" r="r" b="b"/>
              <a:pathLst>
                <a:path w="4784725" h="6821170">
                  <a:moveTo>
                    <a:pt x="4784637" y="6821050"/>
                  </a:moveTo>
                  <a:lnTo>
                    <a:pt x="0" y="6821050"/>
                  </a:lnTo>
                  <a:lnTo>
                    <a:pt x="0" y="0"/>
                  </a:lnTo>
                  <a:lnTo>
                    <a:pt x="4784637" y="0"/>
                  </a:lnTo>
                  <a:lnTo>
                    <a:pt x="4784637" y="6821050"/>
                  </a:lnTo>
                  <a:close/>
                </a:path>
              </a:pathLst>
            </a:custGeom>
            <a:solidFill>
              <a:srgbClr val="004F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783250" y="2052306"/>
            <a:ext cx="337566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-65" dirty="0">
                <a:solidFill>
                  <a:srgbClr val="FFFFFF"/>
                </a:solidFill>
                <a:latin typeface="Arial MT"/>
                <a:cs typeface="Arial MT"/>
              </a:rPr>
              <a:t>Machine</a:t>
            </a:r>
            <a:r>
              <a:rPr sz="17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30" dirty="0">
                <a:solidFill>
                  <a:srgbClr val="FFFFFF"/>
                </a:solidFill>
                <a:latin typeface="Arial MT"/>
                <a:cs typeface="Arial MT"/>
              </a:rPr>
              <a:t>Leai</a:t>
            </a:r>
            <a:r>
              <a:rPr sz="17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ning</a:t>
            </a:r>
            <a:r>
              <a:rPr sz="17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FFFFFF"/>
                </a:solidFill>
                <a:latin typeface="Arial MT"/>
                <a:cs typeface="Arial MT"/>
              </a:rPr>
              <a:t>Tools</a:t>
            </a:r>
            <a:r>
              <a:rPr sz="17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700" spc="-80" dirty="0">
                <a:solidFill>
                  <a:srgbClr val="FFFFFF"/>
                </a:solidFill>
                <a:latin typeface="Arial MT"/>
                <a:cs typeface="Arial MT"/>
              </a:rPr>
              <a:t>Services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79078" y="2809199"/>
            <a:ext cx="3916679" cy="5410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9209" marR="5080" indent="-17145">
              <a:lnSpc>
                <a:spcPts val="1989"/>
              </a:lnSpc>
              <a:spcBef>
                <a:spcPts val="229"/>
              </a:spcBef>
              <a:tabLst>
                <a:tab pos="3208020" algn="l"/>
              </a:tabLst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7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7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next</a:t>
            </a:r>
            <a:r>
              <a:rPr sz="17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Arial MT"/>
                <a:cs typeface="Arial MT"/>
              </a:rPr>
              <a:t>section</a:t>
            </a:r>
            <a:r>
              <a:rPr sz="1700" spc="3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60" dirty="0">
                <a:solidFill>
                  <a:srgbClr val="FFFFFF"/>
                </a:solidFill>
                <a:latin typeface="Arial MT"/>
                <a:cs typeface="Arial MT"/>
              </a:rPr>
              <a:t>yoLi</a:t>
            </a:r>
            <a:r>
              <a:rPr sz="17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will</a:t>
            </a:r>
            <a:r>
              <a:rPr sz="17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learn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	bo</a:t>
            </a:r>
            <a:r>
              <a:rPr sz="1700" spc="4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FFFFFF"/>
                </a:solidFill>
                <a:latin typeface="Arial MT"/>
                <a:cs typeface="Arial MT"/>
              </a:rPr>
              <a:t>t </a:t>
            </a:r>
            <a:r>
              <a:rPr sz="1700" spc="-4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7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tools</a:t>
            </a:r>
            <a:r>
              <a:rPr sz="17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6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75" dirty="0">
                <a:solidFill>
                  <a:srgbClr val="FFFFFF"/>
                </a:solidFill>
                <a:latin typeface="Arial MT"/>
                <a:cs typeface="Arial MT"/>
              </a:rPr>
              <a:t>services</a:t>
            </a:r>
            <a:r>
              <a:rPr sz="17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95" dirty="0">
                <a:solidFill>
                  <a:srgbClr val="FFFFFF"/>
                </a:solidFill>
                <a:latin typeface="Arial MT"/>
                <a:cs typeface="Arial MT"/>
              </a:rPr>
              <a:t>avaiIab(e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 for</a:t>
            </a:r>
            <a:r>
              <a:rPr sz="17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solvii</a:t>
            </a:r>
            <a:r>
              <a:rPr sz="17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FFFFFF"/>
                </a:solidFill>
                <a:latin typeface="Arial MT"/>
                <a:cs typeface="Arial MT"/>
              </a:rPr>
              <a:t>q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80656" y="3329063"/>
            <a:ext cx="3762375" cy="78676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4445">
              <a:lnSpc>
                <a:spcPts val="1989"/>
              </a:lnSpc>
              <a:spcBef>
                <a:spcPts val="180"/>
              </a:spcBef>
            </a:pPr>
            <a:r>
              <a:rPr sz="1650" spc="-25" dirty="0">
                <a:solidFill>
                  <a:srgbClr val="FFFFFF"/>
                </a:solidFill>
                <a:latin typeface="Arial MT"/>
                <a:cs typeface="Arial MT"/>
              </a:rPr>
              <a:t>machine</a:t>
            </a:r>
            <a:r>
              <a:rPr sz="1650" dirty="0">
                <a:solidFill>
                  <a:srgbClr val="FFFFFF"/>
                </a:solidFill>
                <a:latin typeface="Arial MT"/>
                <a:cs typeface="Arial MT"/>
              </a:rPr>
              <a:t> learning</a:t>
            </a:r>
            <a:r>
              <a:rPr sz="165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Arial MT"/>
                <a:cs typeface="Arial MT"/>
              </a:rPr>
              <a:t>pi</a:t>
            </a:r>
            <a:r>
              <a:rPr sz="1650" spc="-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80" dirty="0">
                <a:solidFill>
                  <a:srgbClr val="FFFFFF"/>
                </a:solidFill>
                <a:latin typeface="Arial MT"/>
                <a:cs typeface="Arial MT"/>
              </a:rPr>
              <a:t>oblE'ms.</a:t>
            </a:r>
            <a:r>
              <a:rPr sz="16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spc="-9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6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FFFF"/>
                </a:solidFill>
                <a:latin typeface="Arial MT"/>
                <a:cs typeface="Arial MT"/>
              </a:rPr>
              <a:t>will</a:t>
            </a:r>
            <a:r>
              <a:rPr sz="16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50" i="1" spc="-145" dirty="0">
                <a:solidFill>
                  <a:srgbClr val="FFFFFF"/>
                </a:solidFill>
                <a:latin typeface="Arial"/>
                <a:cs typeface="Arial"/>
              </a:rPr>
              <a:t>e\sO </a:t>
            </a:r>
            <a:r>
              <a:rPr sz="1750" spc="-125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-26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7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brief</a:t>
            </a:r>
            <a:r>
              <a:rPr sz="1750" spc="-20" dirty="0">
                <a:solidFill>
                  <a:srgbClr val="FFFFFF"/>
                </a:solidFill>
                <a:latin typeface="Arial MT"/>
                <a:cs typeface="Arial MT"/>
              </a:rPr>
              <a:t> introduction</a:t>
            </a:r>
            <a:r>
              <a:rPr sz="17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7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Arial MT"/>
                <a:cs typeface="Arial MT"/>
              </a:rPr>
              <a:t>Amazon </a:t>
            </a:r>
            <a:r>
              <a:rPr sz="1700" spc="-20" dirty="0">
                <a:solidFill>
                  <a:srgbClr val="FFFFFF"/>
                </a:solidFill>
                <a:latin typeface="Arial MT"/>
                <a:cs typeface="Arial MT"/>
              </a:rPr>
              <a:t>SageMaker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97240" y="5734901"/>
            <a:ext cx="684530" cy="551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50" spc="-210" dirty="0">
                <a:solidFill>
                  <a:srgbClr val="FFFFFF"/>
                </a:solidFill>
                <a:latin typeface="Cambria"/>
                <a:cs typeface="Cambria"/>
              </a:rPr>
              <a:t>aws</a:t>
            </a:r>
            <a:endParaRPr sz="3450">
              <a:latin typeface="Cambria"/>
              <a:cs typeface="Cambr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658" y="5982879"/>
            <a:ext cx="4775626" cy="328888"/>
          </a:xfrm>
          <a:prstGeom prst="rect">
            <a:avLst/>
          </a:prstGeom>
        </p:spPr>
      </p:pic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711" rIns="0" bIns="0" rtlCol="0">
            <a:spAutoFit/>
          </a:bodyPr>
          <a:lstStyle/>
          <a:p>
            <a:pPr marL="271145">
              <a:lnSpc>
                <a:spcPct val="100000"/>
              </a:lnSpc>
              <a:spcBef>
                <a:spcPts val="114"/>
              </a:spcBef>
            </a:pPr>
            <a:r>
              <a:rPr dirty="0">
                <a:solidFill>
                  <a:srgbClr val="1F1F1F"/>
                </a:solidFill>
              </a:rPr>
              <a:t>End</a:t>
            </a:r>
            <a:r>
              <a:rPr spc="95" dirty="0">
                <a:solidFill>
                  <a:srgbClr val="1F1F1F"/>
                </a:solidFill>
              </a:rPr>
              <a:t> </a:t>
            </a:r>
            <a:r>
              <a:rPr spc="90" dirty="0">
                <a:solidFill>
                  <a:srgbClr val="212121"/>
                </a:solidFill>
              </a:rPr>
              <a:t>of</a:t>
            </a:r>
            <a:r>
              <a:rPr spc="110" dirty="0">
                <a:solidFill>
                  <a:srgbClr val="212121"/>
                </a:solidFill>
              </a:rPr>
              <a:t> </a:t>
            </a:r>
            <a:r>
              <a:rPr spc="-10" dirty="0"/>
              <a:t>ModuLe</a:t>
            </a:r>
            <a:r>
              <a:rPr spc="65" dirty="0"/>
              <a:t> </a:t>
            </a:r>
            <a:r>
              <a:rPr spc="-50" dirty="0"/>
              <a:t>3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4570" y="1444339"/>
            <a:ext cx="3358515" cy="3257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i="1" dirty="0">
                <a:solidFill>
                  <a:srgbClr val="262626"/>
                </a:solidFill>
                <a:latin typeface="Cambria"/>
                <a:cs typeface="Cambria"/>
              </a:rPr>
              <a:t>key</a:t>
            </a:r>
            <a:r>
              <a:rPr sz="1950" i="1" spc="75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950" spc="-60" dirty="0">
                <a:solidFill>
                  <a:srgbClr val="151515"/>
                </a:solidFill>
                <a:latin typeface="Cambria"/>
                <a:cs typeface="Cambria"/>
              </a:rPr>
              <a:t>takeaways</a:t>
            </a:r>
            <a:r>
              <a:rPr sz="1950" spc="25" dirty="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sz="1950" spc="-10" dirty="0">
                <a:solidFill>
                  <a:srgbClr val="212121"/>
                </a:solidFill>
                <a:latin typeface="Cambria"/>
                <a:cs typeface="Cambria"/>
              </a:rPr>
              <a:t>from</a:t>
            </a:r>
            <a:r>
              <a:rPr sz="1950" spc="2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950" spc="-10" dirty="0">
                <a:solidFill>
                  <a:srgbClr val="161616"/>
                </a:solidFill>
                <a:latin typeface="Cambria"/>
                <a:cs typeface="Cambria"/>
              </a:rPr>
              <a:t>this</a:t>
            </a:r>
            <a:r>
              <a:rPr sz="1950" spc="-60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1950" spc="-10" dirty="0">
                <a:solidFill>
                  <a:srgbClr val="151515"/>
                </a:solidFill>
                <a:latin typeface="Cambria"/>
                <a:cs typeface="Cambria"/>
              </a:rPr>
              <a:t>module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229"/>
              </a:spcBef>
            </a:pPr>
            <a:r>
              <a:rPr spc="-35" dirty="0">
                <a:solidFill>
                  <a:srgbClr val="262626"/>
                </a:solidFill>
              </a:rPr>
              <a:t>You</a:t>
            </a:r>
            <a:r>
              <a:rPr spc="25" dirty="0">
                <a:solidFill>
                  <a:srgbClr val="262626"/>
                </a:solidFill>
              </a:rPr>
              <a:t> </a:t>
            </a:r>
            <a:r>
              <a:rPr dirty="0"/>
              <a:t>should </a:t>
            </a:r>
            <a:r>
              <a:rPr dirty="0">
                <a:solidFill>
                  <a:srgbClr val="1F1F1F"/>
                </a:solidFill>
              </a:rPr>
              <a:t>now</a:t>
            </a:r>
            <a:r>
              <a:rPr spc="80" dirty="0">
                <a:solidFill>
                  <a:srgbClr val="1F1F1F"/>
                </a:solidFill>
              </a:rPr>
              <a:t> </a:t>
            </a:r>
            <a:r>
              <a:rPr dirty="0">
                <a:solidFill>
                  <a:srgbClr val="0F0F0F"/>
                </a:solidFill>
              </a:rPr>
              <a:t>be</a:t>
            </a:r>
            <a:r>
              <a:rPr spc="-30" dirty="0">
                <a:solidFill>
                  <a:srgbClr val="0F0F0F"/>
                </a:solidFill>
              </a:rPr>
              <a:t> </a:t>
            </a:r>
            <a:r>
              <a:rPr dirty="0">
                <a:solidFill>
                  <a:srgbClr val="1C1C1C"/>
                </a:solidFill>
              </a:rPr>
              <a:t>able</a:t>
            </a:r>
            <a:r>
              <a:rPr spc="35" dirty="0">
                <a:solidFill>
                  <a:srgbClr val="1C1C1C"/>
                </a:solidFill>
              </a:rPr>
              <a:t> </a:t>
            </a:r>
            <a:r>
              <a:rPr spc="-25" dirty="0">
                <a:solidFill>
                  <a:srgbClr val="232323"/>
                </a:solidFill>
              </a:rPr>
              <a:t>to:</a:t>
            </a:r>
          </a:p>
          <a:p>
            <a:pPr marL="170180" indent="-157480">
              <a:lnSpc>
                <a:spcPct val="100000"/>
              </a:lnSpc>
              <a:spcBef>
                <a:spcPts val="140"/>
              </a:spcBef>
              <a:buClr>
                <a:srgbClr val="1C1C1C"/>
              </a:buClr>
              <a:buChar char="•"/>
              <a:tabLst>
                <a:tab pos="170180" algn="l"/>
              </a:tabLst>
            </a:pPr>
            <a:r>
              <a:rPr sz="2400" spc="-82" baseline="1736" dirty="0">
                <a:solidFill>
                  <a:srgbClr val="131313"/>
                </a:solidFill>
              </a:rPr>
              <a:t>Discuss</a:t>
            </a:r>
            <a:r>
              <a:rPr sz="2400" baseline="1736" dirty="0">
                <a:solidFill>
                  <a:srgbClr val="131313"/>
                </a:solidFill>
              </a:rPr>
              <a:t> </a:t>
            </a:r>
            <a:r>
              <a:rPr sz="2400" spc="142" baseline="3472" dirty="0">
                <a:solidFill>
                  <a:srgbClr val="0C0C0C"/>
                </a:solidFill>
              </a:rPr>
              <a:t>th</a:t>
            </a:r>
            <a:r>
              <a:rPr sz="1600" spc="95" dirty="0">
                <a:solidFill>
                  <a:srgbClr val="0C0C0C"/>
                </a:solidFill>
              </a:rPr>
              <a:t>e</a:t>
            </a:r>
            <a:r>
              <a:rPr sz="1600" spc="-155" dirty="0">
                <a:solidFill>
                  <a:srgbClr val="0C0C0C"/>
                </a:solidFill>
              </a:rPr>
              <a:t> </a:t>
            </a:r>
            <a:r>
              <a:rPr sz="2400" baseline="1736" dirty="0">
                <a:solidFill>
                  <a:srgbClr val="080808"/>
                </a:solidFill>
              </a:rPr>
              <a:t>machine</a:t>
            </a:r>
            <a:r>
              <a:rPr sz="2400" spc="104" baseline="1736" dirty="0">
                <a:solidFill>
                  <a:srgbClr val="080808"/>
                </a:solidFill>
              </a:rPr>
              <a:t> </a:t>
            </a:r>
            <a:r>
              <a:rPr sz="2400" baseline="1736" dirty="0">
                <a:solidFill>
                  <a:srgbClr val="161616"/>
                </a:solidFill>
              </a:rPr>
              <a:t>learning</a:t>
            </a:r>
            <a:r>
              <a:rPr sz="2400" spc="37" baseline="1736" dirty="0">
                <a:solidFill>
                  <a:srgbClr val="161616"/>
                </a:solidFill>
              </a:rPr>
              <a:t> </a:t>
            </a:r>
            <a:r>
              <a:rPr sz="2400" spc="-15" baseline="1736" dirty="0">
                <a:solidFill>
                  <a:srgbClr val="1C1C1C"/>
                </a:solidFill>
              </a:rPr>
              <a:t>pipeline</a:t>
            </a:r>
            <a:endParaRPr sz="2400" baseline="1736"/>
          </a:p>
          <a:p>
            <a:pPr marL="168910" indent="-155575">
              <a:lnSpc>
                <a:spcPct val="100000"/>
              </a:lnSpc>
              <a:spcBef>
                <a:spcPts val="10"/>
              </a:spcBef>
              <a:buClr>
                <a:srgbClr val="1A1A1A"/>
              </a:buClr>
              <a:buChar char="•"/>
              <a:tabLst>
                <a:tab pos="168910" algn="l"/>
              </a:tabLst>
            </a:pPr>
            <a:r>
              <a:rPr sz="1550" dirty="0">
                <a:solidFill>
                  <a:srgbClr val="181818"/>
                </a:solidFill>
              </a:rPr>
              <a:t>Describe</a:t>
            </a:r>
            <a:r>
              <a:rPr sz="1550" spc="50" dirty="0">
                <a:solidFill>
                  <a:srgbClr val="181818"/>
                </a:solidFill>
              </a:rPr>
              <a:t> </a:t>
            </a:r>
            <a:r>
              <a:rPr sz="1550" spc="60" dirty="0">
                <a:solidFill>
                  <a:srgbClr val="0E0E0E"/>
                </a:solidFill>
              </a:rPr>
              <a:t>problem</a:t>
            </a:r>
            <a:r>
              <a:rPr sz="1550" spc="-85" dirty="0">
                <a:solidFill>
                  <a:srgbClr val="0E0E0E"/>
                </a:solidFill>
              </a:rPr>
              <a:t> </a:t>
            </a:r>
            <a:r>
              <a:rPr sz="1550" spc="60" dirty="0">
                <a:solidFill>
                  <a:srgbClr val="0C0C0C"/>
                </a:solidFill>
              </a:rPr>
              <a:t>formulation</a:t>
            </a:r>
            <a:endParaRPr sz="1550"/>
          </a:p>
          <a:p>
            <a:pPr marL="170180" indent="-157480">
              <a:lnSpc>
                <a:spcPct val="100000"/>
              </a:lnSpc>
              <a:spcBef>
                <a:spcPts val="110"/>
              </a:spcBef>
              <a:buClr>
                <a:srgbClr val="1F1F1F"/>
              </a:buClr>
              <a:buChar char="•"/>
              <a:tabLst>
                <a:tab pos="170180" algn="l"/>
              </a:tabLst>
            </a:pPr>
            <a:r>
              <a:rPr spc="-20" dirty="0">
                <a:solidFill>
                  <a:srgbClr val="161616"/>
                </a:solidFill>
              </a:rPr>
              <a:t>Describe</a:t>
            </a:r>
            <a:r>
              <a:rPr spc="100" dirty="0">
                <a:solidFill>
                  <a:srgbClr val="161616"/>
                </a:solidFill>
              </a:rPr>
              <a:t> </a:t>
            </a:r>
            <a:r>
              <a:rPr dirty="0">
                <a:solidFill>
                  <a:srgbClr val="151515"/>
                </a:solidFill>
              </a:rPr>
              <a:t>data</a:t>
            </a:r>
            <a:r>
              <a:rPr spc="40" dirty="0">
                <a:solidFill>
                  <a:srgbClr val="151515"/>
                </a:solidFill>
              </a:rPr>
              <a:t> </a:t>
            </a:r>
            <a:r>
              <a:rPr dirty="0">
                <a:solidFill>
                  <a:srgbClr val="0C0C0C"/>
                </a:solidFill>
              </a:rPr>
              <a:t>preparation</a:t>
            </a:r>
            <a:r>
              <a:rPr spc="135" dirty="0">
                <a:solidFill>
                  <a:srgbClr val="0C0C0C"/>
                </a:solidFill>
              </a:rPr>
              <a:t> </a:t>
            </a:r>
            <a:r>
              <a:rPr dirty="0">
                <a:solidFill>
                  <a:srgbClr val="161616"/>
                </a:solidFill>
              </a:rPr>
              <a:t>and</a:t>
            </a:r>
            <a:r>
              <a:rPr spc="-35" dirty="0">
                <a:solidFill>
                  <a:srgbClr val="161616"/>
                </a:solidFill>
              </a:rPr>
              <a:t> </a:t>
            </a:r>
            <a:r>
              <a:rPr spc="-10" dirty="0">
                <a:solidFill>
                  <a:srgbClr val="181818"/>
                </a:solidFill>
              </a:rPr>
              <a:t>preprocessing</a:t>
            </a:r>
          </a:p>
          <a:p>
            <a:pPr marL="170180" indent="-157480">
              <a:lnSpc>
                <a:spcPct val="100000"/>
              </a:lnSpc>
              <a:spcBef>
                <a:spcPts val="65"/>
              </a:spcBef>
              <a:buClr>
                <a:srgbClr val="1A1A1A"/>
              </a:buClr>
              <a:buChar char="•"/>
              <a:tabLst>
                <a:tab pos="170180" algn="l"/>
              </a:tabLst>
            </a:pPr>
            <a:r>
              <a:rPr spc="-20" dirty="0">
                <a:solidFill>
                  <a:srgbClr val="161616"/>
                </a:solidFill>
              </a:rPr>
              <a:t>Describe</a:t>
            </a:r>
            <a:r>
              <a:rPr spc="185" dirty="0">
                <a:solidFill>
                  <a:srgbClr val="161616"/>
                </a:solidFill>
              </a:rPr>
              <a:t> </a:t>
            </a:r>
            <a:r>
              <a:rPr dirty="0">
                <a:solidFill>
                  <a:srgbClr val="1C1C1C"/>
                </a:solidFill>
              </a:rPr>
              <a:t>model</a:t>
            </a:r>
            <a:r>
              <a:rPr spc="10" dirty="0">
                <a:solidFill>
                  <a:srgbClr val="1C1C1C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training</a:t>
            </a:r>
            <a:r>
              <a:rPr spc="150" dirty="0">
                <a:solidFill>
                  <a:srgbClr val="1A1A1A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and</a:t>
            </a:r>
            <a:r>
              <a:rPr spc="40" dirty="0">
                <a:solidFill>
                  <a:srgbClr val="1A1A1A"/>
                </a:solidFill>
              </a:rPr>
              <a:t> </a:t>
            </a:r>
            <a:r>
              <a:rPr spc="40" dirty="0">
                <a:solidFill>
                  <a:srgbClr val="181818"/>
                </a:solidFill>
              </a:rPr>
              <a:t>tuning</a:t>
            </a:r>
          </a:p>
          <a:p>
            <a:pPr marL="169545" indent="-156845">
              <a:lnSpc>
                <a:spcPct val="100000"/>
              </a:lnSpc>
              <a:spcBef>
                <a:spcPts val="90"/>
              </a:spcBef>
              <a:buClr>
                <a:srgbClr val="1D1D1D"/>
              </a:buClr>
              <a:buChar char="•"/>
              <a:tabLst>
                <a:tab pos="169545" algn="l"/>
              </a:tabLst>
            </a:pPr>
            <a:r>
              <a:rPr sz="1650" spc="-45" dirty="0"/>
              <a:t>Describe</a:t>
            </a:r>
            <a:r>
              <a:rPr sz="1650" spc="40" dirty="0"/>
              <a:t> </a:t>
            </a:r>
            <a:r>
              <a:rPr sz="1650" dirty="0">
                <a:solidFill>
                  <a:srgbClr val="161616"/>
                </a:solidFill>
              </a:rPr>
              <a:t>model</a:t>
            </a:r>
            <a:r>
              <a:rPr sz="1650" spc="-75" dirty="0">
                <a:solidFill>
                  <a:srgbClr val="161616"/>
                </a:solidFill>
              </a:rPr>
              <a:t> </a:t>
            </a:r>
            <a:r>
              <a:rPr sz="1650" spc="-10" dirty="0">
                <a:solidFill>
                  <a:srgbClr val="1F1F1F"/>
                </a:solidFill>
              </a:rPr>
              <a:t>evaluation</a:t>
            </a:r>
            <a:endParaRPr sz="1650"/>
          </a:p>
          <a:p>
            <a:pPr marL="170180" indent="-157480">
              <a:lnSpc>
                <a:spcPct val="100000"/>
              </a:lnSpc>
              <a:spcBef>
                <a:spcPts val="55"/>
              </a:spcBef>
              <a:buClr>
                <a:srgbClr val="181818"/>
              </a:buClr>
              <a:buChar char="•"/>
              <a:tabLst>
                <a:tab pos="170180" algn="l"/>
              </a:tabLst>
            </a:pPr>
            <a:r>
              <a:rPr spc="-20" dirty="0">
                <a:solidFill>
                  <a:srgbClr val="151515"/>
                </a:solidFill>
              </a:rPr>
              <a:t>Describe</a:t>
            </a:r>
            <a:r>
              <a:rPr spc="110" dirty="0">
                <a:solidFill>
                  <a:srgbClr val="151515"/>
                </a:solidFill>
              </a:rPr>
              <a:t> </a:t>
            </a:r>
            <a:r>
              <a:rPr dirty="0">
                <a:solidFill>
                  <a:srgbClr val="1F1F1F"/>
                </a:solidFill>
              </a:rPr>
              <a:t>model </a:t>
            </a:r>
            <a:r>
              <a:rPr spc="-10" dirty="0">
                <a:solidFill>
                  <a:srgbClr val="0C0C0C"/>
                </a:solidFill>
              </a:rPr>
              <a:t>deployment</a:t>
            </a:r>
          </a:p>
          <a:p>
            <a:pPr marL="168910" indent="-156210">
              <a:lnSpc>
                <a:spcPct val="100000"/>
              </a:lnSpc>
              <a:spcBef>
                <a:spcPts val="55"/>
              </a:spcBef>
              <a:buClr>
                <a:srgbClr val="1D1D1D"/>
              </a:buClr>
              <a:buChar char="•"/>
              <a:tabLst>
                <a:tab pos="168910" algn="l"/>
              </a:tabLst>
            </a:pPr>
            <a:r>
              <a:rPr sz="1650" spc="-95" dirty="0">
                <a:solidFill>
                  <a:srgbClr val="1F1F1F"/>
                </a:solidFill>
              </a:rPr>
              <a:t>Use</a:t>
            </a:r>
            <a:r>
              <a:rPr sz="1650" spc="-25" dirty="0">
                <a:solidFill>
                  <a:srgbClr val="1F1F1F"/>
                </a:solidFill>
              </a:rPr>
              <a:t> </a:t>
            </a:r>
            <a:r>
              <a:rPr sz="1650" dirty="0">
                <a:solidFill>
                  <a:srgbClr val="212121"/>
                </a:solidFill>
              </a:rPr>
              <a:t>an</a:t>
            </a:r>
            <a:r>
              <a:rPr sz="1650" spc="-105" dirty="0">
                <a:solidFill>
                  <a:srgbClr val="212121"/>
                </a:solidFill>
              </a:rPr>
              <a:t> </a:t>
            </a:r>
            <a:r>
              <a:rPr sz="1650" spc="-30" dirty="0">
                <a:solidFill>
                  <a:srgbClr val="161616"/>
                </a:solidFill>
              </a:rPr>
              <a:t>example</a:t>
            </a:r>
            <a:r>
              <a:rPr sz="1650" spc="-10" dirty="0">
                <a:solidFill>
                  <a:srgbClr val="161616"/>
                </a:solidFill>
              </a:rPr>
              <a:t> </a:t>
            </a:r>
            <a:r>
              <a:rPr sz="1650" dirty="0">
                <a:solidFill>
                  <a:srgbClr val="050505"/>
                </a:solidFill>
              </a:rPr>
              <a:t>to</a:t>
            </a:r>
            <a:r>
              <a:rPr sz="1650" spc="210" dirty="0">
                <a:solidFill>
                  <a:srgbClr val="050505"/>
                </a:solidFill>
              </a:rPr>
              <a:t> </a:t>
            </a:r>
            <a:r>
              <a:rPr sz="1650" dirty="0">
                <a:solidFill>
                  <a:srgbClr val="1A1A1A"/>
                </a:solidFill>
              </a:rPr>
              <a:t>apply</a:t>
            </a:r>
            <a:r>
              <a:rPr sz="1650" spc="-10" dirty="0">
                <a:solidFill>
                  <a:srgbClr val="1A1A1A"/>
                </a:solidFill>
              </a:rPr>
              <a:t> </a:t>
            </a:r>
            <a:r>
              <a:rPr sz="1650" spc="50" dirty="0">
                <a:solidFill>
                  <a:srgbClr val="232323"/>
                </a:solidFill>
              </a:rPr>
              <a:t>the</a:t>
            </a:r>
            <a:r>
              <a:rPr sz="1650" spc="-114" dirty="0">
                <a:solidFill>
                  <a:srgbClr val="232323"/>
                </a:solidFill>
              </a:rPr>
              <a:t> </a:t>
            </a:r>
            <a:r>
              <a:rPr sz="1650" spc="-20" dirty="0">
                <a:solidFill>
                  <a:srgbClr val="1A1A1A"/>
                </a:solidFill>
              </a:rPr>
              <a:t>steps</a:t>
            </a:r>
            <a:r>
              <a:rPr sz="1650" spc="-35" dirty="0">
                <a:solidFill>
                  <a:srgbClr val="1A1A1A"/>
                </a:solidFill>
              </a:rPr>
              <a:t> </a:t>
            </a:r>
            <a:r>
              <a:rPr sz="1650" dirty="0">
                <a:solidFill>
                  <a:srgbClr val="2A2A2A"/>
                </a:solidFill>
              </a:rPr>
              <a:t>of</a:t>
            </a:r>
            <a:r>
              <a:rPr sz="1650" spc="-60" dirty="0">
                <a:solidFill>
                  <a:srgbClr val="2A2A2A"/>
                </a:solidFill>
              </a:rPr>
              <a:t> </a:t>
            </a:r>
            <a:r>
              <a:rPr sz="1650" spc="50" dirty="0">
                <a:solidFill>
                  <a:srgbClr val="1F1F1F"/>
                </a:solidFill>
              </a:rPr>
              <a:t>the</a:t>
            </a:r>
            <a:r>
              <a:rPr sz="1650" spc="-114" dirty="0">
                <a:solidFill>
                  <a:srgbClr val="1F1F1F"/>
                </a:solidFill>
              </a:rPr>
              <a:t> </a:t>
            </a:r>
            <a:r>
              <a:rPr sz="1650" spc="-10" dirty="0">
                <a:solidFill>
                  <a:srgbClr val="1C1C1C"/>
                </a:solidFill>
              </a:rPr>
              <a:t>machin</a:t>
            </a:r>
            <a:r>
              <a:rPr sz="2475" spc="-15" baseline="-3367" dirty="0">
                <a:solidFill>
                  <a:srgbClr val="1C1C1C"/>
                </a:solidFill>
              </a:rPr>
              <a:t>e</a:t>
            </a:r>
            <a:r>
              <a:rPr sz="2475" spc="-195" baseline="-3367" dirty="0">
                <a:solidFill>
                  <a:srgbClr val="1C1C1C"/>
                </a:solidFill>
              </a:rPr>
              <a:t> </a:t>
            </a:r>
            <a:r>
              <a:rPr sz="1650" dirty="0">
                <a:solidFill>
                  <a:srgbClr val="0C0C0C"/>
                </a:solidFill>
              </a:rPr>
              <a:t>learning</a:t>
            </a:r>
            <a:r>
              <a:rPr sz="1650" spc="55" dirty="0">
                <a:solidFill>
                  <a:srgbClr val="0C0C0C"/>
                </a:solidFill>
              </a:rPr>
              <a:t> </a:t>
            </a:r>
            <a:r>
              <a:rPr sz="1650" spc="-10" dirty="0">
                <a:solidFill>
                  <a:srgbClr val="131313"/>
                </a:solidFill>
              </a:rPr>
              <a:t>pipeline</a:t>
            </a:r>
            <a:endParaRPr sz="16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4901</Words>
  <Application>Microsoft Office PowerPoint</Application>
  <PresentationFormat>Widescreen</PresentationFormat>
  <Paragraphs>484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Arial</vt:lpstr>
      <vt:lpstr>Arial MT</vt:lpstr>
      <vt:lpstr>Calibri</vt:lpstr>
      <vt:lpstr>Cambria</vt:lpstr>
      <vt:lpstr>Consolas</vt:lpstr>
      <vt:lpstr>Courier New</vt:lpstr>
      <vt:lpstr>Times New Roman</vt:lpstr>
      <vt:lpstr>Office Theme</vt:lpstr>
      <vt:lpstr>Machine Learning Foundations</vt:lpstr>
      <vt:lpstr>Introduction</vt:lpstr>
      <vt:lpstr>Introduction</vt:lpstr>
      <vt:lpstr>Machine learning pipeline</vt:lpstr>
      <vt:lpstr>Problem formulation</vt:lpstr>
      <vt:lpstr>Framing the problem</vt:lpstr>
      <vt:lpstr>Example: Probtem formulation</vt:lpstr>
      <vt:lpstr>PowerPoint Presentation</vt:lpstr>
      <vt:lpstr>Machine learning pipeline — Data collection and evaluation</vt:lpstr>
      <vt:lpstr>Data sources</vt:lpstr>
      <vt:lpstr>Data sources</vt:lpstr>
      <vt:lpstr>Data sources</vt:lpstr>
      <vt:lpstr>Data sources</vt:lpstr>
      <vt:lpstr>Data considerations</vt:lpstr>
      <vt:lpstr>Data considerations</vt:lpstr>
      <vt:lpstr>Data considerations</vt:lpstr>
      <vt:lpstr>Data considerations</vt:lpstr>
      <vt:lpstr>Data considerations</vt:lpstr>
      <vt:lpstr>atDo siderations</vt:lpstr>
      <vt:lpstr>Data preparation and preprocessing</vt:lpstr>
      <vt:lpstr>Machine learning pipeline — Feature engineering</vt:lpstr>
      <vt:lpstr>Feature engineering</vt:lpstr>
      <vt:lpstr>Feature extraction and feature selection</vt:lpstr>
      <vt:lpstr>Preparing data</vt:lpstr>
      <vt:lpstr>Preparing data</vt:lpstr>
      <vt:lpstr>rep  ri g data</vt:lpstr>
      <vt:lpstr>Preparing data</vt:lpstr>
      <vt:lpstr>Preparing data</vt:lpstr>
      <vt:lpstr>Machine learning pipeline — Select and train model</vt:lpstr>
      <vt:lpstr>Model training</vt:lpstr>
      <vt:lpstr>Overfitting and underfitting</vt:lpstr>
      <vt:lpstr>Overfitting and underfitting</vt:lpstr>
      <vt:lpstr>Overfftting and underfitting</vt:lpstr>
      <vt:lpstr>Overfitting and underfitting</vt:lpstr>
      <vt:lpstr>Choosing a machine Learning algorithm</vt:lpstr>
      <vt:lpstr>Machine learning pipeline — Tune and evaluate model</vt:lpstr>
      <vt:lpstr>Evaluate and tune</vt:lpstr>
      <vt:lpstr>Success metric</vt:lpstr>
      <vt:lpstr>Tuning</vt:lpstr>
      <vt:lpstr>Machine learning pipeline — Deploy model</vt:lpstr>
      <vt:lpstr>Model deployment</vt:lpstr>
      <vt:lpstr>Amazon caLL center case study</vt:lpstr>
      <vt:lpstr>PowerPoint Presentation</vt:lpstr>
      <vt:lpstr>Data coLLection and feature engineering</vt:lpstr>
      <vt:lpstr>Select and train</vt:lpstr>
      <vt:lpstr>Tune and evaluate</vt:lpstr>
      <vt:lpstr>Amazoc caLt center case study</vt:lpstr>
      <vt:lpstr>Knowledge check 01</vt:lpstr>
      <vt:lpstr>Knowledge check 02</vt:lpstr>
      <vt:lpstr>Knowledge check 04</vt:lpstr>
      <vt:lpstr>End of ModuLe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Foundations</dc:title>
  <dc:creator>pds</dc:creator>
  <cp:lastModifiedBy>PDS</cp:lastModifiedBy>
  <cp:revision>2</cp:revision>
  <dcterms:created xsi:type="dcterms:W3CDTF">2026-09-17T08:13:58Z</dcterms:created>
  <dcterms:modified xsi:type="dcterms:W3CDTF">2026-09-17T09:31:41Z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2026-09-10T00:00:00Z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2026-09-17T00:00:00Z</vt:filetime>
  </property>
  <property fmtid="{D5CDD505-2E9C-101B-9397-08002B2CF9AE}" pid="6" name="Producer">
    <vt:lpwstr>Microsoft® Word 2016</vt:lpwstr>
  </property>
</Properties>
</file>