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23" d="100"/>
          <a:sy n="223" d="100"/>
        </p:scale>
        <p:origin x="768" y="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D51AA-F4BF-4466-907A-039ABCF32AD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093B4-985C-4BDC-AC71-2A48471BB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1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8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F28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28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1F4D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42811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877" y="634612"/>
            <a:ext cx="5194300" cy="1316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F28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64225" y="3113806"/>
            <a:ext cx="241300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F2837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‹#›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iot/latest/developerguide/iot-rules.html" TargetMode="External"/><Relationship Id="rId13" Type="http://schemas.openxmlformats.org/officeDocument/2006/relationships/hyperlink" Target="https://docs.aws.amazon.com/cognito/latest/developerguide/what-is-amazon-cognito.html" TargetMode="External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hyperlink" Target="https://docs.aws.amazon.com/amplify/latest/userguide/welcome.html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hyperlink" Target="https://docs.aws.amazon.com/apigateway/latest/developerguide/set-up-lambda-proxy-integrations.html" TargetMode="External"/><Relationship Id="rId5" Type="http://schemas.openxmlformats.org/officeDocument/2006/relationships/image" Target="../media/image86.png"/><Relationship Id="rId10" Type="http://schemas.openxmlformats.org/officeDocument/2006/relationships/hyperlink" Target="https://docs.aws.amazon.com/iot/latest/developerguide/timestream-rule-action.html" TargetMode="External"/><Relationship Id="rId4" Type="http://schemas.openxmlformats.org/officeDocument/2006/relationships/image" Target="../media/image85.png"/><Relationship Id="rId9" Type="http://schemas.openxmlformats.org/officeDocument/2006/relationships/hyperlink" Target="https://docs.aws.amazon.com/iot/latest/developerguide/dynamodb-v2-rule-a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5"/>
            <a:ext cx="5812924" cy="32432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0906" y="2018824"/>
            <a:ext cx="4099123" cy="238774"/>
          </a:xfrm>
          <a:prstGeom prst="rect">
            <a:avLst/>
          </a:prstGeom>
        </p:spPr>
        <p:txBody>
          <a:bodyPr vert="horz" wrap="square" lIns="0" tIns="5706" rIns="0" bIns="0" rtlCol="0">
            <a:spAutoFit/>
          </a:bodyPr>
          <a:lstStyle/>
          <a:p>
            <a:pPr marR="29729" algn="ctr"/>
            <a:r>
              <a:rPr sz="757" dirty="0">
                <a:latin typeface="Trebuchet MS"/>
                <a:cs typeface="Trebuchet MS"/>
              </a:rPr>
              <a:t>Slides</a:t>
            </a:r>
            <a:r>
              <a:rPr sz="757" spc="-102" dirty="0">
                <a:latin typeface="Trebuchet MS"/>
                <a:cs typeface="Trebuchet MS"/>
              </a:rPr>
              <a:t> </a:t>
            </a:r>
            <a:r>
              <a:rPr sz="757" spc="-43" dirty="0">
                <a:latin typeface="Trebuchet MS"/>
                <a:cs typeface="Trebuchet MS"/>
              </a:rPr>
              <a:t>are</a:t>
            </a:r>
            <a:r>
              <a:rPr sz="757" spc="-104" dirty="0">
                <a:latin typeface="Trebuchet MS"/>
                <a:cs typeface="Trebuchet MS"/>
              </a:rPr>
              <a:t> </a:t>
            </a:r>
            <a:r>
              <a:rPr sz="757" spc="-28" dirty="0">
                <a:latin typeface="Trebuchet MS"/>
                <a:cs typeface="Trebuchet MS"/>
              </a:rPr>
              <a:t>captured</a:t>
            </a:r>
            <a:r>
              <a:rPr sz="757" spc="-92" dirty="0">
                <a:latin typeface="Trebuchet MS"/>
                <a:cs typeface="Trebuchet MS"/>
              </a:rPr>
              <a:t> </a:t>
            </a:r>
            <a:r>
              <a:rPr sz="757" spc="-43" dirty="0">
                <a:latin typeface="Trebuchet MS"/>
                <a:cs typeface="Trebuchet MS"/>
              </a:rPr>
              <a:t>from</a:t>
            </a:r>
            <a:r>
              <a:rPr sz="757" spc="-96" dirty="0">
                <a:latin typeface="Trebuchet MS"/>
                <a:cs typeface="Trebuchet MS"/>
              </a:rPr>
              <a:t> </a:t>
            </a:r>
            <a:r>
              <a:rPr sz="757" spc="38" dirty="0">
                <a:latin typeface="Trebuchet MS"/>
                <a:cs typeface="Trebuchet MS"/>
              </a:rPr>
              <a:t>AWS</a:t>
            </a:r>
            <a:r>
              <a:rPr sz="757" spc="-95" dirty="0">
                <a:latin typeface="Trebuchet MS"/>
                <a:cs typeface="Trebuchet MS"/>
              </a:rPr>
              <a:t> </a:t>
            </a:r>
            <a:r>
              <a:rPr sz="757" spc="-5" dirty="0">
                <a:latin typeface="Trebuchet MS"/>
                <a:cs typeface="Trebuchet MS"/>
              </a:rPr>
              <a:t>Educate.</a:t>
            </a:r>
            <a:endParaRPr sz="757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757" spc="-26" dirty="0">
                <a:latin typeface="Trebuchet MS"/>
                <a:cs typeface="Trebuchet MS"/>
              </a:rPr>
              <a:t>This</a:t>
            </a:r>
            <a:r>
              <a:rPr sz="757" spc="-102" dirty="0">
                <a:latin typeface="Trebuchet MS"/>
                <a:cs typeface="Trebuchet MS"/>
              </a:rPr>
              <a:t> </a:t>
            </a:r>
            <a:r>
              <a:rPr sz="757" dirty="0">
                <a:latin typeface="Trebuchet MS"/>
                <a:cs typeface="Trebuchet MS"/>
              </a:rPr>
              <a:t>is</a:t>
            </a:r>
            <a:r>
              <a:rPr sz="757" spc="-102" dirty="0">
                <a:latin typeface="Trebuchet MS"/>
                <a:cs typeface="Trebuchet MS"/>
              </a:rPr>
              <a:t> </a:t>
            </a:r>
            <a:r>
              <a:rPr sz="757" spc="-26" dirty="0">
                <a:latin typeface="Trebuchet MS"/>
                <a:cs typeface="Trebuchet MS"/>
              </a:rPr>
              <a:t>only</a:t>
            </a:r>
            <a:r>
              <a:rPr sz="757" spc="-104" dirty="0">
                <a:latin typeface="Trebuchet MS"/>
                <a:cs typeface="Trebuchet MS"/>
              </a:rPr>
              <a:t> </a:t>
            </a:r>
            <a:r>
              <a:rPr sz="757" spc="-61" dirty="0">
                <a:latin typeface="Trebuchet MS"/>
                <a:cs typeface="Trebuchet MS"/>
              </a:rPr>
              <a:t>for</a:t>
            </a:r>
            <a:r>
              <a:rPr sz="757" spc="-99" dirty="0">
                <a:latin typeface="Trebuchet MS"/>
                <a:cs typeface="Trebuchet MS"/>
              </a:rPr>
              <a:t> </a:t>
            </a:r>
            <a:r>
              <a:rPr sz="757" spc="-33" dirty="0">
                <a:latin typeface="Trebuchet MS"/>
                <a:cs typeface="Trebuchet MS"/>
              </a:rPr>
              <a:t>learning</a:t>
            </a:r>
            <a:r>
              <a:rPr sz="757" spc="-104" dirty="0">
                <a:latin typeface="Trebuchet MS"/>
                <a:cs typeface="Trebuchet MS"/>
              </a:rPr>
              <a:t> </a:t>
            </a:r>
            <a:r>
              <a:rPr sz="757" spc="-9" dirty="0">
                <a:latin typeface="Trebuchet MS"/>
                <a:cs typeface="Trebuchet MS"/>
              </a:rPr>
              <a:t>tools</a:t>
            </a:r>
            <a:r>
              <a:rPr sz="757" spc="-102" dirty="0">
                <a:latin typeface="Trebuchet MS"/>
                <a:cs typeface="Trebuchet MS"/>
              </a:rPr>
              <a:t> </a:t>
            </a:r>
            <a:r>
              <a:rPr sz="757" spc="-33" dirty="0">
                <a:latin typeface="Trebuchet MS"/>
                <a:cs typeface="Trebuchet MS"/>
              </a:rPr>
              <a:t>in</a:t>
            </a:r>
            <a:r>
              <a:rPr sz="757" spc="-104" dirty="0">
                <a:latin typeface="Trebuchet MS"/>
                <a:cs typeface="Trebuchet MS"/>
              </a:rPr>
              <a:t> </a:t>
            </a:r>
            <a:r>
              <a:rPr sz="757" dirty="0">
                <a:latin typeface="Trebuchet MS"/>
                <a:cs typeface="Trebuchet MS"/>
              </a:rPr>
              <a:t>Cloud</a:t>
            </a:r>
            <a:r>
              <a:rPr sz="757" spc="-96" dirty="0">
                <a:latin typeface="Trebuchet MS"/>
                <a:cs typeface="Trebuchet MS"/>
              </a:rPr>
              <a:t> </a:t>
            </a:r>
            <a:r>
              <a:rPr sz="757" spc="-9" dirty="0">
                <a:latin typeface="Trebuchet MS"/>
                <a:cs typeface="Trebuchet MS"/>
              </a:rPr>
              <a:t>Computing</a:t>
            </a:r>
            <a:r>
              <a:rPr sz="757" spc="-95" dirty="0">
                <a:latin typeface="Trebuchet MS"/>
                <a:cs typeface="Trebuchet MS"/>
              </a:rPr>
              <a:t> </a:t>
            </a:r>
            <a:r>
              <a:rPr sz="757" spc="-5" dirty="0">
                <a:latin typeface="Trebuchet MS"/>
                <a:cs typeface="Trebuchet MS"/>
              </a:rPr>
              <a:t>Course</a:t>
            </a:r>
            <a:endParaRPr sz="757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1206500" y="-67101"/>
            <a:ext cx="4252278" cy="1003471"/>
          </a:xfrm>
          <a:prstGeom prst="rect">
            <a:avLst/>
          </a:prstGeom>
        </p:spPr>
        <p:txBody>
          <a:bodyPr vert="horz" wrap="square" lIns="0" tIns="5706" rIns="0" bIns="0" rtlCol="0">
            <a:spAutoFit/>
          </a:bodyPr>
          <a:lstStyle/>
          <a:p>
            <a:pPr marR="29729" algn="just"/>
            <a:endParaRPr lang="en-US" sz="1600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R="29729" algn="just"/>
            <a:endParaRPr sz="1600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135"/>
              </a:spcBef>
            </a:pPr>
            <a:r>
              <a:rPr lang="en-US" sz="1600" spc="-35" dirty="0" smtClean="0">
                <a:solidFill>
                  <a:schemeClr val="bg1"/>
                </a:solidFill>
              </a:rPr>
              <a:t>Design</a:t>
            </a:r>
            <a:r>
              <a:rPr lang="en-US" sz="1600" spc="-30" dirty="0" smtClean="0">
                <a:solidFill>
                  <a:schemeClr val="bg1"/>
                </a:solidFill>
              </a:rPr>
              <a:t> </a:t>
            </a:r>
            <a:r>
              <a:rPr lang="en-US" sz="1600" spc="-35" dirty="0" smtClean="0">
                <a:solidFill>
                  <a:schemeClr val="bg1"/>
                </a:solidFill>
              </a:rPr>
              <a:t>and</a:t>
            </a:r>
            <a:r>
              <a:rPr lang="en-US" sz="1600" spc="-30" dirty="0" smtClean="0">
                <a:solidFill>
                  <a:schemeClr val="bg1"/>
                </a:solidFill>
              </a:rPr>
              <a:t> </a:t>
            </a:r>
            <a:r>
              <a:rPr lang="en-US" sz="1600" spc="-55" dirty="0" smtClean="0">
                <a:solidFill>
                  <a:schemeClr val="bg1"/>
                </a:solidFill>
              </a:rPr>
              <a:t>Implementation</a:t>
            </a:r>
            <a:r>
              <a:rPr lang="en-US" sz="1600" spc="-30" dirty="0" smtClean="0">
                <a:solidFill>
                  <a:schemeClr val="bg1"/>
                </a:solidFill>
              </a:rPr>
              <a:t> </a:t>
            </a:r>
            <a:r>
              <a:rPr lang="en-US" sz="1600" spc="-10" dirty="0" smtClean="0">
                <a:solidFill>
                  <a:schemeClr val="bg1"/>
                </a:solidFill>
              </a:rPr>
              <a:t>Guide </a:t>
            </a:r>
            <a:r>
              <a:rPr lang="en-US" sz="1600" spc="-20" dirty="0" smtClean="0">
                <a:solidFill>
                  <a:schemeClr val="bg1"/>
                </a:solidFill>
              </a:rPr>
              <a:t>for</a:t>
            </a:r>
            <a:r>
              <a:rPr lang="en-US" sz="1600" spc="-60" dirty="0" smtClean="0">
                <a:solidFill>
                  <a:schemeClr val="bg1"/>
                </a:solidFill>
              </a:rPr>
              <a:t> </a:t>
            </a:r>
            <a:r>
              <a:rPr lang="en-US" sz="1600" spc="-30" dirty="0" smtClean="0">
                <a:solidFill>
                  <a:schemeClr val="bg1"/>
                </a:solidFill>
              </a:rPr>
              <a:t>Backend</a:t>
            </a:r>
            <a:r>
              <a:rPr lang="en-US" sz="1600" spc="-55" dirty="0" smtClean="0">
                <a:solidFill>
                  <a:schemeClr val="bg1"/>
                </a:solidFill>
              </a:rPr>
              <a:t> </a:t>
            </a:r>
            <a:r>
              <a:rPr lang="en-US" sz="1600" spc="-30" dirty="0" smtClean="0">
                <a:solidFill>
                  <a:schemeClr val="bg1"/>
                </a:solidFill>
              </a:rPr>
              <a:t>and</a:t>
            </a:r>
            <a:r>
              <a:rPr lang="en-US" sz="1600" spc="-50" dirty="0" smtClean="0">
                <a:solidFill>
                  <a:schemeClr val="bg1"/>
                </a:solidFill>
              </a:rPr>
              <a:t> </a:t>
            </a:r>
            <a:r>
              <a:rPr lang="en-US" sz="1600" spc="-30" dirty="0" smtClean="0">
                <a:solidFill>
                  <a:schemeClr val="bg1"/>
                </a:solidFill>
              </a:rPr>
              <a:t>Frontend</a:t>
            </a:r>
            <a:r>
              <a:rPr lang="en-US" sz="1600" spc="-55" dirty="0" smtClean="0">
                <a:solidFill>
                  <a:schemeClr val="bg1"/>
                </a:solidFill>
              </a:rPr>
              <a:t> </a:t>
            </a:r>
            <a:r>
              <a:rPr lang="en-US" sz="1600" spc="-45" dirty="0" smtClean="0">
                <a:solidFill>
                  <a:schemeClr val="bg1"/>
                </a:solidFill>
              </a:rPr>
              <a:t>Systems</a:t>
            </a:r>
            <a:r>
              <a:rPr lang="en-US" sz="1600" spc="-50" dirty="0" smtClean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on</a:t>
            </a:r>
            <a:r>
              <a:rPr lang="en-US" sz="1600" spc="-55" dirty="0" smtClean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AWS</a:t>
            </a:r>
            <a:r>
              <a:rPr lang="en-US" sz="1600" spc="-55" dirty="0" smtClean="0">
                <a:solidFill>
                  <a:schemeClr val="bg1"/>
                </a:solidFill>
              </a:rPr>
              <a:t> </a:t>
            </a:r>
            <a:r>
              <a:rPr lang="en-US" sz="1600" spc="-10" dirty="0" smtClean="0">
                <a:solidFill>
                  <a:schemeClr val="bg1"/>
                </a:solidFill>
              </a:rPr>
              <a:t>Cloud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0549" y="270420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3120" y="2641900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9817" y="2775799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3719" y="2839825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549" y="289076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/>
              <a:t>github.com/amelcharolinesgn2/CCNA1</a:t>
            </a:r>
            <a:endParaRPr lang="en-US" sz="378" dirty="0"/>
          </a:p>
        </p:txBody>
      </p:sp>
      <p:sp>
        <p:nvSpPr>
          <p:cNvPr id="14" name="Rectangle 13"/>
          <p:cNvSpPr/>
          <p:nvPr/>
        </p:nvSpPr>
        <p:spPr>
          <a:xfrm>
            <a:off x="4370549" y="295244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/>
              <a:t>github.com/amelcharolinesgn2/CCNA2</a:t>
            </a:r>
            <a:endParaRPr lang="en-US" sz="378" dirty="0"/>
          </a:p>
        </p:txBody>
      </p:sp>
      <p:sp>
        <p:nvSpPr>
          <p:cNvPr id="15" name="Rectangle 14"/>
          <p:cNvSpPr/>
          <p:nvPr/>
        </p:nvSpPr>
        <p:spPr>
          <a:xfrm>
            <a:off x="4370549" y="2999045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4"/>
              </a:rPr>
              <a:t>https://</a:t>
            </a:r>
            <a:r>
              <a:rPr lang="en-US" sz="378" dirty="0">
                <a:hlinkClick r:id="rId4"/>
              </a:rPr>
              <a:t>github.com/amelcharolinesgn2/AWS</a:t>
            </a:r>
            <a:r>
              <a:rPr lang="en-US" sz="378" dirty="0"/>
              <a:t> Certificate</a:t>
            </a:r>
            <a:endParaRPr lang="en-US" sz="378" dirty="0"/>
          </a:p>
        </p:txBody>
      </p:sp>
      <p:sp>
        <p:nvSpPr>
          <p:cNvPr id="2" name="Rectangle 1"/>
          <p:cNvSpPr/>
          <p:nvPr/>
        </p:nvSpPr>
        <p:spPr>
          <a:xfrm>
            <a:off x="1282541" y="936370"/>
            <a:ext cx="437965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20" dirty="0" smtClean="0">
                <a:solidFill>
                  <a:srgbClr val="FFFFFF"/>
                </a:solidFill>
                <a:latin typeface="Arial MT"/>
                <a:cs typeface="Arial MT"/>
              </a:rPr>
              <a:t>Instructional</a:t>
            </a:r>
            <a:r>
              <a:rPr lang="en-US" sz="8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35" dirty="0" smtClean="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lang="en-US" sz="800" spc="2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dirty="0" smtClean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lang="en-US" sz="800" spc="2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75" dirty="0" smtClean="0">
                <a:solidFill>
                  <a:srgbClr val="FFFFFF"/>
                </a:solidFill>
                <a:latin typeface="Arial MT"/>
                <a:cs typeface="Arial MT"/>
              </a:rPr>
              <a:t>Sensor</a:t>
            </a:r>
            <a:r>
              <a:rPr lang="en-US" sz="8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10" dirty="0" smtClean="0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r>
              <a:rPr lang="en-US" sz="800" spc="2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30" dirty="0" smtClean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r>
              <a:rPr lang="en-US" sz="800" spc="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35" dirty="0" smtClean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lang="en-US" sz="8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75" dirty="0" smtClean="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lang="en-US" sz="800" spc="2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dirty="0" err="1" smtClean="0">
                <a:solidFill>
                  <a:srgbClr val="FFFFFF"/>
                </a:solidFill>
                <a:latin typeface="Arial MT"/>
                <a:cs typeface="Arial MT"/>
              </a:rPr>
              <a:t>IoT</a:t>
            </a:r>
            <a:r>
              <a:rPr lang="en-US" sz="800" spc="2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800" spc="-20" dirty="0" smtClean="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endParaRPr lang="en-US" sz="800" dirty="0">
              <a:latin typeface="Arial MT"/>
              <a:cs typeface="Arial MT"/>
            </a:endParaRPr>
          </a:p>
        </p:txBody>
      </p:sp>
      <p:sp>
        <p:nvSpPr>
          <p:cNvPr id="16" name="object 8"/>
          <p:cNvSpPr txBox="1"/>
          <p:nvPr/>
        </p:nvSpPr>
        <p:spPr>
          <a:xfrm>
            <a:off x="1358900" y="1297739"/>
            <a:ext cx="337185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spc="-10" dirty="0" smtClean="0">
                <a:solidFill>
                  <a:srgbClr val="1F2837"/>
                </a:solidFill>
                <a:latin typeface="Microsoft Sans Serif"/>
                <a:cs typeface="Microsoft Sans Serif"/>
              </a:rPr>
              <a:t>Backend</a:t>
            </a:r>
            <a:r>
              <a:rPr sz="700" spc="35" dirty="0" smtClean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Integration,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Data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Persistence,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API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Services,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and</a:t>
            </a:r>
            <a:r>
              <a:rPr sz="7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Web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1F2837"/>
                </a:solidFill>
                <a:latin typeface="Microsoft Sans Serif"/>
                <a:cs typeface="Microsoft Sans Serif"/>
              </a:rPr>
              <a:t>Frontend</a:t>
            </a:r>
            <a:r>
              <a:rPr sz="700" spc="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700" spc="-10" dirty="0" smtClean="0">
                <a:solidFill>
                  <a:srgbClr val="1F2837"/>
                </a:solidFill>
                <a:latin typeface="Microsoft Sans Serif"/>
                <a:cs typeface="Microsoft Sans Serif"/>
              </a:rPr>
              <a:t>Deployment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2541" y="1075139"/>
            <a:ext cx="437965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50" dirty="0" smtClean="0">
                <a:solidFill>
                  <a:schemeClr val="bg1"/>
                </a:solidFill>
                <a:latin typeface="Arial MT"/>
                <a:cs typeface="Arial MT"/>
              </a:rPr>
              <a:t>Reference</a:t>
            </a:r>
            <a:r>
              <a:rPr lang="en-US" sz="500" spc="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500" spc="-35" dirty="0" smtClean="0">
                <a:solidFill>
                  <a:schemeClr val="bg1"/>
                </a:solidFill>
                <a:latin typeface="Arial MT"/>
                <a:cs typeface="Arial MT"/>
              </a:rPr>
              <a:t>system</a:t>
            </a:r>
            <a:r>
              <a:rPr lang="en-US" sz="500" spc="4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500" dirty="0" smtClean="0">
                <a:solidFill>
                  <a:schemeClr val="bg1"/>
                </a:solidFill>
                <a:latin typeface="Arial MT"/>
                <a:cs typeface="Arial MT"/>
              </a:rPr>
              <a:t>flow:</a:t>
            </a:r>
            <a:r>
              <a:rPr lang="en-US" sz="500" spc="14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500" spc="-130" dirty="0" smtClean="0">
                <a:solidFill>
                  <a:schemeClr val="bg1"/>
                </a:solidFill>
                <a:latin typeface="Arial Black"/>
                <a:cs typeface="Arial Black"/>
              </a:rPr>
              <a:t>Sensor</a:t>
            </a:r>
            <a:r>
              <a:rPr lang="en-US" sz="500" spc="2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80" dirty="0" smtClean="0">
                <a:solidFill>
                  <a:schemeClr val="bg1"/>
                </a:solidFill>
                <a:latin typeface="Arial Black"/>
                <a:cs typeface="Arial Black"/>
              </a:rPr>
              <a:t>→</a:t>
            </a:r>
            <a:r>
              <a:rPr lang="en-US" sz="500" spc="1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70" dirty="0" smtClean="0">
                <a:solidFill>
                  <a:schemeClr val="bg1"/>
                </a:solidFill>
                <a:latin typeface="Arial Black"/>
                <a:cs typeface="Arial Black"/>
              </a:rPr>
              <a:t>AWS</a:t>
            </a:r>
            <a:r>
              <a:rPr lang="en-US" sz="500" spc="20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30" dirty="0" err="1" smtClean="0">
                <a:solidFill>
                  <a:schemeClr val="bg1"/>
                </a:solidFill>
                <a:latin typeface="Arial Black"/>
                <a:cs typeface="Arial Black"/>
              </a:rPr>
              <a:t>IoT</a:t>
            </a:r>
            <a:r>
              <a:rPr lang="en-US" sz="500" spc="1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110" dirty="0" smtClean="0">
                <a:solidFill>
                  <a:schemeClr val="bg1"/>
                </a:solidFill>
                <a:latin typeface="Arial Black"/>
                <a:cs typeface="Arial Black"/>
              </a:rPr>
              <a:t>Core</a:t>
            </a:r>
            <a:r>
              <a:rPr lang="en-US" sz="500" spc="2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80" dirty="0" smtClean="0">
                <a:solidFill>
                  <a:schemeClr val="bg1"/>
                </a:solidFill>
                <a:latin typeface="Arial Black"/>
                <a:cs typeface="Arial Black"/>
              </a:rPr>
              <a:t>→</a:t>
            </a:r>
            <a:r>
              <a:rPr lang="en-US" sz="500" spc="1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110" dirty="0" smtClean="0">
                <a:solidFill>
                  <a:schemeClr val="bg1"/>
                </a:solidFill>
                <a:latin typeface="Arial Black"/>
                <a:cs typeface="Arial Black"/>
              </a:rPr>
              <a:t>Database</a:t>
            </a:r>
            <a:r>
              <a:rPr lang="en-US" sz="500" spc="2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80" dirty="0" smtClean="0">
                <a:solidFill>
                  <a:schemeClr val="bg1"/>
                </a:solidFill>
                <a:latin typeface="Arial Black"/>
                <a:cs typeface="Arial Black"/>
              </a:rPr>
              <a:t>→</a:t>
            </a:r>
            <a:r>
              <a:rPr lang="en-US" sz="500" spc="20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130" dirty="0" smtClean="0">
                <a:solidFill>
                  <a:schemeClr val="bg1"/>
                </a:solidFill>
                <a:latin typeface="Arial Black"/>
                <a:cs typeface="Arial Black"/>
              </a:rPr>
              <a:t>Backend</a:t>
            </a:r>
            <a:r>
              <a:rPr lang="en-US" sz="500" spc="2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20" dirty="0" smtClean="0">
                <a:solidFill>
                  <a:schemeClr val="bg1"/>
                </a:solidFill>
                <a:latin typeface="Arial Black"/>
                <a:cs typeface="Arial Black"/>
              </a:rPr>
              <a:t>API</a:t>
            </a:r>
            <a:r>
              <a:rPr lang="en-US" sz="500" spc="1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80" dirty="0" smtClean="0">
                <a:solidFill>
                  <a:schemeClr val="bg1"/>
                </a:solidFill>
                <a:latin typeface="Arial Black"/>
                <a:cs typeface="Arial Black"/>
              </a:rPr>
              <a:t>→</a:t>
            </a:r>
            <a:r>
              <a:rPr lang="en-US" sz="500" spc="15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95" dirty="0" smtClean="0">
                <a:solidFill>
                  <a:schemeClr val="bg1"/>
                </a:solidFill>
                <a:latin typeface="Arial Black"/>
                <a:cs typeface="Arial Black"/>
              </a:rPr>
              <a:t>Frontend</a:t>
            </a:r>
            <a:r>
              <a:rPr lang="en-US" sz="500" spc="20" dirty="0" smtClean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lang="en-US" sz="500" spc="-65" dirty="0" smtClean="0">
                <a:solidFill>
                  <a:schemeClr val="bg1"/>
                </a:solidFill>
                <a:latin typeface="Arial Black"/>
                <a:cs typeface="Arial Black"/>
              </a:rPr>
              <a:t>Dashboard</a:t>
            </a:r>
            <a:endParaRPr lang="en-US" sz="50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9224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Instructional</a:t>
            </a:r>
            <a:r>
              <a:rPr spc="10" dirty="0"/>
              <a:t> </a:t>
            </a:r>
            <a:r>
              <a:rPr spc="-30" dirty="0"/>
              <a:t>Objectives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823036"/>
            <a:ext cx="59613" cy="59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708006"/>
            <a:ext cx="5231765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Explain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logical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architecture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of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cloud-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80" dirty="0">
                <a:solidFill>
                  <a:srgbClr val="1F2837"/>
                </a:solidFill>
                <a:latin typeface="Arial MT"/>
                <a:cs typeface="Arial MT"/>
              </a:rPr>
              <a:t>sensor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monitoring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system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using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services.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Distinguish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the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roles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of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IoT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Core,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database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services,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APIs,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hosting.</a:t>
            </a:r>
            <a:endParaRPr sz="1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Evaluate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alternative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persistence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designs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for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telemetry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workloads,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including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serverless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relational approaches.</a:t>
            </a:r>
            <a:endParaRPr sz="1000" dirty="0">
              <a:latin typeface="Arial MT"/>
              <a:cs typeface="Arial MT"/>
            </a:endParaRPr>
          </a:p>
          <a:p>
            <a:pPr marL="12700" marR="111760">
              <a:lnSpc>
                <a:spcPts val="1490"/>
              </a:lnSpc>
              <a:spcBef>
                <a:spcPts val="95"/>
              </a:spcBef>
            </a:pP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Describe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secure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integration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pattern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communication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user-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facing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applications.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Provide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a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structured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implementation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roadmap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suitable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laboratory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practice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or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course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projects.</a:t>
            </a:r>
            <a:endParaRPr sz="10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012824"/>
            <a:ext cx="59613" cy="596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202613"/>
            <a:ext cx="59613" cy="596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544243"/>
            <a:ext cx="59613" cy="596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1734032"/>
            <a:ext cx="59613" cy="5961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5729" y="2010612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530" y="1978922"/>
            <a:ext cx="118237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Emphasis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530" y="2214542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1054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This </a:t>
            </a:r>
            <a:r>
              <a:rPr sz="1000" spc="-35" dirty="0">
                <a:latin typeface="Arial MT"/>
                <a:cs typeface="Arial MT"/>
              </a:rPr>
              <a:t>presentation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intended</a:t>
            </a:r>
            <a:r>
              <a:rPr sz="1000" dirty="0">
                <a:latin typeface="Arial MT"/>
                <a:cs typeface="Arial MT"/>
              </a:rPr>
              <a:t> 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support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classroom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explanation,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guided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laboratory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activities,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10" dirty="0">
                <a:latin typeface="Arial MT"/>
                <a:cs typeface="Arial MT"/>
              </a:rPr>
              <a:t>introductory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design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discussions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Cloud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Computing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courses.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60" dirty="0"/>
              <a:t> </a:t>
            </a:r>
            <a:r>
              <a:rPr spc="-10" dirty="0"/>
              <a:t>Context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20" dirty="0"/>
              <a:t>Problem</a:t>
            </a:r>
            <a:r>
              <a:rPr spc="-60" dirty="0"/>
              <a:t> </a:t>
            </a:r>
            <a:r>
              <a:rPr spc="-20" dirty="0"/>
              <a:t>Statement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3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263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56586"/>
            <a:ext cx="51752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81664"/>
            <a:ext cx="56089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334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sensor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device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publishes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telemetry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Black"/>
                <a:cs typeface="Arial Black"/>
              </a:rPr>
              <a:t>AWS</a:t>
            </a:r>
            <a:r>
              <a:rPr sz="1000" dirty="0">
                <a:latin typeface="Arial Black"/>
                <a:cs typeface="Arial Black"/>
              </a:rPr>
              <a:t> </a:t>
            </a:r>
            <a:r>
              <a:rPr sz="1000" spc="-40" dirty="0">
                <a:latin typeface="Arial Black"/>
                <a:cs typeface="Arial Black"/>
              </a:rPr>
              <a:t>IoT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Core</a:t>
            </a:r>
            <a:r>
              <a:rPr sz="1000" spc="-70" dirty="0">
                <a:latin typeface="Arial MT"/>
                <a:cs typeface="Arial MT"/>
              </a:rPr>
              <a:t>.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incoming</a:t>
            </a:r>
            <a:r>
              <a:rPr sz="1000" spc="-10" dirty="0">
                <a:latin typeface="Arial MT"/>
                <a:cs typeface="Arial MT"/>
              </a:rPr>
              <a:t> data must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then</a:t>
            </a:r>
            <a:r>
              <a:rPr sz="1000" spc="-10" dirty="0">
                <a:latin typeface="Arial MT"/>
                <a:cs typeface="Arial MT"/>
              </a:rPr>
              <a:t> be </a:t>
            </a:r>
            <a:r>
              <a:rPr sz="1000" spc="-35" dirty="0">
                <a:latin typeface="Arial MT"/>
                <a:cs typeface="Arial MT"/>
              </a:rPr>
              <a:t>stored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in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database,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processed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backend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service,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presented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through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secure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web-</a:t>
            </a:r>
            <a:r>
              <a:rPr sz="1000" spc="-70" dirty="0">
                <a:latin typeface="Arial MT"/>
                <a:cs typeface="Arial MT"/>
              </a:rPr>
              <a:t>based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frontend dashboard.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729" y="1603844"/>
            <a:ext cx="2965450" cy="198755"/>
          </a:xfrm>
          <a:custGeom>
            <a:avLst/>
            <a:gdLst/>
            <a:ahLst/>
            <a:cxnLst/>
            <a:rect l="l" t="t" r="r" b="b"/>
            <a:pathLst>
              <a:path w="2965450" h="198755">
                <a:moveTo>
                  <a:pt x="29144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965274" y="198363"/>
                </a:lnTo>
                <a:lnTo>
                  <a:pt x="2965274" y="50800"/>
                </a:lnTo>
                <a:lnTo>
                  <a:pt x="2961266" y="31075"/>
                </a:lnTo>
                <a:lnTo>
                  <a:pt x="2950351" y="14922"/>
                </a:lnTo>
                <a:lnTo>
                  <a:pt x="2934198" y="4008"/>
                </a:lnTo>
                <a:lnTo>
                  <a:pt x="291447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" y="1572167"/>
            <a:ext cx="116840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877" y="1769827"/>
            <a:ext cx="2621280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0130">
              <a:lnSpc>
                <a:spcPct val="124500"/>
              </a:lnSpc>
              <a:spcBef>
                <a:spcPts val="100"/>
              </a:spcBef>
            </a:pPr>
            <a:r>
              <a:rPr sz="1000" spc="-45" dirty="0">
                <a:latin typeface="Arial MT"/>
                <a:cs typeface="Arial MT"/>
              </a:rPr>
              <a:t>Reliable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telemetry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ingestion </a:t>
            </a:r>
            <a:r>
              <a:rPr sz="1000" spc="-35" dirty="0">
                <a:latin typeface="Arial MT"/>
                <a:cs typeface="Arial MT"/>
              </a:rPr>
              <a:t>Persistent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storage </a:t>
            </a:r>
            <a:r>
              <a:rPr sz="1000" spc="-55" dirty="0">
                <a:latin typeface="Arial MT"/>
                <a:cs typeface="Arial MT"/>
              </a:rPr>
              <a:t>Backend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access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through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APIs </a:t>
            </a:r>
            <a:r>
              <a:rPr sz="1000" spc="-70" dirty="0">
                <a:latin typeface="Arial MT"/>
                <a:cs typeface="Arial MT"/>
              </a:rPr>
              <a:t>Secure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user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authentication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45" dirty="0">
                <a:latin typeface="Arial MT"/>
                <a:cs typeface="Arial MT"/>
              </a:rPr>
              <a:t>Web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deployment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monitoring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visualization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39363" y="1603844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4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744947" y="198363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90164" y="1572167"/>
            <a:ext cx="106045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Expected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77464" y="1807786"/>
            <a:ext cx="25730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maintainable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AWS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architecture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supports: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20339" y="2074646"/>
            <a:ext cx="59690" cy="439420"/>
            <a:chOff x="3120339" y="2074646"/>
            <a:chExt cx="59690" cy="4394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0339" y="2074646"/>
              <a:ext cx="59613" cy="5961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0339" y="2264435"/>
              <a:ext cx="59613" cy="596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0339" y="2454224"/>
              <a:ext cx="59613" cy="5961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230511" y="1997575"/>
            <a:ext cx="1069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latest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device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status,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30511" y="2149392"/>
            <a:ext cx="238569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25" dirty="0">
                <a:latin typeface="Arial MT"/>
                <a:cs typeface="Arial MT"/>
              </a:rPr>
              <a:t>historical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trend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analysis,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Arial MT"/>
                <a:cs typeface="Arial MT"/>
              </a:rPr>
              <a:t>controlled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access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applications.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Reference</a:t>
            </a:r>
            <a:r>
              <a:rPr spc="-35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4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6738" y="1330680"/>
            <a:ext cx="2976880" cy="377825"/>
            <a:chOff x="346738" y="1330680"/>
            <a:chExt cx="2976880" cy="377825"/>
          </a:xfrm>
        </p:grpSpPr>
        <p:sp>
          <p:nvSpPr>
            <p:cNvPr id="4" name="object 4"/>
            <p:cNvSpPr/>
            <p:nvPr/>
          </p:nvSpPr>
          <p:spPr>
            <a:xfrm>
              <a:off x="352453" y="1336395"/>
              <a:ext cx="843280" cy="366395"/>
            </a:xfrm>
            <a:custGeom>
              <a:avLst/>
              <a:gdLst/>
              <a:ahLst/>
              <a:cxnLst/>
              <a:rect l="l" t="t" r="r" b="b"/>
              <a:pathLst>
                <a:path w="843280" h="366394">
                  <a:moveTo>
                    <a:pt x="800257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800257" y="365843"/>
                  </a:lnTo>
                  <a:lnTo>
                    <a:pt x="816940" y="362475"/>
                  </a:lnTo>
                  <a:lnTo>
                    <a:pt x="830563" y="353289"/>
                  </a:lnTo>
                  <a:lnTo>
                    <a:pt x="839749" y="339666"/>
                  </a:lnTo>
                  <a:lnTo>
                    <a:pt x="843117" y="322983"/>
                  </a:lnTo>
                  <a:lnTo>
                    <a:pt x="843117" y="42860"/>
                  </a:lnTo>
                  <a:lnTo>
                    <a:pt x="839749" y="26176"/>
                  </a:lnTo>
                  <a:lnTo>
                    <a:pt x="830563" y="12553"/>
                  </a:lnTo>
                  <a:lnTo>
                    <a:pt x="816940" y="3368"/>
                  </a:lnTo>
                  <a:lnTo>
                    <a:pt x="800257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53" y="1336395"/>
              <a:ext cx="843280" cy="366395"/>
            </a:xfrm>
            <a:custGeom>
              <a:avLst/>
              <a:gdLst/>
              <a:ahLst/>
              <a:cxnLst/>
              <a:rect l="l" t="t" r="r" b="b"/>
              <a:pathLst>
                <a:path w="843280" h="366394">
                  <a:moveTo>
                    <a:pt x="800257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800257" y="365843"/>
                  </a:lnTo>
                  <a:lnTo>
                    <a:pt x="816940" y="362475"/>
                  </a:lnTo>
                  <a:lnTo>
                    <a:pt x="830563" y="353289"/>
                  </a:lnTo>
                  <a:lnTo>
                    <a:pt x="839749" y="339666"/>
                  </a:lnTo>
                  <a:lnTo>
                    <a:pt x="843117" y="322983"/>
                  </a:lnTo>
                  <a:lnTo>
                    <a:pt x="843117" y="42860"/>
                  </a:lnTo>
                  <a:lnTo>
                    <a:pt x="839749" y="26176"/>
                  </a:lnTo>
                  <a:lnTo>
                    <a:pt x="830563" y="12553"/>
                  </a:lnTo>
                  <a:lnTo>
                    <a:pt x="816940" y="3368"/>
                  </a:lnTo>
                  <a:lnTo>
                    <a:pt x="800257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0247" y="1336395"/>
              <a:ext cx="899794" cy="366395"/>
            </a:xfrm>
            <a:custGeom>
              <a:avLst/>
              <a:gdLst/>
              <a:ahLst/>
              <a:cxnLst/>
              <a:rect l="l" t="t" r="r" b="b"/>
              <a:pathLst>
                <a:path w="899794" h="366394">
                  <a:moveTo>
                    <a:pt x="856726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856726" y="365843"/>
                  </a:lnTo>
                  <a:lnTo>
                    <a:pt x="873410" y="362475"/>
                  </a:lnTo>
                  <a:lnTo>
                    <a:pt x="887033" y="353289"/>
                  </a:lnTo>
                  <a:lnTo>
                    <a:pt x="896218" y="339666"/>
                  </a:lnTo>
                  <a:lnTo>
                    <a:pt x="899586" y="322983"/>
                  </a:lnTo>
                  <a:lnTo>
                    <a:pt x="899586" y="42860"/>
                  </a:lnTo>
                  <a:lnTo>
                    <a:pt x="896218" y="26176"/>
                  </a:lnTo>
                  <a:lnTo>
                    <a:pt x="887033" y="12553"/>
                  </a:lnTo>
                  <a:lnTo>
                    <a:pt x="873410" y="3368"/>
                  </a:lnTo>
                  <a:lnTo>
                    <a:pt x="856726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10247" y="1336395"/>
              <a:ext cx="899794" cy="366395"/>
            </a:xfrm>
            <a:custGeom>
              <a:avLst/>
              <a:gdLst/>
              <a:ahLst/>
              <a:cxnLst/>
              <a:rect l="l" t="t" r="r" b="b"/>
              <a:pathLst>
                <a:path w="899794" h="366394">
                  <a:moveTo>
                    <a:pt x="856726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856726" y="365843"/>
                  </a:lnTo>
                  <a:lnTo>
                    <a:pt x="873410" y="362475"/>
                  </a:lnTo>
                  <a:lnTo>
                    <a:pt x="887033" y="353289"/>
                  </a:lnTo>
                  <a:lnTo>
                    <a:pt x="896218" y="339666"/>
                  </a:lnTo>
                  <a:lnTo>
                    <a:pt x="899586" y="322983"/>
                  </a:lnTo>
                  <a:lnTo>
                    <a:pt x="899586" y="42860"/>
                  </a:lnTo>
                  <a:lnTo>
                    <a:pt x="896218" y="26176"/>
                  </a:lnTo>
                  <a:lnTo>
                    <a:pt x="887033" y="12553"/>
                  </a:lnTo>
                  <a:lnTo>
                    <a:pt x="873410" y="3368"/>
                  </a:lnTo>
                  <a:lnTo>
                    <a:pt x="856726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4511" y="1336395"/>
              <a:ext cx="793750" cy="366395"/>
            </a:xfrm>
            <a:custGeom>
              <a:avLst/>
              <a:gdLst/>
              <a:ahLst/>
              <a:cxnLst/>
              <a:rect l="l" t="t" r="r" b="b"/>
              <a:pathLst>
                <a:path w="793750" h="366394">
                  <a:moveTo>
                    <a:pt x="750451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50451" y="365843"/>
                  </a:lnTo>
                  <a:lnTo>
                    <a:pt x="767134" y="362475"/>
                  </a:lnTo>
                  <a:lnTo>
                    <a:pt x="780757" y="353289"/>
                  </a:lnTo>
                  <a:lnTo>
                    <a:pt x="789942" y="339666"/>
                  </a:lnTo>
                  <a:lnTo>
                    <a:pt x="793311" y="322983"/>
                  </a:lnTo>
                  <a:lnTo>
                    <a:pt x="793311" y="42860"/>
                  </a:lnTo>
                  <a:lnTo>
                    <a:pt x="789942" y="26176"/>
                  </a:lnTo>
                  <a:lnTo>
                    <a:pt x="780757" y="12553"/>
                  </a:lnTo>
                  <a:lnTo>
                    <a:pt x="767134" y="3368"/>
                  </a:lnTo>
                  <a:lnTo>
                    <a:pt x="750451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4511" y="1336395"/>
              <a:ext cx="793750" cy="366395"/>
            </a:xfrm>
            <a:custGeom>
              <a:avLst/>
              <a:gdLst/>
              <a:ahLst/>
              <a:cxnLst/>
              <a:rect l="l" t="t" r="r" b="b"/>
              <a:pathLst>
                <a:path w="793750" h="366394">
                  <a:moveTo>
                    <a:pt x="750450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50450" y="365843"/>
                  </a:lnTo>
                  <a:lnTo>
                    <a:pt x="767134" y="362475"/>
                  </a:lnTo>
                  <a:lnTo>
                    <a:pt x="780757" y="353289"/>
                  </a:lnTo>
                  <a:lnTo>
                    <a:pt x="789942" y="339666"/>
                  </a:lnTo>
                  <a:lnTo>
                    <a:pt x="793311" y="322983"/>
                  </a:lnTo>
                  <a:lnTo>
                    <a:pt x="793311" y="42860"/>
                  </a:lnTo>
                  <a:lnTo>
                    <a:pt x="789942" y="26176"/>
                  </a:lnTo>
                  <a:lnTo>
                    <a:pt x="780757" y="12553"/>
                  </a:lnTo>
                  <a:lnTo>
                    <a:pt x="767134" y="3368"/>
                  </a:lnTo>
                  <a:lnTo>
                    <a:pt x="750450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59400" y="1353033"/>
            <a:ext cx="72390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2870" marR="5080" indent="-90805">
              <a:lnSpc>
                <a:spcPts val="1070"/>
              </a:lnSpc>
              <a:spcBef>
                <a:spcPts val="140"/>
              </a:spcBef>
            </a:pP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AWS</a:t>
            </a:r>
            <a:r>
              <a:rPr sz="9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Lambda </a:t>
            </a: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App</a:t>
            </a:r>
            <a:r>
              <a:rPr sz="900" spc="8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Logic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26784" y="1330680"/>
            <a:ext cx="804545" cy="377825"/>
            <a:chOff x="3526784" y="1330680"/>
            <a:chExt cx="804545" cy="377825"/>
          </a:xfrm>
        </p:grpSpPr>
        <p:sp>
          <p:nvSpPr>
            <p:cNvPr id="12" name="object 12"/>
            <p:cNvSpPr/>
            <p:nvPr/>
          </p:nvSpPr>
          <p:spPr>
            <a:xfrm>
              <a:off x="3532499" y="1336395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89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2499" y="1336395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89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5906" y="1364146"/>
            <a:ext cx="68580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75565" marR="5080" indent="-63500">
              <a:lnSpc>
                <a:spcPts val="1070"/>
              </a:lnSpc>
              <a:spcBef>
                <a:spcPts val="140"/>
              </a:spcBef>
            </a:pP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API</a:t>
            </a:r>
            <a:r>
              <a:rPr sz="900" spc="1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Microsoft Sans Serif"/>
                <a:cs typeface="Microsoft Sans Serif"/>
              </a:rPr>
              <a:t>Gateway </a:t>
            </a: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REST</a:t>
            </a:r>
            <a:r>
              <a:rPr sz="9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API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4125" y="1330680"/>
            <a:ext cx="804545" cy="377825"/>
            <a:chOff x="4534125" y="1330680"/>
            <a:chExt cx="804545" cy="377825"/>
          </a:xfrm>
        </p:grpSpPr>
        <p:sp>
          <p:nvSpPr>
            <p:cNvPr id="16" name="object 16"/>
            <p:cNvSpPr/>
            <p:nvPr/>
          </p:nvSpPr>
          <p:spPr>
            <a:xfrm>
              <a:off x="4539841" y="1336395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89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39840" y="1336395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89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89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52793" y="1364146"/>
            <a:ext cx="56642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43180">
              <a:lnSpc>
                <a:spcPts val="1070"/>
              </a:lnSpc>
              <a:spcBef>
                <a:spcPts val="140"/>
              </a:spcBef>
            </a:pP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Frontend </a:t>
            </a:r>
            <a:r>
              <a:rPr sz="9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Dashboard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79026" y="2053476"/>
            <a:ext cx="1162050" cy="377825"/>
            <a:chOff x="1279026" y="2053476"/>
            <a:chExt cx="1162050" cy="377825"/>
          </a:xfrm>
        </p:grpSpPr>
        <p:sp>
          <p:nvSpPr>
            <p:cNvPr id="20" name="object 20"/>
            <p:cNvSpPr/>
            <p:nvPr/>
          </p:nvSpPr>
          <p:spPr>
            <a:xfrm>
              <a:off x="1284741" y="2059191"/>
              <a:ext cx="1150620" cy="366395"/>
            </a:xfrm>
            <a:custGeom>
              <a:avLst/>
              <a:gdLst/>
              <a:ahLst/>
              <a:cxnLst/>
              <a:rect l="l" t="t" r="r" b="b"/>
              <a:pathLst>
                <a:path w="1150620" h="366394">
                  <a:moveTo>
                    <a:pt x="1107739" y="0"/>
                  </a:moveTo>
                  <a:lnTo>
                    <a:pt x="42859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59" y="365843"/>
                  </a:lnTo>
                  <a:lnTo>
                    <a:pt x="1107739" y="365843"/>
                  </a:lnTo>
                  <a:lnTo>
                    <a:pt x="1124422" y="362475"/>
                  </a:lnTo>
                  <a:lnTo>
                    <a:pt x="1138046" y="353290"/>
                  </a:lnTo>
                  <a:lnTo>
                    <a:pt x="1147231" y="339666"/>
                  </a:lnTo>
                  <a:lnTo>
                    <a:pt x="1150599" y="322983"/>
                  </a:lnTo>
                  <a:lnTo>
                    <a:pt x="1150599" y="42860"/>
                  </a:lnTo>
                  <a:lnTo>
                    <a:pt x="1147231" y="26176"/>
                  </a:lnTo>
                  <a:lnTo>
                    <a:pt x="1138046" y="12553"/>
                  </a:lnTo>
                  <a:lnTo>
                    <a:pt x="1124422" y="3368"/>
                  </a:lnTo>
                  <a:lnTo>
                    <a:pt x="1107739" y="0"/>
                  </a:lnTo>
                  <a:close/>
                </a:path>
              </a:pathLst>
            </a:custGeom>
            <a:solidFill>
              <a:srgbClr val="ECF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4741" y="2059191"/>
              <a:ext cx="1150620" cy="366395"/>
            </a:xfrm>
            <a:custGeom>
              <a:avLst/>
              <a:gdLst/>
              <a:ahLst/>
              <a:cxnLst/>
              <a:rect l="l" t="t" r="r" b="b"/>
              <a:pathLst>
                <a:path w="1150620" h="366394">
                  <a:moveTo>
                    <a:pt x="1107739" y="0"/>
                  </a:moveTo>
                  <a:lnTo>
                    <a:pt x="42859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59" y="365843"/>
                  </a:lnTo>
                  <a:lnTo>
                    <a:pt x="1107739" y="365843"/>
                  </a:lnTo>
                  <a:lnTo>
                    <a:pt x="1124422" y="362475"/>
                  </a:lnTo>
                  <a:lnTo>
                    <a:pt x="1138046" y="353290"/>
                  </a:lnTo>
                  <a:lnTo>
                    <a:pt x="1147231" y="339666"/>
                  </a:lnTo>
                  <a:lnTo>
                    <a:pt x="1150599" y="322983"/>
                  </a:lnTo>
                  <a:lnTo>
                    <a:pt x="1150599" y="42860"/>
                  </a:lnTo>
                  <a:lnTo>
                    <a:pt x="1147231" y="26176"/>
                  </a:lnTo>
                  <a:lnTo>
                    <a:pt x="1138046" y="12553"/>
                  </a:lnTo>
                  <a:lnTo>
                    <a:pt x="1124422" y="3368"/>
                  </a:lnTo>
                  <a:lnTo>
                    <a:pt x="1107739" y="0"/>
                  </a:lnTo>
                  <a:close/>
                </a:path>
              </a:pathLst>
            </a:custGeom>
            <a:ln w="11429">
              <a:solidFill>
                <a:srgbClr val="CC7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19643" y="2075816"/>
            <a:ext cx="108077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88900" marR="5080" indent="-76835">
              <a:lnSpc>
                <a:spcPts val="1070"/>
              </a:lnSpc>
              <a:spcBef>
                <a:spcPts val="140"/>
              </a:spcBef>
            </a:pP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Amazon</a:t>
            </a:r>
            <a:r>
              <a:rPr sz="9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Timestream </a:t>
            </a: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Telemetry</a:t>
            </a:r>
            <a:r>
              <a:rPr sz="9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History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98793" y="2053476"/>
            <a:ext cx="845185" cy="377825"/>
            <a:chOff x="2498793" y="2053476"/>
            <a:chExt cx="845185" cy="377825"/>
          </a:xfrm>
        </p:grpSpPr>
        <p:sp>
          <p:nvSpPr>
            <p:cNvPr id="24" name="object 24"/>
            <p:cNvSpPr/>
            <p:nvPr/>
          </p:nvSpPr>
          <p:spPr>
            <a:xfrm>
              <a:off x="2504508" y="2059191"/>
              <a:ext cx="833755" cy="366395"/>
            </a:xfrm>
            <a:custGeom>
              <a:avLst/>
              <a:gdLst/>
              <a:ahLst/>
              <a:cxnLst/>
              <a:rect l="l" t="t" r="r" b="b"/>
              <a:pathLst>
                <a:path w="833754" h="366394">
                  <a:moveTo>
                    <a:pt x="790457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90457" y="365843"/>
                  </a:lnTo>
                  <a:lnTo>
                    <a:pt x="807140" y="362475"/>
                  </a:lnTo>
                  <a:lnTo>
                    <a:pt x="820763" y="353290"/>
                  </a:lnTo>
                  <a:lnTo>
                    <a:pt x="829949" y="339666"/>
                  </a:lnTo>
                  <a:lnTo>
                    <a:pt x="833317" y="322983"/>
                  </a:lnTo>
                  <a:lnTo>
                    <a:pt x="833317" y="42860"/>
                  </a:lnTo>
                  <a:lnTo>
                    <a:pt x="829949" y="26176"/>
                  </a:lnTo>
                  <a:lnTo>
                    <a:pt x="820763" y="12553"/>
                  </a:lnTo>
                  <a:lnTo>
                    <a:pt x="807140" y="3368"/>
                  </a:lnTo>
                  <a:lnTo>
                    <a:pt x="790457" y="0"/>
                  </a:lnTo>
                  <a:close/>
                </a:path>
              </a:pathLst>
            </a:custGeom>
            <a:solidFill>
              <a:srgbClr val="ECF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4508" y="2059191"/>
              <a:ext cx="833755" cy="366395"/>
            </a:xfrm>
            <a:custGeom>
              <a:avLst/>
              <a:gdLst/>
              <a:ahLst/>
              <a:cxnLst/>
              <a:rect l="l" t="t" r="r" b="b"/>
              <a:pathLst>
                <a:path w="833754" h="366394">
                  <a:moveTo>
                    <a:pt x="790457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90457" y="365843"/>
                  </a:lnTo>
                  <a:lnTo>
                    <a:pt x="807140" y="362475"/>
                  </a:lnTo>
                  <a:lnTo>
                    <a:pt x="820763" y="353290"/>
                  </a:lnTo>
                  <a:lnTo>
                    <a:pt x="829949" y="339666"/>
                  </a:lnTo>
                  <a:lnTo>
                    <a:pt x="833317" y="322983"/>
                  </a:lnTo>
                  <a:lnTo>
                    <a:pt x="833317" y="42860"/>
                  </a:lnTo>
                  <a:lnTo>
                    <a:pt x="829949" y="26176"/>
                  </a:lnTo>
                  <a:lnTo>
                    <a:pt x="820763" y="12553"/>
                  </a:lnTo>
                  <a:lnTo>
                    <a:pt x="807140" y="3368"/>
                  </a:lnTo>
                  <a:lnTo>
                    <a:pt x="790457" y="0"/>
                  </a:lnTo>
                  <a:close/>
                </a:path>
              </a:pathLst>
            </a:custGeom>
            <a:ln w="11429">
              <a:solidFill>
                <a:srgbClr val="CC7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98132" y="2086929"/>
            <a:ext cx="64643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14604">
              <a:lnSpc>
                <a:spcPts val="1070"/>
              </a:lnSpc>
              <a:spcBef>
                <a:spcPts val="140"/>
              </a:spcBef>
            </a:pP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DynamoDB </a:t>
            </a: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Latest</a:t>
            </a:r>
            <a:r>
              <a:rPr sz="9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State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34125" y="607883"/>
            <a:ext cx="804545" cy="377825"/>
            <a:chOff x="4534125" y="607883"/>
            <a:chExt cx="804545" cy="377825"/>
          </a:xfrm>
        </p:grpSpPr>
        <p:sp>
          <p:nvSpPr>
            <p:cNvPr id="28" name="object 28"/>
            <p:cNvSpPr/>
            <p:nvPr/>
          </p:nvSpPr>
          <p:spPr>
            <a:xfrm>
              <a:off x="4539841" y="613598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90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39840" y="613598"/>
              <a:ext cx="793115" cy="366395"/>
            </a:xfrm>
            <a:custGeom>
              <a:avLst/>
              <a:gdLst/>
              <a:ahLst/>
              <a:cxnLst/>
              <a:rect l="l" t="t" r="r" b="b"/>
              <a:pathLst>
                <a:path w="793114" h="366394">
                  <a:moveTo>
                    <a:pt x="749804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749804" y="365843"/>
                  </a:lnTo>
                  <a:lnTo>
                    <a:pt x="766487" y="362475"/>
                  </a:lnTo>
                  <a:lnTo>
                    <a:pt x="780111" y="353290"/>
                  </a:lnTo>
                  <a:lnTo>
                    <a:pt x="789296" y="339666"/>
                  </a:lnTo>
                  <a:lnTo>
                    <a:pt x="792664" y="322983"/>
                  </a:lnTo>
                  <a:lnTo>
                    <a:pt x="792664" y="42860"/>
                  </a:lnTo>
                  <a:lnTo>
                    <a:pt x="789296" y="26176"/>
                  </a:lnTo>
                  <a:lnTo>
                    <a:pt x="780111" y="12553"/>
                  </a:lnTo>
                  <a:lnTo>
                    <a:pt x="766487" y="3368"/>
                  </a:lnTo>
                  <a:lnTo>
                    <a:pt x="749804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727864" y="630250"/>
            <a:ext cx="416559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335" marR="5080" indent="-1270">
              <a:lnSpc>
                <a:spcPts val="1070"/>
              </a:lnSpc>
              <a:spcBef>
                <a:spcPts val="140"/>
              </a:spcBef>
            </a:pP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Amplify Hosting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58996" y="2053476"/>
            <a:ext cx="954405" cy="377825"/>
            <a:chOff x="4458996" y="2053476"/>
            <a:chExt cx="954405" cy="377825"/>
          </a:xfrm>
        </p:grpSpPr>
        <p:sp>
          <p:nvSpPr>
            <p:cNvPr id="32" name="object 32"/>
            <p:cNvSpPr/>
            <p:nvPr/>
          </p:nvSpPr>
          <p:spPr>
            <a:xfrm>
              <a:off x="4464711" y="2059191"/>
              <a:ext cx="942975" cy="366395"/>
            </a:xfrm>
            <a:custGeom>
              <a:avLst/>
              <a:gdLst/>
              <a:ahLst/>
              <a:cxnLst/>
              <a:rect l="l" t="t" r="r" b="b"/>
              <a:pathLst>
                <a:path w="942975" h="366394">
                  <a:moveTo>
                    <a:pt x="900063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900063" y="365843"/>
                  </a:lnTo>
                  <a:lnTo>
                    <a:pt x="916746" y="362475"/>
                  </a:lnTo>
                  <a:lnTo>
                    <a:pt x="930370" y="353290"/>
                  </a:lnTo>
                  <a:lnTo>
                    <a:pt x="939555" y="339666"/>
                  </a:lnTo>
                  <a:lnTo>
                    <a:pt x="942923" y="322983"/>
                  </a:lnTo>
                  <a:lnTo>
                    <a:pt x="942923" y="42860"/>
                  </a:lnTo>
                  <a:lnTo>
                    <a:pt x="939555" y="26176"/>
                  </a:lnTo>
                  <a:lnTo>
                    <a:pt x="930370" y="12553"/>
                  </a:lnTo>
                  <a:lnTo>
                    <a:pt x="916746" y="3368"/>
                  </a:lnTo>
                  <a:lnTo>
                    <a:pt x="900063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64711" y="2059191"/>
              <a:ext cx="942975" cy="366395"/>
            </a:xfrm>
            <a:custGeom>
              <a:avLst/>
              <a:gdLst/>
              <a:ahLst/>
              <a:cxnLst/>
              <a:rect l="l" t="t" r="r" b="b"/>
              <a:pathLst>
                <a:path w="942975" h="366394">
                  <a:moveTo>
                    <a:pt x="900063" y="0"/>
                  </a:moveTo>
                  <a:lnTo>
                    <a:pt x="42860" y="0"/>
                  </a:lnTo>
                  <a:lnTo>
                    <a:pt x="26176" y="3368"/>
                  </a:lnTo>
                  <a:lnTo>
                    <a:pt x="12553" y="12553"/>
                  </a:lnTo>
                  <a:lnTo>
                    <a:pt x="3368" y="26176"/>
                  </a:lnTo>
                  <a:lnTo>
                    <a:pt x="0" y="42860"/>
                  </a:lnTo>
                  <a:lnTo>
                    <a:pt x="0" y="322983"/>
                  </a:lnTo>
                  <a:lnTo>
                    <a:pt x="3368" y="339666"/>
                  </a:lnTo>
                  <a:lnTo>
                    <a:pt x="12553" y="353290"/>
                  </a:lnTo>
                  <a:lnTo>
                    <a:pt x="26176" y="362475"/>
                  </a:lnTo>
                  <a:lnTo>
                    <a:pt x="42860" y="365843"/>
                  </a:lnTo>
                  <a:lnTo>
                    <a:pt x="900063" y="365843"/>
                  </a:lnTo>
                  <a:lnTo>
                    <a:pt x="916746" y="362475"/>
                  </a:lnTo>
                  <a:lnTo>
                    <a:pt x="930370" y="353290"/>
                  </a:lnTo>
                  <a:lnTo>
                    <a:pt x="939555" y="339666"/>
                  </a:lnTo>
                  <a:lnTo>
                    <a:pt x="942923" y="322983"/>
                  </a:lnTo>
                  <a:lnTo>
                    <a:pt x="942923" y="42860"/>
                  </a:lnTo>
                  <a:lnTo>
                    <a:pt x="939555" y="26176"/>
                  </a:lnTo>
                  <a:lnTo>
                    <a:pt x="930370" y="12553"/>
                  </a:lnTo>
                  <a:lnTo>
                    <a:pt x="916746" y="3368"/>
                  </a:lnTo>
                  <a:lnTo>
                    <a:pt x="900063" y="0"/>
                  </a:lnTo>
                  <a:close/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72110" y="2086929"/>
            <a:ext cx="928369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1440" marR="32384" indent="-51435">
              <a:lnSpc>
                <a:spcPts val="1070"/>
              </a:lnSpc>
              <a:spcBef>
                <a:spcPts val="140"/>
              </a:spcBef>
            </a:pP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Amazon</a:t>
            </a:r>
            <a:r>
              <a:rPr sz="9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Cognito Authentication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1285" y="1485442"/>
            <a:ext cx="185400" cy="6774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400871" y="1339775"/>
            <a:ext cx="193865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 marR="30480" indent="21590">
              <a:lnSpc>
                <a:spcPts val="1070"/>
              </a:lnSpc>
              <a:spcBef>
                <a:spcPts val="140"/>
              </a:spcBef>
              <a:tabLst>
                <a:tab pos="1095375" algn="l"/>
              </a:tabLst>
            </a:pPr>
            <a:r>
              <a:rPr sz="1350" spc="-52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Sensor</a:t>
            </a:r>
            <a:r>
              <a:rPr sz="1350" spc="97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350" spc="44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De</a:t>
            </a:r>
            <a:r>
              <a:rPr sz="1350" spc="-37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v</a:t>
            </a:r>
            <a:r>
              <a:rPr sz="1350" spc="-1027" baseline="21604" dirty="0">
                <a:solidFill>
                  <a:srgbClr val="1F4D79"/>
                </a:solidFill>
                <a:latin typeface="Microsoft Sans Serif"/>
                <a:cs typeface="Microsoft Sans Serif"/>
              </a:rPr>
              <a:t>M</a:t>
            </a:r>
            <a:r>
              <a:rPr sz="1350" spc="44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ic</a:t>
            </a:r>
            <a:r>
              <a:rPr sz="1350" spc="-487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e</a:t>
            </a:r>
            <a:r>
              <a:rPr sz="1350" spc="44" baseline="21604" dirty="0">
                <a:solidFill>
                  <a:srgbClr val="1F4D79"/>
                </a:solidFill>
                <a:latin typeface="Microsoft Sans Serif"/>
                <a:cs typeface="Microsoft Sans Serif"/>
              </a:rPr>
              <a:t>QTT/T</a:t>
            </a:r>
            <a:r>
              <a:rPr sz="1350" spc="-697" baseline="21604" dirty="0">
                <a:solidFill>
                  <a:srgbClr val="1F4D79"/>
                </a:solidFill>
                <a:latin typeface="Microsoft Sans Serif"/>
                <a:cs typeface="Microsoft Sans Serif"/>
              </a:rPr>
              <a:t>L</a:t>
            </a:r>
            <a:r>
              <a:rPr sz="900" spc="-100" dirty="0">
                <a:solidFill>
                  <a:srgbClr val="1F2837"/>
                </a:solidFill>
                <a:latin typeface="Microsoft Sans Serif"/>
                <a:cs typeface="Microsoft Sans Serif"/>
              </a:rPr>
              <a:t>A</a:t>
            </a:r>
            <a:r>
              <a:rPr sz="1350" spc="-825" baseline="21604" dirty="0">
                <a:solidFill>
                  <a:srgbClr val="1F4D79"/>
                </a:solidFill>
                <a:latin typeface="Microsoft Sans Serif"/>
                <a:cs typeface="Microsoft Sans Serif"/>
              </a:rPr>
              <a:t>S</a:t>
            </a:r>
            <a:r>
              <a:rPr sz="9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WS</a:t>
            </a:r>
            <a:r>
              <a:rPr sz="900" spc="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900" spc="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 </a:t>
            </a:r>
            <a:r>
              <a:rPr sz="1350" spc="-15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ESP32</a:t>
            </a:r>
            <a:r>
              <a:rPr sz="1350" spc="44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350" spc="337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/</a:t>
            </a:r>
            <a:r>
              <a:rPr sz="1350" spc="44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350" spc="-37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MCU</a:t>
            </a:r>
            <a:r>
              <a:rPr sz="1350" baseline="3086" dirty="0">
                <a:solidFill>
                  <a:srgbClr val="1F2837"/>
                </a:solidFill>
                <a:latin typeface="Microsoft Sans Serif"/>
                <a:cs typeface="Microsoft Sans Serif"/>
              </a:rPr>
              <a:t>	</a:t>
            </a:r>
            <a:r>
              <a:rPr sz="900" spc="65" dirty="0">
                <a:solidFill>
                  <a:srgbClr val="1F2837"/>
                </a:solidFill>
                <a:latin typeface="Microsoft Sans Serif"/>
                <a:cs typeface="Microsoft Sans Serif"/>
              </a:rPr>
              <a:t>MQTT</a:t>
            </a:r>
            <a:r>
              <a:rPr sz="900" spc="7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215" dirty="0">
                <a:solidFill>
                  <a:srgbClr val="1F2837"/>
                </a:solidFill>
                <a:latin typeface="Microsoft Sans Serif"/>
                <a:cs typeface="Microsoft Sans Serif"/>
              </a:rPr>
              <a:t>+</a:t>
            </a:r>
            <a:r>
              <a:rPr sz="900" spc="8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1F2837"/>
                </a:solidFill>
                <a:latin typeface="Microsoft Sans Serif"/>
                <a:cs typeface="Microsoft Sans Serif"/>
              </a:rPr>
              <a:t>Rules</a:t>
            </a:r>
            <a:endParaRPr sz="900" dirty="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826167" y="985156"/>
            <a:ext cx="3143885" cy="1358900"/>
            <a:chOff x="1826167" y="985156"/>
            <a:chExt cx="3143885" cy="135890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5549" y="1485442"/>
              <a:ext cx="185400" cy="677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3537" y="1485442"/>
              <a:ext cx="185399" cy="6774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0878" y="1485442"/>
              <a:ext cx="185400" cy="6774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860041" y="1707953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160"/>
                  </a:lnTo>
                  <a:lnTo>
                    <a:pt x="0" y="438250"/>
                  </a:lnTo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6167" y="2259960"/>
              <a:ext cx="67747" cy="837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860041" y="1707953"/>
              <a:ext cx="542925" cy="534670"/>
            </a:xfrm>
            <a:custGeom>
              <a:avLst/>
              <a:gdLst/>
              <a:ahLst/>
              <a:cxnLst/>
              <a:rect l="l" t="t" r="r" b="b"/>
              <a:pathLst>
                <a:path w="542925" h="534669">
                  <a:moveTo>
                    <a:pt x="0" y="0"/>
                  </a:moveTo>
                  <a:lnTo>
                    <a:pt x="0" y="534160"/>
                  </a:lnTo>
                  <a:lnTo>
                    <a:pt x="542843" y="534160"/>
                  </a:lnTo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170" y="2208239"/>
              <a:ext cx="83776" cy="677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441055" y="1803862"/>
              <a:ext cx="480695" cy="438784"/>
            </a:xfrm>
            <a:custGeom>
              <a:avLst/>
              <a:gdLst/>
              <a:ahLst/>
              <a:cxnLst/>
              <a:rect l="l" t="t" r="r" b="b"/>
              <a:pathLst>
                <a:path w="480694" h="438785">
                  <a:moveTo>
                    <a:pt x="0" y="438250"/>
                  </a:moveTo>
                  <a:lnTo>
                    <a:pt x="480111" y="438250"/>
                  </a:lnTo>
                  <a:lnTo>
                    <a:pt x="480111" y="0"/>
                  </a:lnTo>
                </a:path>
              </a:pathLst>
            </a:custGeom>
            <a:ln w="11429">
              <a:solidFill>
                <a:srgbClr val="1F4D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7293" y="1725800"/>
              <a:ext cx="67747" cy="32767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2299" y="985156"/>
              <a:ext cx="67747" cy="3276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02299" y="1725800"/>
              <a:ext cx="67747" cy="32767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50355" y="2487620"/>
            <a:ext cx="545782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04085" marR="5080" indent="-219202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architecture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separates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communication,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data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storage,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business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logic,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user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interaction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into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clearly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defined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service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layers.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Architectural</a:t>
            </a:r>
            <a:r>
              <a:rPr spc="-75" dirty="0"/>
              <a:t> </a:t>
            </a:r>
            <a:r>
              <a:rPr spc="-25" dirty="0"/>
              <a:t>Rationale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5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822959"/>
            <a:ext cx="2800350" cy="187960"/>
          </a:xfrm>
          <a:custGeom>
            <a:avLst/>
            <a:gdLst/>
            <a:ahLst/>
            <a:cxnLst/>
            <a:rect l="l" t="t" r="r" b="b"/>
            <a:pathLst>
              <a:path w="2800350" h="187959">
                <a:moveTo>
                  <a:pt x="274927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00070" y="187819"/>
                </a:lnTo>
                <a:lnTo>
                  <a:pt x="2800070" y="50800"/>
                </a:lnTo>
                <a:lnTo>
                  <a:pt x="2796062" y="31075"/>
                </a:lnTo>
                <a:lnTo>
                  <a:pt x="2785148" y="14922"/>
                </a:lnTo>
                <a:lnTo>
                  <a:pt x="2768995" y="4008"/>
                </a:lnTo>
                <a:lnTo>
                  <a:pt x="274927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91282"/>
            <a:ext cx="12884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Amazon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Timestream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877" y="1020223"/>
            <a:ext cx="1687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 MT"/>
                <a:cs typeface="Arial MT"/>
              </a:rPr>
              <a:t>Intended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time-</a:t>
            </a:r>
            <a:r>
              <a:rPr sz="900" spc="-20" dirty="0">
                <a:latin typeface="Arial MT"/>
                <a:cs typeface="Arial MT"/>
              </a:rPr>
              <a:t>series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workloads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6705" y="822959"/>
            <a:ext cx="5427980" cy="929005"/>
            <a:chOff x="256705" y="822959"/>
            <a:chExt cx="5427980" cy="929005"/>
          </a:xfrm>
          <a:solidFill>
            <a:schemeClr val="tx2">
              <a:lumMod val="20000"/>
              <a:lumOff val="80000"/>
            </a:schemeClr>
          </a:solidFill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05" y="1287094"/>
              <a:ext cx="59613" cy="59613"/>
            </a:xfrm>
            <a:prstGeom prst="rect">
              <a:avLst/>
            </a:prstGeom>
            <a:grpFill/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1489532"/>
              <a:ext cx="59613" cy="59613"/>
            </a:xfrm>
            <a:prstGeom prst="rect">
              <a:avLst/>
            </a:prstGeom>
            <a:grpFill/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691970"/>
              <a:ext cx="59613" cy="59613"/>
            </a:xfrm>
            <a:prstGeom prst="rect">
              <a:avLst/>
            </a:prstGeom>
            <a:grpFill/>
          </p:spPr>
        </p:pic>
        <p:sp>
          <p:nvSpPr>
            <p:cNvPr id="15" name="object 15"/>
            <p:cNvSpPr/>
            <p:nvPr/>
          </p:nvSpPr>
          <p:spPr>
            <a:xfrm>
              <a:off x="2884232" y="822959"/>
              <a:ext cx="2800350" cy="198755"/>
            </a:xfrm>
            <a:custGeom>
              <a:avLst/>
              <a:gdLst/>
              <a:ahLst/>
              <a:cxnLst/>
              <a:rect l="l" t="t" r="r" b="b"/>
              <a:pathLst>
                <a:path w="2800350" h="198755">
                  <a:moveTo>
                    <a:pt x="274927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3"/>
                  </a:lnTo>
                  <a:lnTo>
                    <a:pt x="2800070" y="198363"/>
                  </a:lnTo>
                  <a:lnTo>
                    <a:pt x="2800070" y="50800"/>
                  </a:lnTo>
                  <a:lnTo>
                    <a:pt x="2796062" y="31075"/>
                  </a:lnTo>
                  <a:lnTo>
                    <a:pt x="2785148" y="14922"/>
                  </a:lnTo>
                  <a:lnTo>
                    <a:pt x="2768995" y="4008"/>
                  </a:lnTo>
                  <a:lnTo>
                    <a:pt x="27492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6877" y="1156871"/>
            <a:ext cx="2370455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600"/>
              </a:lnSpc>
              <a:spcBef>
                <a:spcPts val="100"/>
              </a:spcBef>
            </a:pPr>
            <a:r>
              <a:rPr sz="900" spc="-20" dirty="0">
                <a:latin typeface="Arial MT"/>
                <a:cs typeface="Arial MT"/>
              </a:rPr>
              <a:t>Suitable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historical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queries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dirty="0">
                <a:latin typeface="Arial MT"/>
                <a:cs typeface="Arial MT"/>
              </a:rPr>
              <a:t> trend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analysis Supports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aggregation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 minute,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hour, 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day </a:t>
            </a:r>
            <a:r>
              <a:rPr sz="900" spc="-20" dirty="0">
                <a:latin typeface="Arial MT"/>
                <a:cs typeface="Arial MT"/>
              </a:rPr>
              <a:t>Appropriate</a:t>
            </a:r>
            <a:r>
              <a:rPr sz="900" dirty="0">
                <a:latin typeface="Arial MT"/>
                <a:cs typeface="Arial MT"/>
              </a:rPr>
              <a:t> for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charting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telemetry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analytics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35033" y="791282"/>
            <a:ext cx="72009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DynamoDB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75393" y="964974"/>
            <a:ext cx="2313940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6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Efficient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key-</a:t>
            </a:r>
            <a:r>
              <a:rPr sz="900" spc="-30" dirty="0">
                <a:latin typeface="Arial MT"/>
                <a:cs typeface="Arial MT"/>
              </a:rPr>
              <a:t>value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75" dirty="0">
                <a:latin typeface="Arial MT"/>
                <a:cs typeface="Arial MT"/>
              </a:rPr>
              <a:t>access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50" dirty="0">
                <a:latin typeface="Cambria"/>
                <a:cs typeface="Cambria"/>
              </a:rPr>
              <a:t>deviceId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spc="-20" dirty="0">
                <a:latin typeface="Arial MT"/>
                <a:cs typeface="Arial MT"/>
              </a:rPr>
              <a:t>Suitable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current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status and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latest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reading </a:t>
            </a:r>
            <a:r>
              <a:rPr sz="900" spc="-20" dirty="0">
                <a:latin typeface="Arial MT"/>
                <a:cs typeface="Arial MT"/>
              </a:rPr>
              <a:t>Useful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dashboard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cards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summary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views</a:t>
            </a:r>
            <a:endParaRPr sz="900" dirty="0">
              <a:latin typeface="Arial MT"/>
              <a:cs typeface="Arial MT"/>
            </a:endParaRPr>
          </a:p>
          <a:p>
            <a:pPr marL="12700" marR="129539">
              <a:lnSpc>
                <a:spcPct val="101499"/>
              </a:lnSpc>
              <a:spcBef>
                <a:spcPts val="495"/>
              </a:spcBef>
            </a:pPr>
            <a:r>
              <a:rPr sz="900" spc="-20" dirty="0">
                <a:latin typeface="Arial MT"/>
                <a:cs typeface="Arial MT"/>
              </a:rPr>
              <a:t>Appropriate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 </a:t>
            </a:r>
            <a:r>
              <a:rPr sz="900" spc="-10" dirty="0">
                <a:latin typeface="Arial MT"/>
                <a:cs typeface="Arial MT"/>
              </a:rPr>
              <a:t>metadata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simple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lookup patterns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729" y="2119477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6530" y="2087799"/>
            <a:ext cx="111442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Instructional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Note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530" y="2316741"/>
            <a:ext cx="560895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250825">
              <a:lnSpc>
                <a:spcPct val="101499"/>
              </a:lnSpc>
              <a:spcBef>
                <a:spcPts val="80"/>
              </a:spcBef>
            </a:pP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Students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should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be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1F2837"/>
                </a:solidFill>
                <a:latin typeface="Arial MT"/>
                <a:cs typeface="Arial MT"/>
              </a:rPr>
              <a:t>encouraged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5" dirty="0">
                <a:solidFill>
                  <a:srgbClr val="1F2837"/>
                </a:solidFill>
                <a:latin typeface="Arial MT"/>
                <a:cs typeface="Arial MT"/>
              </a:rPr>
              <a:t>choose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storage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services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according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75" dirty="0">
                <a:solidFill>
                  <a:srgbClr val="1F2837"/>
                </a:solidFill>
                <a:latin typeface="Arial MT"/>
                <a:cs typeface="Arial MT"/>
              </a:rPr>
              <a:t>access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patterns,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scalability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needs,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and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900" spc="-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constraints.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Alternative</a:t>
            </a:r>
            <a:r>
              <a:rPr spc="-35" dirty="0"/>
              <a:t> </a:t>
            </a:r>
            <a:r>
              <a:rPr spc="-45" dirty="0"/>
              <a:t>Deployment</a:t>
            </a:r>
            <a:r>
              <a:rPr spc="-30" dirty="0"/>
              <a:t> </a:t>
            </a:r>
            <a:r>
              <a:rPr spc="-10" dirty="0"/>
              <a:t>Patterns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6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126530" y="462808"/>
            <a:ext cx="5507355" cy="0"/>
          </a:xfrm>
          <a:custGeom>
            <a:avLst/>
            <a:gdLst/>
            <a:ahLst/>
            <a:cxnLst/>
            <a:rect l="l" t="t" r="r" b="b"/>
            <a:pathLst>
              <a:path w="5507355">
                <a:moveTo>
                  <a:pt x="0" y="0"/>
                </a:moveTo>
                <a:lnTo>
                  <a:pt x="5507037" y="0"/>
                </a:lnTo>
              </a:path>
            </a:pathLst>
          </a:custGeom>
          <a:ln w="12727">
            <a:solidFill>
              <a:srgbClr val="1F28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9281" y="496818"/>
            <a:ext cx="5327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Criterion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5572" y="496818"/>
            <a:ext cx="188976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Pattern</a:t>
            </a:r>
            <a:r>
              <a:rPr sz="1000" spc="3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A:</a:t>
            </a:r>
            <a:r>
              <a:rPr sz="1000" spc="3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45" dirty="0">
                <a:solidFill>
                  <a:srgbClr val="1F2837"/>
                </a:solidFill>
                <a:latin typeface="Arial Black"/>
                <a:cs typeface="Arial Black"/>
              </a:rPr>
              <a:t>Serverless</a:t>
            </a:r>
            <a:r>
              <a:rPr sz="1000" spc="3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Telemetry </a:t>
            </a:r>
            <a:r>
              <a:rPr sz="1000" spc="-10" dirty="0">
                <a:solidFill>
                  <a:srgbClr val="1F2837"/>
                </a:solidFill>
                <a:latin typeface="Arial Black"/>
                <a:cs typeface="Arial Black"/>
              </a:rPr>
              <a:t>Stack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0945" y="496818"/>
            <a:ext cx="185801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Pattern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B: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Relational</a:t>
            </a:r>
            <a:r>
              <a:rPr sz="1000" spc="2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Database </a:t>
            </a:r>
            <a:r>
              <a:rPr sz="1000" spc="-10" dirty="0">
                <a:solidFill>
                  <a:srgbClr val="1F2837"/>
                </a:solidFill>
                <a:latin typeface="Arial Black"/>
                <a:cs typeface="Arial Black"/>
              </a:rPr>
              <a:t>Stack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6530" y="872352"/>
            <a:ext cx="5507355" cy="0"/>
          </a:xfrm>
          <a:custGeom>
            <a:avLst/>
            <a:gdLst/>
            <a:ahLst/>
            <a:cxnLst/>
            <a:rect l="l" t="t" r="r" b="b"/>
            <a:pathLst>
              <a:path w="5507355">
                <a:moveTo>
                  <a:pt x="0" y="0"/>
                </a:moveTo>
                <a:lnTo>
                  <a:pt x="5507037" y="0"/>
                </a:lnTo>
              </a:path>
            </a:pathLst>
          </a:custGeom>
          <a:ln w="7952">
            <a:solidFill>
              <a:srgbClr val="1F28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9281" y="903967"/>
            <a:ext cx="930275" cy="165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Database</a:t>
            </a:r>
            <a:r>
              <a:rPr sz="1000" spc="-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Layer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2700" marR="119380">
              <a:lnSpc>
                <a:spcPct val="114100"/>
              </a:lnSpc>
              <a:spcBef>
                <a:spcPts val="5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Routing</a:t>
            </a:r>
            <a:r>
              <a:rPr sz="1000" spc="114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Logic Advantages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213200"/>
              </a:lnSpc>
            </a:pP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Limitations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Typical</a:t>
            </a:r>
            <a:r>
              <a:rPr sz="1000" spc="8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Use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Additional</a:t>
            </a:r>
            <a:r>
              <a:rPr sz="1000" spc="2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Microsoft Sans Serif"/>
                <a:cs typeface="Microsoft Sans Serif"/>
              </a:rPr>
              <a:t>Need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5420" y="903967"/>
            <a:ext cx="2040889" cy="165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Timestream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235" dirty="0">
                <a:solidFill>
                  <a:srgbClr val="1F2837"/>
                </a:solidFill>
                <a:latin typeface="Microsoft Sans Serif"/>
                <a:cs typeface="Microsoft Sans Serif"/>
              </a:rPr>
              <a:t>+</a:t>
            </a:r>
            <a:r>
              <a:rPr sz="1000" spc="6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DynamoDB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2700" marR="13335" algn="just">
              <a:lnSpc>
                <a:spcPct val="106600"/>
              </a:lnSpc>
              <a:spcBef>
                <a:spcPts val="5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10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</a:t>
            </a:r>
            <a:r>
              <a:rPr sz="10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→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database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services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Low</a:t>
            </a:r>
            <a:r>
              <a:rPr sz="1000" spc="4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operational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overhead,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scalable,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aligned</a:t>
            </a:r>
            <a:r>
              <a:rPr sz="1000" spc="1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with</a:t>
            </a:r>
            <a:r>
              <a:rPr sz="1000" spc="1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1000" spc="1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data</a:t>
            </a:r>
            <a:endParaRPr sz="1000">
              <a:latin typeface="Microsoft Sans Serif"/>
              <a:cs typeface="Microsoft Sans Serif"/>
            </a:endParaRPr>
          </a:p>
          <a:p>
            <a:pPr marL="12700" marR="41275">
              <a:lnSpc>
                <a:spcPct val="100000"/>
              </a:lnSpc>
              <a:spcBef>
                <a:spcPts val="165"/>
              </a:spcBef>
            </a:pPr>
            <a:r>
              <a:rPr sz="1000" spc="-40" dirty="0">
                <a:solidFill>
                  <a:srgbClr val="1F2837"/>
                </a:solidFill>
                <a:latin typeface="Microsoft Sans Serif"/>
                <a:cs typeface="Microsoft Sans Serif"/>
              </a:rPr>
              <a:t>Less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suitable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for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complex</a:t>
            </a:r>
            <a:r>
              <a:rPr sz="10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relational reporting</a:t>
            </a:r>
            <a:endParaRPr sz="1000">
              <a:latin typeface="Microsoft Sans Serif"/>
              <a:cs typeface="Microsoft Sans Serif"/>
            </a:endParaRPr>
          </a:p>
          <a:p>
            <a:pPr marL="12700" marR="481330">
              <a:lnSpc>
                <a:spcPct val="100000"/>
              </a:lnSpc>
              <a:spcBef>
                <a:spcPts val="16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Monitoring</a:t>
            </a:r>
            <a:r>
              <a:rPr sz="1000" spc="14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dashboards</a:t>
            </a:r>
            <a:r>
              <a:rPr sz="1000" spc="14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and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telemetry</a:t>
            </a:r>
            <a:r>
              <a:rPr sz="1000" spc="8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applications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Minimal</a:t>
            </a:r>
            <a:r>
              <a:rPr sz="1000" spc="17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infrastructure</a:t>
            </a:r>
            <a:r>
              <a:rPr sz="1000" spc="1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management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0945" y="903967"/>
            <a:ext cx="2011680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78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Aurora</a:t>
            </a:r>
            <a:r>
              <a:rPr sz="1000" spc="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254" dirty="0">
                <a:solidFill>
                  <a:srgbClr val="1F2837"/>
                </a:solidFill>
                <a:latin typeface="Microsoft Sans Serif"/>
                <a:cs typeface="Microsoft Sans Serif"/>
              </a:rPr>
              <a:t>/</a:t>
            </a:r>
            <a:r>
              <a:rPr sz="1000" spc="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RDS</a:t>
            </a:r>
            <a:r>
              <a:rPr sz="1000" spc="6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MySQL</a:t>
            </a:r>
            <a:r>
              <a:rPr sz="1000" spc="7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or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PostgreSQL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635">
              <a:lnSpc>
                <a:spcPct val="106600"/>
              </a:lnSpc>
              <a:spcBef>
                <a:spcPts val="8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 →</a:t>
            </a:r>
            <a:r>
              <a:rPr sz="1000" spc="6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Lambda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 →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RDS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Familiar</a:t>
            </a:r>
            <a:r>
              <a:rPr sz="1000" spc="4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SQL</a:t>
            </a:r>
            <a:r>
              <a:rPr sz="1000" spc="4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model,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joins,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compatibility</a:t>
            </a:r>
            <a:r>
              <a:rPr sz="1000" spc="16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with</a:t>
            </a:r>
            <a:r>
              <a:rPr sz="1000" spc="16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existing</a:t>
            </a:r>
            <a:r>
              <a:rPr sz="1000" spc="16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systems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Higher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operational</a:t>
            </a:r>
            <a:r>
              <a:rPr sz="1000" spc="5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complexity</a:t>
            </a:r>
            <a:r>
              <a:rPr sz="1000" spc="5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and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connection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management</a:t>
            </a:r>
            <a:r>
              <a:rPr sz="10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concerns Enterprise</a:t>
            </a:r>
            <a:r>
              <a:rPr sz="1000" spc="7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systems</a:t>
            </a:r>
            <a:r>
              <a:rPr sz="1000" spc="7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with</a:t>
            </a:r>
            <a:r>
              <a:rPr sz="1000" spc="7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established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relational</a:t>
            </a:r>
            <a:r>
              <a:rPr sz="1000" spc="1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workflows</a:t>
            </a:r>
            <a:endParaRPr sz="1000">
              <a:latin typeface="Microsoft Sans Serif"/>
              <a:cs typeface="Microsoft Sans Serif"/>
            </a:endParaRPr>
          </a:p>
          <a:p>
            <a:pPr marL="12700" marR="781685">
              <a:lnSpc>
                <a:spcPct val="100000"/>
              </a:lnSpc>
              <a:spcBef>
                <a:spcPts val="170"/>
              </a:spcBef>
            </a:pP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Prefer</a:t>
            </a:r>
            <a:r>
              <a:rPr sz="10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RDS</a:t>
            </a:r>
            <a:r>
              <a:rPr sz="10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F2837"/>
                </a:solidFill>
                <a:latin typeface="Microsoft Sans Serif"/>
                <a:cs typeface="Microsoft Sans Serif"/>
              </a:rPr>
              <a:t>Proxy</a:t>
            </a:r>
            <a:r>
              <a:rPr sz="10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for Lambda-</a:t>
            </a:r>
            <a:r>
              <a:rPr sz="10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based</a:t>
            </a:r>
            <a:r>
              <a:rPr sz="1000" spc="6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Microsoft Sans Serif"/>
                <a:cs typeface="Microsoft Sans Serif"/>
              </a:rPr>
              <a:t>access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6530" y="2755536"/>
            <a:ext cx="5507355" cy="0"/>
          </a:xfrm>
          <a:custGeom>
            <a:avLst/>
            <a:gdLst/>
            <a:ahLst/>
            <a:cxnLst/>
            <a:rect l="l" t="t" r="r" b="b"/>
            <a:pathLst>
              <a:path w="5507355">
                <a:moveTo>
                  <a:pt x="0" y="0"/>
                </a:moveTo>
                <a:lnTo>
                  <a:pt x="5507037" y="0"/>
                </a:lnTo>
              </a:path>
            </a:pathLst>
          </a:custGeom>
          <a:ln w="12727">
            <a:solidFill>
              <a:srgbClr val="1F28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9877" y="2768573"/>
            <a:ext cx="507936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9810" marR="5080" indent="-2277745">
              <a:lnSpc>
                <a:spcPts val="950"/>
              </a:lnSpc>
              <a:spcBef>
                <a:spcPts val="135"/>
              </a:spcBef>
            </a:pPr>
            <a:r>
              <a:rPr sz="800" spc="-105" dirty="0">
                <a:solidFill>
                  <a:srgbClr val="1F2837"/>
                </a:solidFill>
                <a:latin typeface="Arial Black"/>
                <a:cs typeface="Arial Black"/>
              </a:rPr>
              <a:t>Pedagogical</a:t>
            </a:r>
            <a:r>
              <a:rPr sz="800" spc="2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800" spc="-95" dirty="0">
                <a:solidFill>
                  <a:srgbClr val="1F2837"/>
                </a:solidFill>
                <a:latin typeface="Arial Black"/>
                <a:cs typeface="Arial Black"/>
              </a:rPr>
              <a:t>recommendation:</a:t>
            </a:r>
            <a:r>
              <a:rPr sz="800" spc="2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present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Pattern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as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the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default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reference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design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and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Pattern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B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1F2837"/>
                </a:solidFill>
                <a:latin typeface="Microsoft Sans Serif"/>
                <a:cs typeface="Microsoft Sans Serif"/>
              </a:rPr>
              <a:t>as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conditional alternative.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Topic</a:t>
            </a:r>
            <a:r>
              <a:rPr spc="-75" dirty="0"/>
              <a:t> </a:t>
            </a:r>
            <a:r>
              <a:rPr spc="-35" dirty="0"/>
              <a:t>Design</a:t>
            </a:r>
            <a:r>
              <a:rPr spc="-65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50" dirty="0"/>
              <a:t>Message</a:t>
            </a:r>
            <a:r>
              <a:rPr spc="-60" dirty="0"/>
              <a:t> </a:t>
            </a:r>
            <a:r>
              <a:rPr spc="-10" dirty="0"/>
              <a:t>Format</a:t>
            </a:r>
          </a:p>
        </p:txBody>
      </p:sp>
      <p:sp>
        <p:nvSpPr>
          <p:cNvPr id="110" name="object 1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7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13434"/>
            <a:ext cx="2635250" cy="198755"/>
          </a:xfrm>
          <a:custGeom>
            <a:avLst/>
            <a:gdLst/>
            <a:ahLst/>
            <a:cxnLst/>
            <a:rect l="l" t="t" r="r" b="b"/>
            <a:pathLst>
              <a:path w="2635250" h="198754">
                <a:moveTo>
                  <a:pt x="25840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634866" y="198363"/>
                </a:lnTo>
                <a:lnTo>
                  <a:pt x="2634866" y="50800"/>
                </a:lnTo>
                <a:lnTo>
                  <a:pt x="2630858" y="31075"/>
                </a:lnTo>
                <a:lnTo>
                  <a:pt x="2619944" y="14922"/>
                </a:lnTo>
                <a:lnTo>
                  <a:pt x="2603791" y="4008"/>
                </a:lnTo>
                <a:lnTo>
                  <a:pt x="258406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81757"/>
            <a:ext cx="177990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Recommended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MQTT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Topic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569" y="904163"/>
            <a:ext cx="2528570" cy="101600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700"/>
              </a:lnSpc>
            </a:pPr>
            <a:r>
              <a:rPr sz="700" spc="95" dirty="0">
                <a:latin typeface="Cambria"/>
                <a:cs typeface="Cambria"/>
              </a:rPr>
              <a:t>sensors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/{</a:t>
            </a:r>
            <a:r>
              <a:rPr sz="700" spc="-30" dirty="0">
                <a:latin typeface="Cambria"/>
                <a:cs typeface="Cambria"/>
              </a:rPr>
              <a:t> </a:t>
            </a:r>
            <a:r>
              <a:rPr sz="700" spc="100" dirty="0">
                <a:latin typeface="Cambria"/>
                <a:cs typeface="Cambria"/>
              </a:rPr>
              <a:t>device</a:t>
            </a:r>
            <a:r>
              <a:rPr sz="700" spc="-85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Id</a:t>
            </a:r>
            <a:r>
              <a:rPr sz="700" spc="-2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}/</a:t>
            </a:r>
            <a:r>
              <a:rPr sz="700" spc="-30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telemetry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29" y="1002842"/>
            <a:ext cx="2635250" cy="516255"/>
            <a:chOff x="75729" y="1002842"/>
            <a:chExt cx="2635250" cy="51625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1" name="object 21"/>
            <p:cNvSpPr/>
            <p:nvPr/>
          </p:nvSpPr>
          <p:spPr>
            <a:xfrm>
              <a:off x="83502" y="1005382"/>
              <a:ext cx="2619375" cy="43180"/>
            </a:xfrm>
            <a:custGeom>
              <a:avLst/>
              <a:gdLst/>
              <a:ahLst/>
              <a:cxnLst/>
              <a:rect l="l" t="t" r="r" b="b"/>
              <a:pathLst>
                <a:path w="2619375" h="43180">
                  <a:moveTo>
                    <a:pt x="2619273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2619273" y="43014"/>
                  </a:lnTo>
                  <a:lnTo>
                    <a:pt x="261927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042" y="1005382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502" y="104587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6530" y="1045870"/>
              <a:ext cx="2533650" cy="0"/>
            </a:xfrm>
            <a:custGeom>
              <a:avLst/>
              <a:gdLst/>
              <a:ahLst/>
              <a:cxnLst/>
              <a:rect l="l" t="t" r="r" b="b"/>
              <a:pathLst>
                <a:path w="2533650">
                  <a:moveTo>
                    <a:pt x="0" y="0"/>
                  </a:moveTo>
                  <a:lnTo>
                    <a:pt x="253323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59761" y="104587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0248" y="1005382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729" y="1320672"/>
              <a:ext cx="2635250" cy="198755"/>
            </a:xfrm>
            <a:custGeom>
              <a:avLst/>
              <a:gdLst/>
              <a:ahLst/>
              <a:cxnLst/>
              <a:rect l="l" t="t" r="r" b="b"/>
              <a:pathLst>
                <a:path w="2635250" h="198755">
                  <a:moveTo>
                    <a:pt x="25840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3"/>
                  </a:lnTo>
                  <a:lnTo>
                    <a:pt x="2634866" y="198363"/>
                  </a:lnTo>
                  <a:lnTo>
                    <a:pt x="2634866" y="50800"/>
                  </a:lnTo>
                  <a:lnTo>
                    <a:pt x="2630858" y="31075"/>
                  </a:lnTo>
                  <a:lnTo>
                    <a:pt x="2619944" y="14922"/>
                  </a:lnTo>
                  <a:lnTo>
                    <a:pt x="2603791" y="4008"/>
                  </a:lnTo>
                  <a:lnTo>
                    <a:pt x="258406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6530" y="1288982"/>
            <a:ext cx="136398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Considerations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6877" y="1524601"/>
            <a:ext cx="1654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Arial MT"/>
                <a:cs typeface="Arial MT"/>
              </a:rPr>
              <a:t>Simplifies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filtering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IoT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Rules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6705" y="613434"/>
            <a:ext cx="5427980" cy="1579880"/>
            <a:chOff x="256705" y="613434"/>
            <a:chExt cx="5427980" cy="1579880"/>
          </a:xfrm>
          <a:solidFill>
            <a:schemeClr val="tx2">
              <a:lumMod val="20000"/>
              <a:lumOff val="80000"/>
            </a:schemeClr>
          </a:solidFill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05" y="1791474"/>
              <a:ext cx="59613" cy="59613"/>
            </a:xfrm>
            <a:prstGeom prst="rect">
              <a:avLst/>
            </a:prstGeom>
            <a:grpFill/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2133091"/>
              <a:ext cx="59613" cy="59613"/>
            </a:xfrm>
            <a:prstGeom prst="rect">
              <a:avLst/>
            </a:prstGeom>
            <a:grpFill/>
          </p:spPr>
        </p:pic>
        <p:sp>
          <p:nvSpPr>
            <p:cNvPr id="38" name="object 38"/>
            <p:cNvSpPr/>
            <p:nvPr/>
          </p:nvSpPr>
          <p:spPr>
            <a:xfrm>
              <a:off x="2608960" y="613434"/>
              <a:ext cx="3075940" cy="198755"/>
            </a:xfrm>
            <a:custGeom>
              <a:avLst/>
              <a:gdLst/>
              <a:ahLst/>
              <a:cxnLst/>
              <a:rect l="l" t="t" r="r" b="b"/>
              <a:pathLst>
                <a:path w="3075940" h="198754">
                  <a:moveTo>
                    <a:pt x="302455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3"/>
                  </a:lnTo>
                  <a:lnTo>
                    <a:pt x="3075354" y="198363"/>
                  </a:lnTo>
                  <a:lnTo>
                    <a:pt x="3075354" y="50800"/>
                  </a:lnTo>
                  <a:lnTo>
                    <a:pt x="3071346" y="31075"/>
                  </a:lnTo>
                  <a:lnTo>
                    <a:pt x="3060431" y="14922"/>
                  </a:lnTo>
                  <a:lnTo>
                    <a:pt x="3044278" y="4008"/>
                  </a:lnTo>
                  <a:lnTo>
                    <a:pt x="302455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66877" y="1714390"/>
            <a:ext cx="215392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224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Arial MT"/>
                <a:cs typeface="Arial MT"/>
              </a:rPr>
              <a:t>Supports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device-</a:t>
            </a:r>
            <a:r>
              <a:rPr sz="1000" spc="-30" dirty="0">
                <a:latin typeface="Arial MT"/>
                <a:cs typeface="Arial MT"/>
              </a:rPr>
              <a:t>specific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authorization </a:t>
            </a:r>
            <a:r>
              <a:rPr sz="1000" spc="-10" dirty="0">
                <a:latin typeface="Arial MT"/>
                <a:cs typeface="Arial MT"/>
              </a:rPr>
              <a:t>policies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spc="-20" dirty="0">
                <a:latin typeface="Arial MT"/>
                <a:cs typeface="Arial MT"/>
              </a:rPr>
              <a:t>Maintains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consistent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naming</a:t>
            </a:r>
            <a:r>
              <a:rPr sz="1000" spc="-10" dirty="0">
                <a:latin typeface="Arial MT"/>
                <a:cs typeface="Arial MT"/>
              </a:rPr>
              <a:t> structure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59760" y="581757"/>
            <a:ext cx="147066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JSON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Payload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651760" y="873749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0" dirty="0">
                <a:latin typeface="Cambria"/>
                <a:cs typeface="Cambria"/>
              </a:rPr>
              <a:t>{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616733" y="1002842"/>
            <a:ext cx="3060065" cy="511809"/>
            <a:chOff x="2616733" y="1002842"/>
            <a:chExt cx="3060065" cy="511809"/>
          </a:xfrm>
        </p:grpSpPr>
        <p:sp>
          <p:nvSpPr>
            <p:cNvPr id="57" name="object 57"/>
            <p:cNvSpPr/>
            <p:nvPr/>
          </p:nvSpPr>
          <p:spPr>
            <a:xfrm>
              <a:off x="2621800" y="1005382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19273" y="10053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19273" y="10053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59761" y="1005382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966" y="10053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73966" y="10053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21800" y="1106601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619273" y="11066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19273" y="11066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59761" y="1106601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673966" y="11066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673966" y="11066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621800" y="120782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19273" y="12078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19273" y="12078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59761" y="1207820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73966" y="12078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73966" y="12078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21800" y="1309039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619273" y="13090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619273" y="13090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659761" y="1309039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966" y="13090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673966" y="13090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21800" y="1410271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9273" y="141027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9273" y="141027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59761" y="1410271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73966" y="141027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673966" y="141027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764688" y="974968"/>
            <a:ext cx="1369060" cy="5365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00" dirty="0">
                <a:latin typeface="Cambria"/>
                <a:cs typeface="Cambria"/>
              </a:rPr>
              <a:t>device</a:t>
            </a:r>
            <a:r>
              <a:rPr sz="700" spc="-80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Id</a:t>
            </a:r>
            <a:r>
              <a:rPr sz="700" spc="-25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45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20" dirty="0">
                <a:latin typeface="Cambria"/>
                <a:cs typeface="Cambria"/>
              </a:rPr>
              <a:t>esp32</a:t>
            </a:r>
            <a:r>
              <a:rPr sz="700" spc="25" dirty="0">
                <a:latin typeface="Cambria"/>
                <a:cs typeface="Cambria"/>
              </a:rPr>
              <a:t> </a:t>
            </a:r>
            <a:r>
              <a:rPr sz="700" spc="185" dirty="0">
                <a:latin typeface="Cambria"/>
                <a:cs typeface="Cambria"/>
              </a:rPr>
              <a:t>-</a:t>
            </a:r>
            <a:r>
              <a:rPr sz="700" spc="50" dirty="0">
                <a:latin typeface="Cambria"/>
                <a:cs typeface="Cambria"/>
              </a:rPr>
              <a:t>001"</a:t>
            </a:r>
            <a:r>
              <a:rPr sz="700" spc="-3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 </a:t>
            </a: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85" dirty="0">
                <a:latin typeface="Cambria"/>
                <a:cs typeface="Cambria"/>
              </a:rPr>
              <a:t>temperature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38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29.4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755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humidity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0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74.1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795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110" dirty="0">
                <a:latin typeface="Cambria"/>
                <a:cs typeface="Cambria"/>
              </a:rPr>
              <a:t>battery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00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3.91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819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70" dirty="0">
                <a:latin typeface="Cambria"/>
                <a:cs typeface="Cambria"/>
              </a:rPr>
              <a:t> </a:t>
            </a:r>
            <a:r>
              <a:rPr sz="700" spc="165" dirty="0">
                <a:latin typeface="Cambria"/>
                <a:cs typeface="Cambria"/>
              </a:rPr>
              <a:t>ts":</a:t>
            </a:r>
            <a:r>
              <a:rPr sz="700" spc="395" dirty="0">
                <a:latin typeface="Cambria"/>
                <a:cs typeface="Cambria"/>
              </a:rPr>
              <a:t> </a:t>
            </a:r>
            <a:r>
              <a:rPr sz="700" spc="-10" dirty="0">
                <a:latin typeface="Cambria"/>
                <a:cs typeface="Cambria"/>
              </a:rPr>
              <a:t>1776208200000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616733" y="1508950"/>
            <a:ext cx="3060065" cy="106680"/>
            <a:chOff x="2616733" y="1508950"/>
            <a:chExt cx="3060065" cy="106680"/>
          </a:xfrm>
        </p:grpSpPr>
        <p:sp>
          <p:nvSpPr>
            <p:cNvPr id="89" name="object 89"/>
            <p:cNvSpPr/>
            <p:nvPr/>
          </p:nvSpPr>
          <p:spPr>
            <a:xfrm>
              <a:off x="2621800" y="151149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9273" y="15114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9273" y="15114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59761" y="1511490"/>
              <a:ext cx="3011805" cy="101600"/>
            </a:xfrm>
            <a:custGeom>
              <a:avLst/>
              <a:gdLst/>
              <a:ahLst/>
              <a:cxnLst/>
              <a:rect l="l" t="t" r="r" b="b"/>
              <a:pathLst>
                <a:path w="3011804" h="101600">
                  <a:moveTo>
                    <a:pt x="3011678" y="0"/>
                  </a:moveTo>
                  <a:lnTo>
                    <a:pt x="2973717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973717" y="101219"/>
                  </a:lnTo>
                  <a:lnTo>
                    <a:pt x="3011678" y="101219"/>
                  </a:lnTo>
                  <a:lnTo>
                    <a:pt x="301167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673966" y="15114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673966" y="15114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651760" y="1481076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0" dirty="0">
                <a:latin typeface="Cambria"/>
                <a:cs typeface="Cambria"/>
              </a:rPr>
              <a:t>}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616746" y="1612709"/>
            <a:ext cx="3060065" cy="43180"/>
            <a:chOff x="2616746" y="1612709"/>
            <a:chExt cx="3060065" cy="43180"/>
          </a:xfrm>
        </p:grpSpPr>
        <p:sp>
          <p:nvSpPr>
            <p:cNvPr id="97" name="object 97"/>
            <p:cNvSpPr/>
            <p:nvPr/>
          </p:nvSpPr>
          <p:spPr>
            <a:xfrm>
              <a:off x="2616746" y="1612709"/>
              <a:ext cx="3060065" cy="43180"/>
            </a:xfrm>
            <a:custGeom>
              <a:avLst/>
              <a:gdLst/>
              <a:ahLst/>
              <a:cxnLst/>
              <a:rect l="l" t="t" r="r" b="b"/>
              <a:pathLst>
                <a:path w="3060065" h="43180">
                  <a:moveTo>
                    <a:pt x="3059747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3059747" y="43014"/>
                  </a:lnTo>
                  <a:lnTo>
                    <a:pt x="305974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619273" y="1612709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616746" y="1653197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659760" y="1653197"/>
              <a:ext cx="2974340" cy="0"/>
            </a:xfrm>
            <a:custGeom>
              <a:avLst/>
              <a:gdLst/>
              <a:ahLst/>
              <a:cxnLst/>
              <a:rect l="l" t="t" r="r" b="b"/>
              <a:pathLst>
                <a:path w="2974340">
                  <a:moveTo>
                    <a:pt x="0" y="0"/>
                  </a:moveTo>
                  <a:lnTo>
                    <a:pt x="2973717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33478" y="1653197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673966" y="1612709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/>
          <p:nvPr/>
        </p:nvSpPr>
        <p:spPr>
          <a:xfrm>
            <a:off x="75729" y="2409862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126530" y="2378185"/>
            <a:ext cx="11868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Field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Interpretation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26530" y="2613804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0">
              <a:lnSpc>
                <a:spcPct val="100000"/>
              </a:lnSpc>
              <a:spcBef>
                <a:spcPts val="95"/>
              </a:spcBef>
            </a:pPr>
            <a:r>
              <a:rPr sz="1000" spc="65" dirty="0">
                <a:latin typeface="Cambria"/>
                <a:cs typeface="Cambria"/>
              </a:rPr>
              <a:t>deviceId</a:t>
            </a:r>
            <a:r>
              <a:rPr sz="1000" spc="70" dirty="0">
                <a:latin typeface="Cambria"/>
                <a:cs typeface="Cambria"/>
              </a:rPr>
              <a:t> </a:t>
            </a:r>
            <a:r>
              <a:rPr sz="1000" spc="-25" dirty="0">
                <a:latin typeface="Arial MT"/>
                <a:cs typeface="Arial MT"/>
              </a:rPr>
              <a:t>identifies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sensor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node,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140" dirty="0">
                <a:latin typeface="Cambria"/>
                <a:cs typeface="Cambria"/>
              </a:rPr>
              <a:t>ts</a:t>
            </a:r>
            <a:r>
              <a:rPr sz="1000" spc="70" dirty="0">
                <a:latin typeface="Cambria"/>
                <a:cs typeface="Cambria"/>
              </a:rPr>
              <a:t> </a:t>
            </a:r>
            <a:r>
              <a:rPr sz="1000" spc="-55" dirty="0">
                <a:latin typeface="Arial MT"/>
                <a:cs typeface="Arial MT"/>
              </a:rPr>
              <a:t>represents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timestamp,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remaining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attributes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contain </a:t>
            </a:r>
            <a:r>
              <a:rPr sz="1000" spc="-20" dirty="0">
                <a:latin typeface="Arial MT"/>
                <a:cs typeface="Arial MT"/>
              </a:rPr>
              <a:t>telemetry </a:t>
            </a:r>
            <a:r>
              <a:rPr sz="1000" spc="-10" dirty="0">
                <a:latin typeface="Arial MT"/>
                <a:cs typeface="Arial MT"/>
              </a:rPr>
              <a:t>measurements.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AWS</a:t>
            </a:r>
            <a:r>
              <a:rPr spc="-30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spc="-20" dirty="0"/>
              <a:t>Core</a:t>
            </a:r>
            <a:r>
              <a:rPr spc="-25" dirty="0"/>
              <a:t> </a:t>
            </a:r>
            <a:r>
              <a:rPr spc="-30" dirty="0"/>
              <a:t>Configuration</a:t>
            </a:r>
            <a:r>
              <a:rPr spc="-25" dirty="0"/>
              <a:t> Procedure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3155">
              <a:lnSpc>
                <a:spcPct val="124500"/>
              </a:lnSpc>
              <a:spcBef>
                <a:spcPts val="100"/>
              </a:spcBef>
            </a:pPr>
            <a:r>
              <a:rPr spc="-45" dirty="0"/>
              <a:t>Register</a:t>
            </a:r>
            <a:r>
              <a:rPr spc="-5" dirty="0"/>
              <a:t> </a:t>
            </a:r>
            <a:r>
              <a:rPr spc="-65" dirty="0"/>
              <a:t>each</a:t>
            </a:r>
            <a:r>
              <a:rPr spc="5" dirty="0"/>
              <a:t> </a:t>
            </a:r>
            <a:r>
              <a:rPr spc="-45" dirty="0"/>
              <a:t>physical</a:t>
            </a:r>
            <a:r>
              <a:rPr spc="10" dirty="0"/>
              <a:t> </a:t>
            </a:r>
            <a:r>
              <a:rPr spc="-45" dirty="0"/>
              <a:t>device</a:t>
            </a:r>
            <a:r>
              <a:rPr spc="15" dirty="0"/>
              <a:t> </a:t>
            </a:r>
            <a:r>
              <a:rPr spc="-90" dirty="0"/>
              <a:t>as</a:t>
            </a:r>
            <a:r>
              <a:rPr spc="20" dirty="0"/>
              <a:t> </a:t>
            </a:r>
            <a:r>
              <a:rPr spc="-10" dirty="0"/>
              <a:t>an</a:t>
            </a:r>
            <a:r>
              <a:rPr spc="10" dirty="0"/>
              <a:t> </a:t>
            </a:r>
            <a:r>
              <a:rPr spc="-75" dirty="0"/>
              <a:t>AWS</a:t>
            </a:r>
            <a:r>
              <a:rPr spc="5" dirty="0"/>
              <a:t> </a:t>
            </a:r>
            <a:r>
              <a:rPr dirty="0"/>
              <a:t>IoT</a:t>
            </a:r>
            <a:r>
              <a:rPr spc="10" dirty="0"/>
              <a:t> </a:t>
            </a:r>
            <a:r>
              <a:rPr spc="-40" dirty="0">
                <a:latin typeface="Arial Black"/>
                <a:cs typeface="Arial Black"/>
              </a:rPr>
              <a:t>Thing</a:t>
            </a:r>
            <a:r>
              <a:rPr spc="-40" dirty="0"/>
              <a:t>. Create</a:t>
            </a:r>
            <a:r>
              <a:rPr spc="-3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attach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30" dirty="0"/>
              <a:t>unique</a:t>
            </a:r>
            <a:r>
              <a:rPr spc="-10" dirty="0"/>
              <a:t> </a:t>
            </a:r>
            <a:r>
              <a:rPr spc="-85" dirty="0">
                <a:latin typeface="Arial Black"/>
                <a:cs typeface="Arial Black"/>
              </a:rPr>
              <a:t>X.509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25" dirty="0">
                <a:latin typeface="Arial Black"/>
                <a:cs typeface="Arial Black"/>
              </a:rPr>
              <a:t>certificate</a:t>
            </a:r>
            <a:r>
              <a:rPr spc="-25" dirty="0"/>
              <a:t>.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pc="-50" dirty="0"/>
              <a:t>Assign</a:t>
            </a:r>
            <a:r>
              <a:rPr spc="-20" dirty="0"/>
              <a:t> </a:t>
            </a:r>
            <a:r>
              <a:rPr spc="-10" dirty="0"/>
              <a:t>an</a:t>
            </a:r>
            <a:r>
              <a:rPr spc="-35" dirty="0"/>
              <a:t> </a:t>
            </a:r>
            <a:r>
              <a:rPr spc="-40" dirty="0">
                <a:latin typeface="Arial Black"/>
                <a:cs typeface="Arial Black"/>
              </a:rPr>
              <a:t>IoT</a:t>
            </a:r>
            <a:r>
              <a:rPr spc="-25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policy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dirty="0"/>
              <a:t>with </a:t>
            </a:r>
            <a:r>
              <a:rPr spc="-10" dirty="0"/>
              <a:t>only</a:t>
            </a:r>
            <a:r>
              <a:rPr spc="5" dirty="0"/>
              <a:t> </a:t>
            </a:r>
            <a:r>
              <a:rPr dirty="0"/>
              <a:t>the </a:t>
            </a:r>
            <a:r>
              <a:rPr spc="-40" dirty="0"/>
              <a:t>required</a:t>
            </a:r>
            <a:r>
              <a:rPr dirty="0"/>
              <a:t> </a:t>
            </a:r>
            <a:r>
              <a:rPr spc="-30" dirty="0"/>
              <a:t>publish</a:t>
            </a:r>
            <a:r>
              <a:rPr dirty="0"/>
              <a:t> or</a:t>
            </a:r>
            <a:r>
              <a:rPr spc="5" dirty="0"/>
              <a:t> </a:t>
            </a:r>
            <a:r>
              <a:rPr spc="-55" dirty="0"/>
              <a:t>subscribe</a:t>
            </a:r>
            <a:r>
              <a:rPr dirty="0"/>
              <a:t> </a:t>
            </a:r>
            <a:r>
              <a:rPr spc="-10" dirty="0"/>
              <a:t>permissions.</a:t>
            </a: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pc="-35" dirty="0"/>
              <a:t>Configure</a:t>
            </a:r>
            <a:r>
              <a:rPr spc="-10" dirty="0"/>
              <a:t> </a:t>
            </a:r>
            <a:r>
              <a:rPr spc="-55" dirty="0"/>
              <a:t>device</a:t>
            </a:r>
            <a:r>
              <a:rPr dirty="0"/>
              <a:t> </a:t>
            </a:r>
            <a:r>
              <a:rPr spc="-30" dirty="0"/>
              <a:t>firmware</a:t>
            </a:r>
            <a:r>
              <a:rPr dirty="0"/>
              <a:t> with the</a:t>
            </a:r>
            <a:r>
              <a:rPr spc="5" dirty="0"/>
              <a:t> </a:t>
            </a:r>
            <a:r>
              <a:rPr spc="-75" dirty="0"/>
              <a:t>AWS</a:t>
            </a:r>
            <a:r>
              <a:rPr spc="5" dirty="0"/>
              <a:t> </a:t>
            </a:r>
            <a:r>
              <a:rPr spc="-20" dirty="0"/>
              <a:t>endpoint</a:t>
            </a:r>
            <a:r>
              <a:rPr spc="5" dirty="0"/>
              <a:t> </a:t>
            </a:r>
            <a:r>
              <a:rPr spc="-40" dirty="0"/>
              <a:t>hostname,</a:t>
            </a:r>
            <a:r>
              <a:rPr dirty="0"/>
              <a:t> port </a:t>
            </a:r>
            <a:r>
              <a:rPr dirty="0">
                <a:latin typeface="Cambria"/>
                <a:cs typeface="Cambria"/>
              </a:rPr>
              <a:t>8883</a:t>
            </a:r>
            <a:r>
              <a:rPr dirty="0"/>
              <a:t>, root CA, </a:t>
            </a:r>
            <a:r>
              <a:rPr spc="-10" dirty="0"/>
              <a:t>certificate,</a:t>
            </a:r>
            <a:r>
              <a:rPr dirty="0"/>
              <a:t> </a:t>
            </a:r>
            <a:r>
              <a:rPr spc="-25" dirty="0"/>
              <a:t>and </a:t>
            </a:r>
            <a:r>
              <a:rPr spc="-20" dirty="0"/>
              <a:t>private</a:t>
            </a:r>
            <a:r>
              <a:rPr spc="-5" dirty="0"/>
              <a:t> </a:t>
            </a:r>
            <a:r>
              <a:rPr spc="-20" dirty="0"/>
              <a:t>key.</a:t>
            </a: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pc="-20" dirty="0"/>
              <a:t>Validate</a:t>
            </a:r>
            <a:r>
              <a:rPr spc="20" dirty="0"/>
              <a:t> </a:t>
            </a:r>
            <a:r>
              <a:rPr spc="-35" dirty="0"/>
              <a:t>communication</a:t>
            </a:r>
            <a:r>
              <a:rPr spc="20" dirty="0"/>
              <a:t> </a:t>
            </a:r>
            <a:r>
              <a:rPr spc="-30" dirty="0"/>
              <a:t>using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MQTT</a:t>
            </a:r>
            <a:r>
              <a:rPr spc="25" dirty="0"/>
              <a:t> </a:t>
            </a:r>
            <a:r>
              <a:rPr dirty="0"/>
              <a:t>test</a:t>
            </a:r>
            <a:r>
              <a:rPr spc="25" dirty="0"/>
              <a:t> </a:t>
            </a:r>
            <a:r>
              <a:rPr spc="-10" dirty="0"/>
              <a:t>client.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pc="-25" dirty="0"/>
              <a:t>Define</a:t>
            </a:r>
            <a:r>
              <a:rPr spc="-40" dirty="0"/>
              <a:t> </a:t>
            </a:r>
            <a:r>
              <a:rPr spc="-10" dirty="0"/>
              <a:t>an</a:t>
            </a:r>
            <a:r>
              <a:rPr spc="5" dirty="0"/>
              <a:t> </a:t>
            </a:r>
            <a:r>
              <a:rPr spc="-35" dirty="0">
                <a:latin typeface="Arial Black"/>
                <a:cs typeface="Arial Black"/>
              </a:rPr>
              <a:t>IoT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25" dirty="0">
                <a:latin typeface="Arial Black"/>
                <a:cs typeface="Arial Black"/>
              </a:rPr>
              <a:t>Rule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route</a:t>
            </a:r>
            <a:r>
              <a:rPr spc="10" dirty="0"/>
              <a:t> </a:t>
            </a:r>
            <a:r>
              <a:rPr spc="-30" dirty="0"/>
              <a:t>incoming</a:t>
            </a:r>
            <a:r>
              <a:rPr spc="10" dirty="0"/>
              <a:t> </a:t>
            </a:r>
            <a:r>
              <a:rPr spc="-20" dirty="0"/>
              <a:t>telemetry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40" dirty="0"/>
              <a:t>downstream</a:t>
            </a:r>
            <a:r>
              <a:rPr spc="10" dirty="0"/>
              <a:t> </a:t>
            </a:r>
            <a:r>
              <a:rPr spc="-10" dirty="0"/>
              <a:t>services.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8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24" y="723080"/>
            <a:ext cx="104324" cy="104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0581" y="71372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924" y="912869"/>
            <a:ext cx="104324" cy="104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0581" y="903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924" y="1102658"/>
            <a:ext cx="104324" cy="1043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0581" y="109330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7924" y="1292447"/>
            <a:ext cx="104324" cy="1043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0581" y="128308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924" y="1634064"/>
            <a:ext cx="104324" cy="104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0581" y="162470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1823853"/>
            <a:ext cx="104324" cy="1043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30581" y="181449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729" y="212068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6530" y="2089006"/>
            <a:ext cx="194691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Common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Observation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530" y="232462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3939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Most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beginner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errors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occur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at the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connectivity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layer:</a:t>
            </a:r>
            <a:r>
              <a:rPr sz="1000" spc="9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incorrect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endpoint,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inactive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certificate,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incorrect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topic,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or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insufficient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policy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permissions.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3538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IoT</a:t>
            </a:r>
            <a:r>
              <a:rPr spc="-65" dirty="0"/>
              <a:t> </a:t>
            </a:r>
            <a:r>
              <a:rPr spc="-20" dirty="0"/>
              <a:t>Rule</a:t>
            </a:r>
            <a:r>
              <a:rPr spc="-55" dirty="0"/>
              <a:t> </a:t>
            </a:r>
            <a:r>
              <a:rPr spc="-35" dirty="0"/>
              <a:t>Example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9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74509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42832"/>
            <a:ext cx="59118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Rule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SQL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42" y="852157"/>
            <a:ext cx="5588000" cy="789940"/>
          </a:xfrm>
          <a:prstGeom prst="rect">
            <a:avLst/>
          </a:prstGeom>
          <a:solidFill>
            <a:srgbClr val="F7F7F7"/>
          </a:solidFill>
          <a:ln w="5054">
            <a:solidFill>
              <a:srgbClr val="D8D8D8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8260">
              <a:lnSpc>
                <a:spcPts val="819"/>
              </a:lnSpc>
              <a:spcBef>
                <a:spcPts val="175"/>
              </a:spcBef>
            </a:pPr>
            <a:r>
              <a:rPr sz="700" spc="-10" dirty="0">
                <a:latin typeface="Cambria"/>
                <a:cs typeface="Cambria"/>
              </a:rPr>
              <a:t>SELECT</a:t>
            </a:r>
            <a:endParaRPr sz="700">
              <a:latin typeface="Cambria"/>
              <a:cs typeface="Cambria"/>
            </a:endParaRPr>
          </a:p>
          <a:p>
            <a:pPr marL="160655" marR="4245610">
              <a:lnSpc>
                <a:spcPts val="800"/>
              </a:lnSpc>
              <a:spcBef>
                <a:spcPts val="40"/>
              </a:spcBef>
            </a:pPr>
            <a:r>
              <a:rPr sz="700" spc="110" dirty="0">
                <a:latin typeface="Cambria"/>
                <a:cs typeface="Cambria"/>
              </a:rPr>
              <a:t>topic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100" dirty="0">
                <a:latin typeface="Cambria"/>
                <a:cs typeface="Cambria"/>
              </a:rPr>
              <a:t>(2)</a:t>
            </a:r>
            <a:r>
              <a:rPr sz="700" spc="405" dirty="0">
                <a:latin typeface="Cambria"/>
                <a:cs typeface="Cambria"/>
              </a:rPr>
              <a:t> </a:t>
            </a:r>
            <a:r>
              <a:rPr sz="700" spc="70" dirty="0">
                <a:latin typeface="Cambria"/>
                <a:cs typeface="Cambria"/>
              </a:rPr>
              <a:t>as</a:t>
            </a:r>
            <a:r>
              <a:rPr sz="700" spc="409" dirty="0">
                <a:latin typeface="Cambria"/>
                <a:cs typeface="Cambria"/>
              </a:rPr>
              <a:t> </a:t>
            </a:r>
            <a:r>
              <a:rPr sz="700" spc="95" dirty="0">
                <a:latin typeface="Cambria"/>
                <a:cs typeface="Cambria"/>
              </a:rPr>
              <a:t>deviceId</a:t>
            </a:r>
            <a:r>
              <a:rPr sz="700" spc="1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 </a:t>
            </a:r>
            <a:r>
              <a:rPr sz="700" spc="80" dirty="0">
                <a:latin typeface="Cambria"/>
                <a:cs typeface="Cambria"/>
              </a:rPr>
              <a:t>temperature</a:t>
            </a:r>
            <a:r>
              <a:rPr sz="700" spc="1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r>
              <a:rPr sz="700" spc="500" dirty="0">
                <a:latin typeface="Cambria"/>
                <a:cs typeface="Cambria"/>
              </a:rPr>
              <a:t>  </a:t>
            </a:r>
            <a:r>
              <a:rPr sz="700" spc="70" dirty="0">
                <a:latin typeface="Cambria"/>
                <a:cs typeface="Cambria"/>
              </a:rPr>
              <a:t>humidity</a:t>
            </a:r>
            <a:r>
              <a:rPr sz="700" spc="3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60655">
              <a:lnSpc>
                <a:spcPts val="750"/>
              </a:lnSpc>
            </a:pPr>
            <a:r>
              <a:rPr sz="700" spc="100" dirty="0">
                <a:latin typeface="Cambria"/>
                <a:cs typeface="Cambria"/>
              </a:rPr>
              <a:t>battery</a:t>
            </a:r>
            <a:r>
              <a:rPr sz="700" spc="2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59385">
              <a:lnSpc>
                <a:spcPts val="795"/>
              </a:lnSpc>
            </a:pPr>
            <a:r>
              <a:rPr sz="700" spc="95" dirty="0">
                <a:latin typeface="Cambria"/>
                <a:cs typeface="Cambria"/>
              </a:rPr>
              <a:t>ts</a:t>
            </a:r>
            <a:endParaRPr sz="700">
              <a:latin typeface="Cambria"/>
              <a:cs typeface="Cambria"/>
            </a:endParaRPr>
          </a:p>
          <a:p>
            <a:pPr marL="47625">
              <a:lnSpc>
                <a:spcPts val="819"/>
              </a:lnSpc>
            </a:pPr>
            <a:r>
              <a:rPr sz="700" spc="-10" dirty="0">
                <a:latin typeface="Cambria"/>
                <a:cs typeface="Cambria"/>
              </a:rPr>
              <a:t>FROM</a:t>
            </a:r>
            <a:r>
              <a:rPr sz="700" spc="285" dirty="0">
                <a:latin typeface="Cambria"/>
                <a:cs typeface="Cambria"/>
              </a:rPr>
              <a:t> </a:t>
            </a:r>
            <a:r>
              <a:rPr sz="700" spc="215" dirty="0">
                <a:latin typeface="Cambria"/>
                <a:cs typeface="Cambria"/>
              </a:rPr>
              <a:t>’</a:t>
            </a:r>
            <a:r>
              <a:rPr sz="700" spc="-65" dirty="0">
                <a:latin typeface="Cambria"/>
                <a:cs typeface="Cambria"/>
              </a:rPr>
              <a:t> </a:t>
            </a:r>
            <a:r>
              <a:rPr sz="700" spc="95" dirty="0">
                <a:latin typeface="Cambria"/>
                <a:cs typeface="Cambria"/>
              </a:rPr>
              <a:t>sensors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50" dirty="0">
                <a:latin typeface="Cambria"/>
                <a:cs typeface="Cambria"/>
              </a:rPr>
              <a:t>/+/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95" dirty="0">
                <a:latin typeface="Cambria"/>
                <a:cs typeface="Cambria"/>
              </a:rPr>
              <a:t>telemetry</a:t>
            </a:r>
            <a:r>
              <a:rPr sz="700" spc="-20" dirty="0">
                <a:latin typeface="Cambria"/>
                <a:cs typeface="Cambria"/>
              </a:rPr>
              <a:t> </a:t>
            </a:r>
            <a:r>
              <a:rPr sz="700" spc="165" dirty="0">
                <a:latin typeface="Cambria"/>
                <a:cs typeface="Cambria"/>
              </a:rPr>
              <a:t>’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729" y="1999411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60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55110" y="187819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" y="1967734"/>
            <a:ext cx="131572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Possible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Rule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Actions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877" y="2192812"/>
            <a:ext cx="1139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Write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Timestream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6705" y="2459685"/>
            <a:ext cx="59690" cy="439420"/>
            <a:chOff x="256705" y="2459685"/>
            <a:chExt cx="59690" cy="43942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05" y="2459685"/>
              <a:ext cx="59613" cy="596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2649473"/>
              <a:ext cx="59613" cy="596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2839262"/>
              <a:ext cx="59613" cy="5961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66877" y="2344642"/>
            <a:ext cx="1125855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Write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DynamoDB Invoke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Lambda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530" y="2762178"/>
            <a:ext cx="28555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Archive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Amazon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29203" y="1999411"/>
            <a:ext cx="2855595" cy="198755"/>
          </a:xfrm>
          <a:custGeom>
            <a:avLst/>
            <a:gdLst/>
            <a:ahLst/>
            <a:cxnLst/>
            <a:rect l="l" t="t" r="r" b="b"/>
            <a:pathLst>
              <a:path w="2855595" h="198755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855110" y="19836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80004" y="1967734"/>
            <a:ext cx="144399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Interpretation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0004" y="2203353"/>
            <a:ext cx="285559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7653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IoT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Rule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acts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as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bridge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between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incoming </a:t>
            </a:r>
            <a:r>
              <a:rPr sz="1000" spc="-55" dirty="0">
                <a:latin typeface="Arial MT"/>
                <a:cs typeface="Arial MT"/>
              </a:rPr>
              <a:t>device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0" dirty="0">
                <a:latin typeface="Arial MT"/>
                <a:cs typeface="Arial MT"/>
              </a:rPr>
              <a:t>messages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selected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processing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or </a:t>
            </a:r>
            <a:r>
              <a:rPr sz="1000" spc="-45" dirty="0">
                <a:latin typeface="Arial MT"/>
                <a:cs typeface="Arial MT"/>
              </a:rPr>
              <a:t>storage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path.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Illustrative</a:t>
            </a:r>
            <a:r>
              <a:rPr spc="-25" dirty="0"/>
              <a:t> </a:t>
            </a:r>
            <a:r>
              <a:rPr spc="-35" dirty="0"/>
              <a:t>Database</a:t>
            </a:r>
            <a:r>
              <a:rPr spc="-20" dirty="0"/>
              <a:t> </a:t>
            </a:r>
            <a:r>
              <a:rPr spc="-55" dirty="0"/>
              <a:t>Schemas</a:t>
            </a:r>
          </a:p>
        </p:txBody>
      </p:sp>
      <p:sp>
        <p:nvSpPr>
          <p:cNvPr id="156" name="object 1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10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713396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5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744947" y="198363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81719"/>
            <a:ext cx="110744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DynamoDB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830" y="892029"/>
            <a:ext cx="1391920" cy="532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75"/>
              </a:spcBef>
            </a:pPr>
            <a:r>
              <a:rPr sz="1000" spc="-100" dirty="0">
                <a:latin typeface="Arial Black"/>
                <a:cs typeface="Arial Black"/>
              </a:rPr>
              <a:t>Table: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Cambria"/>
                <a:cs typeface="Cambria"/>
              </a:rPr>
              <a:t>device_latest </a:t>
            </a:r>
            <a:r>
              <a:rPr sz="1000" spc="-95" dirty="0">
                <a:latin typeface="Arial Black"/>
                <a:cs typeface="Arial Black"/>
              </a:rPr>
              <a:t>Partition</a:t>
            </a:r>
            <a:r>
              <a:rPr sz="1000" spc="15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key:</a:t>
            </a:r>
            <a:r>
              <a:rPr sz="1000" spc="95" dirty="0">
                <a:latin typeface="Arial Black"/>
                <a:cs typeface="Arial Black"/>
              </a:rPr>
              <a:t> </a:t>
            </a:r>
            <a:r>
              <a:rPr sz="1000" spc="55" dirty="0">
                <a:latin typeface="Cambria"/>
                <a:cs typeface="Cambria"/>
              </a:rPr>
              <a:t>deviceId </a:t>
            </a:r>
            <a:r>
              <a:rPr sz="800" spc="-10" dirty="0">
                <a:latin typeface="Microsoft Sans Serif"/>
                <a:cs typeface="Microsoft Sans Serif"/>
              </a:rPr>
              <a:t>Example</a:t>
            </a:r>
            <a:r>
              <a:rPr sz="800" spc="-2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item: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962" y="1477886"/>
            <a:ext cx="2734945" cy="149860"/>
            <a:chOff x="80962" y="1477886"/>
            <a:chExt cx="2734945" cy="149860"/>
          </a:xfrm>
        </p:grpSpPr>
        <p:sp>
          <p:nvSpPr>
            <p:cNvPr id="11" name="object 11"/>
            <p:cNvSpPr/>
            <p:nvPr/>
          </p:nvSpPr>
          <p:spPr>
            <a:xfrm>
              <a:off x="83502" y="1480426"/>
              <a:ext cx="2729865" cy="43180"/>
            </a:xfrm>
            <a:custGeom>
              <a:avLst/>
              <a:gdLst/>
              <a:ahLst/>
              <a:cxnLst/>
              <a:rect l="l" t="t" r="r" b="b"/>
              <a:pathLst>
                <a:path w="2729865" h="43180">
                  <a:moveTo>
                    <a:pt x="2729344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2729344" y="43014"/>
                  </a:lnTo>
                  <a:lnTo>
                    <a:pt x="2729344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042" y="14804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502" y="1482953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530" y="1482953"/>
              <a:ext cx="2643505" cy="0"/>
            </a:xfrm>
            <a:custGeom>
              <a:avLst/>
              <a:gdLst/>
              <a:ahLst/>
              <a:cxnLst/>
              <a:rect l="l" t="t" r="r" b="b"/>
              <a:pathLst>
                <a:path w="2643505">
                  <a:moveTo>
                    <a:pt x="0" y="0"/>
                  </a:moveTo>
                  <a:lnTo>
                    <a:pt x="2643314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69831" y="1482953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10319" y="1480426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569" y="1523441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042" y="152344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042" y="152344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6517" y="1523453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10319" y="152344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0319" y="152344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8529" y="1493027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0" dirty="0">
                <a:latin typeface="Cambria"/>
                <a:cs typeface="Cambria"/>
              </a:rPr>
              <a:t>{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3502" y="1622120"/>
            <a:ext cx="2729865" cy="612775"/>
            <a:chOff x="83502" y="1622120"/>
            <a:chExt cx="2729865" cy="612775"/>
          </a:xfrm>
        </p:grpSpPr>
        <p:sp>
          <p:nvSpPr>
            <p:cNvPr id="25" name="object 25"/>
            <p:cNvSpPr/>
            <p:nvPr/>
          </p:nvSpPr>
          <p:spPr>
            <a:xfrm>
              <a:off x="88569" y="162466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042" y="162466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042" y="162466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6517" y="1624672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0319" y="162466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10319" y="162466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569" y="1725891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042" y="172589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042" y="172589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6517" y="1725904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10319" y="172589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10319" y="172589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569" y="182711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37960" y="101219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042" y="182711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042" y="182711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6517" y="1827123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10319" y="182711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10319" y="182711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8569" y="1928329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042" y="192832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042" y="192832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26517" y="1928342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10319" y="192832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10319" y="192832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8569" y="2029548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6042" y="202954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6042" y="202954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26517" y="2029561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10319" y="202954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10319" y="202954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8569" y="2130767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6042" y="2130767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6042" y="2130767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26517" y="2130780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10319" y="2130767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10319" y="2130767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74993" y="1594246"/>
            <a:ext cx="1480820" cy="6381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16205">
              <a:lnSpc>
                <a:spcPts val="800"/>
              </a:lnSpc>
              <a:spcBef>
                <a:spcPts val="155"/>
              </a:spcBef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00" dirty="0">
                <a:latin typeface="Cambria"/>
                <a:cs typeface="Cambria"/>
              </a:rPr>
              <a:t>device</a:t>
            </a:r>
            <a:r>
              <a:rPr sz="700" spc="-80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Id</a:t>
            </a:r>
            <a:r>
              <a:rPr sz="700" spc="-25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45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20" dirty="0">
                <a:latin typeface="Cambria"/>
                <a:cs typeface="Cambria"/>
              </a:rPr>
              <a:t>esp32</a:t>
            </a:r>
            <a:r>
              <a:rPr sz="700" spc="25" dirty="0">
                <a:latin typeface="Cambria"/>
                <a:cs typeface="Cambria"/>
              </a:rPr>
              <a:t> </a:t>
            </a:r>
            <a:r>
              <a:rPr sz="700" spc="185" dirty="0">
                <a:latin typeface="Cambria"/>
                <a:cs typeface="Cambria"/>
              </a:rPr>
              <a:t>-</a:t>
            </a:r>
            <a:r>
              <a:rPr sz="700" spc="50" dirty="0">
                <a:latin typeface="Cambria"/>
                <a:cs typeface="Cambria"/>
              </a:rPr>
              <a:t>001"</a:t>
            </a:r>
            <a:r>
              <a:rPr sz="700" spc="-3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 </a:t>
            </a: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85" dirty="0">
                <a:latin typeface="Cambria"/>
                <a:cs typeface="Cambria"/>
              </a:rPr>
              <a:t>temperature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38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29.4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755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humidity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05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74.1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795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110" dirty="0">
                <a:latin typeface="Cambria"/>
                <a:cs typeface="Cambria"/>
              </a:rPr>
              <a:t>battery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400" dirty="0">
                <a:latin typeface="Cambria"/>
                <a:cs typeface="Cambria"/>
              </a:rPr>
              <a:t> </a:t>
            </a:r>
            <a:r>
              <a:rPr sz="700" spc="80" dirty="0">
                <a:latin typeface="Cambria"/>
                <a:cs typeface="Cambria"/>
              </a:rPr>
              <a:t>3.91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795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114" dirty="0">
                <a:latin typeface="Cambria"/>
                <a:cs typeface="Cambria"/>
              </a:rPr>
              <a:t>lastSeen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395" dirty="0">
                <a:latin typeface="Cambria"/>
                <a:cs typeface="Cambria"/>
              </a:rPr>
              <a:t> </a:t>
            </a:r>
            <a:r>
              <a:rPr sz="700" spc="40" dirty="0">
                <a:latin typeface="Cambria"/>
                <a:cs typeface="Cambria"/>
              </a:rPr>
              <a:t>1776208200000</a:t>
            </a:r>
            <a:r>
              <a:rPr sz="700" spc="-25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819"/>
              </a:lnSpc>
            </a:pP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114" dirty="0">
                <a:latin typeface="Cambria"/>
                <a:cs typeface="Cambria"/>
              </a:rPr>
              <a:t>status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0" dirty="0">
                <a:latin typeface="Cambria"/>
                <a:cs typeface="Cambria"/>
              </a:rPr>
              <a:t>":</a:t>
            </a:r>
            <a:r>
              <a:rPr sz="700" spc="385" dirty="0">
                <a:latin typeface="Cambria"/>
                <a:cs typeface="Cambria"/>
              </a:rPr>
              <a:t> </a:t>
            </a:r>
            <a:r>
              <a:rPr sz="700" spc="90" dirty="0">
                <a:latin typeface="Cambria"/>
                <a:cs typeface="Cambria"/>
              </a:rPr>
              <a:t>"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105" dirty="0">
                <a:latin typeface="Cambria"/>
                <a:cs typeface="Cambria"/>
              </a:rPr>
              <a:t>online</a:t>
            </a:r>
            <a:r>
              <a:rPr sz="700" spc="-55" dirty="0">
                <a:latin typeface="Cambria"/>
                <a:cs typeface="Cambria"/>
              </a:rPr>
              <a:t> </a:t>
            </a:r>
            <a:r>
              <a:rPr sz="700" spc="40" dirty="0">
                <a:latin typeface="Cambria"/>
                <a:cs typeface="Cambria"/>
              </a:rPr>
              <a:t>"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3502" y="2229446"/>
            <a:ext cx="2729865" cy="106680"/>
            <a:chOff x="83502" y="2229446"/>
            <a:chExt cx="2729865" cy="106680"/>
          </a:xfrm>
        </p:grpSpPr>
        <p:sp>
          <p:nvSpPr>
            <p:cNvPr id="63" name="object 63"/>
            <p:cNvSpPr/>
            <p:nvPr/>
          </p:nvSpPr>
          <p:spPr>
            <a:xfrm>
              <a:off x="88569" y="2231986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6042" y="2231986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042" y="2231986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26517" y="2231999"/>
              <a:ext cx="2681605" cy="101600"/>
            </a:xfrm>
            <a:custGeom>
              <a:avLst/>
              <a:gdLst/>
              <a:ahLst/>
              <a:cxnLst/>
              <a:rect l="l" t="t" r="r" b="b"/>
              <a:pathLst>
                <a:path w="2681605" h="101600">
                  <a:moveTo>
                    <a:pt x="2681262" y="0"/>
                  </a:moveTo>
                  <a:lnTo>
                    <a:pt x="2643314" y="0"/>
                  </a:lnTo>
                  <a:lnTo>
                    <a:pt x="0" y="0"/>
                  </a:lnTo>
                  <a:lnTo>
                    <a:pt x="0" y="101219"/>
                  </a:lnTo>
                  <a:lnTo>
                    <a:pt x="2643301" y="101219"/>
                  </a:lnTo>
                  <a:lnTo>
                    <a:pt x="2681262" y="101219"/>
                  </a:lnTo>
                  <a:lnTo>
                    <a:pt x="268126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10319" y="2231986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10319" y="2231986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18529" y="2201572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0" dirty="0">
                <a:latin typeface="Cambria"/>
                <a:cs typeface="Cambria"/>
              </a:rPr>
              <a:t>}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0962" y="713396"/>
            <a:ext cx="5603875" cy="1665605"/>
            <a:chOff x="80962" y="713396"/>
            <a:chExt cx="5603875" cy="166560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1" name="object 71"/>
            <p:cNvSpPr/>
            <p:nvPr/>
          </p:nvSpPr>
          <p:spPr>
            <a:xfrm>
              <a:off x="83502" y="2333205"/>
              <a:ext cx="2729865" cy="43180"/>
            </a:xfrm>
            <a:custGeom>
              <a:avLst/>
              <a:gdLst/>
              <a:ahLst/>
              <a:cxnLst/>
              <a:rect l="l" t="t" r="r" b="b"/>
              <a:pathLst>
                <a:path w="2729865" h="43180">
                  <a:moveTo>
                    <a:pt x="2729344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2729344" y="43014"/>
                  </a:lnTo>
                  <a:lnTo>
                    <a:pt x="272934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042" y="2333205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502" y="2373693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6530" y="2373693"/>
              <a:ext cx="2643505" cy="0"/>
            </a:xfrm>
            <a:custGeom>
              <a:avLst/>
              <a:gdLst/>
              <a:ahLst/>
              <a:cxnLst/>
              <a:rect l="l" t="t" r="r" b="b"/>
              <a:pathLst>
                <a:path w="2643505">
                  <a:moveTo>
                    <a:pt x="0" y="0"/>
                  </a:moveTo>
                  <a:lnTo>
                    <a:pt x="26433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769831" y="2373693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810319" y="2333205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719031" y="713396"/>
              <a:ext cx="2965450" cy="187960"/>
            </a:xfrm>
            <a:custGeom>
              <a:avLst/>
              <a:gdLst/>
              <a:ahLst/>
              <a:cxnLst/>
              <a:rect l="l" t="t" r="r" b="b"/>
              <a:pathLst>
                <a:path w="2965450" h="187959">
                  <a:moveTo>
                    <a:pt x="291447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19"/>
                  </a:lnTo>
                  <a:lnTo>
                    <a:pt x="2965274" y="187819"/>
                  </a:lnTo>
                  <a:lnTo>
                    <a:pt x="2965274" y="50800"/>
                  </a:lnTo>
                  <a:lnTo>
                    <a:pt x="2961266" y="31075"/>
                  </a:lnTo>
                  <a:lnTo>
                    <a:pt x="2950351" y="14922"/>
                  </a:lnTo>
                  <a:lnTo>
                    <a:pt x="2934198" y="4008"/>
                  </a:lnTo>
                  <a:lnTo>
                    <a:pt x="291447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769831" y="681719"/>
            <a:ext cx="133794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Relational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Alternative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765209" y="1001130"/>
            <a:ext cx="17068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mbria"/>
                <a:cs typeface="Cambria"/>
              </a:rPr>
              <a:t>CREATE</a:t>
            </a:r>
            <a:r>
              <a:rPr sz="700" spc="420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TABLE</a:t>
            </a:r>
            <a:r>
              <a:rPr sz="700" spc="430" dirty="0">
                <a:latin typeface="Cambria"/>
                <a:cs typeface="Cambria"/>
              </a:rPr>
              <a:t> </a:t>
            </a:r>
            <a:r>
              <a:rPr sz="700" spc="105" dirty="0">
                <a:latin typeface="Cambria"/>
                <a:cs typeface="Cambria"/>
              </a:rPr>
              <a:t>sensor_readings</a:t>
            </a:r>
            <a:r>
              <a:rPr sz="700" spc="405" dirty="0">
                <a:latin typeface="Cambria"/>
                <a:cs typeface="Cambria"/>
              </a:rPr>
              <a:t> </a:t>
            </a:r>
            <a:r>
              <a:rPr sz="700" spc="55" dirty="0">
                <a:latin typeface="Cambria"/>
                <a:cs typeface="Cambria"/>
              </a:rPr>
              <a:t>(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726804" y="1130223"/>
            <a:ext cx="2950210" cy="612775"/>
            <a:chOff x="2726804" y="1130223"/>
            <a:chExt cx="2950210" cy="612775"/>
          </a:xfrm>
        </p:grpSpPr>
        <p:sp>
          <p:nvSpPr>
            <p:cNvPr id="97" name="object 97"/>
            <p:cNvSpPr/>
            <p:nvPr/>
          </p:nvSpPr>
          <p:spPr>
            <a:xfrm>
              <a:off x="2731884" y="1132763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729344" y="1132763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729344" y="1132763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769819" y="1132776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73966" y="1132763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673966" y="1132763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31884" y="1233982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29344" y="12339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729344" y="12339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769819" y="1233995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673966" y="12339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673966" y="1233982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731884" y="1335201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729344" y="13352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729344" y="13352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769819" y="1335214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673966" y="13352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673966" y="1335201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731884" y="143642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729344" y="14364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729344" y="14364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769819" y="1436433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673966" y="14364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673966" y="143642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731884" y="1537639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37960" y="101219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729344" y="15376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729344" y="15376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69819" y="1537652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673966" y="15376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673966" y="1537639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731884" y="1638858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729344" y="163885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729344" y="163885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769819" y="1638871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673966" y="163885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673966" y="1638858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2876334" y="1102349"/>
            <a:ext cx="1765300" cy="63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19"/>
              </a:lnSpc>
              <a:spcBef>
                <a:spcPts val="95"/>
              </a:spcBef>
            </a:pPr>
            <a:r>
              <a:rPr sz="700" spc="95" dirty="0">
                <a:latin typeface="Cambria"/>
                <a:cs typeface="Cambria"/>
              </a:rPr>
              <a:t>id</a:t>
            </a:r>
            <a:r>
              <a:rPr sz="700" spc="425" dirty="0">
                <a:latin typeface="Cambria"/>
                <a:cs typeface="Cambria"/>
              </a:rPr>
              <a:t> </a:t>
            </a:r>
            <a:r>
              <a:rPr sz="700" spc="55" dirty="0">
                <a:latin typeface="Cambria"/>
                <a:cs typeface="Cambria"/>
              </a:rPr>
              <a:t>BIGSERIAL</a:t>
            </a:r>
            <a:r>
              <a:rPr sz="700" spc="445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PRIMARY</a:t>
            </a:r>
            <a:r>
              <a:rPr sz="700" spc="420" dirty="0">
                <a:latin typeface="Cambria"/>
                <a:cs typeface="Cambria"/>
              </a:rPr>
              <a:t> </a:t>
            </a:r>
            <a:r>
              <a:rPr sz="700" spc="-25" dirty="0">
                <a:latin typeface="Cambria"/>
                <a:cs typeface="Cambria"/>
              </a:rPr>
              <a:t>KEY</a:t>
            </a:r>
            <a:r>
              <a:rPr sz="700" spc="-20" dirty="0">
                <a:latin typeface="Cambria"/>
                <a:cs typeface="Cambria"/>
              </a:rPr>
              <a:t> </a:t>
            </a:r>
            <a:r>
              <a:rPr sz="700" spc="180" dirty="0"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14604" marR="5080">
              <a:lnSpc>
                <a:spcPts val="800"/>
              </a:lnSpc>
              <a:spcBef>
                <a:spcPts val="40"/>
              </a:spcBef>
            </a:pPr>
            <a:r>
              <a:rPr sz="700" spc="114" dirty="0">
                <a:latin typeface="Cambria"/>
                <a:cs typeface="Cambria"/>
              </a:rPr>
              <a:t>device_id</a:t>
            </a:r>
            <a:r>
              <a:rPr sz="700" spc="380" dirty="0">
                <a:latin typeface="Cambria"/>
                <a:cs typeface="Cambria"/>
              </a:rPr>
              <a:t> </a:t>
            </a:r>
            <a:r>
              <a:rPr sz="700" spc="-20" dirty="0">
                <a:latin typeface="Cambria"/>
                <a:cs typeface="Cambria"/>
              </a:rPr>
              <a:t>VARCHAR</a:t>
            </a:r>
            <a:r>
              <a:rPr sz="700" spc="-30" dirty="0">
                <a:latin typeface="Cambria"/>
                <a:cs typeface="Cambria"/>
              </a:rPr>
              <a:t> </a:t>
            </a:r>
            <a:r>
              <a:rPr sz="700" spc="85" dirty="0">
                <a:latin typeface="Cambria"/>
                <a:cs typeface="Cambria"/>
              </a:rPr>
              <a:t>(64)</a:t>
            </a:r>
            <a:r>
              <a:rPr sz="700" spc="375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NOT</a:t>
            </a:r>
            <a:r>
              <a:rPr sz="700" spc="370" dirty="0">
                <a:latin typeface="Cambria"/>
                <a:cs typeface="Cambria"/>
              </a:rPr>
              <a:t> </a:t>
            </a:r>
            <a:r>
              <a:rPr sz="700" spc="-20" dirty="0">
                <a:latin typeface="Cambria"/>
                <a:cs typeface="Cambria"/>
              </a:rPr>
              <a:t>NULL </a:t>
            </a:r>
            <a:r>
              <a:rPr sz="700" spc="180" dirty="0">
                <a:latin typeface="Cambria"/>
                <a:cs typeface="Cambria"/>
              </a:rPr>
              <a:t>, </a:t>
            </a:r>
            <a:r>
              <a:rPr sz="700" spc="85" dirty="0">
                <a:latin typeface="Cambria"/>
                <a:cs typeface="Cambria"/>
              </a:rPr>
              <a:t>temperature</a:t>
            </a:r>
            <a:r>
              <a:rPr sz="700" spc="415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NUMERIC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65" dirty="0">
                <a:latin typeface="Cambria"/>
                <a:cs typeface="Cambria"/>
              </a:rPr>
              <a:t>(5</a:t>
            </a:r>
            <a:r>
              <a:rPr sz="700" spc="-50" dirty="0">
                <a:latin typeface="Cambria"/>
                <a:cs typeface="Cambria"/>
              </a:rPr>
              <a:t> </a:t>
            </a:r>
            <a:r>
              <a:rPr sz="700" spc="165" dirty="0">
                <a:latin typeface="Cambria"/>
                <a:cs typeface="Cambria"/>
              </a:rPr>
              <a:t>,2), </a:t>
            </a:r>
            <a:r>
              <a:rPr sz="700" spc="80" dirty="0">
                <a:latin typeface="Cambria"/>
                <a:cs typeface="Cambria"/>
              </a:rPr>
              <a:t>humidity</a:t>
            </a:r>
            <a:r>
              <a:rPr sz="700" spc="480" dirty="0">
                <a:latin typeface="Cambria"/>
                <a:cs typeface="Cambria"/>
              </a:rPr>
              <a:t> </a:t>
            </a:r>
            <a:r>
              <a:rPr sz="700" spc="-10" dirty="0">
                <a:latin typeface="Cambria"/>
                <a:cs typeface="Cambria"/>
              </a:rPr>
              <a:t>NUMERIC</a:t>
            </a:r>
            <a:r>
              <a:rPr sz="700" spc="-25" dirty="0">
                <a:latin typeface="Cambria"/>
                <a:cs typeface="Cambria"/>
              </a:rPr>
              <a:t> </a:t>
            </a:r>
            <a:r>
              <a:rPr sz="700" spc="65" dirty="0">
                <a:latin typeface="Cambria"/>
                <a:cs typeface="Cambria"/>
              </a:rPr>
              <a:t>(5</a:t>
            </a:r>
            <a:r>
              <a:rPr sz="700" spc="-40" dirty="0">
                <a:latin typeface="Cambria"/>
                <a:cs typeface="Cambria"/>
              </a:rPr>
              <a:t> </a:t>
            </a:r>
            <a:r>
              <a:rPr sz="700" spc="165" dirty="0">
                <a:latin typeface="Cambria"/>
                <a:cs typeface="Cambria"/>
              </a:rPr>
              <a:t>,2),</a:t>
            </a:r>
            <a:endParaRPr sz="700">
              <a:latin typeface="Cambria"/>
              <a:cs typeface="Cambria"/>
            </a:endParaRPr>
          </a:p>
          <a:p>
            <a:pPr marL="14604">
              <a:lnSpc>
                <a:spcPts val="750"/>
              </a:lnSpc>
            </a:pPr>
            <a:r>
              <a:rPr sz="700" spc="110" dirty="0">
                <a:latin typeface="Cambria"/>
                <a:cs typeface="Cambria"/>
              </a:rPr>
              <a:t>battery</a:t>
            </a:r>
            <a:r>
              <a:rPr sz="700" spc="425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NUMERIC</a:t>
            </a:r>
            <a:r>
              <a:rPr sz="700" spc="-35" dirty="0">
                <a:latin typeface="Cambria"/>
                <a:cs typeface="Cambria"/>
              </a:rPr>
              <a:t> </a:t>
            </a:r>
            <a:r>
              <a:rPr sz="700" spc="65" dirty="0">
                <a:latin typeface="Cambria"/>
                <a:cs typeface="Cambria"/>
              </a:rPr>
              <a:t>(5</a:t>
            </a:r>
            <a:r>
              <a:rPr sz="700" spc="-45" dirty="0">
                <a:latin typeface="Cambria"/>
                <a:cs typeface="Cambria"/>
              </a:rPr>
              <a:t> </a:t>
            </a:r>
            <a:r>
              <a:rPr sz="700" spc="165" dirty="0">
                <a:latin typeface="Cambria"/>
                <a:cs typeface="Cambria"/>
              </a:rPr>
              <a:t>,2),</a:t>
            </a:r>
            <a:endParaRPr sz="700">
              <a:latin typeface="Cambria"/>
              <a:cs typeface="Cambria"/>
            </a:endParaRPr>
          </a:p>
          <a:p>
            <a:pPr marL="12700">
              <a:lnSpc>
                <a:spcPts val="819"/>
              </a:lnSpc>
            </a:pPr>
            <a:r>
              <a:rPr sz="700" spc="120" dirty="0">
                <a:latin typeface="Cambria"/>
                <a:cs typeface="Cambria"/>
              </a:rPr>
              <a:t>ts</a:t>
            </a:r>
            <a:r>
              <a:rPr sz="700" spc="350" dirty="0">
                <a:latin typeface="Cambria"/>
                <a:cs typeface="Cambria"/>
              </a:rPr>
              <a:t> </a:t>
            </a:r>
            <a:r>
              <a:rPr sz="700" spc="50" dirty="0">
                <a:latin typeface="Cambria"/>
                <a:cs typeface="Cambria"/>
              </a:rPr>
              <a:t>BIGINT</a:t>
            </a:r>
            <a:r>
              <a:rPr sz="700" spc="360" dirty="0">
                <a:latin typeface="Cambria"/>
                <a:cs typeface="Cambria"/>
              </a:rPr>
              <a:t> </a:t>
            </a:r>
            <a:r>
              <a:rPr sz="700" dirty="0">
                <a:latin typeface="Cambria"/>
                <a:cs typeface="Cambria"/>
              </a:rPr>
              <a:t>NOT</a:t>
            </a:r>
            <a:r>
              <a:rPr sz="700" spc="355" dirty="0">
                <a:latin typeface="Cambria"/>
                <a:cs typeface="Cambria"/>
              </a:rPr>
              <a:t> </a:t>
            </a:r>
            <a:r>
              <a:rPr sz="700" spc="-20" dirty="0">
                <a:latin typeface="Cambria"/>
                <a:cs typeface="Cambria"/>
              </a:rPr>
              <a:t>NULL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2726804" y="1737550"/>
            <a:ext cx="2950210" cy="106680"/>
            <a:chOff x="2726804" y="1737550"/>
            <a:chExt cx="2950210" cy="106680"/>
          </a:xfrm>
        </p:grpSpPr>
        <p:sp>
          <p:nvSpPr>
            <p:cNvPr id="135" name="object 135"/>
            <p:cNvSpPr/>
            <p:nvPr/>
          </p:nvSpPr>
          <p:spPr>
            <a:xfrm>
              <a:off x="2731884" y="1740090"/>
              <a:ext cx="38100" cy="101600"/>
            </a:xfrm>
            <a:custGeom>
              <a:avLst/>
              <a:gdLst/>
              <a:ahLst/>
              <a:cxnLst/>
              <a:rect l="l" t="t" r="r" b="b"/>
              <a:pathLst>
                <a:path w="38100" h="101600">
                  <a:moveTo>
                    <a:pt x="37960" y="0"/>
                  </a:moveTo>
                  <a:lnTo>
                    <a:pt x="0" y="0"/>
                  </a:lnTo>
                  <a:lnTo>
                    <a:pt x="0" y="101218"/>
                  </a:lnTo>
                  <a:lnTo>
                    <a:pt x="37960" y="101218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729344" y="17400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729344" y="17400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769819" y="1740103"/>
              <a:ext cx="2901950" cy="101600"/>
            </a:xfrm>
            <a:custGeom>
              <a:avLst/>
              <a:gdLst/>
              <a:ahLst/>
              <a:cxnLst/>
              <a:rect l="l" t="t" r="r" b="b"/>
              <a:pathLst>
                <a:path w="2901950" h="101600">
                  <a:moveTo>
                    <a:pt x="2863646" y="0"/>
                  </a:moveTo>
                  <a:lnTo>
                    <a:pt x="0" y="0"/>
                  </a:lnTo>
                  <a:lnTo>
                    <a:pt x="0" y="101219"/>
                  </a:lnTo>
                  <a:lnTo>
                    <a:pt x="2863646" y="101219"/>
                  </a:lnTo>
                  <a:lnTo>
                    <a:pt x="2863646" y="0"/>
                  </a:lnTo>
                  <a:close/>
                </a:path>
                <a:path w="2901950" h="101600">
                  <a:moveTo>
                    <a:pt x="2901619" y="0"/>
                  </a:moveTo>
                  <a:lnTo>
                    <a:pt x="2863659" y="0"/>
                  </a:lnTo>
                  <a:lnTo>
                    <a:pt x="2863659" y="101219"/>
                  </a:lnTo>
                  <a:lnTo>
                    <a:pt x="2901619" y="101219"/>
                  </a:lnTo>
                  <a:lnTo>
                    <a:pt x="290161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673966" y="17400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673966" y="174009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21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2761843" y="1709676"/>
            <a:ext cx="128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0" dirty="0">
                <a:latin typeface="Cambria"/>
                <a:cs typeface="Cambria"/>
              </a:rPr>
              <a:t>);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2719031" y="1838769"/>
            <a:ext cx="2965450" cy="506095"/>
            <a:chOff x="2719031" y="1838769"/>
            <a:chExt cx="2965450" cy="50609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43" name="object 143"/>
            <p:cNvSpPr/>
            <p:nvPr/>
          </p:nvSpPr>
          <p:spPr>
            <a:xfrm>
              <a:off x="2726817" y="1841309"/>
              <a:ext cx="2950210" cy="43180"/>
            </a:xfrm>
            <a:custGeom>
              <a:avLst/>
              <a:gdLst/>
              <a:ahLst/>
              <a:cxnLst/>
              <a:rect l="l" t="t" r="r" b="b"/>
              <a:pathLst>
                <a:path w="2950210" h="43180">
                  <a:moveTo>
                    <a:pt x="2949676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2949676" y="43014"/>
                  </a:lnTo>
                  <a:lnTo>
                    <a:pt x="29496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729344" y="1841309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26817" y="1881797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769831" y="1881797"/>
              <a:ext cx="2863850" cy="0"/>
            </a:xfrm>
            <a:custGeom>
              <a:avLst/>
              <a:gdLst/>
              <a:ahLst/>
              <a:cxnLst/>
              <a:rect l="l" t="t" r="r" b="b"/>
              <a:pathLst>
                <a:path w="2863850">
                  <a:moveTo>
                    <a:pt x="0" y="0"/>
                  </a:moveTo>
                  <a:lnTo>
                    <a:pt x="286363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633478" y="1881797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673966" y="1841309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grpFill/>
            <a:ln w="505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719031" y="2156586"/>
              <a:ext cx="2965450" cy="187960"/>
            </a:xfrm>
            <a:custGeom>
              <a:avLst/>
              <a:gdLst/>
              <a:ahLst/>
              <a:cxnLst/>
              <a:rect l="l" t="t" r="r" b="b"/>
              <a:pathLst>
                <a:path w="2965450" h="187960">
                  <a:moveTo>
                    <a:pt x="291447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19"/>
                  </a:lnTo>
                  <a:lnTo>
                    <a:pt x="2965274" y="187819"/>
                  </a:lnTo>
                  <a:lnTo>
                    <a:pt x="2965274" y="50800"/>
                  </a:lnTo>
                  <a:lnTo>
                    <a:pt x="2961266" y="31075"/>
                  </a:lnTo>
                  <a:lnTo>
                    <a:pt x="2950351" y="14922"/>
                  </a:lnTo>
                  <a:lnTo>
                    <a:pt x="2934198" y="4008"/>
                  </a:lnTo>
                  <a:lnTo>
                    <a:pt x="291447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2769831" y="2124909"/>
            <a:ext cx="117157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Selection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Guidance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757131" y="2349987"/>
            <a:ext cx="278828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latin typeface="Arial MT"/>
                <a:cs typeface="Arial MT"/>
              </a:rPr>
              <a:t>Use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relational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alternative</a:t>
            </a:r>
            <a:r>
              <a:rPr sz="1000" spc="-10" dirty="0">
                <a:latin typeface="Arial MT"/>
                <a:cs typeface="Arial MT"/>
              </a:rPr>
              <a:t> only </a:t>
            </a:r>
            <a:r>
              <a:rPr sz="1000" spc="-50" dirty="0">
                <a:latin typeface="Arial MT"/>
                <a:cs typeface="Arial MT"/>
              </a:rPr>
              <a:t>when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application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genuinely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depends</a:t>
            </a:r>
            <a:r>
              <a:rPr sz="1000" dirty="0">
                <a:latin typeface="Arial MT"/>
                <a:cs typeface="Arial MT"/>
              </a:rPr>
              <a:t> 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relational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querying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10" dirty="0">
                <a:latin typeface="Arial MT"/>
                <a:cs typeface="Arial MT"/>
              </a:rPr>
              <a:t> integration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existing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SQL-</a:t>
            </a:r>
            <a:r>
              <a:rPr sz="1000" spc="-50" dirty="0">
                <a:latin typeface="Arial MT"/>
                <a:cs typeface="Arial MT"/>
              </a:rPr>
              <a:t>based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systems.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Backend</a:t>
            </a:r>
            <a:r>
              <a:rPr spc="-55" dirty="0"/>
              <a:t> </a:t>
            </a:r>
            <a:r>
              <a:rPr spc="-40" dirty="0"/>
              <a:t>Service</a:t>
            </a:r>
            <a:r>
              <a:rPr spc="-50" dirty="0"/>
              <a:t> </a:t>
            </a:r>
            <a:r>
              <a:rPr spc="-40" dirty="0"/>
              <a:t>Layer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11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7255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40876"/>
            <a:ext cx="213233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Recommended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Pattern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3607" y="-717746"/>
            <a:ext cx="5608955" cy="226523"/>
            <a:chOff x="75729" y="758266"/>
            <a:chExt cx="5608955" cy="22652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758266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729" y="802544"/>
              <a:ext cx="5608955" cy="182245"/>
            </a:xfrm>
            <a:custGeom>
              <a:avLst/>
              <a:gdLst/>
              <a:ahLst/>
              <a:cxnLst/>
              <a:rect l="l" t="t" r="r" b="b"/>
              <a:pathLst>
                <a:path w="5608955" h="182244">
                  <a:moveTo>
                    <a:pt x="5608620" y="0"/>
                  </a:moveTo>
                  <a:lnTo>
                    <a:pt x="0" y="0"/>
                  </a:lnTo>
                  <a:lnTo>
                    <a:pt x="0" y="131400"/>
                  </a:lnTo>
                  <a:lnTo>
                    <a:pt x="4008" y="151125"/>
                  </a:lnTo>
                  <a:lnTo>
                    <a:pt x="14922" y="167278"/>
                  </a:lnTo>
                  <a:lnTo>
                    <a:pt x="31075" y="178192"/>
                  </a:lnTo>
                  <a:lnTo>
                    <a:pt x="50800" y="182201"/>
                  </a:lnTo>
                  <a:lnTo>
                    <a:pt x="5557819" y="182201"/>
                  </a:lnTo>
                  <a:lnTo>
                    <a:pt x="5577544" y="178192"/>
                  </a:lnTo>
                  <a:lnTo>
                    <a:pt x="5593697" y="167278"/>
                  </a:lnTo>
                  <a:lnTo>
                    <a:pt x="5604611" y="151125"/>
                  </a:lnTo>
                  <a:lnTo>
                    <a:pt x="5608620" y="13140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A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29" y="776495"/>
            <a:ext cx="5659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spc="-105" dirty="0">
                <a:latin typeface="Arial Black"/>
                <a:cs typeface="Arial Black"/>
              </a:rPr>
              <a:t>Frontend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20" dirty="0">
                <a:latin typeface="Arial Black"/>
                <a:cs typeface="Arial Black"/>
              </a:rPr>
              <a:t>API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150" dirty="0">
                <a:latin typeface="Arial Black"/>
                <a:cs typeface="Arial Black"/>
              </a:rPr>
              <a:t>Gateway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20" dirty="0">
                <a:latin typeface="Arial Black"/>
                <a:cs typeface="Arial Black"/>
              </a:rPr>
              <a:t>Lambda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Database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729" y="1219618"/>
            <a:ext cx="3020695" cy="198755"/>
          </a:xfrm>
          <a:custGeom>
            <a:avLst/>
            <a:gdLst/>
            <a:ahLst/>
            <a:cxnLst/>
            <a:rect l="l" t="t" r="r" b="b"/>
            <a:pathLst>
              <a:path w="3020695" h="198755">
                <a:moveTo>
                  <a:pt x="296951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3020314" y="198363"/>
                </a:lnTo>
                <a:lnTo>
                  <a:pt x="3020314" y="50800"/>
                </a:lnTo>
                <a:lnTo>
                  <a:pt x="3016306" y="31075"/>
                </a:lnTo>
                <a:lnTo>
                  <a:pt x="3005391" y="14922"/>
                </a:lnTo>
                <a:lnTo>
                  <a:pt x="2989238" y="4008"/>
                </a:lnTo>
                <a:lnTo>
                  <a:pt x="2969514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" y="1187941"/>
            <a:ext cx="159258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Illustrative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API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Endpoints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877" y="1374283"/>
            <a:ext cx="1878964" cy="7848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10" dirty="0">
                <a:latin typeface="Cambria"/>
                <a:cs typeface="Cambria"/>
              </a:rPr>
              <a:t>GET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spc="45" dirty="0">
                <a:latin typeface="Cambria"/>
                <a:cs typeface="Cambria"/>
              </a:rPr>
              <a:t>/devices</a:t>
            </a:r>
            <a:endParaRPr sz="90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</a:pPr>
            <a:r>
              <a:rPr sz="900" spc="-10" dirty="0">
                <a:latin typeface="Cambria"/>
                <a:cs typeface="Cambria"/>
              </a:rPr>
              <a:t>GET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spc="60" dirty="0">
                <a:latin typeface="Cambria"/>
                <a:cs typeface="Cambria"/>
              </a:rPr>
              <a:t>/devices/{deviceId}/latest </a:t>
            </a:r>
            <a:r>
              <a:rPr sz="900" spc="-10" dirty="0">
                <a:latin typeface="Cambria"/>
                <a:cs typeface="Cambria"/>
              </a:rPr>
              <a:t>GET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spc="50" dirty="0">
                <a:latin typeface="Cambria"/>
                <a:cs typeface="Cambria"/>
              </a:rPr>
              <a:t>/devices/{deviceId}/history </a:t>
            </a:r>
            <a:r>
              <a:rPr sz="900" spc="-10" dirty="0">
                <a:latin typeface="Cambria"/>
                <a:cs typeface="Cambria"/>
              </a:rPr>
              <a:t>GET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/dashboard/summary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94405" y="1219618"/>
            <a:ext cx="2690495" cy="198755"/>
          </a:xfrm>
          <a:custGeom>
            <a:avLst/>
            <a:gdLst/>
            <a:ahLst/>
            <a:cxnLst/>
            <a:rect l="l" t="t" r="r" b="b"/>
            <a:pathLst>
              <a:path w="2690495" h="198755">
                <a:moveTo>
                  <a:pt x="26391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689906" y="198363"/>
                </a:lnTo>
                <a:lnTo>
                  <a:pt x="2689906" y="50800"/>
                </a:lnTo>
                <a:lnTo>
                  <a:pt x="2685898" y="31075"/>
                </a:lnTo>
                <a:lnTo>
                  <a:pt x="2674984" y="14922"/>
                </a:lnTo>
                <a:lnTo>
                  <a:pt x="2658831" y="4008"/>
                </a:lnTo>
                <a:lnTo>
                  <a:pt x="263910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45205" y="1187941"/>
            <a:ext cx="148145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Lambda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Responsibilities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85553" y="1385602"/>
            <a:ext cx="2087880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20" dirty="0">
                <a:latin typeface="Arial MT"/>
                <a:cs typeface="Arial MT"/>
              </a:rPr>
              <a:t>Validate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request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parameters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4500"/>
              </a:lnSpc>
            </a:pPr>
            <a:r>
              <a:rPr sz="1000" spc="-70" dirty="0">
                <a:latin typeface="Arial MT"/>
                <a:cs typeface="Arial MT"/>
              </a:rPr>
              <a:t>Read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current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state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DynamoDB </a:t>
            </a:r>
            <a:r>
              <a:rPr sz="1000" spc="-35" dirty="0">
                <a:latin typeface="Arial MT"/>
                <a:cs typeface="Arial MT"/>
              </a:rPr>
              <a:t>Query</a:t>
            </a:r>
            <a:r>
              <a:rPr sz="1000" spc="-25" dirty="0">
                <a:latin typeface="Arial MT"/>
                <a:cs typeface="Arial MT"/>
              </a:rPr>
              <a:t> historical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Timestream </a:t>
            </a:r>
            <a:r>
              <a:rPr sz="1000" spc="-25" dirty="0">
                <a:latin typeface="Arial MT"/>
                <a:cs typeface="Arial MT"/>
              </a:rPr>
              <a:t>Return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structured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JSON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responses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5729" y="2346769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26530" y="2315091"/>
            <a:ext cx="151193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Layer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Matters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729" y="2550711"/>
            <a:ext cx="56597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54483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60" dirty="0">
                <a:latin typeface="Arial MT"/>
                <a:cs typeface="Arial MT"/>
              </a:rPr>
              <a:t>backend</a:t>
            </a:r>
            <a:r>
              <a:rPr sz="1000" dirty="0">
                <a:latin typeface="Arial MT"/>
                <a:cs typeface="Arial MT"/>
              </a:rPr>
              <a:t> API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protects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internal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services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offers</a:t>
            </a:r>
            <a:r>
              <a:rPr sz="1000" dirty="0">
                <a:latin typeface="Arial MT"/>
                <a:cs typeface="Arial MT"/>
              </a:rPr>
              <a:t> a </a:t>
            </a:r>
            <a:r>
              <a:rPr sz="1000" spc="-30" dirty="0">
                <a:latin typeface="Arial MT"/>
                <a:cs typeface="Arial MT"/>
              </a:rPr>
              <a:t>stable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application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interface</a:t>
            </a:r>
            <a:r>
              <a:rPr sz="1000" dirty="0">
                <a:latin typeface="Arial MT"/>
                <a:cs typeface="Arial MT"/>
              </a:rPr>
              <a:t> 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frontend developers.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Frontend</a:t>
            </a:r>
            <a:r>
              <a:rPr spc="-50" dirty="0"/>
              <a:t> Layer</a:t>
            </a:r>
            <a:r>
              <a:rPr spc="-55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spc="-25" dirty="0"/>
              <a:t>AWS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12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730998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59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55110" y="187819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99321"/>
            <a:ext cx="1898014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Recommended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Stack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877" y="924399"/>
            <a:ext cx="881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Arial MT"/>
                <a:cs typeface="Arial MT"/>
              </a:rPr>
              <a:t>React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Next.js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729" y="1191272"/>
            <a:ext cx="2855595" cy="861060"/>
            <a:chOff x="75729" y="1191272"/>
            <a:chExt cx="2855595" cy="861060"/>
          </a:xfrm>
          <a:solidFill>
            <a:schemeClr val="tx2">
              <a:lumMod val="40000"/>
              <a:lumOff val="60000"/>
            </a:schemeClr>
          </a:solidFill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05" y="1191272"/>
              <a:ext cx="59613" cy="59613"/>
            </a:xfrm>
            <a:prstGeom prst="rect">
              <a:avLst/>
            </a:prstGeom>
            <a:grpFill/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1381048"/>
              <a:ext cx="59613" cy="59613"/>
            </a:xfrm>
            <a:prstGeom prst="rect">
              <a:avLst/>
            </a:prstGeom>
            <a:grpFill/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570837"/>
              <a:ext cx="59613" cy="59613"/>
            </a:xfrm>
            <a:prstGeom prst="rect">
              <a:avLst/>
            </a:prstGeom>
            <a:grpFill/>
          </p:spPr>
        </p:pic>
        <p:sp>
          <p:nvSpPr>
            <p:cNvPr id="15" name="object 15"/>
            <p:cNvSpPr/>
            <p:nvPr/>
          </p:nvSpPr>
          <p:spPr>
            <a:xfrm>
              <a:off x="75729" y="1853945"/>
              <a:ext cx="2855595" cy="198755"/>
            </a:xfrm>
            <a:custGeom>
              <a:avLst/>
              <a:gdLst/>
              <a:ahLst/>
              <a:cxnLst/>
              <a:rect l="l" t="t" r="r" b="b"/>
              <a:pathLst>
                <a:path w="2855595" h="198755">
                  <a:moveTo>
                    <a:pt x="280431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3"/>
                  </a:lnTo>
                  <a:lnTo>
                    <a:pt x="2855110" y="198363"/>
                  </a:lnTo>
                  <a:lnTo>
                    <a:pt x="2855110" y="50800"/>
                  </a:lnTo>
                  <a:lnTo>
                    <a:pt x="2851102" y="31075"/>
                  </a:lnTo>
                  <a:lnTo>
                    <a:pt x="2840188" y="14922"/>
                  </a:lnTo>
                  <a:lnTo>
                    <a:pt x="2824035" y="4008"/>
                  </a:lnTo>
                  <a:lnTo>
                    <a:pt x="280431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6877" y="1076230"/>
            <a:ext cx="232219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Hosting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continuous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deployment </a:t>
            </a:r>
            <a:r>
              <a:rPr sz="1000" spc="-20" dirty="0">
                <a:latin typeface="Arial MT"/>
                <a:cs typeface="Arial MT"/>
              </a:rPr>
              <a:t>Cognito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0" dirty="0">
                <a:latin typeface="Arial MT"/>
                <a:cs typeface="Arial MT"/>
              </a:rPr>
              <a:t> authentication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Arial MT"/>
                <a:cs typeface="Arial MT"/>
              </a:rPr>
              <a:t>Charting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library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0" dirty="0">
                <a:latin typeface="Arial MT"/>
                <a:cs typeface="Arial MT"/>
              </a:rPr>
              <a:t> data visualization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530" y="1822268"/>
            <a:ext cx="117157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Typical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Views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6877" y="2019916"/>
            <a:ext cx="217551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76070">
              <a:lnSpc>
                <a:spcPct val="124500"/>
              </a:lnSpc>
              <a:spcBef>
                <a:spcPts val="100"/>
              </a:spcBef>
            </a:pPr>
            <a:r>
              <a:rPr sz="1000" spc="-20" dirty="0">
                <a:latin typeface="Arial MT"/>
                <a:cs typeface="Arial MT"/>
              </a:rPr>
              <a:t>Login </a:t>
            </a:r>
            <a:r>
              <a:rPr sz="1000" spc="-75" dirty="0">
                <a:latin typeface="Arial MT"/>
                <a:cs typeface="Arial MT"/>
              </a:rPr>
              <a:t>page</a:t>
            </a:r>
            <a:r>
              <a:rPr sz="1000" spc="-45" dirty="0">
                <a:latin typeface="Arial MT"/>
                <a:cs typeface="Arial MT"/>
              </a:rPr>
              <a:t> Device</a:t>
            </a:r>
            <a:r>
              <a:rPr sz="1000" spc="-20" dirty="0">
                <a:latin typeface="Arial MT"/>
                <a:cs typeface="Arial MT"/>
              </a:rPr>
              <a:t> list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45" dirty="0">
                <a:latin typeface="Arial MT"/>
                <a:cs typeface="Arial MT"/>
              </a:rPr>
              <a:t>Device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detail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latest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status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Arial MT"/>
                <a:cs typeface="Arial MT"/>
              </a:rPr>
              <a:t>Historical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charts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summary</a:t>
            </a:r>
            <a:r>
              <a:rPr sz="1000" spc="-10" dirty="0">
                <a:latin typeface="Arial MT"/>
                <a:cs typeface="Arial MT"/>
              </a:rPr>
              <a:t> indicators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29203" y="730998"/>
            <a:ext cx="2855595" cy="198755"/>
          </a:xfrm>
          <a:custGeom>
            <a:avLst/>
            <a:gdLst/>
            <a:ahLst/>
            <a:cxnLst/>
            <a:rect l="l" t="t" r="r" b="b"/>
            <a:pathLst>
              <a:path w="2855595" h="198755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855110" y="19836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80004" y="699321"/>
            <a:ext cx="136080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84055" y="98100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1398" y="1180153"/>
            <a:ext cx="104324" cy="104324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984055" y="117079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61398" y="1369942"/>
            <a:ext cx="104324" cy="10432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984055" y="136058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61398" y="1559731"/>
            <a:ext cx="104324" cy="10432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2984055" y="1550374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61398" y="1749520"/>
            <a:ext cx="104324" cy="104324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984055" y="174016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20351" y="901897"/>
            <a:ext cx="227711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95"/>
              </a:spcBef>
            </a:pPr>
            <a:r>
              <a:rPr sz="1000" spc="-50" dirty="0">
                <a:latin typeface="Arial MT"/>
                <a:cs typeface="Arial MT"/>
              </a:rPr>
              <a:t>Develop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-10" dirty="0">
                <a:latin typeface="Arial MT"/>
                <a:cs typeface="Arial MT"/>
              </a:rPr>
              <a:t> application</a:t>
            </a:r>
            <a:endParaRPr sz="1000">
              <a:latin typeface="Arial MT"/>
              <a:cs typeface="Arial MT"/>
            </a:endParaRPr>
          </a:p>
          <a:p>
            <a:pPr marL="12700" marR="5080" algn="just">
              <a:lnSpc>
                <a:spcPct val="124500"/>
              </a:lnSpc>
            </a:pPr>
            <a:r>
              <a:rPr sz="1000" spc="-30" dirty="0">
                <a:latin typeface="Arial MT"/>
                <a:cs typeface="Arial MT"/>
              </a:rPr>
              <a:t>Store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source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code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0" dirty="0">
                <a:latin typeface="Arial MT"/>
                <a:cs typeface="Arial MT"/>
              </a:rPr>
              <a:t> GitHub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10" dirty="0">
                <a:latin typeface="Arial MT"/>
                <a:cs typeface="Arial MT"/>
              </a:rPr>
              <a:t> GitLab </a:t>
            </a:r>
            <a:r>
              <a:rPr sz="1000" spc="-35" dirty="0">
                <a:latin typeface="Arial MT"/>
                <a:cs typeface="Arial MT"/>
              </a:rPr>
              <a:t>Connect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repository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Hosting Define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environment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variables</a:t>
            </a:r>
            <a:endParaRPr sz="10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Arial MT"/>
                <a:cs typeface="Arial MT"/>
              </a:rPr>
              <a:t>Deploy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verify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hosted </a:t>
            </a:r>
            <a:r>
              <a:rPr sz="1000" spc="-10" dirty="0">
                <a:latin typeface="Arial MT"/>
                <a:cs typeface="Arial MT"/>
              </a:rPr>
              <a:t>dashboard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829203" y="2059190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60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55110" y="187819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880004" y="2027513"/>
            <a:ext cx="124904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Authentication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Flow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67304" y="2252591"/>
            <a:ext cx="27622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latin typeface="Arial MT"/>
                <a:cs typeface="Arial MT"/>
              </a:rPr>
              <a:t>Users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authenticate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through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Cognito,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receive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tokens,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access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protected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API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routes.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Security</a:t>
            </a:r>
            <a:r>
              <a:rPr spc="-35" dirty="0"/>
              <a:t> </a:t>
            </a:r>
            <a:r>
              <a:rPr spc="-40" dirty="0"/>
              <a:t>Considerations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13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826312"/>
            <a:ext cx="2855595" cy="198755"/>
          </a:xfrm>
          <a:custGeom>
            <a:avLst/>
            <a:gdLst/>
            <a:ahLst/>
            <a:cxnLst/>
            <a:rect l="l" t="t" r="r" b="b"/>
            <a:pathLst>
              <a:path w="2855595" h="198755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855110" y="19836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94635"/>
            <a:ext cx="95186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Device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877" y="992295"/>
            <a:ext cx="2266315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4505">
              <a:lnSpc>
                <a:spcPct val="124500"/>
              </a:lnSpc>
              <a:spcBef>
                <a:spcPts val="100"/>
              </a:spcBef>
            </a:pPr>
            <a:r>
              <a:rPr sz="1000" spc="-30" dirty="0">
                <a:latin typeface="Arial MT"/>
                <a:cs typeface="Arial MT"/>
              </a:rPr>
              <a:t>Unique </a:t>
            </a:r>
            <a:r>
              <a:rPr sz="1000" spc="-10" dirty="0">
                <a:latin typeface="Arial MT"/>
                <a:cs typeface="Arial MT"/>
              </a:rPr>
              <a:t>certificate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each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device </a:t>
            </a:r>
            <a:r>
              <a:rPr sz="1000" dirty="0">
                <a:latin typeface="Arial MT"/>
                <a:cs typeface="Arial MT"/>
              </a:rPr>
              <a:t>MQTT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communication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over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TLS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4500"/>
              </a:lnSpc>
            </a:pPr>
            <a:r>
              <a:rPr sz="1000" spc="-40" dirty="0">
                <a:latin typeface="Arial MT"/>
                <a:cs typeface="Arial MT"/>
              </a:rPr>
              <a:t>Topic-</a:t>
            </a:r>
            <a:r>
              <a:rPr sz="1000" spc="-20" dirty="0">
                <a:latin typeface="Arial MT"/>
                <a:cs typeface="Arial MT"/>
              </a:rPr>
              <a:t>level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restriction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through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IoT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policies </a:t>
            </a:r>
            <a:r>
              <a:rPr sz="1000" spc="-20" dirty="0">
                <a:latin typeface="Arial MT"/>
                <a:cs typeface="Arial MT"/>
              </a:rPr>
              <a:t>Principle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least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privilege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29203" y="826312"/>
            <a:ext cx="2855595" cy="198755"/>
          </a:xfrm>
          <a:custGeom>
            <a:avLst/>
            <a:gdLst/>
            <a:ahLst/>
            <a:cxnLst/>
            <a:rect l="l" t="t" r="r" b="b"/>
            <a:pathLst>
              <a:path w="2855595" h="198755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2855110" y="19836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80004" y="794635"/>
            <a:ext cx="124142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20351" y="992295"/>
            <a:ext cx="2390775" cy="9366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20" dirty="0">
                <a:latin typeface="Arial MT"/>
                <a:cs typeface="Arial MT"/>
              </a:rPr>
              <a:t>Cognito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user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authentication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4500"/>
              </a:lnSpc>
            </a:pPr>
            <a:r>
              <a:rPr sz="1000" dirty="0">
                <a:latin typeface="Arial MT"/>
                <a:cs typeface="Arial MT"/>
              </a:rPr>
              <a:t>IAM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roles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service-</a:t>
            </a:r>
            <a:r>
              <a:rPr sz="1000" spc="-50" dirty="0">
                <a:latin typeface="Arial MT"/>
                <a:cs typeface="Arial MT"/>
              </a:rPr>
              <a:t>to-</a:t>
            </a:r>
            <a:r>
              <a:rPr sz="1000" spc="-40" dirty="0">
                <a:latin typeface="Arial MT"/>
                <a:cs typeface="Arial MT"/>
              </a:rPr>
              <a:t>service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authorization </a:t>
            </a:r>
            <a:r>
              <a:rPr sz="1000" dirty="0">
                <a:latin typeface="Arial MT"/>
                <a:cs typeface="Arial MT"/>
              </a:rPr>
              <a:t>API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authorization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before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database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access</a:t>
            </a:r>
            <a:endParaRPr sz="1000">
              <a:latin typeface="Arial MT"/>
              <a:cs typeface="Arial MT"/>
            </a:endParaRPr>
          </a:p>
          <a:p>
            <a:pPr marL="12700" marR="272415">
              <a:lnSpc>
                <a:spcPct val="100000"/>
              </a:lnSpc>
              <a:spcBef>
                <a:spcPts val="295"/>
              </a:spcBef>
            </a:pPr>
            <a:r>
              <a:rPr sz="1000" spc="-55" dirty="0">
                <a:latin typeface="Arial MT"/>
                <a:cs typeface="Arial MT"/>
              </a:rPr>
              <a:t>Secrets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Manager</a:t>
            </a:r>
            <a:r>
              <a:rPr sz="1000" dirty="0">
                <a:latin typeface="Arial MT"/>
                <a:cs typeface="Arial MT"/>
              </a:rPr>
              <a:t> 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relational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database </a:t>
            </a:r>
            <a:r>
              <a:rPr sz="1000" spc="-10" dirty="0">
                <a:latin typeface="Arial MT"/>
                <a:cs typeface="Arial MT"/>
              </a:rPr>
              <a:t>credentials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729" y="2087028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6530" y="2055351"/>
            <a:ext cx="147955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Illustrative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Policy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Scope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6530" y="2290970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device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should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only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authorized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publish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assigned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topic,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example: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200"/>
              </a:lnSpc>
            </a:pPr>
            <a:r>
              <a:rPr sz="1000" dirty="0">
                <a:latin typeface="Cambria"/>
                <a:cs typeface="Cambria"/>
              </a:rPr>
              <a:t>arn:aws:iot:REGION:ACCOUNT:topic/sensors/esp32-</a:t>
            </a:r>
            <a:r>
              <a:rPr sz="1000" spc="-10" dirty="0">
                <a:latin typeface="Cambria"/>
                <a:cs typeface="Cambria"/>
              </a:rPr>
              <a:t>001/telemetry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Step-</a:t>
            </a:r>
            <a:r>
              <a:rPr spc="-60" dirty="0"/>
              <a:t>by-</a:t>
            </a:r>
            <a:r>
              <a:rPr spc="-10" dirty="0"/>
              <a:t>Step</a:t>
            </a:r>
            <a:r>
              <a:rPr spc="-25" dirty="0"/>
              <a:t> </a:t>
            </a:r>
            <a:r>
              <a:rPr spc="-55" dirty="0"/>
              <a:t>Implementation</a:t>
            </a:r>
            <a:r>
              <a:rPr spc="-10" dirty="0"/>
              <a:t> </a:t>
            </a:r>
            <a:r>
              <a:rPr spc="-25" dirty="0"/>
              <a:t>Roadmap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14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50" y="642448"/>
            <a:ext cx="104324" cy="104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6194" y="63309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877" y="547805"/>
            <a:ext cx="3797935" cy="154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3415" algn="just">
              <a:lnSpc>
                <a:spcPct val="138400"/>
              </a:lnSpc>
              <a:spcBef>
                <a:spcPts val="100"/>
              </a:spcBef>
            </a:pP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Prepare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firmware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verify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local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MQTT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publishing.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Configure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IoT </a:t>
            </a:r>
            <a:r>
              <a:rPr sz="900" spc="-45" dirty="0">
                <a:solidFill>
                  <a:srgbClr val="1F2837"/>
                </a:solidFill>
                <a:latin typeface="Arial MT"/>
                <a:cs typeface="Arial MT"/>
              </a:rPr>
              <a:t>Core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entities:</a:t>
            </a:r>
            <a:r>
              <a:rPr sz="900" spc="8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Thing,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certificate,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policy.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Create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storage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services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for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history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latest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status.</a:t>
            </a:r>
            <a:endParaRPr sz="9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414"/>
              </a:spcBef>
            </a:pP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Define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IoT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1F2837"/>
                </a:solidFill>
                <a:latin typeface="Arial MT"/>
                <a:cs typeface="Arial MT"/>
              </a:rPr>
              <a:t>Rules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9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route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telemetry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correctly.</a:t>
            </a:r>
            <a:endParaRPr sz="900">
              <a:latin typeface="Arial MT"/>
              <a:cs typeface="Arial MT"/>
            </a:endParaRPr>
          </a:p>
          <a:p>
            <a:pPr marL="12700" marR="860425">
              <a:lnSpc>
                <a:spcPct val="138400"/>
              </a:lnSpc>
            </a:pP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Develop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Lambda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functions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API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Gateway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endpoints. Implement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dashboard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authentication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flow. Deploy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using</a:t>
            </a:r>
            <a:r>
              <a:rPr sz="9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Amplify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Hosting.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Perform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end-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to-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end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validation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from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transmission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9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dashboard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display.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550" y="832237"/>
            <a:ext cx="104324" cy="104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6194" y="82287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550" y="1022026"/>
            <a:ext cx="104324" cy="1043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6194" y="101266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550" y="1211814"/>
            <a:ext cx="104324" cy="1043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6194" y="120245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3550" y="1401603"/>
            <a:ext cx="104324" cy="104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6194" y="139224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3550" y="1591392"/>
            <a:ext cx="104324" cy="1043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36194" y="158203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550" y="1781181"/>
            <a:ext cx="104324" cy="1043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36194" y="177181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3550" y="1970970"/>
            <a:ext cx="104324" cy="10432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36194" y="196160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729" y="227101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6530" y="2239336"/>
            <a:ext cx="205486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Recommended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Practice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530" y="2478819"/>
            <a:ext cx="560895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114935">
              <a:lnSpc>
                <a:spcPct val="101499"/>
              </a:lnSpc>
              <a:spcBef>
                <a:spcPts val="80"/>
              </a:spcBef>
            </a:pP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Begin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single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minimal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end-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to-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end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pipeline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before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extending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system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multiple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metrics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or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multiple</a:t>
            </a:r>
            <a:r>
              <a:rPr sz="900" spc="-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devices.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Illustrative</a:t>
            </a:r>
            <a:r>
              <a:rPr spc="-25" dirty="0"/>
              <a:t> Lambda </a:t>
            </a:r>
            <a:r>
              <a:rPr spc="-10" dirty="0"/>
              <a:t>Function</a:t>
            </a:r>
            <a:r>
              <a:rPr spc="-25" dirty="0"/>
              <a:t> </a:t>
            </a:r>
            <a:r>
              <a:rPr spc="-20" dirty="0"/>
              <a:t>for </a:t>
            </a:r>
            <a:r>
              <a:rPr dirty="0"/>
              <a:t>API</a:t>
            </a:r>
            <a:r>
              <a:rPr spc="-25" dirty="0"/>
              <a:t> </a:t>
            </a:r>
            <a:r>
              <a:rPr spc="-50" dirty="0"/>
              <a:t>Response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15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042" y="564260"/>
            <a:ext cx="5588000" cy="1599565"/>
          </a:xfrm>
          <a:prstGeom prst="rect">
            <a:avLst/>
          </a:prstGeom>
          <a:solidFill>
            <a:srgbClr val="F7F7F7"/>
          </a:solidFill>
          <a:ln w="5054">
            <a:solidFill>
              <a:srgbClr val="D8D8D8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8260">
              <a:lnSpc>
                <a:spcPts val="819"/>
              </a:lnSpc>
              <a:spcBef>
                <a:spcPts val="175"/>
              </a:spcBef>
            </a:pP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export</a:t>
            </a:r>
            <a:r>
              <a:rPr sz="700" spc="409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const</a:t>
            </a:r>
            <a:r>
              <a:rPr sz="700" spc="409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handler</a:t>
            </a:r>
            <a:r>
              <a:rPr sz="700" spc="3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=</a:t>
            </a:r>
            <a:r>
              <a:rPr sz="700" spc="3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async</a:t>
            </a:r>
            <a:r>
              <a:rPr sz="700" spc="3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(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event)</a:t>
            </a:r>
            <a:r>
              <a:rPr sz="700" spc="36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=&gt;</a:t>
            </a:r>
            <a:r>
              <a:rPr sz="700" spc="36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endParaRPr sz="700">
              <a:latin typeface="Cambria"/>
              <a:cs typeface="Cambria"/>
            </a:endParaRPr>
          </a:p>
          <a:p>
            <a:pPr marL="160655" marR="2777490">
              <a:lnSpc>
                <a:spcPts val="800"/>
              </a:lnSpc>
              <a:spcBef>
                <a:spcPts val="40"/>
              </a:spcBef>
            </a:pP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const</a:t>
            </a:r>
            <a:r>
              <a:rPr sz="700" spc="42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0" dirty="0">
                <a:solidFill>
                  <a:srgbClr val="1F2837"/>
                </a:solidFill>
                <a:latin typeface="Cambria"/>
                <a:cs typeface="Cambria"/>
              </a:rPr>
              <a:t>device</a:t>
            </a:r>
            <a:r>
              <a:rPr sz="700" spc="-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Id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=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25" dirty="0">
                <a:solidFill>
                  <a:srgbClr val="1F2837"/>
                </a:solidFill>
                <a:latin typeface="Cambria"/>
                <a:cs typeface="Cambria"/>
              </a:rPr>
              <a:t>event.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path</a:t>
            </a:r>
            <a:r>
              <a:rPr sz="700" spc="-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Parameters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.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0" dirty="0">
                <a:solidFill>
                  <a:srgbClr val="1F2837"/>
                </a:solidFill>
                <a:latin typeface="Cambria"/>
                <a:cs typeface="Cambria"/>
              </a:rPr>
              <a:t>device</a:t>
            </a:r>
            <a:r>
              <a:rPr sz="700" spc="-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Id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30" dirty="0">
                <a:solidFill>
                  <a:srgbClr val="1F2837"/>
                </a:solidFill>
                <a:latin typeface="Cambria"/>
                <a:cs typeface="Cambria"/>
              </a:rPr>
              <a:t>;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const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latest</a:t>
            </a:r>
            <a:r>
              <a:rPr sz="700" spc="37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=</a:t>
            </a:r>
            <a:r>
              <a:rPr sz="700" spc="3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endParaRPr sz="700">
              <a:latin typeface="Cambria"/>
              <a:cs typeface="Cambria"/>
            </a:endParaRPr>
          </a:p>
          <a:p>
            <a:pPr marL="274955">
              <a:lnSpc>
                <a:spcPts val="755"/>
              </a:lnSpc>
            </a:pPr>
            <a:r>
              <a:rPr sz="700" spc="85" dirty="0">
                <a:solidFill>
                  <a:srgbClr val="1F2837"/>
                </a:solidFill>
                <a:latin typeface="Cambria"/>
                <a:cs typeface="Cambria"/>
              </a:rPr>
              <a:t>temperature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37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29.4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274320">
              <a:lnSpc>
                <a:spcPts val="795"/>
              </a:lnSpc>
            </a:pP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humidity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74.1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70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274320">
              <a:lnSpc>
                <a:spcPts val="795"/>
              </a:lnSpc>
            </a:pPr>
            <a:r>
              <a:rPr sz="700" spc="110" dirty="0">
                <a:solidFill>
                  <a:srgbClr val="1F2837"/>
                </a:solidFill>
                <a:latin typeface="Cambria"/>
                <a:cs typeface="Cambria"/>
              </a:rPr>
              <a:t>battery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3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3.91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272415">
              <a:lnSpc>
                <a:spcPts val="795"/>
              </a:lnSpc>
            </a:pPr>
            <a:r>
              <a:rPr sz="700" spc="170" dirty="0">
                <a:solidFill>
                  <a:srgbClr val="1F2837"/>
                </a:solidFill>
                <a:latin typeface="Cambria"/>
                <a:cs typeface="Cambria"/>
              </a:rPr>
              <a:t>ts:</a:t>
            </a:r>
            <a:r>
              <a:rPr sz="700" spc="3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1F2837"/>
                </a:solidFill>
                <a:latin typeface="Cambria"/>
                <a:cs typeface="Cambria"/>
              </a:rPr>
              <a:t>1776208200000</a:t>
            </a:r>
            <a:endParaRPr sz="700">
              <a:latin typeface="Cambria"/>
              <a:cs typeface="Cambria"/>
            </a:endParaRPr>
          </a:p>
          <a:p>
            <a:pPr marL="159385">
              <a:lnSpc>
                <a:spcPts val="819"/>
              </a:lnSpc>
            </a:pPr>
            <a:r>
              <a:rPr sz="700" spc="135" dirty="0">
                <a:solidFill>
                  <a:srgbClr val="1F2837"/>
                </a:solidFill>
                <a:latin typeface="Cambria"/>
                <a:cs typeface="Cambria"/>
              </a:rPr>
              <a:t>};</a:t>
            </a:r>
            <a:endParaRPr sz="700">
              <a:latin typeface="Cambria"/>
              <a:cs typeface="Cambria"/>
            </a:endParaRPr>
          </a:p>
          <a:p>
            <a:pPr marL="274320" marR="4416425" indent="-113664">
              <a:lnSpc>
                <a:spcPts val="800"/>
              </a:lnSpc>
              <a:spcBef>
                <a:spcPts val="815"/>
              </a:spcBef>
            </a:pP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return</a:t>
            </a:r>
            <a:r>
              <a:rPr sz="700" spc="3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r>
              <a:rPr sz="700" spc="5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statusCode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200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endParaRPr sz="700">
              <a:latin typeface="Cambria"/>
              <a:cs typeface="Cambria"/>
            </a:endParaRPr>
          </a:p>
          <a:p>
            <a:pPr marL="274320">
              <a:lnSpc>
                <a:spcPts val="755"/>
              </a:lnSpc>
            </a:pP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headers:</a:t>
            </a:r>
            <a:r>
              <a:rPr sz="700" spc="3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r>
              <a:rPr sz="700" spc="3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"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Content</a:t>
            </a:r>
            <a:r>
              <a:rPr sz="700" spc="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30" dirty="0">
                <a:solidFill>
                  <a:srgbClr val="1F2837"/>
                </a:solidFill>
                <a:latin typeface="Cambria"/>
                <a:cs typeface="Cambria"/>
              </a:rPr>
              <a:t>-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Type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60" dirty="0">
                <a:solidFill>
                  <a:srgbClr val="1F2837"/>
                </a:solidFill>
                <a:latin typeface="Cambria"/>
                <a:cs typeface="Cambria"/>
              </a:rPr>
              <a:t>":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"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20" dirty="0">
                <a:solidFill>
                  <a:srgbClr val="1F2837"/>
                </a:solidFill>
                <a:latin typeface="Cambria"/>
                <a:cs typeface="Cambria"/>
              </a:rPr>
              <a:t>application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/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json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"</a:t>
            </a:r>
            <a:r>
              <a:rPr sz="700" spc="3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70" dirty="0">
                <a:solidFill>
                  <a:srgbClr val="1F2837"/>
                </a:solidFill>
                <a:latin typeface="Cambria"/>
                <a:cs typeface="Cambria"/>
              </a:rPr>
              <a:t>},</a:t>
            </a:r>
            <a:endParaRPr sz="700">
              <a:latin typeface="Cambria"/>
              <a:cs typeface="Cambria"/>
            </a:endParaRPr>
          </a:p>
          <a:p>
            <a:pPr marL="273685">
              <a:lnSpc>
                <a:spcPts val="795"/>
              </a:lnSpc>
            </a:pP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body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JSON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.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stringify</a:t>
            </a:r>
            <a:r>
              <a:rPr sz="700" spc="-3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20" dirty="0">
                <a:solidFill>
                  <a:srgbClr val="1F2837"/>
                </a:solidFill>
                <a:latin typeface="Cambria"/>
                <a:cs typeface="Cambria"/>
              </a:rPr>
              <a:t>({</a:t>
            </a:r>
            <a:r>
              <a:rPr sz="700" spc="42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deviceId</a:t>
            </a:r>
            <a:r>
              <a:rPr sz="700" spc="1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r>
              <a:rPr sz="700" spc="409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latest</a:t>
            </a:r>
            <a:r>
              <a:rPr sz="700" spc="42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})</a:t>
            </a:r>
            <a:endParaRPr sz="700">
              <a:latin typeface="Cambria"/>
              <a:cs typeface="Cambria"/>
            </a:endParaRPr>
          </a:p>
          <a:p>
            <a:pPr marL="159385">
              <a:lnSpc>
                <a:spcPts val="795"/>
              </a:lnSpc>
            </a:pPr>
            <a:r>
              <a:rPr sz="700" spc="135" dirty="0">
                <a:solidFill>
                  <a:srgbClr val="1F2837"/>
                </a:solidFill>
                <a:latin typeface="Cambria"/>
                <a:cs typeface="Cambria"/>
              </a:rPr>
              <a:t>};</a:t>
            </a:r>
            <a:endParaRPr sz="700">
              <a:latin typeface="Cambria"/>
              <a:cs typeface="Cambria"/>
            </a:endParaRPr>
          </a:p>
          <a:p>
            <a:pPr marL="46355">
              <a:lnSpc>
                <a:spcPts val="819"/>
              </a:lnSpc>
            </a:pPr>
            <a:r>
              <a:rPr sz="700" spc="135" dirty="0">
                <a:solidFill>
                  <a:srgbClr val="1F2837"/>
                </a:solidFill>
                <a:latin typeface="Cambria"/>
                <a:cs typeface="Cambria"/>
              </a:rPr>
              <a:t>};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29" y="2368562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530" y="2336885"/>
            <a:ext cx="15424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Instructional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Explanation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30" y="2572504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8646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function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represents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backend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responsibility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retrieving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exposing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 </a:t>
            </a:r>
            <a:r>
              <a:rPr sz="1000" spc="-45" dirty="0">
                <a:latin typeface="Arial MT"/>
                <a:cs typeface="Arial MT"/>
              </a:rPr>
              <a:t>frontend-</a:t>
            </a:r>
            <a:r>
              <a:rPr sz="1000" spc="-40" dirty="0">
                <a:latin typeface="Arial MT"/>
                <a:cs typeface="Arial MT"/>
              </a:rPr>
              <a:t>consumable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format.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Illustrative</a:t>
            </a:r>
            <a:r>
              <a:rPr spc="15" dirty="0"/>
              <a:t> </a:t>
            </a:r>
            <a:r>
              <a:rPr spc="-30" dirty="0"/>
              <a:t>Frontend</a:t>
            </a:r>
            <a:r>
              <a:rPr spc="20" dirty="0"/>
              <a:t> </a:t>
            </a:r>
            <a:r>
              <a:rPr dirty="0"/>
              <a:t>API</a:t>
            </a:r>
            <a:r>
              <a:rPr spc="20" dirty="0"/>
              <a:t> </a:t>
            </a:r>
            <a:r>
              <a:rPr spc="-20" dirty="0"/>
              <a:t>Call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16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042" y="810983"/>
            <a:ext cx="5588000" cy="992505"/>
          </a:xfrm>
          <a:prstGeom prst="rect">
            <a:avLst/>
          </a:prstGeom>
          <a:solidFill>
            <a:srgbClr val="F7F7F7"/>
          </a:solidFill>
          <a:ln w="5054">
            <a:solidFill>
              <a:srgbClr val="D8D8D8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75"/>
              </a:spcBef>
            </a:pP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const</a:t>
            </a:r>
            <a:r>
              <a:rPr sz="700" spc="46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55" dirty="0">
                <a:solidFill>
                  <a:srgbClr val="1F2837"/>
                </a:solidFill>
                <a:latin typeface="Cambria"/>
                <a:cs typeface="Cambria"/>
              </a:rPr>
              <a:t>API_BASE</a:t>
            </a:r>
            <a:r>
              <a:rPr sz="700" spc="4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=</a:t>
            </a:r>
            <a:r>
              <a:rPr sz="700" spc="434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import.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meta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.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0" dirty="0">
                <a:solidFill>
                  <a:srgbClr val="1F2837"/>
                </a:solidFill>
                <a:latin typeface="Cambria"/>
                <a:cs typeface="Cambria"/>
              </a:rPr>
              <a:t>env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.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65" dirty="0">
                <a:solidFill>
                  <a:srgbClr val="1F2837"/>
                </a:solidFill>
                <a:latin typeface="Cambria"/>
                <a:cs typeface="Cambria"/>
              </a:rPr>
              <a:t>VITE_API_BASE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30" dirty="0">
                <a:solidFill>
                  <a:srgbClr val="1F2837"/>
                </a:solidFill>
                <a:latin typeface="Cambria"/>
                <a:cs typeface="Cambria"/>
              </a:rPr>
              <a:t>;</a:t>
            </a:r>
            <a:endParaRPr sz="700">
              <a:latin typeface="Cambria"/>
              <a:cs typeface="Cambria"/>
            </a:endParaRPr>
          </a:p>
          <a:p>
            <a:pPr marL="48260">
              <a:lnSpc>
                <a:spcPts val="819"/>
              </a:lnSpc>
              <a:spcBef>
                <a:spcPts val="755"/>
              </a:spcBef>
            </a:pP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export</a:t>
            </a:r>
            <a:r>
              <a:rPr sz="700" spc="42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async</a:t>
            </a:r>
            <a:r>
              <a:rPr sz="700" spc="43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10" dirty="0">
                <a:solidFill>
                  <a:srgbClr val="1F2837"/>
                </a:solidFill>
                <a:latin typeface="Cambria"/>
                <a:cs typeface="Cambria"/>
              </a:rPr>
              <a:t>function</a:t>
            </a:r>
            <a:r>
              <a:rPr sz="700" spc="434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25" dirty="0">
                <a:solidFill>
                  <a:srgbClr val="1F2837"/>
                </a:solidFill>
                <a:latin typeface="Cambria"/>
                <a:cs typeface="Cambria"/>
              </a:rPr>
              <a:t>getLatest(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deviceId</a:t>
            </a:r>
            <a:r>
              <a:rPr sz="700" spc="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29" dirty="0">
                <a:solidFill>
                  <a:srgbClr val="1F2837"/>
                </a:solidFill>
                <a:latin typeface="Cambria"/>
                <a:cs typeface="Cambria"/>
              </a:rPr>
              <a:t>,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token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)</a:t>
            </a:r>
            <a:r>
              <a:rPr sz="700" spc="37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endParaRPr sz="700">
              <a:latin typeface="Cambria"/>
              <a:cs typeface="Cambria"/>
            </a:endParaRPr>
          </a:p>
          <a:p>
            <a:pPr marL="274320" marR="1648460" indent="-113664">
              <a:lnSpc>
                <a:spcPts val="800"/>
              </a:lnSpc>
              <a:spcBef>
                <a:spcPts val="40"/>
              </a:spcBef>
            </a:pP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const</a:t>
            </a:r>
            <a:r>
              <a:rPr sz="700" spc="41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res</a:t>
            </a:r>
            <a:r>
              <a:rPr sz="700" spc="39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=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5" dirty="0">
                <a:solidFill>
                  <a:srgbClr val="1F2837"/>
                </a:solidFill>
                <a:latin typeface="Cambria"/>
                <a:cs typeface="Cambria"/>
              </a:rPr>
              <a:t>await</a:t>
            </a:r>
            <a:r>
              <a:rPr sz="700" spc="42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14" dirty="0">
                <a:solidFill>
                  <a:srgbClr val="1F2837"/>
                </a:solidFill>
                <a:latin typeface="Cambria"/>
                <a:cs typeface="Cambria"/>
              </a:rPr>
              <a:t>fetch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95" dirty="0">
                <a:solidFill>
                  <a:srgbClr val="1F2837"/>
                </a:solidFill>
                <a:latin typeface="Cambria"/>
                <a:cs typeface="Cambria"/>
              </a:rPr>
              <a:t>(‘</a:t>
            </a:r>
            <a:r>
              <a:rPr sz="700" spc="-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${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55" dirty="0">
                <a:solidFill>
                  <a:srgbClr val="1F2837"/>
                </a:solidFill>
                <a:latin typeface="Cambria"/>
                <a:cs typeface="Cambria"/>
              </a:rPr>
              <a:t>API_BASE</a:t>
            </a:r>
            <a:r>
              <a:rPr sz="700" spc="-3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}/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devices/</a:t>
            </a:r>
            <a:r>
              <a:rPr sz="700" spc="-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${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0" dirty="0">
                <a:solidFill>
                  <a:srgbClr val="1F2837"/>
                </a:solidFill>
                <a:latin typeface="Cambria"/>
                <a:cs typeface="Cambria"/>
              </a:rPr>
              <a:t>device</a:t>
            </a:r>
            <a:r>
              <a:rPr sz="700" spc="-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Id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}/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0" dirty="0">
                <a:solidFill>
                  <a:srgbClr val="1F2837"/>
                </a:solidFill>
                <a:latin typeface="Cambria"/>
                <a:cs typeface="Cambria"/>
              </a:rPr>
              <a:t>latest</a:t>
            </a:r>
            <a:r>
              <a:rPr sz="700" spc="-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60" dirty="0">
                <a:solidFill>
                  <a:srgbClr val="1F2837"/>
                </a:solidFill>
                <a:latin typeface="Cambria"/>
                <a:cs typeface="Cambria"/>
              </a:rPr>
              <a:t>‘,</a:t>
            </a:r>
            <a:r>
              <a:rPr sz="700" spc="37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 headers:</a:t>
            </a:r>
            <a:r>
              <a:rPr sz="700" spc="37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{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05" dirty="0">
                <a:solidFill>
                  <a:srgbClr val="1F2837"/>
                </a:solidFill>
                <a:latin typeface="Cambria"/>
                <a:cs typeface="Cambria"/>
              </a:rPr>
              <a:t>Authorization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80" dirty="0">
                <a:solidFill>
                  <a:srgbClr val="1F2837"/>
                </a:solidFill>
                <a:latin typeface="Cambria"/>
                <a:cs typeface="Cambria"/>
              </a:rPr>
              <a:t>:</a:t>
            </a:r>
            <a:r>
              <a:rPr sz="700" spc="38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215" dirty="0">
                <a:solidFill>
                  <a:srgbClr val="1F2837"/>
                </a:solidFill>
                <a:latin typeface="Cambria"/>
                <a:cs typeface="Cambria"/>
              </a:rPr>
              <a:t>‘</a:t>
            </a:r>
            <a:r>
              <a:rPr sz="700" spc="-7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Bearer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0" dirty="0">
                <a:solidFill>
                  <a:srgbClr val="1F2837"/>
                </a:solidFill>
                <a:latin typeface="Cambria"/>
                <a:cs typeface="Cambria"/>
              </a:rPr>
              <a:t>${</a:t>
            </a:r>
            <a:r>
              <a:rPr sz="700" spc="-5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token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90" dirty="0">
                <a:solidFill>
                  <a:srgbClr val="1F2837"/>
                </a:solidFill>
                <a:latin typeface="Cambria"/>
                <a:cs typeface="Cambria"/>
              </a:rPr>
              <a:t>}‘</a:t>
            </a:r>
            <a:r>
              <a:rPr sz="700" spc="37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}</a:t>
            </a:r>
            <a:endParaRPr sz="700">
              <a:latin typeface="Cambria"/>
              <a:cs typeface="Cambria"/>
            </a:endParaRPr>
          </a:p>
          <a:p>
            <a:pPr marL="159385">
              <a:lnSpc>
                <a:spcPts val="750"/>
              </a:lnSpc>
            </a:pP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});</a:t>
            </a:r>
            <a:endParaRPr sz="700">
              <a:latin typeface="Cambria"/>
              <a:cs typeface="Cambria"/>
            </a:endParaRPr>
          </a:p>
          <a:p>
            <a:pPr marL="161290" marR="2099945" indent="-1905">
              <a:lnSpc>
                <a:spcPts val="800"/>
              </a:lnSpc>
              <a:spcBef>
                <a:spcPts val="35"/>
              </a:spcBef>
            </a:pPr>
            <a:r>
              <a:rPr sz="700" spc="185" dirty="0">
                <a:solidFill>
                  <a:srgbClr val="1F2837"/>
                </a:solidFill>
                <a:latin typeface="Cambria"/>
                <a:cs typeface="Cambria"/>
              </a:rPr>
              <a:t>if</a:t>
            </a:r>
            <a:r>
              <a:rPr sz="700" spc="3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60" dirty="0">
                <a:solidFill>
                  <a:srgbClr val="1F2837"/>
                </a:solidFill>
                <a:latin typeface="Cambria"/>
                <a:cs typeface="Cambria"/>
              </a:rPr>
              <a:t>(!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50" dirty="0">
                <a:solidFill>
                  <a:srgbClr val="1F2837"/>
                </a:solidFill>
                <a:latin typeface="Cambria"/>
                <a:cs typeface="Cambria"/>
              </a:rPr>
              <a:t>res.</a:t>
            </a:r>
            <a:r>
              <a:rPr sz="700" spc="-6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75" dirty="0">
                <a:solidFill>
                  <a:srgbClr val="1F2837"/>
                </a:solidFill>
                <a:latin typeface="Cambria"/>
                <a:cs typeface="Cambria"/>
              </a:rPr>
              <a:t>ok)</a:t>
            </a:r>
            <a:r>
              <a:rPr sz="700" spc="38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50" dirty="0">
                <a:solidFill>
                  <a:srgbClr val="1F2837"/>
                </a:solidFill>
                <a:latin typeface="Cambria"/>
                <a:cs typeface="Cambria"/>
              </a:rPr>
              <a:t>throw</a:t>
            </a:r>
            <a:r>
              <a:rPr sz="700" spc="40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F2837"/>
                </a:solidFill>
                <a:latin typeface="Cambria"/>
                <a:cs typeface="Cambria"/>
              </a:rPr>
              <a:t>new</a:t>
            </a:r>
            <a:r>
              <a:rPr sz="700" spc="40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5" dirty="0">
                <a:solidFill>
                  <a:srgbClr val="1F2837"/>
                </a:solidFill>
                <a:latin typeface="Cambria"/>
                <a:cs typeface="Cambria"/>
              </a:rPr>
              <a:t>Error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20" dirty="0">
                <a:solidFill>
                  <a:srgbClr val="1F2837"/>
                </a:solidFill>
                <a:latin typeface="Cambria"/>
                <a:cs typeface="Cambria"/>
              </a:rPr>
              <a:t>("</a:t>
            </a:r>
            <a:r>
              <a:rPr sz="700" spc="-4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10" dirty="0">
                <a:solidFill>
                  <a:srgbClr val="1F2837"/>
                </a:solidFill>
                <a:latin typeface="Cambria"/>
                <a:cs typeface="Cambria"/>
              </a:rPr>
              <a:t>Failed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to</a:t>
            </a:r>
            <a:r>
              <a:rPr sz="700" spc="39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5" dirty="0">
                <a:solidFill>
                  <a:srgbClr val="1F2837"/>
                </a:solidFill>
                <a:latin typeface="Cambria"/>
                <a:cs typeface="Cambria"/>
              </a:rPr>
              <a:t>load</a:t>
            </a:r>
            <a:r>
              <a:rPr sz="700" spc="40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latest</a:t>
            </a:r>
            <a:r>
              <a:rPr sz="700" spc="409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80" dirty="0">
                <a:solidFill>
                  <a:srgbClr val="1F2837"/>
                </a:solidFill>
                <a:latin typeface="Cambria"/>
                <a:cs typeface="Cambria"/>
              </a:rPr>
              <a:t>data</a:t>
            </a:r>
            <a:r>
              <a:rPr sz="700" spc="-5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45" dirty="0">
                <a:solidFill>
                  <a:srgbClr val="1F2837"/>
                </a:solidFill>
                <a:latin typeface="Cambria"/>
                <a:cs typeface="Cambria"/>
              </a:rPr>
              <a:t>");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return</a:t>
            </a:r>
            <a:r>
              <a:rPr sz="700" spc="42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50" dirty="0">
                <a:solidFill>
                  <a:srgbClr val="1F2837"/>
                </a:solidFill>
                <a:latin typeface="Cambria"/>
                <a:cs typeface="Cambria"/>
              </a:rPr>
              <a:t>res.</a:t>
            </a:r>
            <a:r>
              <a:rPr sz="700" spc="-60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95" dirty="0">
                <a:solidFill>
                  <a:srgbClr val="1F2837"/>
                </a:solidFill>
                <a:latin typeface="Cambria"/>
                <a:cs typeface="Cambria"/>
              </a:rPr>
              <a:t>json</a:t>
            </a:r>
            <a:r>
              <a:rPr sz="700" spc="-45" dirty="0">
                <a:solidFill>
                  <a:srgbClr val="1F2837"/>
                </a:solidFill>
                <a:latin typeface="Cambria"/>
                <a:cs typeface="Cambria"/>
              </a:rPr>
              <a:t> </a:t>
            </a:r>
            <a:r>
              <a:rPr sz="700" spc="150" dirty="0">
                <a:solidFill>
                  <a:srgbClr val="1F2837"/>
                </a:solidFill>
                <a:latin typeface="Cambria"/>
                <a:cs typeface="Cambria"/>
              </a:rPr>
              <a:t>();</a:t>
            </a:r>
            <a:endParaRPr sz="700">
              <a:latin typeface="Cambria"/>
              <a:cs typeface="Cambria"/>
            </a:endParaRPr>
          </a:p>
          <a:p>
            <a:pPr marL="45085">
              <a:lnSpc>
                <a:spcPts val="775"/>
              </a:lnSpc>
            </a:pPr>
            <a:r>
              <a:rPr sz="700" spc="40" dirty="0">
                <a:solidFill>
                  <a:srgbClr val="1F2837"/>
                </a:solidFill>
                <a:latin typeface="Cambria"/>
                <a:cs typeface="Cambria"/>
              </a:rPr>
              <a:t>}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29" y="1982659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530" y="1950982"/>
            <a:ext cx="15424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Instructional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Explanation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30" y="2186602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574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consumes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backend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API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using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an </a:t>
            </a:r>
            <a:r>
              <a:rPr sz="1000" spc="-20" dirty="0">
                <a:latin typeface="Arial MT"/>
                <a:cs typeface="Arial MT"/>
              </a:rPr>
              <a:t>authentication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token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renders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returned </a:t>
            </a:r>
            <a:r>
              <a:rPr sz="1000" spc="-40" dirty="0">
                <a:latin typeface="Arial MT"/>
                <a:cs typeface="Arial MT"/>
              </a:rPr>
              <a:t>JSON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cards,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charts,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tables.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AWS </a:t>
            </a:r>
            <a:r>
              <a:rPr spc="-10" dirty="0"/>
              <a:t>Amplify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17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85075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53398"/>
            <a:ext cx="60325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92250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482039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671827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861616"/>
            <a:ext cx="59613" cy="5961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051405"/>
            <a:ext cx="59613" cy="5961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6530" y="778476"/>
            <a:ext cx="5608955" cy="1373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271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latin typeface="Arial MT"/>
                <a:cs typeface="Arial MT"/>
              </a:rPr>
              <a:t>AWS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development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platform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building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deploying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modern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web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 </a:t>
            </a:r>
            <a:r>
              <a:rPr sz="1000" spc="-30" dirty="0">
                <a:latin typeface="Arial MT"/>
                <a:cs typeface="Arial MT"/>
              </a:rPr>
              <a:t>mobile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applications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AWS.</a:t>
            </a:r>
            <a:endParaRPr sz="1000">
              <a:latin typeface="Arial MT"/>
              <a:cs typeface="Arial MT"/>
            </a:endParaRPr>
          </a:p>
          <a:p>
            <a:pPr marL="252729" marR="786765" algn="just">
              <a:lnSpc>
                <a:spcPct val="124500"/>
              </a:lnSpc>
              <a:spcBef>
                <a:spcPts val="745"/>
              </a:spcBef>
            </a:pP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Provides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tools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development,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integration,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hosting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Supports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cloud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features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such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MT"/>
                <a:cs typeface="Arial MT"/>
              </a:rPr>
              <a:t>as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authentication,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data,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storage,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serverless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functions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Simplifies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full-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stack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development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through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developer-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friendly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workflow</a:t>
            </a:r>
            <a:endParaRPr sz="1000">
              <a:latin typeface="Arial MT"/>
              <a:cs typeface="Arial MT"/>
            </a:endParaRPr>
          </a:p>
          <a:p>
            <a:pPr marL="252729" algn="just">
              <a:lnSpc>
                <a:spcPct val="100000"/>
              </a:lnSpc>
              <a:spcBef>
                <a:spcPts val="295"/>
              </a:spcBef>
            </a:pP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Integrates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Git-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deployment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continuous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delivery</a:t>
            </a:r>
            <a:endParaRPr sz="1000">
              <a:latin typeface="Arial MT"/>
              <a:cs typeface="Arial MT"/>
            </a:endParaRPr>
          </a:p>
          <a:p>
            <a:pPr marL="252729" algn="just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Commonly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used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with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frameworks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such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MT"/>
                <a:cs typeface="Arial MT"/>
              </a:rPr>
              <a:t>as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React,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Next.js,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Angular,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Vue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729" y="2327985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30" y="2296308"/>
            <a:ext cx="95885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Matters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530" y="2531927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64515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Amplify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helps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developers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build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cloud-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connected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applications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more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quickly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by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reducing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the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complexity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of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configuring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multiple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services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manually.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Core</a:t>
            </a:r>
            <a:r>
              <a:rPr spc="-45" dirty="0"/>
              <a:t> </a:t>
            </a:r>
            <a:r>
              <a:rPr spc="-35" dirty="0"/>
              <a:t>Components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AWS</a:t>
            </a:r>
            <a:r>
              <a:rPr spc="-45" dirty="0"/>
              <a:t> </a:t>
            </a:r>
            <a:r>
              <a:rPr spc="-10" dirty="0"/>
              <a:t>Amplify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18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75233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43556"/>
            <a:ext cx="6153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Main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Tahoma"/>
                <a:cs typeface="Tahoma"/>
              </a:rPr>
              <a:t>Idea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307020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496809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686598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876386"/>
            <a:ext cx="59613" cy="5961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066175"/>
            <a:ext cx="59613" cy="5961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6530" y="768634"/>
            <a:ext cx="5608955" cy="139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4615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Arial MT"/>
                <a:cs typeface="Arial MT"/>
              </a:rPr>
              <a:t>AWS</a:t>
            </a:r>
            <a:r>
              <a:rPr sz="1000" dirty="0">
                <a:latin typeface="Arial MT"/>
                <a:cs typeface="Arial MT"/>
              </a:rPr>
              <a:t> Amplify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provides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set</a:t>
            </a:r>
            <a:r>
              <a:rPr sz="1000" dirty="0">
                <a:latin typeface="Arial MT"/>
                <a:cs typeface="Arial MT"/>
              </a:rPr>
              <a:t> of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services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tools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 </a:t>
            </a:r>
            <a:r>
              <a:rPr sz="1000" spc="-25" dirty="0">
                <a:latin typeface="Arial MT"/>
                <a:cs typeface="Arial MT"/>
              </a:rPr>
              <a:t>support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development,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backend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integration,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application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hosting</a:t>
            </a:r>
            <a:r>
              <a:rPr sz="1000" dirty="0">
                <a:latin typeface="Arial MT"/>
                <a:cs typeface="Arial MT"/>
              </a:rPr>
              <a:t> in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AWS.</a:t>
            </a:r>
            <a:endParaRPr sz="1000">
              <a:latin typeface="Arial MT"/>
              <a:cs typeface="Arial MT"/>
            </a:endParaRPr>
          </a:p>
          <a:p>
            <a:pPr marL="252729" marR="2072005">
              <a:lnSpc>
                <a:spcPct val="124500"/>
              </a:lnSpc>
              <a:spcBef>
                <a:spcPts val="940"/>
              </a:spcBef>
            </a:pP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Amplify</a:t>
            </a:r>
            <a:r>
              <a:rPr sz="1000" spc="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Hosting</a:t>
            </a:r>
            <a:r>
              <a:rPr sz="1000" spc="1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deployment </a:t>
            </a:r>
            <a:r>
              <a:rPr sz="1000" spc="-100" dirty="0">
                <a:solidFill>
                  <a:srgbClr val="1F2837"/>
                </a:solidFill>
                <a:latin typeface="Arial Black"/>
                <a:cs typeface="Arial Black"/>
              </a:rPr>
              <a:t>Authentication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integration,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commonly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Amazon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Cognito </a:t>
            </a:r>
            <a:r>
              <a:rPr sz="1000" spc="-85" dirty="0">
                <a:solidFill>
                  <a:srgbClr val="1F2837"/>
                </a:solidFill>
                <a:latin typeface="Arial Black"/>
                <a:cs typeface="Arial Black"/>
              </a:rPr>
              <a:t>Data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connectivity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cloud-backed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applications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0"/>
              </a:spcBef>
            </a:pP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Storage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support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files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user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content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Functions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support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5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80" dirty="0">
                <a:solidFill>
                  <a:srgbClr val="1F2837"/>
                </a:solidFill>
                <a:latin typeface="Arial MT"/>
                <a:cs typeface="Arial MT"/>
              </a:rPr>
              <a:t>serverless</a:t>
            </a:r>
            <a:r>
              <a:rPr sz="1000" spc="5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5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logic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729" y="2342755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30" y="2311065"/>
            <a:ext cx="9328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530" y="254668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970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Amplify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can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be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introduced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85" dirty="0">
                <a:solidFill>
                  <a:srgbClr val="1F2837"/>
                </a:solidFill>
                <a:latin typeface="Arial MT"/>
                <a:cs typeface="Arial MT"/>
              </a:rPr>
              <a:t>as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platform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that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connects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applications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managed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cloud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services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in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more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developer-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friendly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way.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AWS</a:t>
            </a:r>
            <a:r>
              <a:rPr spc="-40" dirty="0"/>
              <a:t> </a:t>
            </a:r>
            <a:r>
              <a:rPr spc="-10" dirty="0"/>
              <a:t>Amplify</a:t>
            </a:r>
            <a:r>
              <a:rPr spc="-35" dirty="0"/>
              <a:t> </a:t>
            </a:r>
            <a:r>
              <a:rPr spc="-45" dirty="0"/>
              <a:t>Deployment </a:t>
            </a:r>
            <a:r>
              <a:rPr spc="-20" dirty="0"/>
              <a:t>Workflow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19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24" y="791127"/>
            <a:ext cx="104324" cy="104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0581" y="78175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877" y="702659"/>
            <a:ext cx="468566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Develop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using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a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supported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such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85" dirty="0">
                <a:solidFill>
                  <a:srgbClr val="1F2837"/>
                </a:solidFill>
                <a:latin typeface="Arial MT"/>
                <a:cs typeface="Arial MT"/>
              </a:rPr>
              <a:t>as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React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or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Next.js.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Store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source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code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in a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Git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repository.</a:t>
            </a:r>
            <a:endParaRPr sz="1000">
              <a:latin typeface="Arial MT"/>
              <a:cs typeface="Arial MT"/>
            </a:endParaRPr>
          </a:p>
          <a:p>
            <a:pPr marL="12700" marR="1947545">
              <a:lnSpc>
                <a:spcPct val="124500"/>
              </a:lnSpc>
            </a:pP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Connect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repository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Amplify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Hosting.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Let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Amplify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detect</a:t>
            </a:r>
            <a:r>
              <a:rPr sz="1000" spc="-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build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settings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automatically.</a:t>
            </a:r>
            <a:endParaRPr sz="1000">
              <a:latin typeface="Arial MT"/>
              <a:cs typeface="Arial MT"/>
            </a:endParaRPr>
          </a:p>
          <a:p>
            <a:pPr marL="12700" marR="1290955">
              <a:lnSpc>
                <a:spcPct val="124500"/>
              </a:lnSpc>
            </a:pP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Build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deploy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hosting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infrastructure.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Publish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updates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automatically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when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new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commits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are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pushed.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924" y="980916"/>
            <a:ext cx="104324" cy="104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0581" y="97154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924" y="1170704"/>
            <a:ext cx="104324" cy="1043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0581" y="116133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7924" y="1360493"/>
            <a:ext cx="104324" cy="1043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0581" y="135112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924" y="1550282"/>
            <a:ext cx="104324" cy="104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0581" y="15409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1740071"/>
            <a:ext cx="104324" cy="1043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30581" y="173070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729" y="2043226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6530" y="2011549"/>
            <a:ext cx="121348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Operational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Benefit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530" y="224715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8130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workflow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supports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continuous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integration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continuous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deployment,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making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delivery </a:t>
            </a:r>
            <a:r>
              <a:rPr sz="1000" spc="-25" dirty="0">
                <a:latin typeface="Arial MT"/>
                <a:cs typeface="Arial MT"/>
              </a:rPr>
              <a:t>faster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more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consistent.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Role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AWS</a:t>
            </a:r>
            <a:r>
              <a:rPr spc="-55" dirty="0"/>
              <a:t> </a:t>
            </a:r>
            <a:r>
              <a:rPr spc="-10" dirty="0"/>
              <a:t>Amplify</a:t>
            </a:r>
            <a:r>
              <a:rPr spc="-5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IoT</a:t>
            </a:r>
            <a:r>
              <a:rPr spc="-60" dirty="0"/>
              <a:t> </a:t>
            </a:r>
            <a:r>
              <a:rPr spc="-10" dirty="0"/>
              <a:t>Application</a:t>
            </a:r>
            <a:r>
              <a:rPr spc="-5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20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35964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04287"/>
            <a:ext cx="171132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Position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the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15923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405712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595500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785289"/>
            <a:ext cx="59613" cy="5961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1975065"/>
            <a:ext cx="59613" cy="5961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6530" y="829365"/>
            <a:ext cx="5608955" cy="124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In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-50" dirty="0">
                <a:latin typeface="Arial MT"/>
                <a:cs typeface="Arial MT"/>
              </a:rPr>
              <a:t> system,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AWS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used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0" dirty="0">
                <a:latin typeface="Arial Black"/>
                <a:cs typeface="Arial Black"/>
              </a:rPr>
              <a:t>frontend</a:t>
            </a:r>
            <a:r>
              <a:rPr sz="1000" spc="20" dirty="0">
                <a:latin typeface="Arial Black"/>
                <a:cs typeface="Arial Black"/>
              </a:rPr>
              <a:t> </a:t>
            </a:r>
            <a:r>
              <a:rPr sz="1000" spc="-114" dirty="0">
                <a:latin typeface="Arial Black"/>
                <a:cs typeface="Arial Black"/>
              </a:rPr>
              <a:t>hosting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35" dirty="0">
                <a:latin typeface="Arial Black"/>
                <a:cs typeface="Arial Black"/>
              </a:rPr>
              <a:t>layer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monitoring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dashboard.</a:t>
            </a:r>
            <a:endParaRPr sz="1000">
              <a:latin typeface="Arial MT"/>
              <a:cs typeface="Arial MT"/>
            </a:endParaRPr>
          </a:p>
          <a:p>
            <a:pPr marL="252729" marR="2555875">
              <a:lnSpc>
                <a:spcPct val="124500"/>
              </a:lnSpc>
              <a:spcBef>
                <a:spcPts val="945"/>
              </a:spcBef>
            </a:pP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Hosts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dashboard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 </a:t>
            </a:r>
            <a:r>
              <a:rPr sz="1000" spc="-80" dirty="0">
                <a:solidFill>
                  <a:srgbClr val="1F2837"/>
                </a:solidFill>
                <a:latin typeface="Arial MT"/>
                <a:cs typeface="Arial MT"/>
              </a:rPr>
              <a:t>sensor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monitoring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Connects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to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APIs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Supports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authenticated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MT"/>
                <a:cs typeface="Arial MT"/>
              </a:rPr>
              <a:t>access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Amazon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Cognito</a:t>
            </a:r>
            <a:endParaRPr sz="1000">
              <a:latin typeface="Arial MT"/>
              <a:cs typeface="Arial MT"/>
            </a:endParaRPr>
          </a:p>
          <a:p>
            <a:pPr marL="252729" marR="2252980">
              <a:lnSpc>
                <a:spcPct val="124500"/>
              </a:lnSpc>
            </a:pP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Enables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continuous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deployment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from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Git-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workflow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Can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be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extended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custom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domains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production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use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729" y="2251658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30" y="2219968"/>
            <a:ext cx="1691639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Relation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IoT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530" y="2455588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23545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Amplify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does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not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replace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AWS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IoT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Core.</a:t>
            </a:r>
            <a:r>
              <a:rPr sz="1000" spc="1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Instead,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it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delivers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user-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facing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that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visualizes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sensor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data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80" dirty="0">
                <a:solidFill>
                  <a:srgbClr val="1F2837"/>
                </a:solidFill>
                <a:latin typeface="Arial MT"/>
                <a:cs typeface="Arial MT"/>
              </a:rPr>
              <a:t>processed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by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services.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30" dirty="0"/>
              <a:t>Frontend</a:t>
            </a:r>
            <a:r>
              <a:rPr spc="-15" dirty="0"/>
              <a:t> </a:t>
            </a:r>
            <a:r>
              <a:rPr spc="-50" dirty="0"/>
              <a:t>Frameworks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21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29691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98013"/>
            <a:ext cx="56388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61465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451254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92871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982660"/>
            <a:ext cx="59613" cy="596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6530" y="723079"/>
            <a:ext cx="5608955" cy="151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2514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 MT"/>
                <a:cs typeface="Arial MT"/>
              </a:rPr>
              <a:t>Modern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applications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commonly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built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using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JavaScript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frameworks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simplify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45" dirty="0">
                <a:latin typeface="Arial MT"/>
                <a:cs typeface="Arial MT"/>
              </a:rPr>
              <a:t>development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interactive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user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interfaces.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</a:pPr>
            <a:r>
              <a:rPr sz="1000" spc="-130" dirty="0">
                <a:solidFill>
                  <a:srgbClr val="1F2837"/>
                </a:solidFill>
                <a:latin typeface="Arial Black"/>
                <a:cs typeface="Arial Black"/>
              </a:rPr>
              <a:t>React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widely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1F2837"/>
                </a:solidFill>
                <a:latin typeface="Arial MT"/>
                <a:cs typeface="Arial MT"/>
              </a:rPr>
              <a:t>used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for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building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user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interfaces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reusable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components.</a:t>
            </a:r>
            <a:endParaRPr sz="1000">
              <a:latin typeface="Arial MT"/>
              <a:cs typeface="Arial MT"/>
            </a:endParaRPr>
          </a:p>
          <a:p>
            <a:pPr marL="252729" marR="666750">
              <a:lnSpc>
                <a:spcPct val="100000"/>
              </a:lnSpc>
              <a:spcBef>
                <a:spcPts val="295"/>
              </a:spcBef>
            </a:pP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Next.js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extends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React</a:t>
            </a:r>
            <a:r>
              <a:rPr sz="1000" spc="-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additional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features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for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routing,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rendering,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full-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stack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web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development.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0"/>
              </a:spcBef>
            </a:pP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Angular</a:t>
            </a:r>
            <a:r>
              <a:rPr sz="1000" spc="1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structured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for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building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scalable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applications.</a:t>
            </a:r>
            <a:endParaRPr sz="1000">
              <a:latin typeface="Arial MT"/>
              <a:cs typeface="Arial MT"/>
            </a:endParaRPr>
          </a:p>
          <a:p>
            <a:pPr marL="252729" marR="147955">
              <a:lnSpc>
                <a:spcPct val="100000"/>
              </a:lnSpc>
              <a:spcBef>
                <a:spcPts val="295"/>
              </a:spcBef>
            </a:pP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Vue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a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progressive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designed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for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building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user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interfaces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in a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flexible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approachable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way.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729" y="2411069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530" y="2379391"/>
            <a:ext cx="9328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530" y="2615011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8067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These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frameworks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help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developers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organize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F2837"/>
                </a:solidFill>
                <a:latin typeface="Arial MT"/>
                <a:cs typeface="Arial MT"/>
              </a:rPr>
              <a:t>code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into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reusable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components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support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the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creation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of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responsive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applications.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Frontend</a:t>
            </a:r>
            <a:r>
              <a:rPr spc="-45" dirty="0"/>
              <a:t> </a:t>
            </a:r>
            <a:r>
              <a:rPr spc="-60" dirty="0"/>
              <a:t>Frameworks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Context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AWS</a:t>
            </a:r>
            <a:r>
              <a:rPr spc="-40" dirty="0"/>
              <a:t> </a:t>
            </a:r>
            <a:r>
              <a:rPr spc="-10" dirty="0"/>
              <a:t>Amplify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22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4693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15260"/>
            <a:ext cx="149034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Relevant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389252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579041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68830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958619"/>
            <a:ext cx="59613" cy="596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6530" y="850879"/>
            <a:ext cx="5608955" cy="1208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8923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latin typeface="Arial MT"/>
                <a:cs typeface="Arial MT"/>
              </a:rPr>
              <a:t>AWS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Hosting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can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used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deploy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applications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developed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popular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frameworks </a:t>
            </a:r>
            <a:r>
              <a:rPr sz="1000" spc="-55" dirty="0">
                <a:latin typeface="Arial MT"/>
                <a:cs typeface="Arial MT"/>
              </a:rPr>
              <a:t>such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as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React,</a:t>
            </a:r>
            <a:r>
              <a:rPr sz="1000" spc="-20" dirty="0">
                <a:latin typeface="Arial MT"/>
                <a:cs typeface="Arial MT"/>
              </a:rPr>
              <a:t> Next.js,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Angular,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Vue.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</a:pPr>
            <a:r>
              <a:rPr sz="1000" spc="-130" dirty="0">
                <a:solidFill>
                  <a:srgbClr val="1F2837"/>
                </a:solidFill>
                <a:latin typeface="Arial Black"/>
                <a:cs typeface="Arial Black"/>
              </a:rPr>
              <a:t>React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suitable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interactive</a:t>
            </a:r>
            <a:r>
              <a:rPr sz="1000" spc="2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single-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page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dashboards.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Next.js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suitable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when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server-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side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rendering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or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hybrid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rendering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required.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110" dirty="0">
                <a:solidFill>
                  <a:srgbClr val="1F2837"/>
                </a:solidFill>
                <a:latin typeface="Arial Black"/>
                <a:cs typeface="Arial Black"/>
              </a:rPr>
              <a:t>Angular</a:t>
            </a:r>
            <a:r>
              <a:rPr sz="1000" spc="1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suitable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2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structured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enterprise-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style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applications.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Vue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is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suitable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lightweight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flexible</a:t>
            </a:r>
            <a:r>
              <a:rPr sz="1000" spc="-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frontend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 development.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729" y="2235199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530" y="2203522"/>
            <a:ext cx="196723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Relation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530" y="2439141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0957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For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IoT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monitoring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dashboard,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these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frameworks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can</a:t>
            </a:r>
            <a:r>
              <a:rPr sz="1000" spc="-10" dirty="0">
                <a:latin typeface="Arial MT"/>
                <a:cs typeface="Arial MT"/>
              </a:rPr>
              <a:t> be </a:t>
            </a:r>
            <a:r>
              <a:rPr sz="1000" spc="-70" dirty="0">
                <a:latin typeface="Arial MT"/>
                <a:cs typeface="Arial MT"/>
              </a:rPr>
              <a:t>used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layer,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while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AWS </a:t>
            </a:r>
            <a:r>
              <a:rPr sz="1000" dirty="0">
                <a:latin typeface="Arial MT"/>
                <a:cs typeface="Arial MT"/>
              </a:rPr>
              <a:t>Amplify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provides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hosting</a:t>
            </a:r>
            <a:r>
              <a:rPr sz="1000" spc="-20" dirty="0">
                <a:latin typeface="Arial MT"/>
                <a:cs typeface="Arial MT"/>
              </a:rPr>
              <a:t> 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deployment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services.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Simple</a:t>
            </a:r>
            <a:r>
              <a:rPr spc="-45" dirty="0"/>
              <a:t> Comparison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30" dirty="0"/>
              <a:t>Frontend</a:t>
            </a:r>
            <a:r>
              <a:rPr spc="-45" dirty="0"/>
              <a:t> </a:t>
            </a:r>
            <a:r>
              <a:rPr spc="-50" dirty="0"/>
              <a:t>Frameworks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23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966685"/>
            <a:ext cx="59613" cy="59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849125"/>
            <a:ext cx="3629025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900" spc="-75" dirty="0">
                <a:solidFill>
                  <a:srgbClr val="1F2837"/>
                </a:solidFill>
                <a:latin typeface="Arial Black"/>
                <a:cs typeface="Arial Black"/>
              </a:rPr>
              <a:t>React</a:t>
            </a:r>
            <a:r>
              <a:rPr sz="900" spc="-75" dirty="0">
                <a:solidFill>
                  <a:srgbClr val="1F2837"/>
                </a:solidFill>
                <a:latin typeface="Arial MT"/>
                <a:cs typeface="Arial MT"/>
              </a:rPr>
              <a:t>:</a:t>
            </a:r>
            <a:r>
              <a:rPr sz="900" spc="8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1F2837"/>
                </a:solidFill>
                <a:latin typeface="Arial MT"/>
                <a:cs typeface="Arial MT"/>
              </a:rPr>
              <a:t>component-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UI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library,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highly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popular,</a:t>
            </a:r>
            <a:r>
              <a:rPr sz="9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flexible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ecosystem. </a:t>
            </a:r>
            <a:r>
              <a:rPr sz="900" spc="-70" dirty="0">
                <a:solidFill>
                  <a:srgbClr val="1F2837"/>
                </a:solidFill>
                <a:latin typeface="Arial Black"/>
                <a:cs typeface="Arial Black"/>
              </a:rPr>
              <a:t>Next.js</a:t>
            </a:r>
            <a:r>
              <a:rPr sz="900" spc="-70" dirty="0">
                <a:solidFill>
                  <a:srgbClr val="1F2837"/>
                </a:solidFill>
                <a:latin typeface="Arial MT"/>
                <a:cs typeface="Arial MT"/>
              </a:rPr>
              <a:t>:</a:t>
            </a:r>
            <a:r>
              <a:rPr sz="900" spc="9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React-</a:t>
            </a:r>
            <a:r>
              <a:rPr sz="900" spc="-35" dirty="0">
                <a:solidFill>
                  <a:srgbClr val="1F2837"/>
                </a:solidFill>
                <a:latin typeface="Arial MT"/>
                <a:cs typeface="Arial MT"/>
              </a:rPr>
              <a:t>based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routing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rendering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support. </a:t>
            </a:r>
            <a:r>
              <a:rPr sz="900" spc="-70" dirty="0">
                <a:solidFill>
                  <a:srgbClr val="1F2837"/>
                </a:solidFill>
                <a:latin typeface="Arial Black"/>
                <a:cs typeface="Arial Black"/>
              </a:rPr>
              <a:t>Angular</a:t>
            </a:r>
            <a:r>
              <a:rPr sz="900" spc="-70" dirty="0">
                <a:solidFill>
                  <a:srgbClr val="1F2837"/>
                </a:solidFill>
                <a:latin typeface="Arial MT"/>
                <a:cs typeface="Arial MT"/>
              </a:rPr>
              <a:t>:</a:t>
            </a:r>
            <a:r>
              <a:rPr sz="900" spc="9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comprehensive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strong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structure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tooling. </a:t>
            </a:r>
            <a:r>
              <a:rPr sz="900" spc="-50" dirty="0">
                <a:solidFill>
                  <a:srgbClr val="1F2837"/>
                </a:solidFill>
                <a:latin typeface="Arial Black"/>
                <a:cs typeface="Arial Black"/>
              </a:rPr>
              <a:t>Vue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:</a:t>
            </a:r>
            <a:r>
              <a:rPr sz="900" spc="9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progressive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approachable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with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simple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adoption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path.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156474"/>
            <a:ext cx="59613" cy="596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346263"/>
            <a:ext cx="59613" cy="596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536052"/>
            <a:ext cx="59613" cy="5961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5729" y="181903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530" y="1787356"/>
            <a:ext cx="151765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Suggested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Interpretation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530" y="2026838"/>
            <a:ext cx="560895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58166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choice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of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F2837"/>
                </a:solidFill>
                <a:latin typeface="Arial MT"/>
                <a:cs typeface="Arial MT"/>
              </a:rPr>
              <a:t>framework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1F2837"/>
                </a:solidFill>
                <a:latin typeface="Arial MT"/>
                <a:cs typeface="Arial MT"/>
              </a:rPr>
              <a:t>depends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2837"/>
                </a:solidFill>
                <a:latin typeface="Arial MT"/>
                <a:cs typeface="Arial MT"/>
              </a:rPr>
              <a:t>on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project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complexity,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team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F2837"/>
                </a:solidFill>
                <a:latin typeface="Arial MT"/>
                <a:cs typeface="Arial MT"/>
              </a:rPr>
              <a:t>experience,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rendering</a:t>
            </a:r>
            <a:r>
              <a:rPr sz="9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requirements,</a:t>
            </a:r>
            <a:r>
              <a:rPr sz="9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1F2837"/>
                </a:solidFill>
                <a:latin typeface="Arial MT"/>
                <a:cs typeface="Arial MT"/>
              </a:rPr>
              <a:t>and </a:t>
            </a:r>
            <a:r>
              <a:rPr sz="900" spc="-30" dirty="0">
                <a:solidFill>
                  <a:srgbClr val="1F2837"/>
                </a:solidFill>
                <a:latin typeface="Arial MT"/>
                <a:cs typeface="Arial MT"/>
              </a:rPr>
              <a:t>deployment</a:t>
            </a:r>
            <a:r>
              <a:rPr sz="9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F2837"/>
                </a:solidFill>
                <a:latin typeface="Arial MT"/>
                <a:cs typeface="Arial MT"/>
              </a:rPr>
              <a:t>needs.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Troubleshooting</a:t>
            </a:r>
            <a:r>
              <a:rPr spc="5" dirty="0"/>
              <a:t> </a:t>
            </a:r>
            <a:r>
              <a:rPr spc="-45" dirty="0"/>
              <a:t>Framework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24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867650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59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55110" y="187819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835973"/>
            <a:ext cx="118300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Device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IoT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877" y="1023080"/>
            <a:ext cx="1805939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3050">
              <a:lnSpc>
                <a:spcPct val="124500"/>
              </a:lnSpc>
              <a:spcBef>
                <a:spcPts val="100"/>
              </a:spcBef>
            </a:pPr>
            <a:r>
              <a:rPr sz="1000" spc="-25" dirty="0">
                <a:latin typeface="Arial MT"/>
                <a:cs typeface="Arial MT"/>
              </a:rPr>
              <a:t>Incorrect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endpoint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hostname </a:t>
            </a:r>
            <a:r>
              <a:rPr sz="1000" spc="-20" dirty="0">
                <a:latin typeface="Arial MT"/>
                <a:cs typeface="Arial MT"/>
              </a:rPr>
              <a:t>Wrong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port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number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Arial MT"/>
                <a:cs typeface="Arial MT"/>
              </a:rPr>
              <a:t>Inactive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certificate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4500"/>
              </a:lnSpc>
            </a:pPr>
            <a:r>
              <a:rPr sz="1000" spc="-20" dirty="0">
                <a:latin typeface="Arial MT"/>
                <a:cs typeface="Arial MT"/>
              </a:rPr>
              <a:t>Invalid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private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key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 root </a:t>
            </a:r>
            <a:r>
              <a:rPr sz="1000" spc="-25" dirty="0">
                <a:latin typeface="Arial MT"/>
                <a:cs typeface="Arial MT"/>
              </a:rPr>
              <a:t>CA </a:t>
            </a:r>
            <a:r>
              <a:rPr sz="1000" spc="-30" dirty="0">
                <a:latin typeface="Arial MT"/>
                <a:cs typeface="Arial MT"/>
              </a:rPr>
              <a:t>Network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restrictions</a:t>
            </a:r>
            <a:r>
              <a:rPr sz="1000" dirty="0">
                <a:latin typeface="Arial MT"/>
                <a:cs typeface="Arial MT"/>
              </a:rPr>
              <a:t> 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port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8883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29203" y="867650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59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855110" y="187819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80004" y="835973"/>
            <a:ext cx="139954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20351" y="1023080"/>
            <a:ext cx="2170430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spc="-35" dirty="0">
                <a:latin typeface="Arial MT"/>
                <a:cs typeface="Arial MT"/>
              </a:rPr>
              <a:t>Lambda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execution</a:t>
            </a:r>
            <a:r>
              <a:rPr sz="1000" spc="-20" dirty="0">
                <a:latin typeface="Arial MT"/>
                <a:cs typeface="Arial MT"/>
              </a:rPr>
              <a:t> role </a:t>
            </a:r>
            <a:r>
              <a:rPr sz="1000" spc="-35" dirty="0">
                <a:latin typeface="Arial MT"/>
                <a:cs typeface="Arial MT"/>
              </a:rPr>
              <a:t>lacks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permissions </a:t>
            </a:r>
            <a:r>
              <a:rPr sz="1000" dirty="0">
                <a:latin typeface="Arial MT"/>
                <a:cs typeface="Arial MT"/>
              </a:rPr>
              <a:t>API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path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mismatch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85" dirty="0">
                <a:latin typeface="Arial MT"/>
                <a:cs typeface="Arial MT"/>
              </a:rPr>
              <a:t>CORS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not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configured</a:t>
            </a:r>
            <a:endParaRPr sz="1000">
              <a:latin typeface="Arial MT"/>
              <a:cs typeface="Arial MT"/>
            </a:endParaRPr>
          </a:p>
          <a:p>
            <a:pPr marL="12700" marR="18415">
              <a:lnSpc>
                <a:spcPct val="124500"/>
              </a:lnSpc>
            </a:pPr>
            <a:r>
              <a:rPr sz="1000" spc="-20" dirty="0">
                <a:latin typeface="Arial MT"/>
                <a:cs typeface="Arial MT"/>
              </a:rPr>
              <a:t>Cognito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token </a:t>
            </a:r>
            <a:r>
              <a:rPr sz="1000" spc="-45" dirty="0">
                <a:latin typeface="Arial MT"/>
                <a:cs typeface="Arial MT"/>
              </a:rPr>
              <a:t>missing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expired </a:t>
            </a:r>
            <a:r>
              <a:rPr sz="1000" spc="-25" dirty="0">
                <a:latin typeface="Arial MT"/>
                <a:cs typeface="Arial MT"/>
              </a:rPr>
              <a:t>Incorrect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frontend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environment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variables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729" y="218037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6530" y="2148696"/>
            <a:ext cx="170497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Systematic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Debug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Principle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530" y="2384315"/>
            <a:ext cx="5608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Validate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1F2837"/>
                </a:solidFill>
                <a:latin typeface="Arial MT"/>
                <a:cs typeface="Arial MT"/>
              </a:rPr>
              <a:t>each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layer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independently:</a:t>
            </a:r>
            <a:r>
              <a:rPr sz="1000" spc="15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40" dirty="0">
                <a:solidFill>
                  <a:srgbClr val="1F2837"/>
                </a:solidFill>
                <a:latin typeface="Arial Black"/>
                <a:cs typeface="Arial Black"/>
              </a:rPr>
              <a:t>device</a:t>
            </a:r>
            <a:r>
              <a:rPr sz="1000" spc="3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90" dirty="0">
                <a:solidFill>
                  <a:srgbClr val="1F2837"/>
                </a:solidFill>
                <a:latin typeface="Arial Black"/>
                <a:cs typeface="Arial Black"/>
              </a:rPr>
              <a:t>→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Black"/>
                <a:cs typeface="Arial Black"/>
              </a:rPr>
              <a:t>IoT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Core</a:t>
            </a:r>
            <a:r>
              <a:rPr sz="1000" spc="3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90" dirty="0">
                <a:solidFill>
                  <a:srgbClr val="1F2837"/>
                </a:solidFill>
                <a:latin typeface="Arial Black"/>
                <a:cs typeface="Arial Black"/>
              </a:rPr>
              <a:t>→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05" dirty="0">
                <a:solidFill>
                  <a:srgbClr val="1F2837"/>
                </a:solidFill>
                <a:latin typeface="Arial Black"/>
                <a:cs typeface="Arial Black"/>
              </a:rPr>
              <a:t>rule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90" dirty="0">
                <a:solidFill>
                  <a:srgbClr val="1F2837"/>
                </a:solidFill>
                <a:latin typeface="Arial Black"/>
                <a:cs typeface="Arial Black"/>
              </a:rPr>
              <a:t>→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40" dirty="0">
                <a:solidFill>
                  <a:srgbClr val="1F2837"/>
                </a:solidFill>
                <a:latin typeface="Arial Black"/>
                <a:cs typeface="Arial Black"/>
              </a:rPr>
              <a:t>database</a:t>
            </a:r>
            <a:r>
              <a:rPr sz="1000" spc="3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90" dirty="0">
                <a:solidFill>
                  <a:srgbClr val="1F2837"/>
                </a:solidFill>
                <a:latin typeface="Arial Black"/>
                <a:cs typeface="Arial Black"/>
              </a:rPr>
              <a:t>→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Black"/>
                <a:cs typeface="Arial Black"/>
              </a:rPr>
              <a:t>API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90" dirty="0">
                <a:solidFill>
                  <a:srgbClr val="1F2837"/>
                </a:solidFill>
                <a:latin typeface="Arial Black"/>
                <a:cs typeface="Arial Black"/>
              </a:rPr>
              <a:t>→</a:t>
            </a:r>
            <a:r>
              <a:rPr sz="1000" spc="1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Black"/>
                <a:cs typeface="Arial Black"/>
              </a:rPr>
              <a:t>frontend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Concluding</a:t>
            </a:r>
            <a:r>
              <a:rPr spc="-60" dirty="0"/>
              <a:t> </a:t>
            </a:r>
            <a:r>
              <a:rPr spc="-45" dirty="0"/>
              <a:t>Recommendation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25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854988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5608620" y="19836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1F4D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823311"/>
            <a:ext cx="413067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Recommended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Baseline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Teaching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Prototyping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646923"/>
            <a:ext cx="59613" cy="596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836699"/>
            <a:ext cx="59613" cy="596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2026488"/>
            <a:ext cx="59613" cy="596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216276"/>
            <a:ext cx="59613" cy="5961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406065"/>
            <a:ext cx="59613" cy="5961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6530" y="1064252"/>
            <a:ext cx="5608955" cy="1442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7765" marR="93980" indent="-24384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latin typeface="Arial Black"/>
                <a:cs typeface="Arial Black"/>
              </a:rPr>
              <a:t>Sensor</a:t>
            </a:r>
            <a:r>
              <a:rPr sz="1000" spc="25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90" dirty="0">
                <a:latin typeface="Arial Black"/>
                <a:cs typeface="Arial Black"/>
              </a:rPr>
              <a:t>AWS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45" dirty="0">
                <a:latin typeface="Arial Black"/>
                <a:cs typeface="Arial Black"/>
              </a:rPr>
              <a:t>IoT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25" dirty="0">
                <a:latin typeface="Arial Black"/>
                <a:cs typeface="Arial Black"/>
              </a:rPr>
              <a:t>Core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25" dirty="0">
                <a:latin typeface="Arial Black"/>
                <a:cs typeface="Arial Black"/>
              </a:rPr>
              <a:t>Timestream</a:t>
            </a:r>
            <a:r>
              <a:rPr sz="1000" spc="20" dirty="0">
                <a:latin typeface="Arial Black"/>
                <a:cs typeface="Arial Black"/>
              </a:rPr>
              <a:t> </a:t>
            </a:r>
            <a:r>
              <a:rPr sz="1000" spc="185" dirty="0">
                <a:latin typeface="Arial Black"/>
                <a:cs typeface="Arial Black"/>
              </a:rPr>
              <a:t>+</a:t>
            </a:r>
            <a:r>
              <a:rPr sz="1000" spc="25" dirty="0">
                <a:latin typeface="Arial Black"/>
                <a:cs typeface="Arial Black"/>
              </a:rPr>
              <a:t> </a:t>
            </a:r>
            <a:r>
              <a:rPr sz="1000" spc="-85" dirty="0">
                <a:latin typeface="Arial Black"/>
                <a:cs typeface="Arial Black"/>
              </a:rPr>
              <a:t>DynamoDB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Lambda/API</a:t>
            </a:r>
            <a:r>
              <a:rPr sz="1000" spc="25" dirty="0">
                <a:latin typeface="Arial Black"/>
                <a:cs typeface="Arial Black"/>
              </a:rPr>
              <a:t> </a:t>
            </a:r>
            <a:r>
              <a:rPr sz="1000" spc="-150" dirty="0">
                <a:latin typeface="Arial Black"/>
                <a:cs typeface="Arial Black"/>
              </a:rPr>
              <a:t>Gateway</a:t>
            </a:r>
            <a:r>
              <a:rPr sz="1000" spc="25" dirty="0">
                <a:latin typeface="Arial Black"/>
                <a:cs typeface="Arial Black"/>
              </a:rPr>
              <a:t> </a:t>
            </a:r>
            <a:r>
              <a:rPr sz="1000" spc="90" dirty="0">
                <a:latin typeface="Arial Black"/>
                <a:cs typeface="Arial Black"/>
              </a:rPr>
              <a:t>→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Frontend </a:t>
            </a:r>
            <a:r>
              <a:rPr sz="1000" spc="-114" dirty="0">
                <a:latin typeface="Arial Black"/>
                <a:cs typeface="Arial Black"/>
              </a:rPr>
              <a:t>on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Amplify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000">
              <a:latin typeface="Arial Black"/>
              <a:cs typeface="Arial Black"/>
            </a:endParaRPr>
          </a:p>
          <a:p>
            <a:pPr marL="252729">
              <a:lnSpc>
                <a:spcPct val="100000"/>
              </a:lnSpc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Use</a:t>
            </a:r>
            <a:r>
              <a:rPr sz="1000" spc="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25" dirty="0">
                <a:solidFill>
                  <a:srgbClr val="1F2837"/>
                </a:solidFill>
                <a:latin typeface="Arial Black"/>
                <a:cs typeface="Arial Black"/>
              </a:rPr>
              <a:t>Timestream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historical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telemetry</a:t>
            </a:r>
            <a:r>
              <a:rPr sz="1000" spc="4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analysis.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Use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DynamoDB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-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current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device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status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metadata.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Use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20" dirty="0">
                <a:solidFill>
                  <a:srgbClr val="1F2837"/>
                </a:solidFill>
                <a:latin typeface="Arial Black"/>
                <a:cs typeface="Arial Black"/>
              </a:rPr>
              <a:t>Lambda</a:t>
            </a:r>
            <a:r>
              <a:rPr sz="1000" spc="3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185" dirty="0">
                <a:solidFill>
                  <a:srgbClr val="1F2837"/>
                </a:solidFill>
                <a:latin typeface="Arial Black"/>
                <a:cs typeface="Arial Black"/>
              </a:rPr>
              <a:t>+</a:t>
            </a:r>
            <a:r>
              <a:rPr sz="100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20" dirty="0">
                <a:solidFill>
                  <a:srgbClr val="1F2837"/>
                </a:solidFill>
                <a:latin typeface="Arial Black"/>
                <a:cs typeface="Arial Black"/>
              </a:rPr>
              <a:t>API</a:t>
            </a:r>
            <a:r>
              <a:rPr sz="1000" spc="1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50" dirty="0">
                <a:solidFill>
                  <a:srgbClr val="1F2837"/>
                </a:solidFill>
                <a:latin typeface="Arial Black"/>
                <a:cs typeface="Arial Black"/>
              </a:rPr>
              <a:t>Gateway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MT"/>
                <a:cs typeface="Arial MT"/>
              </a:rPr>
              <a:t>as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application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F2837"/>
                </a:solidFill>
                <a:latin typeface="Arial MT"/>
                <a:cs typeface="Arial MT"/>
              </a:rPr>
              <a:t>backend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interface.</a:t>
            </a:r>
            <a:endParaRPr sz="1000">
              <a:latin typeface="Arial MT"/>
              <a:cs typeface="Arial MT"/>
            </a:endParaRPr>
          </a:p>
          <a:p>
            <a:pPr marL="252729" marR="1409065">
              <a:lnSpc>
                <a:spcPct val="124500"/>
              </a:lnSpc>
            </a:pP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Use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90" dirty="0">
                <a:solidFill>
                  <a:srgbClr val="1F2837"/>
                </a:solidFill>
                <a:latin typeface="Arial Black"/>
                <a:cs typeface="Arial Black"/>
              </a:rPr>
              <a:t>Amplify</a:t>
            </a:r>
            <a:r>
              <a:rPr sz="1000" spc="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05" dirty="0">
                <a:solidFill>
                  <a:srgbClr val="1F2837"/>
                </a:solidFill>
                <a:latin typeface="Arial Black"/>
                <a:cs typeface="Arial Black"/>
              </a:rPr>
              <a:t>Hosting</a:t>
            </a:r>
            <a:r>
              <a:rPr sz="1000" spc="2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185" dirty="0">
                <a:solidFill>
                  <a:srgbClr val="1F2837"/>
                </a:solidFill>
                <a:latin typeface="Arial Black"/>
                <a:cs typeface="Arial Black"/>
              </a:rPr>
              <a:t>+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05" dirty="0">
                <a:solidFill>
                  <a:srgbClr val="1F2837"/>
                </a:solidFill>
                <a:latin typeface="Arial Black"/>
                <a:cs typeface="Arial Black"/>
              </a:rPr>
              <a:t>Cognito</a:t>
            </a:r>
            <a:r>
              <a:rPr sz="1000" spc="-5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for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F2837"/>
                </a:solidFill>
                <a:latin typeface="Arial MT"/>
                <a:cs typeface="Arial MT"/>
              </a:rPr>
              <a:t>secure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F2837"/>
                </a:solidFill>
                <a:latin typeface="Arial MT"/>
                <a:cs typeface="Arial MT"/>
              </a:rPr>
              <a:t>delivery</a:t>
            </a:r>
            <a:r>
              <a:rPr sz="1000" spc="3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of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F2837"/>
                </a:solidFill>
                <a:latin typeface="Arial MT"/>
                <a:cs typeface="Arial MT"/>
              </a:rPr>
              <a:t>the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MT"/>
                <a:cs typeface="Arial MT"/>
              </a:rPr>
              <a:t>web</a:t>
            </a:r>
            <a:r>
              <a:rPr sz="1000" spc="3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frontend. </a:t>
            </a:r>
            <a:r>
              <a:rPr sz="1000" spc="-20" dirty="0">
                <a:solidFill>
                  <a:srgbClr val="1F2837"/>
                </a:solidFill>
                <a:latin typeface="Arial MT"/>
                <a:cs typeface="Arial MT"/>
              </a:rPr>
              <a:t>Introduce</a:t>
            </a:r>
            <a:r>
              <a:rPr sz="1000" spc="-1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F2837"/>
                </a:solidFill>
                <a:latin typeface="Arial Black"/>
                <a:cs typeface="Arial Black"/>
              </a:rPr>
              <a:t>RDS/Aurora</a:t>
            </a:r>
            <a:r>
              <a:rPr sz="1000" spc="-30" dirty="0">
                <a:solidFill>
                  <a:srgbClr val="1F283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only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when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2837"/>
                </a:solidFill>
                <a:latin typeface="Arial MT"/>
                <a:cs typeface="Arial MT"/>
              </a:rPr>
              <a:t>relational</a:t>
            </a:r>
            <a:r>
              <a:rPr sz="1000" spc="5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F2837"/>
                </a:solidFill>
                <a:latin typeface="Arial MT"/>
                <a:cs typeface="Arial MT"/>
              </a:rPr>
              <a:t>requirements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F2837"/>
                </a:solidFill>
                <a:latin typeface="Arial MT"/>
                <a:cs typeface="Arial MT"/>
              </a:rPr>
              <a:t>are</a:t>
            </a:r>
            <a:r>
              <a:rPr sz="1000" spc="10" dirty="0">
                <a:solidFill>
                  <a:srgbClr val="1F283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2837"/>
                </a:solidFill>
                <a:latin typeface="Arial MT"/>
                <a:cs typeface="Arial MT"/>
              </a:rPr>
              <a:t>justified.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Selected</a:t>
            </a:r>
            <a:r>
              <a:rPr spc="-70" dirty="0"/>
              <a:t> </a:t>
            </a:r>
            <a:r>
              <a:rPr spc="-60" dirty="0"/>
              <a:t>References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0" dirty="0"/>
              <a:t>26</a:t>
            </a:fld>
            <a:r>
              <a:rPr spc="-40" dirty="0"/>
              <a:t> </a:t>
            </a:r>
            <a:r>
              <a:rPr spc="125" dirty="0"/>
              <a:t>/</a:t>
            </a:r>
            <a:r>
              <a:rPr spc="-35" dirty="0"/>
              <a:t> </a:t>
            </a:r>
            <a:r>
              <a:rPr spc="-25" dirty="0"/>
              <a:t>26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76" y="747731"/>
            <a:ext cx="104324" cy="104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665886"/>
            <a:ext cx="3115945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8295">
              <a:lnSpc>
                <a:spcPct val="140100"/>
              </a:lnSpc>
              <a:spcBef>
                <a:spcPts val="100"/>
              </a:spcBef>
            </a:pP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AWS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Developer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185" dirty="0">
                <a:solidFill>
                  <a:srgbClr val="1F2837"/>
                </a:solidFill>
                <a:latin typeface="Microsoft Sans Serif"/>
                <a:cs typeface="Microsoft Sans Serif"/>
              </a:rPr>
              <a:t>–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3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Rules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and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Actions. AWS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Developer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185" dirty="0">
                <a:solidFill>
                  <a:srgbClr val="1F2837"/>
                </a:solidFill>
                <a:latin typeface="Microsoft Sans Serif"/>
                <a:cs typeface="Microsoft Sans Serif"/>
              </a:rPr>
              <a:t>–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DynamoDBv2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Action. AWS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IoT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Core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Developer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185" dirty="0">
                <a:solidFill>
                  <a:srgbClr val="1F2837"/>
                </a:solidFill>
                <a:latin typeface="Microsoft Sans Serif"/>
                <a:cs typeface="Microsoft Sans Serif"/>
              </a:rPr>
              <a:t>–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Timestream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Rule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Action.</a:t>
            </a:r>
            <a:endParaRPr sz="800">
              <a:latin typeface="Microsoft Sans Serif"/>
              <a:cs typeface="Microsoft Sans Serif"/>
            </a:endParaRPr>
          </a:p>
          <a:p>
            <a:pPr marL="12700" marR="5080">
              <a:lnSpc>
                <a:spcPct val="140100"/>
              </a:lnSpc>
            </a:pP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Amazon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API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30" dirty="0">
                <a:solidFill>
                  <a:srgbClr val="1F2837"/>
                </a:solidFill>
                <a:latin typeface="Microsoft Sans Serif"/>
                <a:cs typeface="Microsoft Sans Serif"/>
              </a:rPr>
              <a:t>Gateway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Developer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185" dirty="0">
                <a:solidFill>
                  <a:srgbClr val="1F2837"/>
                </a:solidFill>
                <a:latin typeface="Microsoft Sans Serif"/>
                <a:cs typeface="Microsoft Sans Serif"/>
              </a:rPr>
              <a:t>–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Lambda</a:t>
            </a:r>
            <a:r>
              <a:rPr sz="800" spc="3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Proxy</a:t>
            </a:r>
            <a:r>
              <a:rPr sz="800" spc="3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Integration. AWS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Amplify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Hosting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User</a:t>
            </a:r>
            <a:r>
              <a:rPr sz="800" spc="2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Guide.</a:t>
            </a: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Amazon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1F2837"/>
                </a:solidFill>
                <a:latin typeface="Microsoft Sans Serif"/>
                <a:cs typeface="Microsoft Sans Serif"/>
              </a:rPr>
              <a:t>Cognito</a:t>
            </a:r>
            <a:r>
              <a:rPr sz="800" spc="20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1F2837"/>
                </a:solidFill>
                <a:latin typeface="Microsoft Sans Serif"/>
                <a:cs typeface="Microsoft Sans Serif"/>
              </a:rPr>
              <a:t>Developer</a:t>
            </a:r>
            <a:r>
              <a:rPr sz="800" spc="15" dirty="0">
                <a:solidFill>
                  <a:srgbClr val="1F2837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1F2837"/>
                </a:solidFill>
                <a:latin typeface="Microsoft Sans Serif"/>
                <a:cs typeface="Microsoft Sans Serif"/>
              </a:rPr>
              <a:t>Guide.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176" y="918546"/>
            <a:ext cx="104324" cy="104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176" y="1089348"/>
            <a:ext cx="104324" cy="104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1820" y="738374"/>
            <a:ext cx="59055" cy="443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176" y="1260163"/>
            <a:ext cx="104324" cy="1043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176" y="1430978"/>
            <a:ext cx="104324" cy="1043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1820" y="1250806"/>
            <a:ext cx="59055" cy="272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5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9163" y="1601781"/>
            <a:ext cx="104324" cy="1043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1820" y="159242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729" y="1885111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608620" y="187819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1F4D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6530" y="1853434"/>
            <a:ext cx="143954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Official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Documentation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530" y="2097223"/>
            <a:ext cx="56089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281555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Cambria"/>
                <a:cs typeface="Cambria"/>
                <a:hlinkClick r:id="rId8"/>
              </a:rPr>
              <a:t>https://docs.aws.amazon.com/iot/latest/developerguide/iot-</a:t>
            </a:r>
            <a:r>
              <a:rPr sz="500" spc="-10" dirty="0">
                <a:latin typeface="Cambria"/>
                <a:cs typeface="Cambria"/>
                <a:hlinkClick r:id="rId8"/>
              </a:rPr>
              <a:t>rules.html</a:t>
            </a:r>
            <a:r>
              <a:rPr sz="500" spc="500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  <a:hlinkClick r:id="rId9"/>
              </a:rPr>
              <a:t>https://docs.aws.amazon.com/iot/latest/developerguide/dynamodb-</a:t>
            </a:r>
            <a:r>
              <a:rPr sz="500" spc="50" dirty="0">
                <a:latin typeface="Cambria"/>
                <a:cs typeface="Cambria"/>
                <a:hlinkClick r:id="rId9"/>
              </a:rPr>
              <a:t>v2-</a:t>
            </a:r>
            <a:r>
              <a:rPr sz="500" spc="65" dirty="0">
                <a:latin typeface="Cambria"/>
                <a:cs typeface="Cambria"/>
                <a:hlinkClick r:id="rId9"/>
              </a:rPr>
              <a:t>rule-</a:t>
            </a:r>
            <a:r>
              <a:rPr sz="500" spc="-10" dirty="0">
                <a:latin typeface="Cambria"/>
                <a:cs typeface="Cambria"/>
                <a:hlinkClick r:id="rId9"/>
              </a:rPr>
              <a:t>action.html</a:t>
            </a:r>
            <a:r>
              <a:rPr sz="500" spc="500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  <a:hlinkClick r:id="rId10"/>
              </a:rPr>
              <a:t>https://docs.aws.amazon.com/iot/latest/developerguide/timestream-</a:t>
            </a:r>
            <a:r>
              <a:rPr sz="500" spc="65" dirty="0">
                <a:latin typeface="Cambria"/>
                <a:cs typeface="Cambria"/>
                <a:hlinkClick r:id="rId10"/>
              </a:rPr>
              <a:t>rule-</a:t>
            </a:r>
            <a:r>
              <a:rPr sz="500" spc="-10" dirty="0">
                <a:latin typeface="Cambria"/>
                <a:cs typeface="Cambria"/>
                <a:hlinkClick r:id="rId10"/>
              </a:rPr>
              <a:t>action.html</a:t>
            </a:r>
            <a:r>
              <a:rPr sz="500" spc="500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  <a:hlinkClick r:id="rId11"/>
              </a:rPr>
              <a:t>https://docs.aws.amazon.com/apigateway/latest/developerguide/set-up-lambda-proxy-</a:t>
            </a:r>
            <a:r>
              <a:rPr sz="500" spc="-10" dirty="0">
                <a:latin typeface="Cambria"/>
                <a:cs typeface="Cambria"/>
                <a:hlinkClick r:id="rId11"/>
              </a:rPr>
              <a:t>integrations.html</a:t>
            </a:r>
            <a:r>
              <a:rPr sz="500" spc="500" dirty="0">
                <a:latin typeface="Cambria"/>
                <a:cs typeface="Cambria"/>
              </a:rPr>
              <a:t>  </a:t>
            </a:r>
            <a:r>
              <a:rPr sz="500" spc="-10" dirty="0">
                <a:latin typeface="Cambria"/>
                <a:cs typeface="Cambria"/>
                <a:hlinkClick r:id="rId12"/>
              </a:rPr>
              <a:t>https://docs.aws.amazon.com/amplify/latest/userguide/welcome.html</a:t>
            </a:r>
            <a:r>
              <a:rPr sz="500" spc="500" dirty="0">
                <a:latin typeface="Cambria"/>
                <a:cs typeface="Cambria"/>
              </a:rPr>
              <a:t>    </a:t>
            </a:r>
            <a:r>
              <a:rPr sz="500" dirty="0">
                <a:latin typeface="Cambria"/>
                <a:cs typeface="Cambria"/>
                <a:hlinkClick r:id="rId13"/>
              </a:rPr>
              <a:t>https://docs.aws.amazon.com/cognito/latest/developerguide/what-</a:t>
            </a:r>
            <a:r>
              <a:rPr sz="500" spc="105" dirty="0">
                <a:latin typeface="Cambria"/>
                <a:cs typeface="Cambria"/>
                <a:hlinkClick r:id="rId13"/>
              </a:rPr>
              <a:t>is-</a:t>
            </a:r>
            <a:r>
              <a:rPr sz="500" dirty="0">
                <a:latin typeface="Cambria"/>
                <a:cs typeface="Cambria"/>
                <a:hlinkClick r:id="rId13"/>
              </a:rPr>
              <a:t>amazon-</a:t>
            </a:r>
            <a:r>
              <a:rPr sz="500" spc="-10" dirty="0">
                <a:latin typeface="Cambria"/>
                <a:cs typeface="Cambria"/>
                <a:hlinkClick r:id="rId13"/>
              </a:rPr>
              <a:t>cognito.html</a:t>
            </a:r>
            <a:endParaRPr sz="5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2393</Words>
  <Application>Microsoft Office PowerPoint</Application>
  <PresentationFormat>Custom</PresentationFormat>
  <Paragraphs>332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Black</vt:lpstr>
      <vt:lpstr>Arial MT</vt:lpstr>
      <vt:lpstr>Calibri</vt:lpstr>
      <vt:lpstr>Cambria</vt:lpstr>
      <vt:lpstr>Microsoft Sans Serif</vt:lpstr>
      <vt:lpstr>Tahoma</vt:lpstr>
      <vt:lpstr>Trebuchet MS</vt:lpstr>
      <vt:lpstr>Office Theme</vt:lpstr>
      <vt:lpstr>PowerPoint Presentation</vt:lpstr>
      <vt:lpstr>Instructional Objectives</vt:lpstr>
      <vt:lpstr>System Context and Problem Statement</vt:lpstr>
      <vt:lpstr>Reference Architecture</vt:lpstr>
      <vt:lpstr>Architectural Rationale</vt:lpstr>
      <vt:lpstr>Alternative Deployment Patterns</vt:lpstr>
      <vt:lpstr>Topic Design and Message Format</vt:lpstr>
      <vt:lpstr>AWS IoT Core Configuration Procedure</vt:lpstr>
      <vt:lpstr>IoT Rule Example</vt:lpstr>
      <vt:lpstr>Illustrative Database Schemas</vt:lpstr>
      <vt:lpstr>Backend Service Layer</vt:lpstr>
      <vt:lpstr>Frontend Layer on AWS</vt:lpstr>
      <vt:lpstr>Security Considerations</vt:lpstr>
      <vt:lpstr>Step-by-Step Implementation Roadmap</vt:lpstr>
      <vt:lpstr>Illustrative Lambda Function for API Response</vt:lpstr>
      <vt:lpstr>Illustrative Frontend API Call</vt:lpstr>
      <vt:lpstr>Introduction to AWS Amplify</vt:lpstr>
      <vt:lpstr>Core Components of AWS Amplify</vt:lpstr>
      <vt:lpstr>AWS Amplify Deployment Workflow</vt:lpstr>
      <vt:lpstr>Role of AWS Amplify in the IoT Application Architecture</vt:lpstr>
      <vt:lpstr>Introduction to Frontend Frameworks</vt:lpstr>
      <vt:lpstr>Frontend Frameworks in the Context of AWS Amplify</vt:lpstr>
      <vt:lpstr>Simple Comparison of Frontend Frameworks</vt:lpstr>
      <vt:lpstr>Troubleshooting Framework</vt:lpstr>
      <vt:lpstr>Concluding Recommendation</vt:lpstr>
      <vt:lpstr>Selected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Guide for Backend and Frontend Systems on AWS Cloud - Instructional Presentation for Sensor Monitoring Applications Using AWS IoT Core</dc:title>
  <dc:creator>pds</dc:creator>
  <cp:lastModifiedBy>PDS</cp:lastModifiedBy>
  <cp:revision>4</cp:revision>
  <dcterms:created xsi:type="dcterms:W3CDTF">2026-09-17T07:48:38Z</dcterms:created>
  <dcterms:modified xsi:type="dcterms:W3CDTF">2026-09-17T09:28:06Z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2026-09-17T00:00:00Z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