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64" r:id="rId2"/>
    <p:sldId id="256" r:id="rId3"/>
    <p:sldId id="257" r:id="rId4"/>
    <p:sldId id="258" r:id="rId5"/>
    <p:sldId id="259" r:id="rId6"/>
    <p:sldId id="260" r:id="rId7"/>
    <p:sldId id="261" r:id="rId8"/>
    <p:sldId id="26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3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PDS</a:t>
            </a:r>
            <a:endParaRPr lang="en-US" dirty="0"/>
          </a:p>
        </p:txBody>
      </p:sp>
      <p:sp>
        <p:nvSpPr>
          <p:cNvPr id="4" name="Slide Number Placeholder 3"/>
          <p:cNvSpPr>
            <a:spLocks noGrp="1"/>
          </p:cNvSpPr>
          <p:nvPr>
            <p:ph type="sldNum" sz="quarter" idx="10"/>
          </p:nvPr>
        </p:nvSpPr>
        <p:spPr/>
        <p:txBody>
          <a:bodyPr/>
          <a:lstStyle/>
          <a:p>
            <a:fld id="{3C85673C-CD37-4D5E-BA1D-2F9D0B2CE005}" type="slidenum">
              <a:rPr lang="en-US" smtClean="0"/>
              <a:t>1</a:t>
            </a:fld>
            <a:endParaRPr lang="en-US"/>
          </a:p>
        </p:txBody>
      </p:sp>
    </p:spTree>
    <p:extLst>
      <p:ext uri="{BB962C8B-B14F-4D97-AF65-F5344CB8AC3E}">
        <p14:creationId xmlns:p14="http://schemas.microsoft.com/office/powerpoint/2010/main" val="1118660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pengajar: tekankan bahwa istilah “database AWS” tidak berarti satu produk tunggal, melainkan portofolio layanan purpose-built.
[Sources]
- AWS Well-Architected Framework, Database: https://docs.aws.amazon.com/wellarchitected/2023-04-10/framework/perf-db.html
- Choosing an AWS database service: https://docs.aws.amazon.com/databases-on-aws-how-to-choose/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utama: database di cloud bukan sekadar memindahkan DB lama ke VM; ada layanan terkelola dengan spesialisasi yang berbeda.
[Sources]
- AWS Well-Architected Framework, Database: https://docs.aws.amazon.com/wellarchitected/2023-04-10/framework/perf-db.html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pengantar untuk diskusi kelas: faktor pembeda utama adalah kebutuhan availability, consistency, partition tolerance, latency, durability, scalability, query capability, dan access pattern.
[Sources]
- AWS Well-Architected Framework, Database: https://docs.aws.amazon.com/wellarchitected/2023-04-10/framework/perf-db.html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samakan semua jenis data. Gunakan slide ini untuk menunjukkan peta umum model database sebelum masuk ke dua contoh detail.
[Sources]
- AWS Well-Architected Framework, Database: https://docs.aws.amazon.com/wellarchitected/2023-04-10/framework/perf-db.html
- Cloud Databases on AWS: https://aws.amazon.com/products/databases/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slide ini untuk menjelaskan bahwa DynamoDB bukan “SQL yang dipercepat”, tetapi database NoSQL yang dioptimalkan untuk pola akses yang sudah dirancang sejak awal.
[Sources]
- What is Amazon DynamoDB?: https://docs.aws.amazon.com/amazondynamodb/latest/developerguide/Introduction.html
- Global tables - multi-active, multi-Region replication: https://docs.aws.amazon.com/amazondynamodb/latest/developerguide/GlobalTables.html
- AWS Architecture Icons: https://aws.amazon.com/architecture/icons/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penting untuk mahasiswa: Prometheus/AMP menyimpan time-series metrics untuk monitoring dan alerting. Ia bukan pengganti database aplikasi seperti DynamoDB atau Aurora.
[Sources]
- What is Amazon Managed Service for Prometheus?: https://docs.aws.amazon.com/prometheus/latest/userguide/what-is-Amazon-Managed-Service-Prometheus.html
- Ingest metrics to your Amazon Managed Service for Prometheus workspace: https://docs.aws.amazon.com/prometheus/latest/userguide/AMP-ingest-methods.html
- Query your Prometheus metrics: https://docs.aws.amazon.com/prometheus/latest/userguide/AMP-query.html
- Prometheus overview: https://prometheus.io/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slide penutup ini untuk merangkum perbedaan konseptual: operational data layer vs observability data layer.
[Sources]
- What is Amazon DynamoDB?: https://docs.aws.amazon.com/amazondynamodb/latest/developerguide/Introduction.html
- What is Amazon Managed Service for Prometheus?: https://docs.aws.amazon.com/prometheus/latest/userguide/what-is-Amazon-Managed-Service-Prometheus.html
- AWS Architecture Icons: https://aws.amazon.com/architecture/icons/
- Prometheus overview: https://prometheus.io/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30713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ithub.com/amelcharolinesgn2/AWS"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tretch>
            <a:fillRect/>
          </a:stretch>
        </p:blipFill>
        <p:spPr>
          <a:xfrm>
            <a:off x="0" y="0"/>
            <a:ext cx="12291646" cy="6858000"/>
          </a:xfrm>
          <a:prstGeom prst="rect">
            <a:avLst/>
          </a:prstGeom>
        </p:spPr>
      </p:pic>
      <p:sp>
        <p:nvSpPr>
          <p:cNvPr id="7" name="object 7"/>
          <p:cNvSpPr txBox="1"/>
          <p:nvPr/>
        </p:nvSpPr>
        <p:spPr>
          <a:xfrm>
            <a:off x="1905000" y="4267200"/>
            <a:ext cx="8667750" cy="504625"/>
          </a:xfrm>
          <a:prstGeom prst="rect">
            <a:avLst/>
          </a:prstGeom>
        </p:spPr>
        <p:txBody>
          <a:bodyPr vert="horz" wrap="square" lIns="0" tIns="12065" rIns="0" bIns="0" rtlCol="0">
            <a:spAutoFit/>
          </a:bodyPr>
          <a:lstStyle/>
          <a:p>
            <a:pPr marR="62865" algn="ctr">
              <a:lnSpc>
                <a:spcPct val="100000"/>
              </a:lnSpc>
            </a:pPr>
            <a:r>
              <a:rPr sz="1600" dirty="0" smtClean="0">
                <a:latin typeface="Trebuchet MS"/>
                <a:cs typeface="Trebuchet MS"/>
              </a:rPr>
              <a:t>Slides</a:t>
            </a:r>
            <a:r>
              <a:rPr sz="1600" spc="-215" dirty="0" smtClean="0">
                <a:latin typeface="Trebuchet MS"/>
                <a:cs typeface="Trebuchet MS"/>
              </a:rPr>
              <a:t> </a:t>
            </a:r>
            <a:r>
              <a:rPr sz="1600" spc="-90" dirty="0">
                <a:latin typeface="Trebuchet MS"/>
                <a:cs typeface="Trebuchet MS"/>
              </a:rPr>
              <a:t>are</a:t>
            </a:r>
            <a:r>
              <a:rPr sz="1600" spc="-220" dirty="0">
                <a:latin typeface="Trebuchet MS"/>
                <a:cs typeface="Trebuchet MS"/>
              </a:rPr>
              <a:t> </a:t>
            </a:r>
            <a:r>
              <a:rPr sz="1600" spc="-60" dirty="0">
                <a:latin typeface="Trebuchet MS"/>
                <a:cs typeface="Trebuchet MS"/>
              </a:rPr>
              <a:t>captured</a:t>
            </a:r>
            <a:r>
              <a:rPr sz="1600" spc="-195" dirty="0">
                <a:latin typeface="Trebuchet MS"/>
                <a:cs typeface="Trebuchet MS"/>
              </a:rPr>
              <a:t> </a:t>
            </a:r>
            <a:r>
              <a:rPr sz="1600" spc="-90" dirty="0">
                <a:latin typeface="Trebuchet MS"/>
                <a:cs typeface="Trebuchet MS"/>
              </a:rPr>
              <a:t>from</a:t>
            </a:r>
            <a:r>
              <a:rPr sz="1600" spc="-204" dirty="0">
                <a:latin typeface="Trebuchet MS"/>
                <a:cs typeface="Trebuchet MS"/>
              </a:rPr>
              <a:t> </a:t>
            </a:r>
            <a:r>
              <a:rPr sz="1600" spc="80" dirty="0">
                <a:latin typeface="Trebuchet MS"/>
                <a:cs typeface="Trebuchet MS"/>
              </a:rPr>
              <a:t>AWS</a:t>
            </a:r>
            <a:r>
              <a:rPr sz="1600" spc="-200" dirty="0">
                <a:latin typeface="Trebuchet MS"/>
                <a:cs typeface="Trebuchet MS"/>
              </a:rPr>
              <a:t> </a:t>
            </a:r>
            <a:r>
              <a:rPr sz="1600" spc="-10" dirty="0">
                <a:latin typeface="Trebuchet MS"/>
                <a:cs typeface="Trebuchet MS"/>
              </a:rPr>
              <a:t>Educate.</a:t>
            </a:r>
            <a:endParaRPr sz="1600" dirty="0">
              <a:latin typeface="Trebuchet MS"/>
              <a:cs typeface="Trebuchet MS"/>
            </a:endParaRPr>
          </a:p>
          <a:p>
            <a:pPr algn="ctr">
              <a:lnSpc>
                <a:spcPct val="100000"/>
              </a:lnSpc>
            </a:pPr>
            <a:r>
              <a:rPr sz="1600" spc="-55" dirty="0">
                <a:latin typeface="Trebuchet MS"/>
                <a:cs typeface="Trebuchet MS"/>
              </a:rPr>
              <a:t>This</a:t>
            </a:r>
            <a:r>
              <a:rPr sz="1600" spc="-215" dirty="0">
                <a:latin typeface="Trebuchet MS"/>
                <a:cs typeface="Trebuchet MS"/>
              </a:rPr>
              <a:t> </a:t>
            </a:r>
            <a:r>
              <a:rPr sz="1600" dirty="0">
                <a:latin typeface="Trebuchet MS"/>
                <a:cs typeface="Trebuchet MS"/>
              </a:rPr>
              <a:t>is</a:t>
            </a:r>
            <a:r>
              <a:rPr sz="1600" spc="-215" dirty="0">
                <a:latin typeface="Trebuchet MS"/>
                <a:cs typeface="Trebuchet MS"/>
              </a:rPr>
              <a:t> </a:t>
            </a:r>
            <a:r>
              <a:rPr sz="1600" spc="-55" dirty="0">
                <a:latin typeface="Trebuchet MS"/>
                <a:cs typeface="Trebuchet MS"/>
              </a:rPr>
              <a:t>only</a:t>
            </a:r>
            <a:r>
              <a:rPr sz="1600" spc="-220" dirty="0">
                <a:latin typeface="Trebuchet MS"/>
                <a:cs typeface="Trebuchet MS"/>
              </a:rPr>
              <a:t> </a:t>
            </a:r>
            <a:r>
              <a:rPr sz="1600" spc="-130" dirty="0">
                <a:latin typeface="Trebuchet MS"/>
                <a:cs typeface="Trebuchet MS"/>
              </a:rPr>
              <a:t>for</a:t>
            </a:r>
            <a:r>
              <a:rPr sz="1600" spc="-210" dirty="0">
                <a:latin typeface="Trebuchet MS"/>
                <a:cs typeface="Trebuchet MS"/>
              </a:rPr>
              <a:t> </a:t>
            </a:r>
            <a:r>
              <a:rPr sz="1600" spc="-70" dirty="0">
                <a:latin typeface="Trebuchet MS"/>
                <a:cs typeface="Trebuchet MS"/>
              </a:rPr>
              <a:t>learning</a:t>
            </a:r>
            <a:r>
              <a:rPr sz="1600" spc="-220" dirty="0">
                <a:latin typeface="Trebuchet MS"/>
                <a:cs typeface="Trebuchet MS"/>
              </a:rPr>
              <a:t> </a:t>
            </a:r>
            <a:r>
              <a:rPr sz="1600" spc="-20" dirty="0">
                <a:latin typeface="Trebuchet MS"/>
                <a:cs typeface="Trebuchet MS"/>
              </a:rPr>
              <a:t>tools</a:t>
            </a:r>
            <a:r>
              <a:rPr sz="1600" spc="-215" dirty="0">
                <a:latin typeface="Trebuchet MS"/>
                <a:cs typeface="Trebuchet MS"/>
              </a:rPr>
              <a:t> </a:t>
            </a:r>
            <a:r>
              <a:rPr sz="1600" spc="-70" dirty="0">
                <a:latin typeface="Trebuchet MS"/>
                <a:cs typeface="Trebuchet MS"/>
              </a:rPr>
              <a:t>in</a:t>
            </a:r>
            <a:r>
              <a:rPr sz="1600" spc="-220" dirty="0">
                <a:latin typeface="Trebuchet MS"/>
                <a:cs typeface="Trebuchet MS"/>
              </a:rPr>
              <a:t> </a:t>
            </a:r>
            <a:r>
              <a:rPr sz="1600" dirty="0">
                <a:latin typeface="Trebuchet MS"/>
                <a:cs typeface="Trebuchet MS"/>
              </a:rPr>
              <a:t>Cloud</a:t>
            </a:r>
            <a:r>
              <a:rPr sz="1600" spc="-204" dirty="0">
                <a:latin typeface="Trebuchet MS"/>
                <a:cs typeface="Trebuchet MS"/>
              </a:rPr>
              <a:t> </a:t>
            </a:r>
            <a:r>
              <a:rPr sz="1600" spc="-20" dirty="0">
                <a:latin typeface="Trebuchet MS"/>
                <a:cs typeface="Trebuchet MS"/>
              </a:rPr>
              <a:t>Computing</a:t>
            </a:r>
            <a:r>
              <a:rPr sz="1600" spc="-200" dirty="0">
                <a:latin typeface="Trebuchet MS"/>
                <a:cs typeface="Trebuchet MS"/>
              </a:rPr>
              <a:t> </a:t>
            </a:r>
            <a:r>
              <a:rPr sz="1600" spc="-10" dirty="0">
                <a:latin typeface="Trebuchet MS"/>
                <a:cs typeface="Trebuchet MS"/>
              </a:rPr>
              <a:t>Course</a:t>
            </a:r>
            <a:endParaRPr sz="1600" dirty="0">
              <a:latin typeface="Trebuchet MS"/>
              <a:cs typeface="Trebuchet MS"/>
            </a:endParaRPr>
          </a:p>
        </p:txBody>
      </p:sp>
      <p:sp>
        <p:nvSpPr>
          <p:cNvPr id="8" name="object 7"/>
          <p:cNvSpPr txBox="1"/>
          <p:nvPr/>
        </p:nvSpPr>
        <p:spPr>
          <a:xfrm>
            <a:off x="2743200" y="762000"/>
            <a:ext cx="8991600" cy="1427955"/>
          </a:xfrm>
          <a:prstGeom prst="rect">
            <a:avLst/>
          </a:prstGeom>
        </p:spPr>
        <p:txBody>
          <a:bodyPr vert="horz" wrap="square" lIns="0" tIns="12065" rIns="0" bIns="0" rtlCol="0">
            <a:spAutoFit/>
          </a:bodyPr>
          <a:lstStyle/>
          <a:p>
            <a:pPr marR="62865" algn="just">
              <a:lnSpc>
                <a:spcPct val="100000"/>
              </a:lnSpc>
            </a:pPr>
            <a:endParaRPr lang="en-US" sz="2800" dirty="0">
              <a:latin typeface="Trebuchet MS"/>
              <a:cs typeface="Trebuchet MS"/>
            </a:endParaRPr>
          </a:p>
          <a:p>
            <a:pPr marR="62865" algn="just">
              <a:lnSpc>
                <a:spcPct val="100000"/>
              </a:lnSpc>
            </a:pPr>
            <a:endParaRPr sz="2800" dirty="0">
              <a:latin typeface="Trebuchet MS"/>
              <a:cs typeface="Trebuchet MS"/>
            </a:endParaRPr>
          </a:p>
          <a:p>
            <a:r>
              <a:rPr lang="en-US" sz="3600" b="1" dirty="0">
                <a:solidFill>
                  <a:srgbClr val="F8FAFC"/>
                </a:solidFill>
              </a:rPr>
              <a:t>Database di AWS</a:t>
            </a:r>
            <a:endParaRPr lang="en-US" sz="3600" dirty="0"/>
          </a:p>
        </p:txBody>
      </p:sp>
      <p:sp>
        <p:nvSpPr>
          <p:cNvPr id="9" name="Rectangle 8"/>
          <p:cNvSpPr/>
          <p:nvPr/>
        </p:nvSpPr>
        <p:spPr>
          <a:xfrm>
            <a:off x="9241690" y="5716454"/>
            <a:ext cx="2751752" cy="215444"/>
          </a:xfrm>
          <a:prstGeom prst="rect">
            <a:avLst/>
          </a:prstGeom>
        </p:spPr>
        <p:txBody>
          <a:bodyPr wrap="square">
            <a:spAutoFit/>
          </a:bodyPr>
          <a:lstStyle/>
          <a:p>
            <a:pPr algn="r"/>
            <a:r>
              <a:rPr lang="en-US" sz="800" dirty="0"/>
              <a:t>https://www.youtube.com/@AmelOline/videos</a:t>
            </a:r>
          </a:p>
        </p:txBody>
      </p:sp>
      <p:sp>
        <p:nvSpPr>
          <p:cNvPr id="10" name="Rectangle 9"/>
          <p:cNvSpPr/>
          <p:nvPr/>
        </p:nvSpPr>
        <p:spPr>
          <a:xfrm>
            <a:off x="10114085" y="5584717"/>
            <a:ext cx="1858842" cy="215444"/>
          </a:xfrm>
          <a:prstGeom prst="rect">
            <a:avLst/>
          </a:prstGeom>
        </p:spPr>
        <p:txBody>
          <a:bodyPr wrap="square">
            <a:spAutoFit/>
          </a:bodyPr>
          <a:lstStyle/>
          <a:p>
            <a:pPr algn="r"/>
            <a:r>
              <a:rPr lang="en-US" sz="800" dirty="0"/>
              <a:t>https://github.com/siagianp</a:t>
            </a:r>
          </a:p>
        </p:txBody>
      </p:sp>
      <p:sp>
        <p:nvSpPr>
          <p:cNvPr id="11" name="Rectangle 10"/>
          <p:cNvSpPr/>
          <p:nvPr/>
        </p:nvSpPr>
        <p:spPr>
          <a:xfrm>
            <a:off x="9246758" y="5867853"/>
            <a:ext cx="2747868" cy="215444"/>
          </a:xfrm>
          <a:prstGeom prst="rect">
            <a:avLst/>
          </a:prstGeom>
        </p:spPr>
        <p:txBody>
          <a:bodyPr wrap="none">
            <a:spAutoFit/>
          </a:bodyPr>
          <a:lstStyle/>
          <a:p>
            <a:pPr algn="r"/>
            <a:r>
              <a:rPr lang="en-US" sz="800" dirty="0"/>
              <a:t>https://github.com/amelcharolinesgn2/Cloud-Infrastructures</a:t>
            </a:r>
          </a:p>
        </p:txBody>
      </p:sp>
      <p:sp>
        <p:nvSpPr>
          <p:cNvPr id="12" name="Rectangle 11"/>
          <p:cNvSpPr/>
          <p:nvPr/>
        </p:nvSpPr>
        <p:spPr>
          <a:xfrm>
            <a:off x="8778681" y="6003237"/>
            <a:ext cx="3215945" cy="215444"/>
          </a:xfrm>
          <a:prstGeom prst="rect">
            <a:avLst/>
          </a:prstGeom>
        </p:spPr>
        <p:txBody>
          <a:bodyPr wrap="none">
            <a:spAutoFit/>
          </a:bodyPr>
          <a:lstStyle/>
          <a:p>
            <a:pPr algn="r"/>
            <a:r>
              <a:rPr lang="en-US" sz="800" dirty="0"/>
              <a:t>https://github.com/amelcharolinesgn2/ClouD-Infrastructure-SISKA-2025</a:t>
            </a:r>
          </a:p>
        </p:txBody>
      </p:sp>
      <p:sp>
        <p:nvSpPr>
          <p:cNvPr id="13" name="Rectangle 12"/>
          <p:cNvSpPr/>
          <p:nvPr/>
        </p:nvSpPr>
        <p:spPr>
          <a:xfrm>
            <a:off x="9241690" y="6110959"/>
            <a:ext cx="2751752" cy="215444"/>
          </a:xfrm>
          <a:prstGeom prst="rect">
            <a:avLst/>
          </a:prstGeom>
        </p:spPr>
        <p:txBody>
          <a:bodyPr wrap="square">
            <a:spAutoFit/>
          </a:bodyPr>
          <a:lstStyle/>
          <a:p>
            <a:pPr algn="r"/>
            <a:r>
              <a:rPr lang="en-US" sz="800" dirty="0"/>
              <a:t>https://</a:t>
            </a:r>
            <a:r>
              <a:rPr lang="en-US" sz="800" dirty="0" smtClean="0"/>
              <a:t>github.com/amelcharolinesgn2/CCNA1</a:t>
            </a:r>
            <a:endParaRPr lang="en-US" sz="800" dirty="0"/>
          </a:p>
        </p:txBody>
      </p:sp>
      <p:sp>
        <p:nvSpPr>
          <p:cNvPr id="14" name="Rectangle 13"/>
          <p:cNvSpPr/>
          <p:nvPr/>
        </p:nvSpPr>
        <p:spPr>
          <a:xfrm>
            <a:off x="9241690" y="6241384"/>
            <a:ext cx="2751752" cy="215444"/>
          </a:xfrm>
          <a:prstGeom prst="rect">
            <a:avLst/>
          </a:prstGeom>
        </p:spPr>
        <p:txBody>
          <a:bodyPr wrap="square">
            <a:spAutoFit/>
          </a:bodyPr>
          <a:lstStyle/>
          <a:p>
            <a:pPr algn="r"/>
            <a:r>
              <a:rPr lang="en-US" sz="800" dirty="0"/>
              <a:t>https://</a:t>
            </a:r>
            <a:r>
              <a:rPr lang="en-US" sz="800" dirty="0" smtClean="0"/>
              <a:t>github.com/amelcharolinesgn2/CCNA2</a:t>
            </a:r>
            <a:endParaRPr lang="en-US" sz="800" dirty="0"/>
          </a:p>
        </p:txBody>
      </p:sp>
      <p:sp>
        <p:nvSpPr>
          <p:cNvPr id="15" name="Rectangle 14"/>
          <p:cNvSpPr/>
          <p:nvPr/>
        </p:nvSpPr>
        <p:spPr>
          <a:xfrm>
            <a:off x="9241690" y="6339914"/>
            <a:ext cx="2751752" cy="215444"/>
          </a:xfrm>
          <a:prstGeom prst="rect">
            <a:avLst/>
          </a:prstGeom>
        </p:spPr>
        <p:txBody>
          <a:bodyPr wrap="square">
            <a:spAutoFit/>
          </a:bodyPr>
          <a:lstStyle/>
          <a:p>
            <a:pPr algn="r"/>
            <a:r>
              <a:rPr lang="en-US" sz="800" dirty="0">
                <a:hlinkClick r:id="rId4"/>
              </a:rPr>
              <a:t>https://</a:t>
            </a:r>
            <a:r>
              <a:rPr lang="en-US" sz="800" dirty="0" smtClean="0">
                <a:hlinkClick r:id="rId4"/>
              </a:rPr>
              <a:t>github.com/amelcharolinesgn2/AWS</a:t>
            </a:r>
            <a:r>
              <a:rPr lang="en-US" sz="800" dirty="0" smtClean="0"/>
              <a:t> Certificate</a:t>
            </a:r>
            <a:endParaRPr lang="en-US" sz="800" dirty="0"/>
          </a:p>
        </p:txBody>
      </p:sp>
      <p:sp>
        <p:nvSpPr>
          <p:cNvPr id="2" name="Rectangle 1"/>
          <p:cNvSpPr/>
          <p:nvPr/>
        </p:nvSpPr>
        <p:spPr>
          <a:xfrm>
            <a:off x="2743200" y="2195143"/>
            <a:ext cx="6096000" cy="646331"/>
          </a:xfrm>
          <a:prstGeom prst="rect">
            <a:avLst/>
          </a:prstGeom>
        </p:spPr>
        <p:txBody>
          <a:bodyPr>
            <a:spAutoFit/>
          </a:bodyPr>
          <a:lstStyle/>
          <a:p>
            <a:r>
              <a:rPr lang="en-US" dirty="0" err="1">
                <a:solidFill>
                  <a:schemeClr val="bg1"/>
                </a:solidFill>
              </a:rPr>
              <a:t>konsep</a:t>
            </a:r>
            <a:r>
              <a:rPr lang="en-US" dirty="0">
                <a:solidFill>
                  <a:schemeClr val="bg1"/>
                </a:solidFill>
              </a:rPr>
              <a:t>, </a:t>
            </a:r>
            <a:r>
              <a:rPr lang="en-US" dirty="0" err="1">
                <a:solidFill>
                  <a:schemeClr val="bg1"/>
                </a:solidFill>
              </a:rPr>
              <a:t>perbedaan</a:t>
            </a:r>
            <a:r>
              <a:rPr lang="en-US" dirty="0">
                <a:solidFill>
                  <a:schemeClr val="bg1"/>
                </a:solidFill>
              </a:rPr>
              <a:t> model,</a:t>
            </a:r>
          </a:p>
          <a:p>
            <a:r>
              <a:rPr lang="en-US" dirty="0" err="1">
                <a:solidFill>
                  <a:schemeClr val="bg1"/>
                </a:solidFill>
              </a:rPr>
              <a:t>DynamoDB</a:t>
            </a:r>
            <a:r>
              <a:rPr lang="en-US" dirty="0">
                <a:solidFill>
                  <a:schemeClr val="bg1"/>
                </a:solidFill>
              </a:rPr>
              <a:t>, </a:t>
            </a:r>
            <a:r>
              <a:rPr lang="en-US" dirty="0" err="1">
                <a:solidFill>
                  <a:schemeClr val="bg1"/>
                </a:solidFill>
              </a:rPr>
              <a:t>dan</a:t>
            </a:r>
            <a:r>
              <a:rPr lang="en-US" dirty="0">
                <a:solidFill>
                  <a:schemeClr val="bg1"/>
                </a:solidFill>
              </a:rPr>
              <a:t> Prometheus</a:t>
            </a:r>
          </a:p>
        </p:txBody>
      </p:sp>
    </p:spTree>
    <p:extLst>
      <p:ext uri="{BB962C8B-B14F-4D97-AF65-F5344CB8AC3E}">
        <p14:creationId xmlns:p14="http://schemas.microsoft.com/office/powerpoint/2010/main" val="23311393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12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1224"/>
          </a:solidFill>
          <a:ln w="12700">
            <a:solidFill>
              <a:srgbClr val="051224"/>
            </a:solidFill>
            <a:prstDash val="solid"/>
          </a:ln>
        </p:spPr>
      </p:sp>
      <p:sp>
        <p:nvSpPr>
          <p:cNvPr id="3" name="Shape 1"/>
          <p:cNvSpPr/>
          <p:nvPr/>
        </p:nvSpPr>
        <p:spPr>
          <a:xfrm>
            <a:off x="0" y="0"/>
            <a:ext cx="12191695" cy="73152"/>
          </a:xfrm>
          <a:prstGeom prst="rect">
            <a:avLst/>
          </a:prstGeom>
          <a:solidFill>
            <a:srgbClr val="2F80ED"/>
          </a:solidFill>
          <a:ln w="12700">
            <a:solidFill>
              <a:srgbClr val="2F80ED"/>
            </a:solidFill>
            <a:prstDash val="solid"/>
          </a:ln>
        </p:spPr>
      </p:sp>
      <p:sp>
        <p:nvSpPr>
          <p:cNvPr id="4" name="Shape 2"/>
          <p:cNvSpPr/>
          <p:nvPr/>
        </p:nvSpPr>
        <p:spPr>
          <a:xfrm>
            <a:off x="9692640" y="0"/>
            <a:ext cx="2499055" cy="73152"/>
          </a:xfrm>
          <a:prstGeom prst="rect">
            <a:avLst/>
          </a:prstGeom>
          <a:solidFill>
            <a:srgbClr val="F2994A"/>
          </a:solidFill>
          <a:ln w="12700">
            <a:solidFill>
              <a:srgbClr val="F2994A"/>
            </a:solidFill>
            <a:prstDash val="solid"/>
          </a:ln>
        </p:spPr>
      </p:sp>
      <p:sp>
        <p:nvSpPr>
          <p:cNvPr id="5" name="Shape 3"/>
          <p:cNvSpPr/>
          <p:nvPr/>
        </p:nvSpPr>
        <p:spPr>
          <a:xfrm>
            <a:off x="548640" y="6236208"/>
            <a:ext cx="11155680" cy="0"/>
          </a:xfrm>
          <a:prstGeom prst="line">
            <a:avLst/>
          </a:prstGeom>
          <a:noFill/>
          <a:ln w="13970">
            <a:solidFill>
              <a:srgbClr val="21456F"/>
            </a:solidFill>
            <a:prstDash val="solid"/>
          </a:ln>
        </p:spPr>
      </p:sp>
      <p:sp>
        <p:nvSpPr>
          <p:cNvPr id="6" name="Text 4"/>
          <p:cNvSpPr/>
          <p:nvPr/>
        </p:nvSpPr>
        <p:spPr>
          <a:xfrm>
            <a:off x="658368" y="475488"/>
            <a:ext cx="4206240" cy="512064"/>
          </a:xfrm>
          <a:prstGeom prst="rect">
            <a:avLst/>
          </a:prstGeom>
          <a:noFill/>
        </p:spPr>
        <p:txBody>
          <a:bodyPr wrap="square" lIns="0" tIns="0" rIns="0" bIns="0" rtlCol="0" anchor="ctr"/>
          <a:lstStyle/>
          <a:p>
            <a:pPr marL="0" indent="0">
              <a:buNone/>
            </a:pPr>
            <a:r>
              <a:rPr lang="en-US" sz="3000" b="1" dirty="0">
                <a:solidFill>
                  <a:srgbClr val="F8FAFC"/>
                </a:solidFill>
              </a:rPr>
              <a:t>Database di AWS</a:t>
            </a:r>
            <a:endParaRPr lang="en-US" sz="3000" dirty="0"/>
          </a:p>
        </p:txBody>
      </p:sp>
      <p:sp>
        <p:nvSpPr>
          <p:cNvPr id="7" name="Text 5"/>
          <p:cNvSpPr/>
          <p:nvPr/>
        </p:nvSpPr>
        <p:spPr>
          <a:xfrm>
            <a:off x="658368" y="1005840"/>
            <a:ext cx="5303520" cy="841248"/>
          </a:xfrm>
          <a:prstGeom prst="rect">
            <a:avLst/>
          </a:prstGeom>
          <a:noFill/>
        </p:spPr>
        <p:txBody>
          <a:bodyPr wrap="square" lIns="0" tIns="0" rIns="0" bIns="0" rtlCol="0" anchor="ctr"/>
          <a:lstStyle/>
          <a:p>
            <a:pPr marL="0" indent="0">
              <a:buNone/>
            </a:pPr>
            <a:r>
              <a:rPr lang="en-US" sz="2400" dirty="0">
                <a:solidFill>
                  <a:srgbClr val="7CC6FF"/>
                </a:solidFill>
              </a:rPr>
              <a:t>konsep, perbedaan model,</a:t>
            </a:r>
            <a:endParaRPr lang="en-US" sz="2400" dirty="0"/>
          </a:p>
          <a:p>
            <a:pPr marL="0" indent="0">
              <a:buNone/>
            </a:pPr>
            <a:r>
              <a:rPr lang="en-US" sz="2400" dirty="0">
                <a:solidFill>
                  <a:srgbClr val="7CC6FF"/>
                </a:solidFill>
              </a:rPr>
              <a:t>DynamoDB, dan Prometheus</a:t>
            </a:r>
            <a:endParaRPr lang="en-US" sz="2400" dirty="0"/>
          </a:p>
        </p:txBody>
      </p:sp>
      <p:sp>
        <p:nvSpPr>
          <p:cNvPr id="8" name="Text 6"/>
          <p:cNvSpPr/>
          <p:nvPr/>
        </p:nvSpPr>
        <p:spPr>
          <a:xfrm>
            <a:off x="658368" y="1965960"/>
            <a:ext cx="4983480" cy="932688"/>
          </a:xfrm>
          <a:prstGeom prst="rect">
            <a:avLst/>
          </a:prstGeom>
          <a:noFill/>
        </p:spPr>
        <p:txBody>
          <a:bodyPr wrap="square" lIns="0" tIns="0" rIns="0" bIns="0" rtlCol="0" anchor="ctr"/>
          <a:lstStyle/>
          <a:p>
            <a:pPr marL="0" indent="0">
              <a:buNone/>
            </a:pPr>
            <a:r>
              <a:rPr lang="en-US" sz="1350" dirty="0">
                <a:solidFill>
                  <a:srgbClr val="B8C7DB"/>
                </a:solidFill>
              </a:rPr>
              <a:t>Slide kuliah untuk menjelaskan mengapa AWS menyediakan beberapa jenis database, lalu menutup pembahasan dengan dua studi kasus penting: DynamoDB untuk data operasional dan Prometheus untuk metrik observability.</a:t>
            </a:r>
            <a:endParaRPr lang="en-US" sz="1350" dirty="0"/>
          </a:p>
        </p:txBody>
      </p:sp>
      <p:sp>
        <p:nvSpPr>
          <p:cNvPr id="9" name="Shape 7"/>
          <p:cNvSpPr/>
          <p:nvPr/>
        </p:nvSpPr>
        <p:spPr>
          <a:xfrm>
            <a:off x="658368" y="3017520"/>
            <a:ext cx="1554480" cy="310896"/>
          </a:xfrm>
          <a:prstGeom prst="roundRect">
            <a:avLst>
              <a:gd name="adj" fmla="val 23529"/>
            </a:avLst>
          </a:prstGeom>
          <a:solidFill>
            <a:srgbClr val="0F2D4F">
              <a:alpha val="92000"/>
            </a:srgbClr>
          </a:solidFill>
          <a:ln w="13970">
            <a:solidFill>
              <a:srgbClr val="2F80ED"/>
            </a:solidFill>
            <a:prstDash val="solid"/>
          </a:ln>
        </p:spPr>
      </p:sp>
      <p:sp>
        <p:nvSpPr>
          <p:cNvPr id="10" name="Text 8"/>
          <p:cNvSpPr/>
          <p:nvPr/>
        </p:nvSpPr>
        <p:spPr>
          <a:xfrm>
            <a:off x="658368" y="3040380"/>
            <a:ext cx="1554480" cy="228600"/>
          </a:xfrm>
          <a:prstGeom prst="rect">
            <a:avLst/>
          </a:prstGeom>
          <a:noFill/>
        </p:spPr>
        <p:txBody>
          <a:bodyPr wrap="square" lIns="0" tIns="0" rIns="0" bIns="0" rtlCol="0" anchor="ctr"/>
          <a:lstStyle/>
          <a:p>
            <a:pPr marL="0" indent="0" algn="ctr">
              <a:buNone/>
            </a:pPr>
            <a:r>
              <a:rPr lang="en-US" sz="1150" b="1" dirty="0">
                <a:solidFill>
                  <a:srgbClr val="2F80ED"/>
                </a:solidFill>
              </a:rPr>
              <a:t>Tujuan pembelajaran</a:t>
            </a:r>
            <a:endParaRPr lang="en-US" sz="1150" dirty="0"/>
          </a:p>
        </p:txBody>
      </p:sp>
      <p:sp>
        <p:nvSpPr>
          <p:cNvPr id="11" name="Shape 9"/>
          <p:cNvSpPr/>
          <p:nvPr/>
        </p:nvSpPr>
        <p:spPr>
          <a:xfrm>
            <a:off x="731520" y="3419856"/>
            <a:ext cx="164592" cy="164592"/>
          </a:xfrm>
          <a:prstGeom prst="ellipse">
            <a:avLst/>
          </a:prstGeom>
          <a:solidFill>
            <a:srgbClr val="2F80ED"/>
          </a:solidFill>
          <a:ln w="12700">
            <a:solidFill>
              <a:srgbClr val="2F80ED"/>
            </a:solidFill>
            <a:prstDash val="solid"/>
          </a:ln>
        </p:spPr>
      </p:sp>
      <p:sp>
        <p:nvSpPr>
          <p:cNvPr id="12" name="Text 10"/>
          <p:cNvSpPr/>
          <p:nvPr/>
        </p:nvSpPr>
        <p:spPr>
          <a:xfrm>
            <a:off x="969264" y="3401568"/>
            <a:ext cx="4389120" cy="228600"/>
          </a:xfrm>
          <a:prstGeom prst="rect">
            <a:avLst/>
          </a:prstGeom>
          <a:noFill/>
        </p:spPr>
        <p:txBody>
          <a:bodyPr wrap="square" lIns="0" tIns="0" rIns="0" bIns="0" rtlCol="0" anchor="ctr"/>
          <a:lstStyle/>
          <a:p>
            <a:pPr marL="0" indent="0">
              <a:buNone/>
            </a:pPr>
            <a:r>
              <a:rPr lang="en-US" sz="1300" dirty="0">
                <a:solidFill>
                  <a:srgbClr val="F8FAFC"/>
                </a:solidFill>
              </a:rPr>
              <a:t>memahami peran database dalam ekosistem AWS</a:t>
            </a:r>
            <a:endParaRPr lang="en-US" sz="1300" dirty="0"/>
          </a:p>
        </p:txBody>
      </p:sp>
      <p:sp>
        <p:nvSpPr>
          <p:cNvPr id="13" name="Shape 11"/>
          <p:cNvSpPr/>
          <p:nvPr/>
        </p:nvSpPr>
        <p:spPr>
          <a:xfrm>
            <a:off x="731520" y="3831336"/>
            <a:ext cx="164592" cy="164592"/>
          </a:xfrm>
          <a:prstGeom prst="ellipse">
            <a:avLst/>
          </a:prstGeom>
          <a:solidFill>
            <a:srgbClr val="F2994A"/>
          </a:solidFill>
          <a:ln w="12700">
            <a:solidFill>
              <a:srgbClr val="F2994A"/>
            </a:solidFill>
            <a:prstDash val="solid"/>
          </a:ln>
        </p:spPr>
      </p:sp>
      <p:sp>
        <p:nvSpPr>
          <p:cNvPr id="14" name="Text 12"/>
          <p:cNvSpPr/>
          <p:nvPr/>
        </p:nvSpPr>
        <p:spPr>
          <a:xfrm>
            <a:off x="969264" y="3813048"/>
            <a:ext cx="4389120" cy="228600"/>
          </a:xfrm>
          <a:prstGeom prst="rect">
            <a:avLst/>
          </a:prstGeom>
          <a:noFill/>
        </p:spPr>
        <p:txBody>
          <a:bodyPr wrap="square" lIns="0" tIns="0" rIns="0" bIns="0" rtlCol="0" anchor="ctr"/>
          <a:lstStyle/>
          <a:p>
            <a:pPr marL="0" indent="0">
              <a:buNone/>
            </a:pPr>
            <a:r>
              <a:rPr lang="en-US" sz="1300" dirty="0">
                <a:solidFill>
                  <a:srgbClr val="F8FAFC"/>
                </a:solidFill>
              </a:rPr>
              <a:t>menjelaskan alasan munculnya banyak model database</a:t>
            </a:r>
            <a:endParaRPr lang="en-US" sz="1300" dirty="0"/>
          </a:p>
        </p:txBody>
      </p:sp>
      <p:sp>
        <p:nvSpPr>
          <p:cNvPr id="15" name="Shape 13"/>
          <p:cNvSpPr/>
          <p:nvPr/>
        </p:nvSpPr>
        <p:spPr>
          <a:xfrm>
            <a:off x="731520" y="4242816"/>
            <a:ext cx="164592" cy="164592"/>
          </a:xfrm>
          <a:prstGeom prst="ellipse">
            <a:avLst/>
          </a:prstGeom>
          <a:solidFill>
            <a:srgbClr val="2F80ED"/>
          </a:solidFill>
          <a:ln w="12700">
            <a:solidFill>
              <a:srgbClr val="2F80ED"/>
            </a:solidFill>
            <a:prstDash val="solid"/>
          </a:ln>
        </p:spPr>
      </p:sp>
      <p:sp>
        <p:nvSpPr>
          <p:cNvPr id="16" name="Text 14"/>
          <p:cNvSpPr/>
          <p:nvPr/>
        </p:nvSpPr>
        <p:spPr>
          <a:xfrm>
            <a:off x="969264" y="4224528"/>
            <a:ext cx="4389120" cy="228600"/>
          </a:xfrm>
          <a:prstGeom prst="rect">
            <a:avLst/>
          </a:prstGeom>
          <a:noFill/>
        </p:spPr>
        <p:txBody>
          <a:bodyPr wrap="square" lIns="0" tIns="0" rIns="0" bIns="0" rtlCol="0" anchor="ctr"/>
          <a:lstStyle/>
          <a:p>
            <a:pPr marL="0" indent="0">
              <a:buNone/>
            </a:pPr>
            <a:r>
              <a:rPr lang="en-US" sz="1300" dirty="0">
                <a:solidFill>
                  <a:srgbClr val="F8FAFC"/>
                </a:solidFill>
              </a:rPr>
              <a:t>membedakan kapan memilih DynamoDB vs Prometheus</a:t>
            </a:r>
            <a:endParaRPr lang="en-US" sz="1300" dirty="0"/>
          </a:p>
        </p:txBody>
      </p:sp>
      <p:sp>
        <p:nvSpPr>
          <p:cNvPr id="17" name="Shape 15"/>
          <p:cNvSpPr/>
          <p:nvPr/>
        </p:nvSpPr>
        <p:spPr>
          <a:xfrm>
            <a:off x="6080760" y="932688"/>
            <a:ext cx="5376672" cy="4526280"/>
          </a:xfrm>
          <a:prstGeom prst="roundRect">
            <a:avLst>
              <a:gd name="adj" fmla="val 2424"/>
            </a:avLst>
          </a:prstGeom>
          <a:solidFill>
            <a:srgbClr val="08162C"/>
          </a:solidFill>
          <a:ln w="15240">
            <a:solidFill>
              <a:srgbClr val="21456F"/>
            </a:solidFill>
            <a:prstDash val="solid"/>
          </a:ln>
        </p:spPr>
      </p:sp>
      <p:sp>
        <p:nvSpPr>
          <p:cNvPr id="18" name="Shape 16"/>
          <p:cNvSpPr/>
          <p:nvPr/>
        </p:nvSpPr>
        <p:spPr>
          <a:xfrm>
            <a:off x="6419088" y="1170432"/>
            <a:ext cx="1920240" cy="310896"/>
          </a:xfrm>
          <a:prstGeom prst="roundRect">
            <a:avLst>
              <a:gd name="adj" fmla="val 23529"/>
            </a:avLst>
          </a:prstGeom>
          <a:solidFill>
            <a:srgbClr val="10335A">
              <a:alpha val="92000"/>
            </a:srgbClr>
          </a:solidFill>
          <a:ln w="13970">
            <a:solidFill>
              <a:srgbClr val="2F80ED"/>
            </a:solidFill>
            <a:prstDash val="solid"/>
          </a:ln>
        </p:spPr>
      </p:sp>
      <p:sp>
        <p:nvSpPr>
          <p:cNvPr id="19" name="Text 17"/>
          <p:cNvSpPr/>
          <p:nvPr/>
        </p:nvSpPr>
        <p:spPr>
          <a:xfrm>
            <a:off x="6419088" y="1193292"/>
            <a:ext cx="1920240" cy="228600"/>
          </a:xfrm>
          <a:prstGeom prst="rect">
            <a:avLst/>
          </a:prstGeom>
          <a:noFill/>
        </p:spPr>
        <p:txBody>
          <a:bodyPr wrap="square" lIns="0" tIns="0" rIns="0" bIns="0" rtlCol="0" anchor="ctr"/>
          <a:lstStyle/>
          <a:p>
            <a:pPr marL="0" indent="0" algn="ctr">
              <a:buNone/>
            </a:pPr>
            <a:r>
              <a:rPr lang="en-US" sz="1100" b="1" dirty="0">
                <a:solidFill>
                  <a:srgbClr val="2F80ED"/>
                </a:solidFill>
              </a:rPr>
              <a:t>Portofolio purpose-built</a:t>
            </a:r>
            <a:endParaRPr lang="en-US" sz="1100" dirty="0"/>
          </a:p>
        </p:txBody>
      </p:sp>
      <p:sp>
        <p:nvSpPr>
          <p:cNvPr id="20" name="Shape 18"/>
          <p:cNvSpPr/>
          <p:nvPr/>
        </p:nvSpPr>
        <p:spPr>
          <a:xfrm>
            <a:off x="6446520" y="1700784"/>
            <a:ext cx="1901952" cy="841248"/>
          </a:xfrm>
          <a:prstGeom prst="roundRect">
            <a:avLst>
              <a:gd name="adj" fmla="val 8696"/>
            </a:avLst>
          </a:prstGeom>
          <a:solidFill>
            <a:srgbClr val="102038"/>
          </a:solidFill>
          <a:ln w="13970">
            <a:solidFill>
              <a:srgbClr val="F2994A"/>
            </a:solidFill>
            <a:prstDash val="solid"/>
          </a:ln>
        </p:spPr>
      </p:sp>
      <p:sp>
        <p:nvSpPr>
          <p:cNvPr id="21" name="Text 19"/>
          <p:cNvSpPr/>
          <p:nvPr/>
        </p:nvSpPr>
        <p:spPr>
          <a:xfrm>
            <a:off x="6556248" y="1828800"/>
            <a:ext cx="1682496" cy="182880"/>
          </a:xfrm>
          <a:prstGeom prst="rect">
            <a:avLst/>
          </a:prstGeom>
          <a:noFill/>
        </p:spPr>
        <p:txBody>
          <a:bodyPr wrap="square" lIns="0" tIns="0" rIns="0" bIns="0" rtlCol="0" anchor="ctr"/>
          <a:lstStyle/>
          <a:p>
            <a:pPr marL="0" indent="0" algn="ctr">
              <a:buNone/>
            </a:pPr>
            <a:r>
              <a:rPr lang="en-US" sz="1250" b="1" dirty="0">
                <a:solidFill>
                  <a:srgbClr val="F2994A"/>
                </a:solidFill>
              </a:rPr>
              <a:t>SQL</a:t>
            </a:r>
            <a:endParaRPr lang="en-US" sz="1250" dirty="0"/>
          </a:p>
        </p:txBody>
      </p:sp>
      <p:sp>
        <p:nvSpPr>
          <p:cNvPr id="22" name="Text 20"/>
          <p:cNvSpPr/>
          <p:nvPr/>
        </p:nvSpPr>
        <p:spPr>
          <a:xfrm>
            <a:off x="6556248" y="2084832"/>
            <a:ext cx="1682496" cy="182880"/>
          </a:xfrm>
          <a:prstGeom prst="rect">
            <a:avLst/>
          </a:prstGeom>
          <a:noFill/>
        </p:spPr>
        <p:txBody>
          <a:bodyPr wrap="square" lIns="0" tIns="0" rIns="0" bIns="0" rtlCol="0" anchor="ctr"/>
          <a:lstStyle/>
          <a:p>
            <a:pPr marL="0" indent="0" algn="ctr">
              <a:buNone/>
            </a:pPr>
            <a:r>
              <a:rPr lang="en-US" sz="1040" dirty="0">
                <a:solidFill>
                  <a:srgbClr val="B8C7DB"/>
                </a:solidFill>
              </a:rPr>
              <a:t>relasi &amp; transaksi</a:t>
            </a:r>
            <a:endParaRPr lang="en-US" sz="1040" dirty="0"/>
          </a:p>
        </p:txBody>
      </p:sp>
      <p:sp>
        <p:nvSpPr>
          <p:cNvPr id="23" name="Shape 21"/>
          <p:cNvSpPr/>
          <p:nvPr/>
        </p:nvSpPr>
        <p:spPr>
          <a:xfrm>
            <a:off x="8732520" y="1700784"/>
            <a:ext cx="1901952" cy="841248"/>
          </a:xfrm>
          <a:prstGeom prst="roundRect">
            <a:avLst>
              <a:gd name="adj" fmla="val 8696"/>
            </a:avLst>
          </a:prstGeom>
          <a:solidFill>
            <a:srgbClr val="102038"/>
          </a:solidFill>
          <a:ln w="13970">
            <a:solidFill>
              <a:srgbClr val="2F80ED"/>
            </a:solidFill>
            <a:prstDash val="solid"/>
          </a:ln>
        </p:spPr>
      </p:sp>
      <p:sp>
        <p:nvSpPr>
          <p:cNvPr id="24" name="Text 22"/>
          <p:cNvSpPr/>
          <p:nvPr/>
        </p:nvSpPr>
        <p:spPr>
          <a:xfrm>
            <a:off x="8842248" y="1828800"/>
            <a:ext cx="1682496" cy="182880"/>
          </a:xfrm>
          <a:prstGeom prst="rect">
            <a:avLst/>
          </a:prstGeom>
          <a:noFill/>
        </p:spPr>
        <p:txBody>
          <a:bodyPr wrap="square" lIns="0" tIns="0" rIns="0" bIns="0" rtlCol="0" anchor="ctr"/>
          <a:lstStyle/>
          <a:p>
            <a:pPr marL="0" indent="0" algn="ctr">
              <a:buNone/>
            </a:pPr>
            <a:r>
              <a:rPr lang="en-US" sz="1250" b="1" dirty="0">
                <a:solidFill>
                  <a:srgbClr val="2F80ED"/>
                </a:solidFill>
              </a:rPr>
              <a:t>Key-Value</a:t>
            </a:r>
            <a:endParaRPr lang="en-US" sz="1250" dirty="0"/>
          </a:p>
        </p:txBody>
      </p:sp>
      <p:sp>
        <p:nvSpPr>
          <p:cNvPr id="25" name="Text 23"/>
          <p:cNvSpPr/>
          <p:nvPr/>
        </p:nvSpPr>
        <p:spPr>
          <a:xfrm>
            <a:off x="8842248" y="2084832"/>
            <a:ext cx="1682496" cy="182880"/>
          </a:xfrm>
          <a:prstGeom prst="rect">
            <a:avLst/>
          </a:prstGeom>
          <a:noFill/>
        </p:spPr>
        <p:txBody>
          <a:bodyPr wrap="square" lIns="0" tIns="0" rIns="0" bIns="0" rtlCol="0" anchor="ctr"/>
          <a:lstStyle/>
          <a:p>
            <a:pPr marL="0" indent="0" algn="ctr">
              <a:buNone/>
            </a:pPr>
            <a:r>
              <a:rPr lang="en-US" sz="1040" dirty="0">
                <a:solidFill>
                  <a:srgbClr val="B8C7DB"/>
                </a:solidFill>
              </a:rPr>
              <a:t>lookup cepat</a:t>
            </a:r>
            <a:endParaRPr lang="en-US" sz="1040" dirty="0"/>
          </a:p>
        </p:txBody>
      </p:sp>
      <p:sp>
        <p:nvSpPr>
          <p:cNvPr id="26" name="Shape 24"/>
          <p:cNvSpPr/>
          <p:nvPr/>
        </p:nvSpPr>
        <p:spPr>
          <a:xfrm>
            <a:off x="6446520" y="2907792"/>
            <a:ext cx="1901952" cy="841248"/>
          </a:xfrm>
          <a:prstGeom prst="roundRect">
            <a:avLst>
              <a:gd name="adj" fmla="val 8696"/>
            </a:avLst>
          </a:prstGeom>
          <a:solidFill>
            <a:srgbClr val="102038"/>
          </a:solidFill>
          <a:ln w="13970">
            <a:solidFill>
              <a:srgbClr val="7CC6FF"/>
            </a:solidFill>
            <a:prstDash val="solid"/>
          </a:ln>
        </p:spPr>
      </p:sp>
      <p:sp>
        <p:nvSpPr>
          <p:cNvPr id="27" name="Text 25"/>
          <p:cNvSpPr/>
          <p:nvPr/>
        </p:nvSpPr>
        <p:spPr>
          <a:xfrm>
            <a:off x="6556248" y="3035808"/>
            <a:ext cx="1682496" cy="182880"/>
          </a:xfrm>
          <a:prstGeom prst="rect">
            <a:avLst/>
          </a:prstGeom>
          <a:noFill/>
        </p:spPr>
        <p:txBody>
          <a:bodyPr wrap="square" lIns="0" tIns="0" rIns="0" bIns="0" rtlCol="0" anchor="ctr"/>
          <a:lstStyle/>
          <a:p>
            <a:pPr marL="0" indent="0" algn="ctr">
              <a:buNone/>
            </a:pPr>
            <a:r>
              <a:rPr lang="en-US" sz="1250" b="1" dirty="0">
                <a:solidFill>
                  <a:srgbClr val="7CC6FF"/>
                </a:solidFill>
              </a:rPr>
              <a:t>Document</a:t>
            </a:r>
            <a:endParaRPr lang="en-US" sz="1250" dirty="0"/>
          </a:p>
        </p:txBody>
      </p:sp>
      <p:sp>
        <p:nvSpPr>
          <p:cNvPr id="28" name="Text 26"/>
          <p:cNvSpPr/>
          <p:nvPr/>
        </p:nvSpPr>
        <p:spPr>
          <a:xfrm>
            <a:off x="6556248" y="3291840"/>
            <a:ext cx="1682496" cy="182880"/>
          </a:xfrm>
          <a:prstGeom prst="rect">
            <a:avLst/>
          </a:prstGeom>
          <a:noFill/>
        </p:spPr>
        <p:txBody>
          <a:bodyPr wrap="square" lIns="0" tIns="0" rIns="0" bIns="0" rtlCol="0" anchor="ctr"/>
          <a:lstStyle/>
          <a:p>
            <a:pPr marL="0" indent="0" algn="ctr">
              <a:buNone/>
            </a:pPr>
            <a:r>
              <a:rPr lang="en-US" sz="1040" dirty="0">
                <a:solidFill>
                  <a:srgbClr val="B8C7DB"/>
                </a:solidFill>
              </a:rPr>
              <a:t>semi-terstruktur</a:t>
            </a:r>
            <a:endParaRPr lang="en-US" sz="1040" dirty="0"/>
          </a:p>
        </p:txBody>
      </p:sp>
      <p:sp>
        <p:nvSpPr>
          <p:cNvPr id="29" name="Shape 27"/>
          <p:cNvSpPr/>
          <p:nvPr/>
        </p:nvSpPr>
        <p:spPr>
          <a:xfrm>
            <a:off x="8732520" y="2907792"/>
            <a:ext cx="1901952" cy="841248"/>
          </a:xfrm>
          <a:prstGeom prst="roundRect">
            <a:avLst>
              <a:gd name="adj" fmla="val 8696"/>
            </a:avLst>
          </a:prstGeom>
          <a:solidFill>
            <a:srgbClr val="102038"/>
          </a:solidFill>
          <a:ln w="13970">
            <a:solidFill>
              <a:srgbClr val="FFB782"/>
            </a:solidFill>
            <a:prstDash val="solid"/>
          </a:ln>
        </p:spPr>
      </p:sp>
      <p:sp>
        <p:nvSpPr>
          <p:cNvPr id="30" name="Text 28"/>
          <p:cNvSpPr/>
          <p:nvPr/>
        </p:nvSpPr>
        <p:spPr>
          <a:xfrm>
            <a:off x="8842248" y="3035808"/>
            <a:ext cx="1682496" cy="182880"/>
          </a:xfrm>
          <a:prstGeom prst="rect">
            <a:avLst/>
          </a:prstGeom>
          <a:noFill/>
        </p:spPr>
        <p:txBody>
          <a:bodyPr wrap="square" lIns="0" tIns="0" rIns="0" bIns="0" rtlCol="0" anchor="ctr"/>
          <a:lstStyle/>
          <a:p>
            <a:pPr marL="0" indent="0" algn="ctr">
              <a:buNone/>
            </a:pPr>
            <a:r>
              <a:rPr lang="en-US" sz="1250" b="1" dirty="0">
                <a:solidFill>
                  <a:srgbClr val="FFB782"/>
                </a:solidFill>
              </a:rPr>
              <a:t>Graph</a:t>
            </a:r>
            <a:endParaRPr lang="en-US" sz="1250" dirty="0"/>
          </a:p>
        </p:txBody>
      </p:sp>
      <p:sp>
        <p:nvSpPr>
          <p:cNvPr id="31" name="Text 29"/>
          <p:cNvSpPr/>
          <p:nvPr/>
        </p:nvSpPr>
        <p:spPr>
          <a:xfrm>
            <a:off x="8842248" y="3291840"/>
            <a:ext cx="1682496" cy="182880"/>
          </a:xfrm>
          <a:prstGeom prst="rect">
            <a:avLst/>
          </a:prstGeom>
          <a:noFill/>
        </p:spPr>
        <p:txBody>
          <a:bodyPr wrap="square" lIns="0" tIns="0" rIns="0" bIns="0" rtlCol="0" anchor="ctr"/>
          <a:lstStyle/>
          <a:p>
            <a:pPr marL="0" indent="0" algn="ctr">
              <a:buNone/>
            </a:pPr>
            <a:r>
              <a:rPr lang="en-US" sz="1040" dirty="0">
                <a:solidFill>
                  <a:srgbClr val="B8C7DB"/>
                </a:solidFill>
              </a:rPr>
              <a:t>relasi kompleks</a:t>
            </a:r>
            <a:endParaRPr lang="en-US" sz="1040" dirty="0"/>
          </a:p>
        </p:txBody>
      </p:sp>
      <p:sp>
        <p:nvSpPr>
          <p:cNvPr id="32" name="Shape 30"/>
          <p:cNvSpPr/>
          <p:nvPr/>
        </p:nvSpPr>
        <p:spPr>
          <a:xfrm>
            <a:off x="6446520" y="4114800"/>
            <a:ext cx="1901952" cy="841248"/>
          </a:xfrm>
          <a:prstGeom prst="roundRect">
            <a:avLst>
              <a:gd name="adj" fmla="val 8696"/>
            </a:avLst>
          </a:prstGeom>
          <a:solidFill>
            <a:srgbClr val="102038"/>
          </a:solidFill>
          <a:ln w="13970">
            <a:solidFill>
              <a:srgbClr val="F2994A"/>
            </a:solidFill>
            <a:prstDash val="solid"/>
          </a:ln>
        </p:spPr>
      </p:sp>
      <p:sp>
        <p:nvSpPr>
          <p:cNvPr id="33" name="Text 31"/>
          <p:cNvSpPr/>
          <p:nvPr/>
        </p:nvSpPr>
        <p:spPr>
          <a:xfrm>
            <a:off x="6556248" y="4242816"/>
            <a:ext cx="1682496" cy="182880"/>
          </a:xfrm>
          <a:prstGeom prst="rect">
            <a:avLst/>
          </a:prstGeom>
          <a:noFill/>
        </p:spPr>
        <p:txBody>
          <a:bodyPr wrap="square" lIns="0" tIns="0" rIns="0" bIns="0" rtlCol="0" anchor="ctr"/>
          <a:lstStyle/>
          <a:p>
            <a:pPr marL="0" indent="0" algn="ctr">
              <a:buNone/>
            </a:pPr>
            <a:r>
              <a:rPr lang="en-US" sz="1250" b="1" dirty="0">
                <a:solidFill>
                  <a:srgbClr val="F2994A"/>
                </a:solidFill>
              </a:rPr>
              <a:t>Time-Series</a:t>
            </a:r>
            <a:endParaRPr lang="en-US" sz="1250" dirty="0"/>
          </a:p>
        </p:txBody>
      </p:sp>
      <p:sp>
        <p:nvSpPr>
          <p:cNvPr id="34" name="Text 32"/>
          <p:cNvSpPr/>
          <p:nvPr/>
        </p:nvSpPr>
        <p:spPr>
          <a:xfrm>
            <a:off x="6556248" y="4498848"/>
            <a:ext cx="1682496" cy="182880"/>
          </a:xfrm>
          <a:prstGeom prst="rect">
            <a:avLst/>
          </a:prstGeom>
          <a:noFill/>
        </p:spPr>
        <p:txBody>
          <a:bodyPr wrap="square" lIns="0" tIns="0" rIns="0" bIns="0" rtlCol="0" anchor="ctr"/>
          <a:lstStyle/>
          <a:p>
            <a:pPr marL="0" indent="0" algn="ctr">
              <a:buNone/>
            </a:pPr>
            <a:r>
              <a:rPr lang="en-US" sz="1040" dirty="0">
                <a:solidFill>
                  <a:srgbClr val="B8C7DB"/>
                </a:solidFill>
              </a:rPr>
              <a:t>data berbasis waktu</a:t>
            </a:r>
            <a:endParaRPr lang="en-US" sz="1040" dirty="0"/>
          </a:p>
        </p:txBody>
      </p:sp>
      <p:sp>
        <p:nvSpPr>
          <p:cNvPr id="35" name="Shape 33"/>
          <p:cNvSpPr/>
          <p:nvPr/>
        </p:nvSpPr>
        <p:spPr>
          <a:xfrm>
            <a:off x="8732520" y="4114800"/>
            <a:ext cx="1901952" cy="841248"/>
          </a:xfrm>
          <a:prstGeom prst="roundRect">
            <a:avLst>
              <a:gd name="adj" fmla="val 8696"/>
            </a:avLst>
          </a:prstGeom>
          <a:solidFill>
            <a:srgbClr val="102038"/>
          </a:solidFill>
          <a:ln w="13970">
            <a:solidFill>
              <a:srgbClr val="2F80ED"/>
            </a:solidFill>
            <a:prstDash val="solid"/>
          </a:ln>
        </p:spPr>
      </p:sp>
      <p:sp>
        <p:nvSpPr>
          <p:cNvPr id="36" name="Text 34"/>
          <p:cNvSpPr/>
          <p:nvPr/>
        </p:nvSpPr>
        <p:spPr>
          <a:xfrm>
            <a:off x="8842248" y="4242816"/>
            <a:ext cx="1682496" cy="182880"/>
          </a:xfrm>
          <a:prstGeom prst="rect">
            <a:avLst/>
          </a:prstGeom>
          <a:noFill/>
        </p:spPr>
        <p:txBody>
          <a:bodyPr wrap="square" lIns="0" tIns="0" rIns="0" bIns="0" rtlCol="0" anchor="ctr"/>
          <a:lstStyle/>
          <a:p>
            <a:pPr marL="0" indent="0" algn="ctr">
              <a:buNone/>
            </a:pPr>
            <a:r>
              <a:rPr lang="en-US" sz="1250" b="1" dirty="0">
                <a:solidFill>
                  <a:srgbClr val="2F80ED"/>
                </a:solidFill>
              </a:rPr>
              <a:t>Ledger</a:t>
            </a:r>
            <a:endParaRPr lang="en-US" sz="1250" dirty="0"/>
          </a:p>
        </p:txBody>
      </p:sp>
      <p:sp>
        <p:nvSpPr>
          <p:cNvPr id="37" name="Text 35"/>
          <p:cNvSpPr/>
          <p:nvPr/>
        </p:nvSpPr>
        <p:spPr>
          <a:xfrm>
            <a:off x="8842248" y="4498848"/>
            <a:ext cx="1682496" cy="182880"/>
          </a:xfrm>
          <a:prstGeom prst="rect">
            <a:avLst/>
          </a:prstGeom>
          <a:noFill/>
        </p:spPr>
        <p:txBody>
          <a:bodyPr wrap="square" lIns="0" tIns="0" rIns="0" bIns="0" rtlCol="0" anchor="ctr"/>
          <a:lstStyle/>
          <a:p>
            <a:pPr marL="0" indent="0" algn="ctr">
              <a:buNone/>
            </a:pPr>
            <a:r>
              <a:rPr lang="en-US" sz="1040" dirty="0">
                <a:solidFill>
                  <a:srgbClr val="B8C7DB"/>
                </a:solidFill>
              </a:rPr>
              <a:t>audit yang tidak mudah diubah</a:t>
            </a:r>
            <a:endParaRPr lang="en-US" sz="1040" dirty="0"/>
          </a:p>
        </p:txBody>
      </p:sp>
      <p:sp>
        <p:nvSpPr>
          <p:cNvPr id="38" name="Text 36"/>
          <p:cNvSpPr/>
          <p:nvPr/>
        </p:nvSpPr>
        <p:spPr>
          <a:xfrm>
            <a:off x="6492240" y="5559552"/>
            <a:ext cx="4663440" cy="310896"/>
          </a:xfrm>
          <a:prstGeom prst="rect">
            <a:avLst/>
          </a:prstGeom>
          <a:noFill/>
        </p:spPr>
        <p:txBody>
          <a:bodyPr wrap="square" lIns="0" tIns="0" rIns="0" bIns="0" rtlCol="0" anchor="ctr"/>
          <a:lstStyle/>
          <a:p>
            <a:pPr marL="0" indent="0" algn="ctr">
              <a:buNone/>
            </a:pPr>
            <a:r>
              <a:rPr lang="en-US" sz="1250" dirty="0">
                <a:solidFill>
                  <a:srgbClr val="B8C7DB"/>
                </a:solidFill>
              </a:rPr>
              <a:t>AWS mendorong pendekatan purpose-built database: tipe database dipilih berdasarkan sifat data dan pola query, bukan dipaksa ke satu mesin yang sama.</a:t>
            </a:r>
            <a:endParaRPr lang="en-US" sz="12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12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1224"/>
          </a:solidFill>
          <a:ln w="12700">
            <a:solidFill>
              <a:srgbClr val="051224"/>
            </a:solidFill>
            <a:prstDash val="solid"/>
          </a:ln>
        </p:spPr>
      </p:sp>
      <p:sp>
        <p:nvSpPr>
          <p:cNvPr id="3" name="Shape 1"/>
          <p:cNvSpPr/>
          <p:nvPr/>
        </p:nvSpPr>
        <p:spPr>
          <a:xfrm>
            <a:off x="0" y="0"/>
            <a:ext cx="12191695" cy="73152"/>
          </a:xfrm>
          <a:prstGeom prst="rect">
            <a:avLst/>
          </a:prstGeom>
          <a:solidFill>
            <a:srgbClr val="2F80ED"/>
          </a:solidFill>
          <a:ln w="12700">
            <a:solidFill>
              <a:srgbClr val="2F80ED"/>
            </a:solidFill>
            <a:prstDash val="solid"/>
          </a:ln>
        </p:spPr>
      </p:sp>
      <p:sp>
        <p:nvSpPr>
          <p:cNvPr id="4" name="Shape 2"/>
          <p:cNvSpPr/>
          <p:nvPr/>
        </p:nvSpPr>
        <p:spPr>
          <a:xfrm>
            <a:off x="9692640" y="0"/>
            <a:ext cx="2499055" cy="73152"/>
          </a:xfrm>
          <a:prstGeom prst="rect">
            <a:avLst/>
          </a:prstGeom>
          <a:solidFill>
            <a:srgbClr val="F2994A"/>
          </a:solidFill>
          <a:ln w="12700">
            <a:solidFill>
              <a:srgbClr val="F2994A"/>
            </a:solidFill>
            <a:prstDash val="solid"/>
          </a:ln>
        </p:spPr>
      </p:sp>
      <p:sp>
        <p:nvSpPr>
          <p:cNvPr id="5" name="Shape 3"/>
          <p:cNvSpPr/>
          <p:nvPr/>
        </p:nvSpPr>
        <p:spPr>
          <a:xfrm>
            <a:off x="548640" y="6236208"/>
            <a:ext cx="11155680" cy="0"/>
          </a:xfrm>
          <a:prstGeom prst="line">
            <a:avLst/>
          </a:prstGeom>
          <a:noFill/>
          <a:ln w="13970">
            <a:solidFill>
              <a:srgbClr val="21456F"/>
            </a:solidFill>
            <a:prstDash val="solid"/>
          </a:ln>
        </p:spPr>
      </p:sp>
      <p:sp>
        <p:nvSpPr>
          <p:cNvPr id="6" name="Text 4"/>
          <p:cNvSpPr/>
          <p:nvPr/>
        </p:nvSpPr>
        <p:spPr>
          <a:xfrm>
            <a:off x="658368" y="347472"/>
            <a:ext cx="8046720" cy="457200"/>
          </a:xfrm>
          <a:prstGeom prst="rect">
            <a:avLst/>
          </a:prstGeom>
          <a:noFill/>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Pendahuluan: apa yang dimaksud database di AWS?</a:t>
            </a:r>
            <a:endParaRPr lang="en-US" sz="2700" dirty="0"/>
          </a:p>
        </p:txBody>
      </p:sp>
      <p:sp>
        <p:nvSpPr>
          <p:cNvPr id="7" name="Text 5"/>
          <p:cNvSpPr/>
          <p:nvPr/>
        </p:nvSpPr>
        <p:spPr>
          <a:xfrm>
            <a:off x="658368" y="822960"/>
            <a:ext cx="9966960" cy="310896"/>
          </a:xfrm>
          <a:prstGeom prst="rect">
            <a:avLst/>
          </a:prstGeom>
          <a:noFill/>
        </p:spPr>
        <p:txBody>
          <a:bodyPr wrap="square" lIns="0" tIns="0" rIns="0" bIns="0" rtlCol="0" anchor="ctr"/>
          <a:lstStyle/>
          <a:p>
            <a:pPr marL="0" indent="0">
              <a:buNone/>
            </a:pPr>
            <a:r>
              <a:rPr lang="en-US" sz="1150" dirty="0">
                <a:solidFill>
                  <a:srgbClr val="B8C7DB"/>
                </a:solidFill>
                <a:latin typeface="Aptos" pitchFamily="34" charset="0"/>
                <a:ea typeface="Aptos" pitchFamily="34" charset="-122"/>
                <a:cs typeface="Aptos" pitchFamily="34" charset="-120"/>
              </a:rPr>
              <a:t>AWS menyediakan layanan basis data terkelola untuk kebutuhan operasional, aplikasi modern, dan observability.</a:t>
            </a:r>
            <a:endParaRPr lang="en-US" sz="1150" dirty="0"/>
          </a:p>
        </p:txBody>
      </p:sp>
      <p:sp>
        <p:nvSpPr>
          <p:cNvPr id="8" name="Text 6"/>
          <p:cNvSpPr/>
          <p:nvPr/>
        </p:nvSpPr>
        <p:spPr>
          <a:xfrm>
            <a:off x="11795760" y="6446520"/>
            <a:ext cx="182880" cy="164592"/>
          </a:xfrm>
          <a:prstGeom prst="rect">
            <a:avLst/>
          </a:prstGeom>
          <a:noFill/>
        </p:spPr>
        <p:txBody>
          <a:bodyPr wrap="square" lIns="0" tIns="0" rIns="0" bIns="0" rtlCol="0" anchor="ctr"/>
          <a:lstStyle/>
          <a:p>
            <a:pPr marL="0" indent="0" algn="r">
              <a:buNone/>
            </a:pPr>
            <a:r>
              <a:rPr lang="en-US" sz="850" dirty="0">
                <a:solidFill>
                  <a:srgbClr val="B8C7DB"/>
                </a:solidFill>
                <a:latin typeface="Aptos" pitchFamily="34" charset="0"/>
                <a:ea typeface="Aptos" pitchFamily="34" charset="-122"/>
                <a:cs typeface="Aptos" pitchFamily="34" charset="-120"/>
              </a:rPr>
              <a:t>2</a:t>
            </a:r>
            <a:endParaRPr lang="en-US" sz="850" dirty="0"/>
          </a:p>
        </p:txBody>
      </p:sp>
      <p:sp>
        <p:nvSpPr>
          <p:cNvPr id="9" name="Shape 7"/>
          <p:cNvSpPr/>
          <p:nvPr/>
        </p:nvSpPr>
        <p:spPr>
          <a:xfrm>
            <a:off x="658368" y="1325880"/>
            <a:ext cx="4754880" cy="4315968"/>
          </a:xfrm>
          <a:prstGeom prst="roundRect">
            <a:avLst>
              <a:gd name="adj" fmla="val 1695"/>
            </a:avLst>
          </a:prstGeom>
          <a:solidFill>
            <a:srgbClr val="0A1930"/>
          </a:solidFill>
          <a:ln w="15240">
            <a:solidFill>
              <a:srgbClr val="2F80ED"/>
            </a:solidFill>
            <a:prstDash val="solid"/>
          </a:ln>
          <a:effectLst>
            <a:outerShdw blurRad="12700" dist="12700" dir="2700000" algn="bl" rotWithShape="0">
              <a:srgbClr val="000000">
                <a:alpha val="20000"/>
              </a:srgbClr>
            </a:outerShdw>
          </a:effectLst>
        </p:spPr>
      </p:sp>
      <p:sp>
        <p:nvSpPr>
          <p:cNvPr id="10" name="Text 8"/>
          <p:cNvSpPr/>
          <p:nvPr/>
        </p:nvSpPr>
        <p:spPr>
          <a:xfrm>
            <a:off x="822960" y="1453896"/>
            <a:ext cx="4425696" cy="274320"/>
          </a:xfrm>
          <a:prstGeom prst="rect">
            <a:avLst/>
          </a:prstGeom>
          <a:noFill/>
        </p:spPr>
        <p:txBody>
          <a:bodyPr wrap="square" lIns="0" tIns="0" rIns="0" bIns="0" rtlCol="0" anchor="ctr"/>
          <a:lstStyle/>
          <a:p>
            <a:pPr marL="0" indent="0">
              <a:buNone/>
            </a:pPr>
            <a:r>
              <a:rPr lang="en-US" sz="1500" b="1" dirty="0">
                <a:solidFill>
                  <a:srgbClr val="F8FAFC"/>
                </a:solidFill>
              </a:rPr>
              <a:t>Definisi kerja</a:t>
            </a:r>
            <a:endParaRPr lang="en-US" sz="1500" dirty="0"/>
          </a:p>
        </p:txBody>
      </p:sp>
      <p:sp>
        <p:nvSpPr>
          <p:cNvPr id="11" name="Text 9"/>
          <p:cNvSpPr/>
          <p:nvPr/>
        </p:nvSpPr>
        <p:spPr>
          <a:xfrm>
            <a:off x="822960" y="1783080"/>
            <a:ext cx="4425696" cy="3749040"/>
          </a:xfrm>
          <a:prstGeom prst="rect">
            <a:avLst/>
          </a:prstGeom>
          <a:noFill/>
        </p:spPr>
        <p:txBody>
          <a:bodyPr wrap="square" lIns="254" tIns="254" rIns="254" bIns="254" rtlCol="0" anchor="t"/>
          <a:lstStyle/>
          <a:p>
            <a:pPr marL="0" indent="0">
              <a:buNone/>
            </a:pPr>
            <a:r>
              <a:rPr lang="en-US" sz="1170" dirty="0">
                <a:solidFill>
                  <a:srgbClr val="F8FAFC"/>
                </a:solidFill>
              </a:rPr>
              <a:t>Basis data adalah sistem untuk menyimpan, memperbarui, dan mengambil data secara terstruktur sesuai kebutuhan aplikasi. Di AWS, fungsi ini dapat dijalankan oleh layanan yang dioptimalkan untuk transaksi, pencarian berdasarkan key, grafik relasi, maupun deret waktu.</a:t>
            </a:r>
            <a:endParaRPr lang="en-US" sz="1170" dirty="0"/>
          </a:p>
        </p:txBody>
      </p:sp>
      <p:sp>
        <p:nvSpPr>
          <p:cNvPr id="12" name="Shape 10"/>
          <p:cNvSpPr/>
          <p:nvPr/>
        </p:nvSpPr>
        <p:spPr>
          <a:xfrm>
            <a:off x="1380490" y="4416171"/>
            <a:ext cx="1737360" cy="310896"/>
          </a:xfrm>
          <a:prstGeom prst="roundRect">
            <a:avLst>
              <a:gd name="adj" fmla="val 23529"/>
            </a:avLst>
          </a:prstGeom>
          <a:solidFill>
            <a:srgbClr val="113257">
              <a:alpha val="92000"/>
            </a:srgbClr>
          </a:solidFill>
          <a:ln w="13970">
            <a:solidFill>
              <a:srgbClr val="2F80ED"/>
            </a:solidFill>
            <a:prstDash val="solid"/>
          </a:ln>
        </p:spPr>
      </p:sp>
      <p:sp>
        <p:nvSpPr>
          <p:cNvPr id="13" name="Text 11"/>
          <p:cNvSpPr/>
          <p:nvPr/>
        </p:nvSpPr>
        <p:spPr>
          <a:xfrm>
            <a:off x="1296670" y="4498721"/>
            <a:ext cx="1737360" cy="228600"/>
          </a:xfrm>
          <a:prstGeom prst="rect">
            <a:avLst/>
          </a:prstGeom>
          <a:noFill/>
        </p:spPr>
        <p:txBody>
          <a:bodyPr wrap="square" lIns="0" tIns="0" rIns="0" bIns="0" rtlCol="0" anchor="ctr"/>
          <a:lstStyle/>
          <a:p>
            <a:pPr marL="0" indent="0" algn="ctr">
              <a:buNone/>
            </a:pPr>
            <a:r>
              <a:rPr lang="en-US" sz="1100" b="1" dirty="0">
                <a:solidFill>
                  <a:srgbClr val="2F80ED"/>
                </a:solidFill>
              </a:rPr>
              <a:t>Mengapa menarik di cloud?</a:t>
            </a:r>
            <a:endParaRPr lang="en-US" sz="1100" dirty="0"/>
          </a:p>
        </p:txBody>
      </p:sp>
      <p:sp>
        <p:nvSpPr>
          <p:cNvPr id="14" name="Shape 12"/>
          <p:cNvSpPr/>
          <p:nvPr/>
        </p:nvSpPr>
        <p:spPr>
          <a:xfrm>
            <a:off x="932688" y="2788920"/>
            <a:ext cx="137160" cy="137160"/>
          </a:xfrm>
          <a:prstGeom prst="ellipse">
            <a:avLst/>
          </a:prstGeom>
          <a:solidFill>
            <a:srgbClr val="2F80ED"/>
          </a:solidFill>
          <a:ln w="12700">
            <a:solidFill>
              <a:srgbClr val="2F80ED"/>
            </a:solidFill>
            <a:prstDash val="solid"/>
          </a:ln>
        </p:spPr>
      </p:sp>
      <p:sp>
        <p:nvSpPr>
          <p:cNvPr id="15" name="Text 13"/>
          <p:cNvSpPr/>
          <p:nvPr/>
        </p:nvSpPr>
        <p:spPr>
          <a:xfrm>
            <a:off x="1143000" y="2761488"/>
            <a:ext cx="3977640" cy="365760"/>
          </a:xfrm>
          <a:prstGeom prst="rect">
            <a:avLst/>
          </a:prstGeom>
          <a:noFill/>
        </p:spPr>
        <p:txBody>
          <a:bodyPr wrap="square" lIns="0" tIns="0" rIns="0" bIns="0" rtlCol="0" anchor="ctr"/>
          <a:lstStyle/>
          <a:p>
            <a:pPr marL="0" indent="0">
              <a:buNone/>
            </a:pPr>
            <a:r>
              <a:rPr lang="en-US" sz="1200" dirty="0">
                <a:solidFill>
                  <a:srgbClr val="F8FAFC"/>
                </a:solidFill>
              </a:rPr>
              <a:t>banyak tugas operasional—provisioning, patching, backup, recovery—ditangani layanan terkelola</a:t>
            </a:r>
            <a:endParaRPr lang="en-US" sz="1200" dirty="0"/>
          </a:p>
        </p:txBody>
      </p:sp>
      <p:sp>
        <p:nvSpPr>
          <p:cNvPr id="16" name="Shape 14"/>
          <p:cNvSpPr/>
          <p:nvPr/>
        </p:nvSpPr>
        <p:spPr>
          <a:xfrm>
            <a:off x="932688" y="3300984"/>
            <a:ext cx="137160" cy="137160"/>
          </a:xfrm>
          <a:prstGeom prst="ellipse">
            <a:avLst/>
          </a:prstGeom>
          <a:solidFill>
            <a:srgbClr val="F2994A"/>
          </a:solidFill>
          <a:ln w="12700">
            <a:solidFill>
              <a:srgbClr val="F2994A"/>
            </a:solidFill>
            <a:prstDash val="solid"/>
          </a:ln>
        </p:spPr>
      </p:sp>
      <p:sp>
        <p:nvSpPr>
          <p:cNvPr id="17" name="Text 15"/>
          <p:cNvSpPr/>
          <p:nvPr/>
        </p:nvSpPr>
        <p:spPr>
          <a:xfrm>
            <a:off x="1143000" y="3273552"/>
            <a:ext cx="3977640" cy="365760"/>
          </a:xfrm>
          <a:prstGeom prst="rect">
            <a:avLst/>
          </a:prstGeom>
          <a:noFill/>
        </p:spPr>
        <p:txBody>
          <a:bodyPr wrap="square" lIns="0" tIns="0" rIns="0" bIns="0" rtlCol="0" anchor="ctr"/>
          <a:lstStyle/>
          <a:p>
            <a:pPr marL="0" indent="0">
              <a:buNone/>
            </a:pPr>
            <a:r>
              <a:rPr lang="en-US" sz="1200" dirty="0">
                <a:solidFill>
                  <a:srgbClr val="F8FAFC"/>
                </a:solidFill>
              </a:rPr>
              <a:t>kapasitas dapat diskalakan mengikuti beban kerja</a:t>
            </a:r>
            <a:endParaRPr lang="en-US" sz="1200" dirty="0"/>
          </a:p>
        </p:txBody>
      </p:sp>
      <p:sp>
        <p:nvSpPr>
          <p:cNvPr id="18" name="Shape 16"/>
          <p:cNvSpPr/>
          <p:nvPr/>
        </p:nvSpPr>
        <p:spPr>
          <a:xfrm>
            <a:off x="932688" y="3813048"/>
            <a:ext cx="137160" cy="137160"/>
          </a:xfrm>
          <a:prstGeom prst="ellipse">
            <a:avLst/>
          </a:prstGeom>
          <a:solidFill>
            <a:srgbClr val="2F80ED"/>
          </a:solidFill>
          <a:ln w="12700">
            <a:solidFill>
              <a:srgbClr val="2F80ED"/>
            </a:solidFill>
            <a:prstDash val="solid"/>
          </a:ln>
        </p:spPr>
      </p:sp>
      <p:sp>
        <p:nvSpPr>
          <p:cNvPr id="19" name="Text 17"/>
          <p:cNvSpPr/>
          <p:nvPr/>
        </p:nvSpPr>
        <p:spPr>
          <a:xfrm>
            <a:off x="1143000" y="3785616"/>
            <a:ext cx="3977640" cy="365760"/>
          </a:xfrm>
          <a:prstGeom prst="rect">
            <a:avLst/>
          </a:prstGeom>
          <a:noFill/>
        </p:spPr>
        <p:txBody>
          <a:bodyPr wrap="square" lIns="0" tIns="0" rIns="0" bIns="0" rtlCol="0" anchor="ctr"/>
          <a:lstStyle/>
          <a:p>
            <a:pPr marL="0" indent="0">
              <a:buNone/>
            </a:pPr>
            <a:r>
              <a:rPr lang="en-US" sz="1200" dirty="0">
                <a:solidFill>
                  <a:srgbClr val="F8FAFC"/>
                </a:solidFill>
              </a:rPr>
              <a:t>arsitek dapat memilih mesin yang paling sesuai dengan pola akses data</a:t>
            </a:r>
            <a:endParaRPr lang="en-US" sz="1200" dirty="0"/>
          </a:p>
        </p:txBody>
      </p:sp>
      <p:sp>
        <p:nvSpPr>
          <p:cNvPr id="20" name="Shape 18"/>
          <p:cNvSpPr/>
          <p:nvPr/>
        </p:nvSpPr>
        <p:spPr>
          <a:xfrm>
            <a:off x="5806440" y="1417320"/>
            <a:ext cx="2194560" cy="1463040"/>
          </a:xfrm>
          <a:prstGeom prst="roundRect">
            <a:avLst>
              <a:gd name="adj" fmla="val 5000"/>
            </a:avLst>
          </a:prstGeom>
          <a:solidFill>
            <a:srgbClr val="0C1B31"/>
          </a:solidFill>
          <a:ln w="14605">
            <a:solidFill>
              <a:srgbClr val="2F80ED"/>
            </a:solidFill>
            <a:prstDash val="solid"/>
          </a:ln>
        </p:spPr>
      </p:sp>
      <p:sp>
        <p:nvSpPr>
          <p:cNvPr id="21" name="Shape 19"/>
          <p:cNvSpPr/>
          <p:nvPr/>
        </p:nvSpPr>
        <p:spPr>
          <a:xfrm>
            <a:off x="5952744" y="1581912"/>
            <a:ext cx="310896" cy="310896"/>
          </a:xfrm>
          <a:prstGeom prst="ellipse">
            <a:avLst/>
          </a:prstGeom>
          <a:solidFill>
            <a:srgbClr val="2F80ED"/>
          </a:solidFill>
          <a:ln w="12700">
            <a:solidFill>
              <a:srgbClr val="2F80ED"/>
            </a:solidFill>
            <a:prstDash val="solid"/>
          </a:ln>
        </p:spPr>
      </p:sp>
      <p:sp>
        <p:nvSpPr>
          <p:cNvPr id="22" name="Text 20"/>
          <p:cNvSpPr/>
          <p:nvPr/>
        </p:nvSpPr>
        <p:spPr>
          <a:xfrm>
            <a:off x="6336792" y="1545336"/>
            <a:ext cx="1463040" cy="256032"/>
          </a:xfrm>
          <a:prstGeom prst="rect">
            <a:avLst/>
          </a:prstGeom>
          <a:noFill/>
        </p:spPr>
        <p:txBody>
          <a:bodyPr wrap="square" lIns="0" tIns="0" rIns="0" bIns="0" rtlCol="0" anchor="ctr"/>
          <a:lstStyle/>
          <a:p>
            <a:pPr marL="0" indent="0">
              <a:buNone/>
            </a:pPr>
            <a:r>
              <a:rPr lang="en-US" sz="1350" b="1" dirty="0">
                <a:solidFill>
                  <a:srgbClr val="F8FAFC"/>
                </a:solidFill>
              </a:rPr>
              <a:t>Data transaksi</a:t>
            </a:r>
            <a:endParaRPr lang="en-US" sz="1350" dirty="0"/>
          </a:p>
        </p:txBody>
      </p:sp>
      <p:sp>
        <p:nvSpPr>
          <p:cNvPr id="23" name="Text 21"/>
          <p:cNvSpPr/>
          <p:nvPr/>
        </p:nvSpPr>
        <p:spPr>
          <a:xfrm>
            <a:off x="5952744" y="1984248"/>
            <a:ext cx="1874520" cy="594360"/>
          </a:xfrm>
          <a:prstGeom prst="rect">
            <a:avLst/>
          </a:prstGeom>
          <a:noFill/>
        </p:spPr>
        <p:txBody>
          <a:bodyPr wrap="square" lIns="0" tIns="0" rIns="0" bIns="0" rtlCol="0" anchor="ctr"/>
          <a:lstStyle/>
          <a:p>
            <a:pPr marL="0" indent="0" algn="l">
              <a:buNone/>
            </a:pPr>
            <a:r>
              <a:rPr lang="en-US" sz="1120" dirty="0">
                <a:solidFill>
                  <a:srgbClr val="B8C7DB"/>
                </a:solidFill>
              </a:rPr>
              <a:t>user profile, order, cart, session</a:t>
            </a:r>
            <a:endParaRPr lang="en-US" sz="1120" dirty="0"/>
          </a:p>
        </p:txBody>
      </p:sp>
      <p:sp>
        <p:nvSpPr>
          <p:cNvPr id="24" name="Shape 22"/>
          <p:cNvSpPr/>
          <p:nvPr/>
        </p:nvSpPr>
        <p:spPr>
          <a:xfrm>
            <a:off x="8412480" y="1417320"/>
            <a:ext cx="2194560" cy="1463040"/>
          </a:xfrm>
          <a:prstGeom prst="roundRect">
            <a:avLst>
              <a:gd name="adj" fmla="val 5000"/>
            </a:avLst>
          </a:prstGeom>
          <a:solidFill>
            <a:srgbClr val="0C1B31"/>
          </a:solidFill>
          <a:ln w="14605">
            <a:solidFill>
              <a:srgbClr val="F2994A"/>
            </a:solidFill>
            <a:prstDash val="solid"/>
          </a:ln>
        </p:spPr>
      </p:sp>
      <p:sp>
        <p:nvSpPr>
          <p:cNvPr id="25" name="Shape 23"/>
          <p:cNvSpPr/>
          <p:nvPr/>
        </p:nvSpPr>
        <p:spPr>
          <a:xfrm>
            <a:off x="8558784" y="1581912"/>
            <a:ext cx="310896" cy="310896"/>
          </a:xfrm>
          <a:prstGeom prst="ellipse">
            <a:avLst/>
          </a:prstGeom>
          <a:solidFill>
            <a:srgbClr val="F2994A"/>
          </a:solidFill>
          <a:ln w="12700">
            <a:solidFill>
              <a:srgbClr val="F2994A"/>
            </a:solidFill>
            <a:prstDash val="solid"/>
          </a:ln>
        </p:spPr>
      </p:sp>
      <p:sp>
        <p:nvSpPr>
          <p:cNvPr id="26" name="Text 24"/>
          <p:cNvSpPr/>
          <p:nvPr/>
        </p:nvSpPr>
        <p:spPr>
          <a:xfrm>
            <a:off x="8942832" y="1545336"/>
            <a:ext cx="1463040" cy="256032"/>
          </a:xfrm>
          <a:prstGeom prst="rect">
            <a:avLst/>
          </a:prstGeom>
          <a:noFill/>
        </p:spPr>
        <p:txBody>
          <a:bodyPr wrap="square" lIns="0" tIns="0" rIns="0" bIns="0" rtlCol="0" anchor="ctr"/>
          <a:lstStyle/>
          <a:p>
            <a:pPr marL="0" indent="0">
              <a:buNone/>
            </a:pPr>
            <a:r>
              <a:rPr lang="en-US" sz="1350" b="1" dirty="0">
                <a:solidFill>
                  <a:srgbClr val="F8FAFC"/>
                </a:solidFill>
              </a:rPr>
              <a:t>Data relasional</a:t>
            </a:r>
            <a:endParaRPr lang="en-US" sz="1350" dirty="0"/>
          </a:p>
        </p:txBody>
      </p:sp>
      <p:sp>
        <p:nvSpPr>
          <p:cNvPr id="27" name="Text 25"/>
          <p:cNvSpPr/>
          <p:nvPr/>
        </p:nvSpPr>
        <p:spPr>
          <a:xfrm>
            <a:off x="8558784" y="1984248"/>
            <a:ext cx="1874520" cy="594360"/>
          </a:xfrm>
          <a:prstGeom prst="rect">
            <a:avLst/>
          </a:prstGeom>
          <a:noFill/>
        </p:spPr>
        <p:txBody>
          <a:bodyPr wrap="square" lIns="0" tIns="0" rIns="0" bIns="0" rtlCol="0" anchor="ctr"/>
          <a:lstStyle/>
          <a:p>
            <a:pPr marL="0" indent="0" algn="l">
              <a:buNone/>
            </a:pPr>
            <a:r>
              <a:rPr lang="en-US" sz="1120" dirty="0">
                <a:solidFill>
                  <a:srgbClr val="B8C7DB"/>
                </a:solidFill>
              </a:rPr>
              <a:t>JOIN, SQL, referential integrity</a:t>
            </a:r>
            <a:endParaRPr lang="en-US" sz="1120" dirty="0"/>
          </a:p>
        </p:txBody>
      </p:sp>
      <p:sp>
        <p:nvSpPr>
          <p:cNvPr id="28" name="Shape 26"/>
          <p:cNvSpPr/>
          <p:nvPr/>
        </p:nvSpPr>
        <p:spPr>
          <a:xfrm>
            <a:off x="5806440" y="3337560"/>
            <a:ext cx="2194560" cy="1463040"/>
          </a:xfrm>
          <a:prstGeom prst="roundRect">
            <a:avLst>
              <a:gd name="adj" fmla="val 5000"/>
            </a:avLst>
          </a:prstGeom>
          <a:solidFill>
            <a:srgbClr val="0C1B31"/>
          </a:solidFill>
          <a:ln w="14605">
            <a:solidFill>
              <a:srgbClr val="F2994A"/>
            </a:solidFill>
            <a:prstDash val="solid"/>
          </a:ln>
        </p:spPr>
      </p:sp>
      <p:sp>
        <p:nvSpPr>
          <p:cNvPr id="29" name="Shape 27"/>
          <p:cNvSpPr/>
          <p:nvPr/>
        </p:nvSpPr>
        <p:spPr>
          <a:xfrm>
            <a:off x="5952744" y="3502152"/>
            <a:ext cx="310896" cy="310896"/>
          </a:xfrm>
          <a:prstGeom prst="ellipse">
            <a:avLst/>
          </a:prstGeom>
          <a:solidFill>
            <a:srgbClr val="F2994A"/>
          </a:solidFill>
          <a:ln w="12700">
            <a:solidFill>
              <a:srgbClr val="F2994A"/>
            </a:solidFill>
            <a:prstDash val="solid"/>
          </a:ln>
        </p:spPr>
      </p:sp>
      <p:sp>
        <p:nvSpPr>
          <p:cNvPr id="30" name="Text 28"/>
          <p:cNvSpPr/>
          <p:nvPr/>
        </p:nvSpPr>
        <p:spPr>
          <a:xfrm>
            <a:off x="6336792" y="3465576"/>
            <a:ext cx="1463040" cy="256032"/>
          </a:xfrm>
          <a:prstGeom prst="rect">
            <a:avLst/>
          </a:prstGeom>
          <a:noFill/>
        </p:spPr>
        <p:txBody>
          <a:bodyPr wrap="square" lIns="0" tIns="0" rIns="0" bIns="0" rtlCol="0" anchor="ctr"/>
          <a:lstStyle/>
          <a:p>
            <a:pPr marL="0" indent="0">
              <a:buNone/>
            </a:pPr>
            <a:r>
              <a:rPr lang="en-US" sz="1350" b="1" dirty="0">
                <a:solidFill>
                  <a:srgbClr val="F8FAFC"/>
                </a:solidFill>
              </a:rPr>
              <a:t>Data metrik</a:t>
            </a:r>
            <a:endParaRPr lang="en-US" sz="1350" dirty="0"/>
          </a:p>
        </p:txBody>
      </p:sp>
      <p:sp>
        <p:nvSpPr>
          <p:cNvPr id="31" name="Text 29"/>
          <p:cNvSpPr/>
          <p:nvPr/>
        </p:nvSpPr>
        <p:spPr>
          <a:xfrm>
            <a:off x="5952744" y="3904488"/>
            <a:ext cx="1874520" cy="594360"/>
          </a:xfrm>
          <a:prstGeom prst="rect">
            <a:avLst/>
          </a:prstGeom>
          <a:noFill/>
        </p:spPr>
        <p:txBody>
          <a:bodyPr wrap="square" lIns="0" tIns="0" rIns="0" bIns="0" rtlCol="0" anchor="ctr"/>
          <a:lstStyle/>
          <a:p>
            <a:pPr marL="0" indent="0" algn="l">
              <a:buNone/>
            </a:pPr>
            <a:r>
              <a:rPr lang="en-US" sz="1120" dirty="0">
                <a:solidFill>
                  <a:srgbClr val="B8C7DB"/>
                </a:solidFill>
              </a:rPr>
              <a:t>CPU, latency, error rate, throughput</a:t>
            </a:r>
            <a:endParaRPr lang="en-US" sz="1120" dirty="0"/>
          </a:p>
        </p:txBody>
      </p:sp>
      <p:sp>
        <p:nvSpPr>
          <p:cNvPr id="32" name="Shape 30"/>
          <p:cNvSpPr/>
          <p:nvPr/>
        </p:nvSpPr>
        <p:spPr>
          <a:xfrm>
            <a:off x="8412480" y="3337560"/>
            <a:ext cx="2194560" cy="1463040"/>
          </a:xfrm>
          <a:prstGeom prst="roundRect">
            <a:avLst>
              <a:gd name="adj" fmla="val 5000"/>
            </a:avLst>
          </a:prstGeom>
          <a:solidFill>
            <a:srgbClr val="0C1B31"/>
          </a:solidFill>
          <a:ln w="14605">
            <a:solidFill>
              <a:srgbClr val="2F80ED"/>
            </a:solidFill>
            <a:prstDash val="solid"/>
          </a:ln>
        </p:spPr>
      </p:sp>
      <p:sp>
        <p:nvSpPr>
          <p:cNvPr id="33" name="Shape 31"/>
          <p:cNvSpPr/>
          <p:nvPr/>
        </p:nvSpPr>
        <p:spPr>
          <a:xfrm>
            <a:off x="8558784" y="3502152"/>
            <a:ext cx="310896" cy="310896"/>
          </a:xfrm>
          <a:prstGeom prst="ellipse">
            <a:avLst/>
          </a:prstGeom>
          <a:solidFill>
            <a:srgbClr val="2F80ED"/>
          </a:solidFill>
          <a:ln w="12700">
            <a:solidFill>
              <a:srgbClr val="2F80ED"/>
            </a:solidFill>
            <a:prstDash val="solid"/>
          </a:ln>
        </p:spPr>
      </p:sp>
      <p:sp>
        <p:nvSpPr>
          <p:cNvPr id="34" name="Text 32"/>
          <p:cNvSpPr/>
          <p:nvPr/>
        </p:nvSpPr>
        <p:spPr>
          <a:xfrm>
            <a:off x="8942832" y="3465576"/>
            <a:ext cx="1463040" cy="256032"/>
          </a:xfrm>
          <a:prstGeom prst="rect">
            <a:avLst/>
          </a:prstGeom>
          <a:noFill/>
        </p:spPr>
        <p:txBody>
          <a:bodyPr wrap="square" lIns="0" tIns="0" rIns="0" bIns="0" rtlCol="0" anchor="ctr"/>
          <a:lstStyle/>
          <a:p>
            <a:pPr marL="0" indent="0">
              <a:buNone/>
            </a:pPr>
            <a:r>
              <a:rPr lang="en-US" sz="1350" b="1" dirty="0">
                <a:solidFill>
                  <a:srgbClr val="F8FAFC"/>
                </a:solidFill>
              </a:rPr>
              <a:t>Data relasi khusus</a:t>
            </a:r>
            <a:endParaRPr lang="en-US" sz="1350" dirty="0"/>
          </a:p>
        </p:txBody>
      </p:sp>
      <p:sp>
        <p:nvSpPr>
          <p:cNvPr id="35" name="Text 33"/>
          <p:cNvSpPr/>
          <p:nvPr/>
        </p:nvSpPr>
        <p:spPr>
          <a:xfrm>
            <a:off x="8558784" y="3904488"/>
            <a:ext cx="1874520" cy="594360"/>
          </a:xfrm>
          <a:prstGeom prst="rect">
            <a:avLst/>
          </a:prstGeom>
          <a:noFill/>
        </p:spPr>
        <p:txBody>
          <a:bodyPr wrap="square" lIns="0" tIns="0" rIns="0" bIns="0" rtlCol="0" anchor="ctr"/>
          <a:lstStyle/>
          <a:p>
            <a:pPr marL="0" indent="0" algn="l">
              <a:buNone/>
            </a:pPr>
            <a:r>
              <a:rPr lang="en-US" sz="1120" dirty="0">
                <a:solidFill>
                  <a:srgbClr val="B8C7DB"/>
                </a:solidFill>
              </a:rPr>
              <a:t>grafik koneksi, dependensi, knowledge graph</a:t>
            </a:r>
            <a:endParaRPr lang="en-US" sz="1120" dirty="0"/>
          </a:p>
        </p:txBody>
      </p:sp>
      <p:sp>
        <p:nvSpPr>
          <p:cNvPr id="36" name="Text 34"/>
          <p:cNvSpPr/>
          <p:nvPr/>
        </p:nvSpPr>
        <p:spPr>
          <a:xfrm>
            <a:off x="5870448" y="5248656"/>
            <a:ext cx="4663440" cy="384048"/>
          </a:xfrm>
          <a:prstGeom prst="rect">
            <a:avLst/>
          </a:prstGeom>
          <a:noFill/>
        </p:spPr>
        <p:txBody>
          <a:bodyPr wrap="square" lIns="0" tIns="0" rIns="0" bIns="0" rtlCol="0" anchor="ctr"/>
          <a:lstStyle/>
          <a:p>
            <a:pPr marL="0" indent="0">
              <a:buNone/>
            </a:pPr>
            <a:r>
              <a:rPr lang="en-US" sz="1300" b="1" dirty="0">
                <a:solidFill>
                  <a:srgbClr val="F8FAFC"/>
                </a:solidFill>
              </a:rPr>
              <a:t>Intinya: AWS tidak hanya menawarkan “tempat menyimpan data”, tetapi kumpulan mesin basis data yang berbeda untuk problem yang berbeda.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12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1224"/>
          </a:solidFill>
          <a:ln w="12700">
            <a:solidFill>
              <a:srgbClr val="051224"/>
            </a:solidFill>
            <a:prstDash val="solid"/>
          </a:ln>
        </p:spPr>
      </p:sp>
      <p:sp>
        <p:nvSpPr>
          <p:cNvPr id="3" name="Shape 1"/>
          <p:cNvSpPr/>
          <p:nvPr/>
        </p:nvSpPr>
        <p:spPr>
          <a:xfrm>
            <a:off x="0" y="0"/>
            <a:ext cx="12191695" cy="73152"/>
          </a:xfrm>
          <a:prstGeom prst="rect">
            <a:avLst/>
          </a:prstGeom>
          <a:solidFill>
            <a:srgbClr val="2F80ED"/>
          </a:solidFill>
          <a:ln w="12700">
            <a:solidFill>
              <a:srgbClr val="2F80ED"/>
            </a:solidFill>
            <a:prstDash val="solid"/>
          </a:ln>
        </p:spPr>
      </p:sp>
      <p:sp>
        <p:nvSpPr>
          <p:cNvPr id="4" name="Shape 2"/>
          <p:cNvSpPr/>
          <p:nvPr/>
        </p:nvSpPr>
        <p:spPr>
          <a:xfrm>
            <a:off x="9692640" y="0"/>
            <a:ext cx="2499055" cy="73152"/>
          </a:xfrm>
          <a:prstGeom prst="rect">
            <a:avLst/>
          </a:prstGeom>
          <a:solidFill>
            <a:srgbClr val="F2994A"/>
          </a:solidFill>
          <a:ln w="12700">
            <a:solidFill>
              <a:srgbClr val="F2994A"/>
            </a:solidFill>
            <a:prstDash val="solid"/>
          </a:ln>
        </p:spPr>
      </p:sp>
      <p:sp>
        <p:nvSpPr>
          <p:cNvPr id="5" name="Shape 3"/>
          <p:cNvSpPr/>
          <p:nvPr/>
        </p:nvSpPr>
        <p:spPr>
          <a:xfrm>
            <a:off x="548640" y="6236208"/>
            <a:ext cx="11155680" cy="0"/>
          </a:xfrm>
          <a:prstGeom prst="line">
            <a:avLst/>
          </a:prstGeom>
          <a:noFill/>
          <a:ln w="13970">
            <a:solidFill>
              <a:srgbClr val="21456F"/>
            </a:solidFill>
            <a:prstDash val="solid"/>
          </a:ln>
        </p:spPr>
      </p:sp>
      <p:sp>
        <p:nvSpPr>
          <p:cNvPr id="6" name="Text 4"/>
          <p:cNvSpPr/>
          <p:nvPr/>
        </p:nvSpPr>
        <p:spPr>
          <a:xfrm>
            <a:off x="658368" y="347472"/>
            <a:ext cx="8046720" cy="457200"/>
          </a:xfrm>
          <a:prstGeom prst="rect">
            <a:avLst/>
          </a:prstGeom>
          <a:noFill/>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Mengapa ada beberapa jenis database?</a:t>
            </a:r>
            <a:endParaRPr lang="en-US" sz="2700" dirty="0"/>
          </a:p>
        </p:txBody>
      </p:sp>
      <p:sp>
        <p:nvSpPr>
          <p:cNvPr id="7" name="Text 5"/>
          <p:cNvSpPr/>
          <p:nvPr/>
        </p:nvSpPr>
        <p:spPr>
          <a:xfrm>
            <a:off x="658368" y="822960"/>
            <a:ext cx="9966960" cy="310896"/>
          </a:xfrm>
          <a:prstGeom prst="rect">
            <a:avLst/>
          </a:prstGeom>
          <a:noFill/>
        </p:spPr>
        <p:txBody>
          <a:bodyPr wrap="square" lIns="0" tIns="0" rIns="0" bIns="0" rtlCol="0" anchor="ctr"/>
          <a:lstStyle/>
          <a:p>
            <a:pPr marL="0" indent="0">
              <a:buNone/>
            </a:pPr>
            <a:r>
              <a:rPr lang="en-US" sz="1150" dirty="0">
                <a:solidFill>
                  <a:srgbClr val="B8C7DB"/>
                </a:solidFill>
                <a:latin typeface="Aptos" pitchFamily="34" charset="0"/>
                <a:ea typeface="Aptos" pitchFamily="34" charset="-122"/>
                <a:cs typeface="Aptos" pitchFamily="34" charset="-120"/>
              </a:rPr>
              <a:t>Tidak ada satu mesin yang optimal untuk seluruh kebutuhan data.</a:t>
            </a:r>
            <a:endParaRPr lang="en-US" sz="1150" dirty="0"/>
          </a:p>
        </p:txBody>
      </p:sp>
      <p:sp>
        <p:nvSpPr>
          <p:cNvPr id="8" name="Text 6"/>
          <p:cNvSpPr/>
          <p:nvPr/>
        </p:nvSpPr>
        <p:spPr>
          <a:xfrm>
            <a:off x="11795760" y="6446520"/>
            <a:ext cx="182880" cy="164592"/>
          </a:xfrm>
          <a:prstGeom prst="rect">
            <a:avLst/>
          </a:prstGeom>
          <a:noFill/>
        </p:spPr>
        <p:txBody>
          <a:bodyPr wrap="square" lIns="0" tIns="0" rIns="0" bIns="0" rtlCol="0" anchor="ctr"/>
          <a:lstStyle/>
          <a:p>
            <a:pPr marL="0" indent="0" algn="r">
              <a:buNone/>
            </a:pPr>
            <a:r>
              <a:rPr lang="en-US" sz="850" dirty="0">
                <a:solidFill>
                  <a:srgbClr val="B8C7DB"/>
                </a:solidFill>
                <a:latin typeface="Aptos" pitchFamily="34" charset="0"/>
                <a:ea typeface="Aptos" pitchFamily="34" charset="-122"/>
                <a:cs typeface="Aptos" pitchFamily="34" charset="-120"/>
              </a:rPr>
              <a:t>3</a:t>
            </a:r>
            <a:endParaRPr lang="en-US" sz="850" dirty="0"/>
          </a:p>
        </p:txBody>
      </p:sp>
      <p:sp>
        <p:nvSpPr>
          <p:cNvPr id="9" name="Shape 7"/>
          <p:cNvSpPr/>
          <p:nvPr/>
        </p:nvSpPr>
        <p:spPr>
          <a:xfrm>
            <a:off x="713232" y="1417320"/>
            <a:ext cx="3246120" cy="3474720"/>
          </a:xfrm>
          <a:prstGeom prst="roundRect">
            <a:avLst>
              <a:gd name="adj" fmla="val 2254"/>
            </a:avLst>
          </a:prstGeom>
          <a:solidFill>
            <a:srgbClr val="0A1930"/>
          </a:solidFill>
          <a:ln w="15240">
            <a:solidFill>
              <a:srgbClr val="2F80ED"/>
            </a:solidFill>
            <a:prstDash val="solid"/>
          </a:ln>
          <a:effectLst>
            <a:outerShdw blurRad="12700" dist="12700" dir="2700000" algn="bl" rotWithShape="0">
              <a:srgbClr val="000000">
                <a:alpha val="20000"/>
              </a:srgbClr>
            </a:outerShdw>
          </a:effectLst>
        </p:spPr>
      </p:sp>
      <p:sp>
        <p:nvSpPr>
          <p:cNvPr id="10" name="Text 8"/>
          <p:cNvSpPr/>
          <p:nvPr/>
        </p:nvSpPr>
        <p:spPr>
          <a:xfrm>
            <a:off x="877824" y="1545336"/>
            <a:ext cx="2916936" cy="274320"/>
          </a:xfrm>
          <a:prstGeom prst="rect">
            <a:avLst/>
          </a:prstGeom>
          <a:noFill/>
        </p:spPr>
        <p:txBody>
          <a:bodyPr wrap="square" lIns="0" tIns="0" rIns="0" bIns="0" rtlCol="0" anchor="ctr"/>
          <a:lstStyle/>
          <a:p>
            <a:pPr marL="0" indent="0">
              <a:buNone/>
            </a:pPr>
            <a:r>
              <a:rPr lang="en-US" sz="1500" b="1" dirty="0">
                <a:solidFill>
                  <a:srgbClr val="F8FAFC"/>
                </a:solidFill>
              </a:rPr>
              <a:t>Masalah utamanya</a:t>
            </a:r>
            <a:endParaRPr lang="en-US" sz="1500" dirty="0"/>
          </a:p>
        </p:txBody>
      </p:sp>
      <p:sp>
        <p:nvSpPr>
          <p:cNvPr id="11" name="Text 9"/>
          <p:cNvSpPr/>
          <p:nvPr/>
        </p:nvSpPr>
        <p:spPr>
          <a:xfrm>
            <a:off x="877824" y="1874520"/>
            <a:ext cx="2916936" cy="2907792"/>
          </a:xfrm>
          <a:prstGeom prst="rect">
            <a:avLst/>
          </a:prstGeom>
          <a:noFill/>
        </p:spPr>
        <p:txBody>
          <a:bodyPr wrap="square" lIns="254" tIns="254" rIns="254" bIns="254" rtlCol="0" anchor="t"/>
          <a:lstStyle/>
          <a:p>
            <a:pPr marL="0" indent="0">
              <a:buNone/>
            </a:pPr>
            <a:r>
              <a:rPr lang="en-US" sz="1170" dirty="0">
                <a:solidFill>
                  <a:srgbClr val="F8FAFC"/>
                </a:solidFill>
              </a:rPr>
              <a:t>Setiap sistem memiliki prioritas yang berbeda. Karena itu, database yang dipilih harus mengikuti kebutuhan sistem, bukan kebiasaan organisasi semata.</a:t>
            </a:r>
            <a:endParaRPr lang="en-US" sz="1170" dirty="0"/>
          </a:p>
        </p:txBody>
      </p:sp>
      <p:sp>
        <p:nvSpPr>
          <p:cNvPr id="12" name="Shape 10"/>
          <p:cNvSpPr/>
          <p:nvPr/>
        </p:nvSpPr>
        <p:spPr>
          <a:xfrm>
            <a:off x="4315968" y="1444752"/>
            <a:ext cx="1417320" cy="310896"/>
          </a:xfrm>
          <a:prstGeom prst="roundRect">
            <a:avLst>
              <a:gd name="adj" fmla="val 23529"/>
            </a:avLst>
          </a:prstGeom>
          <a:solidFill>
            <a:srgbClr val="10335A">
              <a:alpha val="92000"/>
            </a:srgbClr>
          </a:solidFill>
          <a:ln w="13970">
            <a:solidFill>
              <a:srgbClr val="2F80ED"/>
            </a:solidFill>
            <a:prstDash val="solid"/>
          </a:ln>
        </p:spPr>
      </p:sp>
      <p:sp>
        <p:nvSpPr>
          <p:cNvPr id="13" name="Text 11"/>
          <p:cNvSpPr/>
          <p:nvPr/>
        </p:nvSpPr>
        <p:spPr>
          <a:xfrm>
            <a:off x="4315968" y="1467612"/>
            <a:ext cx="1417320" cy="228600"/>
          </a:xfrm>
          <a:prstGeom prst="rect">
            <a:avLst/>
          </a:prstGeom>
          <a:noFill/>
        </p:spPr>
        <p:txBody>
          <a:bodyPr wrap="square" lIns="0" tIns="0" rIns="0" bIns="0" rtlCol="0" anchor="ctr"/>
          <a:lstStyle/>
          <a:p>
            <a:pPr marL="0" indent="0" algn="ctr">
              <a:buNone/>
            </a:pPr>
            <a:r>
              <a:rPr lang="en-US" sz="1080" b="1" dirty="0">
                <a:solidFill>
                  <a:srgbClr val="2F80ED"/>
                </a:solidFill>
              </a:rPr>
              <a:t>Faktor pembeda</a:t>
            </a:r>
            <a:endParaRPr lang="en-US" sz="1080" dirty="0"/>
          </a:p>
        </p:txBody>
      </p:sp>
      <p:sp>
        <p:nvSpPr>
          <p:cNvPr id="14" name="Shape 12"/>
          <p:cNvSpPr/>
          <p:nvPr/>
        </p:nvSpPr>
        <p:spPr>
          <a:xfrm>
            <a:off x="4315968" y="1920240"/>
            <a:ext cx="1298448" cy="438912"/>
          </a:xfrm>
          <a:prstGeom prst="roundRect">
            <a:avLst>
              <a:gd name="adj" fmla="val 14583"/>
            </a:avLst>
          </a:prstGeom>
          <a:solidFill>
            <a:srgbClr val="0D1D34"/>
          </a:solidFill>
          <a:ln w="13970">
            <a:solidFill>
              <a:srgbClr val="F2994A"/>
            </a:solidFill>
            <a:prstDash val="solid"/>
          </a:ln>
        </p:spPr>
      </p:sp>
      <p:sp>
        <p:nvSpPr>
          <p:cNvPr id="15" name="Text 13"/>
          <p:cNvSpPr/>
          <p:nvPr/>
        </p:nvSpPr>
        <p:spPr>
          <a:xfrm>
            <a:off x="4343400" y="2052828"/>
            <a:ext cx="1243584" cy="164592"/>
          </a:xfrm>
          <a:prstGeom prst="rect">
            <a:avLst/>
          </a:prstGeom>
          <a:noFill/>
        </p:spPr>
        <p:txBody>
          <a:bodyPr wrap="square" lIns="0" tIns="0" rIns="0" bIns="0" rtlCol="0" anchor="ctr"/>
          <a:lstStyle/>
          <a:p>
            <a:pPr marL="0" indent="0" algn="ctr">
              <a:buNone/>
            </a:pPr>
            <a:r>
              <a:rPr lang="en-US" sz="1020" b="1" dirty="0">
                <a:solidFill>
                  <a:srgbClr val="F2994A"/>
                </a:solidFill>
              </a:rPr>
              <a:t>availability</a:t>
            </a:r>
            <a:endParaRPr lang="en-US" sz="1020" dirty="0"/>
          </a:p>
        </p:txBody>
      </p:sp>
      <p:sp>
        <p:nvSpPr>
          <p:cNvPr id="16" name="Shape 14"/>
          <p:cNvSpPr/>
          <p:nvPr/>
        </p:nvSpPr>
        <p:spPr>
          <a:xfrm>
            <a:off x="5870448" y="1920240"/>
            <a:ext cx="1298448" cy="438912"/>
          </a:xfrm>
          <a:prstGeom prst="roundRect">
            <a:avLst>
              <a:gd name="adj" fmla="val 14583"/>
            </a:avLst>
          </a:prstGeom>
          <a:solidFill>
            <a:srgbClr val="0D1D34"/>
          </a:solidFill>
          <a:ln w="13970">
            <a:solidFill>
              <a:srgbClr val="2F80ED"/>
            </a:solidFill>
            <a:prstDash val="solid"/>
          </a:ln>
        </p:spPr>
      </p:sp>
      <p:sp>
        <p:nvSpPr>
          <p:cNvPr id="17" name="Text 15"/>
          <p:cNvSpPr/>
          <p:nvPr/>
        </p:nvSpPr>
        <p:spPr>
          <a:xfrm>
            <a:off x="5897880" y="2052828"/>
            <a:ext cx="1243584" cy="164592"/>
          </a:xfrm>
          <a:prstGeom prst="rect">
            <a:avLst/>
          </a:prstGeom>
          <a:noFill/>
        </p:spPr>
        <p:txBody>
          <a:bodyPr wrap="square" lIns="0" tIns="0" rIns="0" bIns="0" rtlCol="0" anchor="ctr"/>
          <a:lstStyle/>
          <a:p>
            <a:pPr marL="0" indent="0" algn="ctr">
              <a:buNone/>
            </a:pPr>
            <a:r>
              <a:rPr lang="en-US" sz="1020" b="1" dirty="0">
                <a:solidFill>
                  <a:srgbClr val="2F80ED"/>
                </a:solidFill>
              </a:rPr>
              <a:t>consistency</a:t>
            </a:r>
            <a:endParaRPr lang="en-US" sz="1020" dirty="0"/>
          </a:p>
        </p:txBody>
      </p:sp>
      <p:sp>
        <p:nvSpPr>
          <p:cNvPr id="18" name="Shape 16"/>
          <p:cNvSpPr/>
          <p:nvPr/>
        </p:nvSpPr>
        <p:spPr>
          <a:xfrm>
            <a:off x="7424928" y="1920240"/>
            <a:ext cx="1298448" cy="438912"/>
          </a:xfrm>
          <a:prstGeom prst="roundRect">
            <a:avLst>
              <a:gd name="adj" fmla="val 14583"/>
            </a:avLst>
          </a:prstGeom>
          <a:solidFill>
            <a:srgbClr val="0D1D34"/>
          </a:solidFill>
          <a:ln w="13970">
            <a:solidFill>
              <a:srgbClr val="FFB782"/>
            </a:solidFill>
            <a:prstDash val="solid"/>
          </a:ln>
        </p:spPr>
      </p:sp>
      <p:sp>
        <p:nvSpPr>
          <p:cNvPr id="19" name="Text 17"/>
          <p:cNvSpPr/>
          <p:nvPr/>
        </p:nvSpPr>
        <p:spPr>
          <a:xfrm>
            <a:off x="7452360" y="2052828"/>
            <a:ext cx="1243584" cy="164592"/>
          </a:xfrm>
          <a:prstGeom prst="rect">
            <a:avLst/>
          </a:prstGeom>
          <a:noFill/>
        </p:spPr>
        <p:txBody>
          <a:bodyPr wrap="square" lIns="0" tIns="0" rIns="0" bIns="0" rtlCol="0" anchor="ctr"/>
          <a:lstStyle/>
          <a:p>
            <a:pPr marL="0" indent="0" algn="ctr">
              <a:buNone/>
            </a:pPr>
            <a:r>
              <a:rPr lang="en-US" sz="1020" b="1" dirty="0">
                <a:solidFill>
                  <a:srgbClr val="FFB782"/>
                </a:solidFill>
              </a:rPr>
              <a:t>latency</a:t>
            </a:r>
            <a:endParaRPr lang="en-US" sz="1020" dirty="0"/>
          </a:p>
        </p:txBody>
      </p:sp>
      <p:sp>
        <p:nvSpPr>
          <p:cNvPr id="20" name="Shape 18"/>
          <p:cNvSpPr/>
          <p:nvPr/>
        </p:nvSpPr>
        <p:spPr>
          <a:xfrm>
            <a:off x="8979408" y="1920240"/>
            <a:ext cx="1298448" cy="438912"/>
          </a:xfrm>
          <a:prstGeom prst="roundRect">
            <a:avLst>
              <a:gd name="adj" fmla="val 14583"/>
            </a:avLst>
          </a:prstGeom>
          <a:solidFill>
            <a:srgbClr val="0D1D34"/>
          </a:solidFill>
          <a:ln w="13970">
            <a:solidFill>
              <a:srgbClr val="7CC6FF"/>
            </a:solidFill>
            <a:prstDash val="solid"/>
          </a:ln>
        </p:spPr>
      </p:sp>
      <p:sp>
        <p:nvSpPr>
          <p:cNvPr id="21" name="Text 19"/>
          <p:cNvSpPr/>
          <p:nvPr/>
        </p:nvSpPr>
        <p:spPr>
          <a:xfrm>
            <a:off x="9006840" y="2052828"/>
            <a:ext cx="1243584" cy="164592"/>
          </a:xfrm>
          <a:prstGeom prst="rect">
            <a:avLst/>
          </a:prstGeom>
          <a:noFill/>
        </p:spPr>
        <p:txBody>
          <a:bodyPr wrap="square" lIns="0" tIns="0" rIns="0" bIns="0" rtlCol="0" anchor="ctr"/>
          <a:lstStyle/>
          <a:p>
            <a:pPr marL="0" indent="0" algn="ctr">
              <a:buNone/>
            </a:pPr>
            <a:r>
              <a:rPr lang="en-US" sz="1020" b="1" dirty="0">
                <a:solidFill>
                  <a:srgbClr val="7CC6FF"/>
                </a:solidFill>
              </a:rPr>
              <a:t>durability</a:t>
            </a:r>
            <a:endParaRPr lang="en-US" sz="1020" dirty="0"/>
          </a:p>
        </p:txBody>
      </p:sp>
      <p:sp>
        <p:nvSpPr>
          <p:cNvPr id="22" name="Shape 20"/>
          <p:cNvSpPr/>
          <p:nvPr/>
        </p:nvSpPr>
        <p:spPr>
          <a:xfrm>
            <a:off x="5102352" y="2542032"/>
            <a:ext cx="1298448" cy="438912"/>
          </a:xfrm>
          <a:prstGeom prst="roundRect">
            <a:avLst>
              <a:gd name="adj" fmla="val 14583"/>
            </a:avLst>
          </a:prstGeom>
          <a:solidFill>
            <a:srgbClr val="0D1D34"/>
          </a:solidFill>
          <a:ln w="13970">
            <a:solidFill>
              <a:srgbClr val="2F80ED"/>
            </a:solidFill>
            <a:prstDash val="solid"/>
          </a:ln>
        </p:spPr>
      </p:sp>
      <p:sp>
        <p:nvSpPr>
          <p:cNvPr id="23" name="Text 21"/>
          <p:cNvSpPr/>
          <p:nvPr/>
        </p:nvSpPr>
        <p:spPr>
          <a:xfrm>
            <a:off x="5129784" y="2674620"/>
            <a:ext cx="1243584" cy="164592"/>
          </a:xfrm>
          <a:prstGeom prst="rect">
            <a:avLst/>
          </a:prstGeom>
          <a:noFill/>
        </p:spPr>
        <p:txBody>
          <a:bodyPr wrap="square" lIns="0" tIns="0" rIns="0" bIns="0" rtlCol="0" anchor="ctr"/>
          <a:lstStyle/>
          <a:p>
            <a:pPr marL="0" indent="0" algn="ctr">
              <a:buNone/>
            </a:pPr>
            <a:r>
              <a:rPr lang="en-US" sz="1020" b="1" dirty="0">
                <a:solidFill>
                  <a:srgbClr val="2F80ED"/>
                </a:solidFill>
              </a:rPr>
              <a:t>scalability</a:t>
            </a:r>
            <a:endParaRPr lang="en-US" sz="1020" dirty="0"/>
          </a:p>
        </p:txBody>
      </p:sp>
      <p:sp>
        <p:nvSpPr>
          <p:cNvPr id="24" name="Shape 22"/>
          <p:cNvSpPr/>
          <p:nvPr/>
        </p:nvSpPr>
        <p:spPr>
          <a:xfrm>
            <a:off x="6931152" y="2542032"/>
            <a:ext cx="1298448" cy="438912"/>
          </a:xfrm>
          <a:prstGeom prst="roundRect">
            <a:avLst>
              <a:gd name="adj" fmla="val 14583"/>
            </a:avLst>
          </a:prstGeom>
          <a:solidFill>
            <a:srgbClr val="0D1D34"/>
          </a:solidFill>
          <a:ln w="13970">
            <a:solidFill>
              <a:srgbClr val="F2994A"/>
            </a:solidFill>
            <a:prstDash val="solid"/>
          </a:ln>
        </p:spPr>
      </p:sp>
      <p:sp>
        <p:nvSpPr>
          <p:cNvPr id="25" name="Text 23"/>
          <p:cNvSpPr/>
          <p:nvPr/>
        </p:nvSpPr>
        <p:spPr>
          <a:xfrm>
            <a:off x="6958584" y="2674620"/>
            <a:ext cx="1243584" cy="164592"/>
          </a:xfrm>
          <a:prstGeom prst="rect">
            <a:avLst/>
          </a:prstGeom>
          <a:noFill/>
        </p:spPr>
        <p:txBody>
          <a:bodyPr wrap="square" lIns="0" tIns="0" rIns="0" bIns="0" rtlCol="0" anchor="ctr"/>
          <a:lstStyle/>
          <a:p>
            <a:pPr marL="0" indent="0" algn="ctr">
              <a:buNone/>
            </a:pPr>
            <a:r>
              <a:rPr lang="en-US" sz="1020" b="1" dirty="0">
                <a:solidFill>
                  <a:srgbClr val="F2994A"/>
                </a:solidFill>
              </a:rPr>
              <a:t>query capability</a:t>
            </a:r>
            <a:endParaRPr lang="en-US" sz="1020" dirty="0"/>
          </a:p>
        </p:txBody>
      </p:sp>
      <p:sp>
        <p:nvSpPr>
          <p:cNvPr id="26" name="Shape 24"/>
          <p:cNvSpPr/>
          <p:nvPr/>
        </p:nvSpPr>
        <p:spPr>
          <a:xfrm>
            <a:off x="8979408" y="2542032"/>
            <a:ext cx="1298448" cy="438912"/>
          </a:xfrm>
          <a:prstGeom prst="roundRect">
            <a:avLst>
              <a:gd name="adj" fmla="val 14583"/>
            </a:avLst>
          </a:prstGeom>
          <a:solidFill>
            <a:srgbClr val="0D1D34"/>
          </a:solidFill>
          <a:ln w="13970">
            <a:solidFill>
              <a:srgbClr val="26C281"/>
            </a:solidFill>
            <a:prstDash val="solid"/>
          </a:ln>
        </p:spPr>
      </p:sp>
      <p:sp>
        <p:nvSpPr>
          <p:cNvPr id="27" name="Text 25"/>
          <p:cNvSpPr/>
          <p:nvPr/>
        </p:nvSpPr>
        <p:spPr>
          <a:xfrm>
            <a:off x="9006840" y="2674620"/>
            <a:ext cx="1243584" cy="164592"/>
          </a:xfrm>
          <a:prstGeom prst="rect">
            <a:avLst/>
          </a:prstGeom>
          <a:noFill/>
        </p:spPr>
        <p:txBody>
          <a:bodyPr wrap="square" lIns="0" tIns="0" rIns="0" bIns="0" rtlCol="0" anchor="ctr"/>
          <a:lstStyle/>
          <a:p>
            <a:pPr marL="0" indent="0" algn="ctr">
              <a:buNone/>
            </a:pPr>
            <a:r>
              <a:rPr lang="en-US" sz="1020" b="1" dirty="0">
                <a:solidFill>
                  <a:srgbClr val="26C281"/>
                </a:solidFill>
              </a:rPr>
              <a:t>access pattern</a:t>
            </a:r>
            <a:endParaRPr lang="en-US" sz="1020" dirty="0"/>
          </a:p>
        </p:txBody>
      </p:sp>
      <p:sp>
        <p:nvSpPr>
          <p:cNvPr id="28" name="Shape 26"/>
          <p:cNvSpPr/>
          <p:nvPr/>
        </p:nvSpPr>
        <p:spPr>
          <a:xfrm>
            <a:off x="4315968" y="3246120"/>
            <a:ext cx="5943600" cy="1005840"/>
          </a:xfrm>
          <a:prstGeom prst="roundRect">
            <a:avLst>
              <a:gd name="adj" fmla="val 7273"/>
            </a:avLst>
          </a:prstGeom>
          <a:solidFill>
            <a:srgbClr val="102038"/>
          </a:solidFill>
          <a:ln w="12700">
            <a:solidFill>
              <a:srgbClr val="21456F"/>
            </a:solidFill>
            <a:prstDash val="solid"/>
          </a:ln>
        </p:spPr>
      </p:sp>
      <p:sp>
        <p:nvSpPr>
          <p:cNvPr id="29" name="Text 27"/>
          <p:cNvSpPr/>
          <p:nvPr/>
        </p:nvSpPr>
        <p:spPr>
          <a:xfrm>
            <a:off x="4553712" y="3547872"/>
            <a:ext cx="5468112" cy="347472"/>
          </a:xfrm>
          <a:prstGeom prst="rect">
            <a:avLst/>
          </a:prstGeom>
          <a:noFill/>
        </p:spPr>
        <p:txBody>
          <a:bodyPr wrap="square" lIns="0" tIns="0" rIns="0" bIns="0" rtlCol="0" anchor="ctr"/>
          <a:lstStyle/>
          <a:p>
            <a:pPr marL="0" indent="0" algn="ctr">
              <a:buNone/>
            </a:pPr>
            <a:r>
              <a:rPr lang="en-US" sz="1320" b="1" dirty="0">
                <a:solidFill>
                  <a:srgbClr val="F8FAFC"/>
                </a:solidFill>
              </a:rPr>
              <a:t>Konsekuensi: satu engine unggul untuk transaksi relasional, engine lain unggul untuk lookup berbasis key, dan engine lain lagi unggul untuk metrik deret waktu.</a:t>
            </a:r>
            <a:endParaRPr lang="en-US" sz="1320" dirty="0"/>
          </a:p>
        </p:txBody>
      </p:sp>
      <p:sp>
        <p:nvSpPr>
          <p:cNvPr id="30" name="Shape 28"/>
          <p:cNvSpPr/>
          <p:nvPr/>
        </p:nvSpPr>
        <p:spPr>
          <a:xfrm>
            <a:off x="658368" y="5074920"/>
            <a:ext cx="3566160" cy="960120"/>
          </a:xfrm>
          <a:prstGeom prst="roundRect">
            <a:avLst>
              <a:gd name="adj" fmla="val 7619"/>
            </a:avLst>
          </a:prstGeom>
          <a:solidFill>
            <a:srgbClr val="0A1930"/>
          </a:solidFill>
          <a:ln w="15240">
            <a:solidFill>
              <a:srgbClr val="2F80ED"/>
            </a:solidFill>
            <a:prstDash val="solid"/>
          </a:ln>
          <a:effectLst>
            <a:outerShdw blurRad="12700" dist="12700" dir="2700000" algn="bl" rotWithShape="0">
              <a:srgbClr val="000000">
                <a:alpha val="20000"/>
              </a:srgbClr>
            </a:outerShdw>
          </a:effectLst>
        </p:spPr>
      </p:sp>
      <p:sp>
        <p:nvSpPr>
          <p:cNvPr id="31" name="Text 29"/>
          <p:cNvSpPr/>
          <p:nvPr/>
        </p:nvSpPr>
        <p:spPr>
          <a:xfrm>
            <a:off x="822960" y="5202936"/>
            <a:ext cx="3236976" cy="274320"/>
          </a:xfrm>
          <a:prstGeom prst="rect">
            <a:avLst/>
          </a:prstGeom>
          <a:noFill/>
        </p:spPr>
        <p:txBody>
          <a:bodyPr wrap="square" lIns="0" tIns="0" rIns="0" bIns="0" rtlCol="0" anchor="ctr"/>
          <a:lstStyle/>
          <a:p>
            <a:pPr marL="0" indent="0">
              <a:buNone/>
            </a:pPr>
            <a:r>
              <a:rPr lang="en-US" sz="1500" b="1" dirty="0">
                <a:solidFill>
                  <a:srgbClr val="F8FAFC"/>
                </a:solidFill>
              </a:rPr>
              <a:t>Jika datanya…</a:t>
            </a:r>
            <a:endParaRPr lang="en-US" sz="1500" dirty="0"/>
          </a:p>
        </p:txBody>
      </p:sp>
      <p:sp>
        <p:nvSpPr>
          <p:cNvPr id="32" name="Text 30"/>
          <p:cNvSpPr/>
          <p:nvPr/>
        </p:nvSpPr>
        <p:spPr>
          <a:xfrm>
            <a:off x="822960" y="5532120"/>
            <a:ext cx="3236976" cy="393192"/>
          </a:xfrm>
          <a:prstGeom prst="rect">
            <a:avLst/>
          </a:prstGeom>
          <a:noFill/>
        </p:spPr>
        <p:txBody>
          <a:bodyPr wrap="square" lIns="254" tIns="254" rIns="254" bIns="254" rtlCol="0" anchor="t"/>
          <a:lstStyle/>
          <a:p>
            <a:pPr marL="0" indent="0">
              <a:buNone/>
            </a:pPr>
            <a:r>
              <a:rPr lang="en-US" sz="1170" dirty="0">
                <a:solidFill>
                  <a:srgbClr val="F8FAFC"/>
                </a:solidFill>
              </a:rPr>
              <a:t>berstruktur kuat, banyak relasi, dan butuh SQL kompleks → pilih basis data relasional.</a:t>
            </a:r>
            <a:endParaRPr lang="en-US" sz="1170" dirty="0"/>
          </a:p>
        </p:txBody>
      </p:sp>
      <p:sp>
        <p:nvSpPr>
          <p:cNvPr id="33" name="Shape 31"/>
          <p:cNvSpPr/>
          <p:nvPr/>
        </p:nvSpPr>
        <p:spPr>
          <a:xfrm>
            <a:off x="4315968" y="5074920"/>
            <a:ext cx="3566160" cy="960120"/>
          </a:xfrm>
          <a:prstGeom prst="roundRect">
            <a:avLst>
              <a:gd name="adj" fmla="val 7619"/>
            </a:avLst>
          </a:prstGeom>
          <a:solidFill>
            <a:srgbClr val="0A1930"/>
          </a:solidFill>
          <a:ln w="15240">
            <a:solidFill>
              <a:srgbClr val="F2994A"/>
            </a:solidFill>
            <a:prstDash val="solid"/>
          </a:ln>
          <a:effectLst>
            <a:outerShdw blurRad="12700" dist="12700" dir="2700000" algn="bl" rotWithShape="0">
              <a:srgbClr val="000000">
                <a:alpha val="20000"/>
              </a:srgbClr>
            </a:outerShdw>
          </a:effectLst>
        </p:spPr>
      </p:sp>
      <p:sp>
        <p:nvSpPr>
          <p:cNvPr id="34" name="Text 32"/>
          <p:cNvSpPr/>
          <p:nvPr/>
        </p:nvSpPr>
        <p:spPr>
          <a:xfrm>
            <a:off x="4480560" y="5202936"/>
            <a:ext cx="3236976" cy="274320"/>
          </a:xfrm>
          <a:prstGeom prst="rect">
            <a:avLst/>
          </a:prstGeom>
          <a:noFill/>
        </p:spPr>
        <p:txBody>
          <a:bodyPr wrap="square" lIns="0" tIns="0" rIns="0" bIns="0" rtlCol="0" anchor="ctr"/>
          <a:lstStyle/>
          <a:p>
            <a:pPr marL="0" indent="0">
              <a:buNone/>
            </a:pPr>
            <a:r>
              <a:rPr lang="en-US" sz="1500" b="1" dirty="0">
                <a:solidFill>
                  <a:srgbClr val="F8FAFC"/>
                </a:solidFill>
              </a:rPr>
              <a:t>Jika polanya…</a:t>
            </a:r>
            <a:endParaRPr lang="en-US" sz="1500" dirty="0"/>
          </a:p>
        </p:txBody>
      </p:sp>
      <p:sp>
        <p:nvSpPr>
          <p:cNvPr id="35" name="Text 33"/>
          <p:cNvSpPr/>
          <p:nvPr/>
        </p:nvSpPr>
        <p:spPr>
          <a:xfrm>
            <a:off x="4480560" y="5532120"/>
            <a:ext cx="3236976" cy="393192"/>
          </a:xfrm>
          <a:prstGeom prst="rect">
            <a:avLst/>
          </a:prstGeom>
          <a:noFill/>
        </p:spPr>
        <p:txBody>
          <a:bodyPr wrap="square" lIns="254" tIns="254" rIns="254" bIns="254" rtlCol="0" anchor="t"/>
          <a:lstStyle/>
          <a:p>
            <a:pPr marL="0" indent="0">
              <a:buNone/>
            </a:pPr>
            <a:r>
              <a:rPr lang="en-US" sz="1170" dirty="0">
                <a:solidFill>
                  <a:srgbClr val="F8FAFC"/>
                </a:solidFill>
              </a:rPr>
              <a:t>lookup cepat berdasarkan key dan throughput sangat besar → pilih key-value seperti DynamoDB.</a:t>
            </a:r>
            <a:endParaRPr lang="en-US" sz="1170" dirty="0"/>
          </a:p>
        </p:txBody>
      </p:sp>
      <p:sp>
        <p:nvSpPr>
          <p:cNvPr id="36" name="Shape 34"/>
          <p:cNvSpPr/>
          <p:nvPr/>
        </p:nvSpPr>
        <p:spPr>
          <a:xfrm>
            <a:off x="7973568" y="5074920"/>
            <a:ext cx="3566160" cy="960120"/>
          </a:xfrm>
          <a:prstGeom prst="roundRect">
            <a:avLst>
              <a:gd name="adj" fmla="val 7619"/>
            </a:avLst>
          </a:prstGeom>
          <a:solidFill>
            <a:srgbClr val="0A1930"/>
          </a:solidFill>
          <a:ln w="15240">
            <a:solidFill>
              <a:srgbClr val="FFB782"/>
            </a:solidFill>
            <a:prstDash val="solid"/>
          </a:ln>
          <a:effectLst>
            <a:outerShdw blurRad="12700" dist="12700" dir="2700000" algn="bl" rotWithShape="0">
              <a:srgbClr val="000000">
                <a:alpha val="20000"/>
              </a:srgbClr>
            </a:outerShdw>
          </a:effectLst>
        </p:spPr>
      </p:sp>
      <p:sp>
        <p:nvSpPr>
          <p:cNvPr id="37" name="Text 35"/>
          <p:cNvSpPr/>
          <p:nvPr/>
        </p:nvSpPr>
        <p:spPr>
          <a:xfrm>
            <a:off x="8138160" y="5202936"/>
            <a:ext cx="3236976" cy="274320"/>
          </a:xfrm>
          <a:prstGeom prst="rect">
            <a:avLst/>
          </a:prstGeom>
          <a:noFill/>
        </p:spPr>
        <p:txBody>
          <a:bodyPr wrap="square" lIns="0" tIns="0" rIns="0" bIns="0" rtlCol="0" anchor="ctr"/>
          <a:lstStyle/>
          <a:p>
            <a:pPr marL="0" indent="0">
              <a:buNone/>
            </a:pPr>
            <a:r>
              <a:rPr lang="en-US" sz="1500" b="1" dirty="0">
                <a:solidFill>
                  <a:srgbClr val="F8FAFC"/>
                </a:solidFill>
              </a:rPr>
              <a:t>Jika yang disimpan…</a:t>
            </a:r>
            <a:endParaRPr lang="en-US" sz="1500" dirty="0"/>
          </a:p>
        </p:txBody>
      </p:sp>
      <p:sp>
        <p:nvSpPr>
          <p:cNvPr id="38" name="Text 36"/>
          <p:cNvSpPr/>
          <p:nvPr/>
        </p:nvSpPr>
        <p:spPr>
          <a:xfrm>
            <a:off x="8138160" y="5532120"/>
            <a:ext cx="3236976" cy="393192"/>
          </a:xfrm>
          <a:prstGeom prst="rect">
            <a:avLst/>
          </a:prstGeom>
          <a:noFill/>
        </p:spPr>
        <p:txBody>
          <a:bodyPr wrap="square" lIns="254" tIns="254" rIns="254" bIns="254" rtlCol="0" anchor="t"/>
          <a:lstStyle/>
          <a:p>
            <a:pPr marL="0" indent="0">
              <a:buNone/>
            </a:pPr>
            <a:r>
              <a:rPr lang="en-US" sz="1170" dirty="0">
                <a:solidFill>
                  <a:srgbClr val="F8FAFC"/>
                </a:solidFill>
              </a:rPr>
              <a:t>adalah metrik periodik dan dianalisis per rentang waktu → pilih time-series seperti Prometheus/AMP.</a:t>
            </a:r>
            <a:endParaRPr lang="en-US" sz="117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12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1224"/>
          </a:solidFill>
          <a:ln w="12700">
            <a:solidFill>
              <a:srgbClr val="051224"/>
            </a:solidFill>
            <a:prstDash val="solid"/>
          </a:ln>
        </p:spPr>
      </p:sp>
      <p:sp>
        <p:nvSpPr>
          <p:cNvPr id="3" name="Shape 1"/>
          <p:cNvSpPr/>
          <p:nvPr/>
        </p:nvSpPr>
        <p:spPr>
          <a:xfrm>
            <a:off x="0" y="0"/>
            <a:ext cx="12191695" cy="73152"/>
          </a:xfrm>
          <a:prstGeom prst="rect">
            <a:avLst/>
          </a:prstGeom>
          <a:solidFill>
            <a:srgbClr val="2F80ED"/>
          </a:solidFill>
          <a:ln w="12700">
            <a:solidFill>
              <a:srgbClr val="2F80ED"/>
            </a:solidFill>
            <a:prstDash val="solid"/>
          </a:ln>
        </p:spPr>
      </p:sp>
      <p:sp>
        <p:nvSpPr>
          <p:cNvPr id="4" name="Shape 2"/>
          <p:cNvSpPr/>
          <p:nvPr/>
        </p:nvSpPr>
        <p:spPr>
          <a:xfrm>
            <a:off x="9692640" y="0"/>
            <a:ext cx="2499055" cy="73152"/>
          </a:xfrm>
          <a:prstGeom prst="rect">
            <a:avLst/>
          </a:prstGeom>
          <a:solidFill>
            <a:srgbClr val="F2994A"/>
          </a:solidFill>
          <a:ln w="12700">
            <a:solidFill>
              <a:srgbClr val="F2994A"/>
            </a:solidFill>
            <a:prstDash val="solid"/>
          </a:ln>
        </p:spPr>
      </p:sp>
      <p:sp>
        <p:nvSpPr>
          <p:cNvPr id="5" name="Shape 3"/>
          <p:cNvSpPr/>
          <p:nvPr/>
        </p:nvSpPr>
        <p:spPr>
          <a:xfrm>
            <a:off x="548640" y="6236208"/>
            <a:ext cx="11155680" cy="0"/>
          </a:xfrm>
          <a:prstGeom prst="line">
            <a:avLst/>
          </a:prstGeom>
          <a:noFill/>
          <a:ln w="13970">
            <a:solidFill>
              <a:srgbClr val="21456F"/>
            </a:solidFill>
            <a:prstDash val="solid"/>
          </a:ln>
        </p:spPr>
      </p:sp>
      <p:sp>
        <p:nvSpPr>
          <p:cNvPr id="6" name="Text 4"/>
          <p:cNvSpPr/>
          <p:nvPr/>
        </p:nvSpPr>
        <p:spPr>
          <a:xfrm>
            <a:off x="658368" y="347472"/>
            <a:ext cx="8046720" cy="457200"/>
          </a:xfrm>
          <a:prstGeom prst="rect">
            <a:avLst/>
          </a:prstGeom>
          <a:noFill/>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Peta singkat model database di AWS</a:t>
            </a:r>
            <a:endParaRPr lang="en-US" sz="2700" dirty="0"/>
          </a:p>
        </p:txBody>
      </p:sp>
      <p:sp>
        <p:nvSpPr>
          <p:cNvPr id="7" name="Text 5"/>
          <p:cNvSpPr/>
          <p:nvPr/>
        </p:nvSpPr>
        <p:spPr>
          <a:xfrm>
            <a:off x="658368" y="822960"/>
            <a:ext cx="9966960" cy="310896"/>
          </a:xfrm>
          <a:prstGeom prst="rect">
            <a:avLst/>
          </a:prstGeom>
          <a:noFill/>
        </p:spPr>
        <p:txBody>
          <a:bodyPr wrap="square" lIns="0" tIns="0" rIns="0" bIns="0" rtlCol="0" anchor="ctr"/>
          <a:lstStyle/>
          <a:p>
            <a:pPr marL="0" indent="0">
              <a:buNone/>
            </a:pPr>
            <a:r>
              <a:rPr lang="en-US" sz="1150" dirty="0">
                <a:solidFill>
                  <a:srgbClr val="B8C7DB"/>
                </a:solidFill>
                <a:latin typeface="Aptos" pitchFamily="34" charset="0"/>
                <a:ea typeface="Aptos" pitchFamily="34" charset="-122"/>
                <a:cs typeface="Aptos" pitchFamily="34" charset="-120"/>
              </a:rPr>
              <a:t>AWS menempatkan tiap engine sebagai purpose-built database untuk pola akses tertentu.</a:t>
            </a:r>
            <a:endParaRPr lang="en-US" sz="1150" dirty="0"/>
          </a:p>
        </p:txBody>
      </p:sp>
      <p:sp>
        <p:nvSpPr>
          <p:cNvPr id="8" name="Text 6"/>
          <p:cNvSpPr/>
          <p:nvPr/>
        </p:nvSpPr>
        <p:spPr>
          <a:xfrm>
            <a:off x="11795760" y="6446520"/>
            <a:ext cx="182880" cy="164592"/>
          </a:xfrm>
          <a:prstGeom prst="rect">
            <a:avLst/>
          </a:prstGeom>
          <a:noFill/>
        </p:spPr>
        <p:txBody>
          <a:bodyPr wrap="square" lIns="0" tIns="0" rIns="0" bIns="0" rtlCol="0" anchor="ctr"/>
          <a:lstStyle/>
          <a:p>
            <a:pPr marL="0" indent="0" algn="r">
              <a:buNone/>
            </a:pPr>
            <a:r>
              <a:rPr lang="en-US" sz="850" dirty="0">
                <a:solidFill>
                  <a:srgbClr val="B8C7DB"/>
                </a:solidFill>
                <a:latin typeface="Aptos" pitchFamily="34" charset="0"/>
                <a:ea typeface="Aptos" pitchFamily="34" charset="-122"/>
                <a:cs typeface="Aptos" pitchFamily="34" charset="-120"/>
              </a:rPr>
              <a:t>4</a:t>
            </a:r>
            <a:endParaRPr lang="en-US" sz="850" dirty="0"/>
          </a:p>
        </p:txBody>
      </p:sp>
      <p:sp>
        <p:nvSpPr>
          <p:cNvPr id="9" name="Shape 7"/>
          <p:cNvSpPr/>
          <p:nvPr/>
        </p:nvSpPr>
        <p:spPr>
          <a:xfrm>
            <a:off x="658368" y="1371600"/>
            <a:ext cx="2331720" cy="1572768"/>
          </a:xfrm>
          <a:prstGeom prst="roundRect">
            <a:avLst>
              <a:gd name="adj" fmla="val 4651"/>
            </a:avLst>
          </a:prstGeom>
          <a:solidFill>
            <a:srgbClr val="0B1A30"/>
          </a:solidFill>
          <a:ln w="14605">
            <a:solidFill>
              <a:srgbClr val="2F80ED"/>
            </a:solidFill>
            <a:prstDash val="solid"/>
          </a:ln>
        </p:spPr>
      </p:sp>
      <p:sp>
        <p:nvSpPr>
          <p:cNvPr id="10" name="Shape 8"/>
          <p:cNvSpPr/>
          <p:nvPr/>
        </p:nvSpPr>
        <p:spPr>
          <a:xfrm>
            <a:off x="822960" y="1536192"/>
            <a:ext cx="256032" cy="256032"/>
          </a:xfrm>
          <a:prstGeom prst="ellipse">
            <a:avLst/>
          </a:prstGeom>
          <a:solidFill>
            <a:srgbClr val="2F80ED"/>
          </a:solidFill>
          <a:ln w="12700">
            <a:solidFill>
              <a:srgbClr val="2F80ED"/>
            </a:solidFill>
            <a:prstDash val="solid"/>
          </a:ln>
        </p:spPr>
      </p:sp>
      <p:sp>
        <p:nvSpPr>
          <p:cNvPr id="11" name="Text 9"/>
          <p:cNvSpPr/>
          <p:nvPr/>
        </p:nvSpPr>
        <p:spPr>
          <a:xfrm>
            <a:off x="1152144" y="1481328"/>
            <a:ext cx="1627632" cy="237744"/>
          </a:xfrm>
          <a:prstGeom prst="rect">
            <a:avLst/>
          </a:prstGeom>
          <a:noFill/>
        </p:spPr>
        <p:txBody>
          <a:bodyPr wrap="square" lIns="0" tIns="0" rIns="0" bIns="0" rtlCol="0" anchor="ctr"/>
          <a:lstStyle/>
          <a:p>
            <a:pPr marL="0" indent="0">
              <a:buNone/>
            </a:pPr>
            <a:r>
              <a:rPr lang="en-US" sz="1400" b="1" dirty="0">
                <a:solidFill>
                  <a:srgbClr val="F8FAFC"/>
                </a:solidFill>
              </a:rPr>
              <a:t>Relational</a:t>
            </a:r>
            <a:endParaRPr lang="en-US" sz="1400" dirty="0"/>
          </a:p>
        </p:txBody>
      </p:sp>
      <p:sp>
        <p:nvSpPr>
          <p:cNvPr id="12" name="Text 10"/>
          <p:cNvSpPr/>
          <p:nvPr/>
        </p:nvSpPr>
        <p:spPr>
          <a:xfrm>
            <a:off x="822960" y="1883664"/>
            <a:ext cx="1920240" cy="219456"/>
          </a:xfrm>
          <a:prstGeom prst="rect">
            <a:avLst/>
          </a:prstGeom>
          <a:noFill/>
        </p:spPr>
        <p:txBody>
          <a:bodyPr wrap="square" lIns="0" tIns="0" rIns="0" bIns="0" rtlCol="0" anchor="ctr"/>
          <a:lstStyle/>
          <a:p>
            <a:pPr marL="0" indent="0">
              <a:buNone/>
            </a:pPr>
            <a:r>
              <a:rPr lang="en-US" sz="1200" b="1" dirty="0">
                <a:solidFill>
                  <a:srgbClr val="2F80ED"/>
                </a:solidFill>
              </a:rPr>
              <a:t>Aurora / RDS</a:t>
            </a:r>
            <a:endParaRPr lang="en-US" sz="1200" dirty="0"/>
          </a:p>
        </p:txBody>
      </p:sp>
      <p:sp>
        <p:nvSpPr>
          <p:cNvPr id="13" name="Text 11"/>
          <p:cNvSpPr/>
          <p:nvPr/>
        </p:nvSpPr>
        <p:spPr>
          <a:xfrm>
            <a:off x="822960" y="2194560"/>
            <a:ext cx="1938528" cy="475488"/>
          </a:xfrm>
          <a:prstGeom prst="rect">
            <a:avLst/>
          </a:prstGeom>
          <a:noFill/>
        </p:spPr>
        <p:txBody>
          <a:bodyPr wrap="square" lIns="0" tIns="0" rIns="0" bIns="0" rtlCol="0" anchor="ctr"/>
          <a:lstStyle/>
          <a:p>
            <a:pPr marL="0" indent="0">
              <a:buNone/>
            </a:pPr>
            <a:r>
              <a:rPr lang="en-US" sz="1090" dirty="0">
                <a:solidFill>
                  <a:srgbClr val="B8C7DB"/>
                </a:solidFill>
              </a:rPr>
              <a:t>SQL, JOIN, transaksi kompleks, skema ketat</a:t>
            </a:r>
            <a:endParaRPr lang="en-US" sz="1090" dirty="0"/>
          </a:p>
        </p:txBody>
      </p:sp>
      <p:sp>
        <p:nvSpPr>
          <p:cNvPr id="14" name="Shape 12"/>
          <p:cNvSpPr/>
          <p:nvPr/>
        </p:nvSpPr>
        <p:spPr>
          <a:xfrm>
            <a:off x="3593592" y="1371600"/>
            <a:ext cx="2331720" cy="1572768"/>
          </a:xfrm>
          <a:prstGeom prst="roundRect">
            <a:avLst>
              <a:gd name="adj" fmla="val 4651"/>
            </a:avLst>
          </a:prstGeom>
          <a:solidFill>
            <a:srgbClr val="0B1A30"/>
          </a:solidFill>
          <a:ln w="14605">
            <a:solidFill>
              <a:srgbClr val="F2994A"/>
            </a:solidFill>
            <a:prstDash val="solid"/>
          </a:ln>
        </p:spPr>
      </p:sp>
      <p:sp>
        <p:nvSpPr>
          <p:cNvPr id="15" name="Shape 13"/>
          <p:cNvSpPr/>
          <p:nvPr/>
        </p:nvSpPr>
        <p:spPr>
          <a:xfrm>
            <a:off x="3758184" y="1536192"/>
            <a:ext cx="256032" cy="256032"/>
          </a:xfrm>
          <a:prstGeom prst="ellipse">
            <a:avLst/>
          </a:prstGeom>
          <a:solidFill>
            <a:srgbClr val="F2994A"/>
          </a:solidFill>
          <a:ln w="12700">
            <a:solidFill>
              <a:srgbClr val="F2994A"/>
            </a:solidFill>
            <a:prstDash val="solid"/>
          </a:ln>
        </p:spPr>
      </p:sp>
      <p:sp>
        <p:nvSpPr>
          <p:cNvPr id="16" name="Text 14"/>
          <p:cNvSpPr/>
          <p:nvPr/>
        </p:nvSpPr>
        <p:spPr>
          <a:xfrm>
            <a:off x="4087368" y="1481328"/>
            <a:ext cx="1627632" cy="237744"/>
          </a:xfrm>
          <a:prstGeom prst="rect">
            <a:avLst/>
          </a:prstGeom>
          <a:noFill/>
        </p:spPr>
        <p:txBody>
          <a:bodyPr wrap="square" lIns="0" tIns="0" rIns="0" bIns="0" rtlCol="0" anchor="ctr"/>
          <a:lstStyle/>
          <a:p>
            <a:pPr marL="0" indent="0">
              <a:buNone/>
            </a:pPr>
            <a:r>
              <a:rPr lang="en-US" sz="1400" b="1" dirty="0">
                <a:solidFill>
                  <a:srgbClr val="F8FAFC"/>
                </a:solidFill>
              </a:rPr>
              <a:t>Key-value</a:t>
            </a:r>
            <a:endParaRPr lang="en-US" sz="1400" dirty="0"/>
          </a:p>
        </p:txBody>
      </p:sp>
      <p:sp>
        <p:nvSpPr>
          <p:cNvPr id="17" name="Text 15"/>
          <p:cNvSpPr/>
          <p:nvPr/>
        </p:nvSpPr>
        <p:spPr>
          <a:xfrm>
            <a:off x="3758184" y="1883664"/>
            <a:ext cx="1920240" cy="219456"/>
          </a:xfrm>
          <a:prstGeom prst="rect">
            <a:avLst/>
          </a:prstGeom>
          <a:noFill/>
        </p:spPr>
        <p:txBody>
          <a:bodyPr wrap="square" lIns="0" tIns="0" rIns="0" bIns="0" rtlCol="0" anchor="ctr"/>
          <a:lstStyle/>
          <a:p>
            <a:pPr marL="0" indent="0">
              <a:buNone/>
            </a:pPr>
            <a:r>
              <a:rPr lang="en-US" sz="1200" b="1" dirty="0">
                <a:solidFill>
                  <a:srgbClr val="F2994A"/>
                </a:solidFill>
              </a:rPr>
              <a:t>DynamoDB</a:t>
            </a:r>
            <a:endParaRPr lang="en-US" sz="1200" dirty="0"/>
          </a:p>
        </p:txBody>
      </p:sp>
      <p:sp>
        <p:nvSpPr>
          <p:cNvPr id="18" name="Text 16"/>
          <p:cNvSpPr/>
          <p:nvPr/>
        </p:nvSpPr>
        <p:spPr>
          <a:xfrm>
            <a:off x="3758184" y="2194560"/>
            <a:ext cx="1938528" cy="475488"/>
          </a:xfrm>
          <a:prstGeom prst="rect">
            <a:avLst/>
          </a:prstGeom>
          <a:noFill/>
        </p:spPr>
        <p:txBody>
          <a:bodyPr wrap="square" lIns="0" tIns="0" rIns="0" bIns="0" rtlCol="0" anchor="ctr"/>
          <a:lstStyle/>
          <a:p>
            <a:pPr marL="0" indent="0">
              <a:buNone/>
            </a:pPr>
            <a:r>
              <a:rPr lang="en-US" sz="1090" dirty="0">
                <a:solidFill>
                  <a:srgbClr val="B8C7DB"/>
                </a:solidFill>
              </a:rPr>
              <a:t>lookup sangat cepat, scale-out, latensi rendah</a:t>
            </a:r>
            <a:endParaRPr lang="en-US" sz="1090" dirty="0"/>
          </a:p>
        </p:txBody>
      </p:sp>
      <p:sp>
        <p:nvSpPr>
          <p:cNvPr id="19" name="Shape 17"/>
          <p:cNvSpPr/>
          <p:nvPr/>
        </p:nvSpPr>
        <p:spPr>
          <a:xfrm>
            <a:off x="6528816" y="1371600"/>
            <a:ext cx="2331720" cy="1572768"/>
          </a:xfrm>
          <a:prstGeom prst="roundRect">
            <a:avLst>
              <a:gd name="adj" fmla="val 4651"/>
            </a:avLst>
          </a:prstGeom>
          <a:solidFill>
            <a:srgbClr val="0B1A30"/>
          </a:solidFill>
          <a:ln w="14605">
            <a:solidFill>
              <a:srgbClr val="7CC6FF"/>
            </a:solidFill>
            <a:prstDash val="solid"/>
          </a:ln>
        </p:spPr>
      </p:sp>
      <p:sp>
        <p:nvSpPr>
          <p:cNvPr id="20" name="Shape 18"/>
          <p:cNvSpPr/>
          <p:nvPr/>
        </p:nvSpPr>
        <p:spPr>
          <a:xfrm>
            <a:off x="6693408" y="1536192"/>
            <a:ext cx="256032" cy="256032"/>
          </a:xfrm>
          <a:prstGeom prst="ellipse">
            <a:avLst/>
          </a:prstGeom>
          <a:solidFill>
            <a:srgbClr val="7CC6FF"/>
          </a:solidFill>
          <a:ln w="12700">
            <a:solidFill>
              <a:srgbClr val="7CC6FF"/>
            </a:solidFill>
            <a:prstDash val="solid"/>
          </a:ln>
        </p:spPr>
      </p:sp>
      <p:sp>
        <p:nvSpPr>
          <p:cNvPr id="21" name="Text 19"/>
          <p:cNvSpPr/>
          <p:nvPr/>
        </p:nvSpPr>
        <p:spPr>
          <a:xfrm>
            <a:off x="7022592" y="1481328"/>
            <a:ext cx="1627632" cy="237744"/>
          </a:xfrm>
          <a:prstGeom prst="rect">
            <a:avLst/>
          </a:prstGeom>
          <a:noFill/>
        </p:spPr>
        <p:txBody>
          <a:bodyPr wrap="square" lIns="0" tIns="0" rIns="0" bIns="0" rtlCol="0" anchor="ctr"/>
          <a:lstStyle/>
          <a:p>
            <a:pPr marL="0" indent="0">
              <a:buNone/>
            </a:pPr>
            <a:r>
              <a:rPr lang="en-US" sz="1400" b="1" dirty="0">
                <a:solidFill>
                  <a:srgbClr val="F8FAFC"/>
                </a:solidFill>
              </a:rPr>
              <a:t>Document</a:t>
            </a:r>
            <a:endParaRPr lang="en-US" sz="1400" dirty="0"/>
          </a:p>
        </p:txBody>
      </p:sp>
      <p:sp>
        <p:nvSpPr>
          <p:cNvPr id="22" name="Text 20"/>
          <p:cNvSpPr/>
          <p:nvPr/>
        </p:nvSpPr>
        <p:spPr>
          <a:xfrm>
            <a:off x="6693408" y="1883664"/>
            <a:ext cx="1920240" cy="219456"/>
          </a:xfrm>
          <a:prstGeom prst="rect">
            <a:avLst/>
          </a:prstGeom>
          <a:noFill/>
        </p:spPr>
        <p:txBody>
          <a:bodyPr wrap="square" lIns="0" tIns="0" rIns="0" bIns="0" rtlCol="0" anchor="ctr"/>
          <a:lstStyle/>
          <a:p>
            <a:pPr marL="0" indent="0">
              <a:buNone/>
            </a:pPr>
            <a:r>
              <a:rPr lang="en-US" sz="1200" b="1" dirty="0">
                <a:solidFill>
                  <a:srgbClr val="7CC6FF"/>
                </a:solidFill>
              </a:rPr>
              <a:t>DocumentDB</a:t>
            </a:r>
            <a:endParaRPr lang="en-US" sz="1200" dirty="0"/>
          </a:p>
        </p:txBody>
      </p:sp>
      <p:sp>
        <p:nvSpPr>
          <p:cNvPr id="23" name="Text 21"/>
          <p:cNvSpPr/>
          <p:nvPr/>
        </p:nvSpPr>
        <p:spPr>
          <a:xfrm>
            <a:off x="6693408" y="2194560"/>
            <a:ext cx="1938528" cy="475488"/>
          </a:xfrm>
          <a:prstGeom prst="rect">
            <a:avLst/>
          </a:prstGeom>
          <a:noFill/>
        </p:spPr>
        <p:txBody>
          <a:bodyPr wrap="square" lIns="0" tIns="0" rIns="0" bIns="0" rtlCol="0" anchor="ctr"/>
          <a:lstStyle/>
          <a:p>
            <a:pPr marL="0" indent="0">
              <a:buNone/>
            </a:pPr>
            <a:r>
              <a:rPr lang="en-US" sz="1090" dirty="0">
                <a:solidFill>
                  <a:srgbClr val="B8C7DB"/>
                </a:solidFill>
              </a:rPr>
              <a:t>dokumen semi-terstruktur berbasis model dokumen</a:t>
            </a:r>
            <a:endParaRPr lang="en-US" sz="1090" dirty="0"/>
          </a:p>
        </p:txBody>
      </p:sp>
      <p:sp>
        <p:nvSpPr>
          <p:cNvPr id="24" name="Shape 22"/>
          <p:cNvSpPr/>
          <p:nvPr/>
        </p:nvSpPr>
        <p:spPr>
          <a:xfrm>
            <a:off x="9464040" y="1371600"/>
            <a:ext cx="2331720" cy="1572768"/>
          </a:xfrm>
          <a:prstGeom prst="roundRect">
            <a:avLst>
              <a:gd name="adj" fmla="val 4651"/>
            </a:avLst>
          </a:prstGeom>
          <a:solidFill>
            <a:srgbClr val="0B1A30"/>
          </a:solidFill>
          <a:ln w="14605">
            <a:solidFill>
              <a:srgbClr val="26C281"/>
            </a:solidFill>
            <a:prstDash val="solid"/>
          </a:ln>
        </p:spPr>
      </p:sp>
      <p:sp>
        <p:nvSpPr>
          <p:cNvPr id="25" name="Shape 23"/>
          <p:cNvSpPr/>
          <p:nvPr/>
        </p:nvSpPr>
        <p:spPr>
          <a:xfrm>
            <a:off x="9628632" y="1536192"/>
            <a:ext cx="256032" cy="256032"/>
          </a:xfrm>
          <a:prstGeom prst="ellipse">
            <a:avLst/>
          </a:prstGeom>
          <a:solidFill>
            <a:srgbClr val="26C281"/>
          </a:solidFill>
          <a:ln w="12700">
            <a:solidFill>
              <a:srgbClr val="26C281"/>
            </a:solidFill>
            <a:prstDash val="solid"/>
          </a:ln>
        </p:spPr>
      </p:sp>
      <p:sp>
        <p:nvSpPr>
          <p:cNvPr id="26" name="Text 24"/>
          <p:cNvSpPr/>
          <p:nvPr/>
        </p:nvSpPr>
        <p:spPr>
          <a:xfrm>
            <a:off x="9957816" y="1481328"/>
            <a:ext cx="1627632" cy="237744"/>
          </a:xfrm>
          <a:prstGeom prst="rect">
            <a:avLst/>
          </a:prstGeom>
          <a:noFill/>
        </p:spPr>
        <p:txBody>
          <a:bodyPr wrap="square" lIns="0" tIns="0" rIns="0" bIns="0" rtlCol="0" anchor="ctr"/>
          <a:lstStyle/>
          <a:p>
            <a:pPr marL="0" indent="0">
              <a:buNone/>
            </a:pPr>
            <a:r>
              <a:rPr lang="en-US" sz="1400" b="1" dirty="0">
                <a:solidFill>
                  <a:srgbClr val="F8FAFC"/>
                </a:solidFill>
              </a:rPr>
              <a:t>In-memory</a:t>
            </a:r>
            <a:endParaRPr lang="en-US" sz="1400" dirty="0"/>
          </a:p>
        </p:txBody>
      </p:sp>
      <p:sp>
        <p:nvSpPr>
          <p:cNvPr id="27" name="Text 25"/>
          <p:cNvSpPr/>
          <p:nvPr/>
        </p:nvSpPr>
        <p:spPr>
          <a:xfrm>
            <a:off x="9628632" y="1883664"/>
            <a:ext cx="1920240" cy="219456"/>
          </a:xfrm>
          <a:prstGeom prst="rect">
            <a:avLst/>
          </a:prstGeom>
          <a:noFill/>
        </p:spPr>
        <p:txBody>
          <a:bodyPr wrap="square" lIns="0" tIns="0" rIns="0" bIns="0" rtlCol="0" anchor="ctr"/>
          <a:lstStyle/>
          <a:p>
            <a:pPr marL="0" indent="0">
              <a:buNone/>
            </a:pPr>
            <a:r>
              <a:rPr lang="en-US" sz="1200" b="1" dirty="0">
                <a:solidFill>
                  <a:srgbClr val="26C281"/>
                </a:solidFill>
              </a:rPr>
              <a:t>ElastiCache</a:t>
            </a:r>
            <a:endParaRPr lang="en-US" sz="1200" dirty="0"/>
          </a:p>
        </p:txBody>
      </p:sp>
      <p:sp>
        <p:nvSpPr>
          <p:cNvPr id="28" name="Text 26"/>
          <p:cNvSpPr/>
          <p:nvPr/>
        </p:nvSpPr>
        <p:spPr>
          <a:xfrm>
            <a:off x="9628632" y="2194560"/>
            <a:ext cx="1938528" cy="475488"/>
          </a:xfrm>
          <a:prstGeom prst="rect">
            <a:avLst/>
          </a:prstGeom>
          <a:noFill/>
        </p:spPr>
        <p:txBody>
          <a:bodyPr wrap="square" lIns="0" tIns="0" rIns="0" bIns="0" rtlCol="0" anchor="ctr"/>
          <a:lstStyle/>
          <a:p>
            <a:pPr marL="0" indent="0">
              <a:buNone/>
            </a:pPr>
            <a:r>
              <a:rPr lang="en-US" sz="1090" dirty="0">
                <a:solidFill>
                  <a:srgbClr val="B8C7DB"/>
                </a:solidFill>
              </a:rPr>
              <a:t>cache, session cache, ultra-low latency</a:t>
            </a:r>
            <a:endParaRPr lang="en-US" sz="1090" dirty="0"/>
          </a:p>
        </p:txBody>
      </p:sp>
      <p:sp>
        <p:nvSpPr>
          <p:cNvPr id="29" name="Shape 27"/>
          <p:cNvSpPr/>
          <p:nvPr/>
        </p:nvSpPr>
        <p:spPr>
          <a:xfrm>
            <a:off x="2121408" y="3657600"/>
            <a:ext cx="2331720" cy="1572768"/>
          </a:xfrm>
          <a:prstGeom prst="roundRect">
            <a:avLst>
              <a:gd name="adj" fmla="val 4651"/>
            </a:avLst>
          </a:prstGeom>
          <a:solidFill>
            <a:srgbClr val="0B1A30"/>
          </a:solidFill>
          <a:ln w="14605">
            <a:solidFill>
              <a:srgbClr val="FFB782"/>
            </a:solidFill>
            <a:prstDash val="solid"/>
          </a:ln>
        </p:spPr>
      </p:sp>
      <p:sp>
        <p:nvSpPr>
          <p:cNvPr id="30" name="Shape 28"/>
          <p:cNvSpPr/>
          <p:nvPr/>
        </p:nvSpPr>
        <p:spPr>
          <a:xfrm>
            <a:off x="2286000" y="3822192"/>
            <a:ext cx="256032" cy="256032"/>
          </a:xfrm>
          <a:prstGeom prst="ellipse">
            <a:avLst/>
          </a:prstGeom>
          <a:solidFill>
            <a:srgbClr val="FFB782"/>
          </a:solidFill>
          <a:ln w="12700">
            <a:solidFill>
              <a:srgbClr val="FFB782"/>
            </a:solidFill>
            <a:prstDash val="solid"/>
          </a:ln>
        </p:spPr>
      </p:sp>
      <p:sp>
        <p:nvSpPr>
          <p:cNvPr id="31" name="Text 29"/>
          <p:cNvSpPr/>
          <p:nvPr/>
        </p:nvSpPr>
        <p:spPr>
          <a:xfrm>
            <a:off x="2615184" y="3767328"/>
            <a:ext cx="1627632" cy="237744"/>
          </a:xfrm>
          <a:prstGeom prst="rect">
            <a:avLst/>
          </a:prstGeom>
          <a:noFill/>
        </p:spPr>
        <p:txBody>
          <a:bodyPr wrap="square" lIns="0" tIns="0" rIns="0" bIns="0" rtlCol="0" anchor="ctr"/>
          <a:lstStyle/>
          <a:p>
            <a:pPr marL="0" indent="0">
              <a:buNone/>
            </a:pPr>
            <a:r>
              <a:rPr lang="en-US" sz="1400" b="1" dirty="0">
                <a:solidFill>
                  <a:srgbClr val="F8FAFC"/>
                </a:solidFill>
              </a:rPr>
              <a:t>Graph</a:t>
            </a:r>
            <a:endParaRPr lang="en-US" sz="1400" dirty="0"/>
          </a:p>
        </p:txBody>
      </p:sp>
      <p:sp>
        <p:nvSpPr>
          <p:cNvPr id="32" name="Text 30"/>
          <p:cNvSpPr/>
          <p:nvPr/>
        </p:nvSpPr>
        <p:spPr>
          <a:xfrm>
            <a:off x="2286000" y="4169664"/>
            <a:ext cx="1920240" cy="219456"/>
          </a:xfrm>
          <a:prstGeom prst="rect">
            <a:avLst/>
          </a:prstGeom>
          <a:noFill/>
        </p:spPr>
        <p:txBody>
          <a:bodyPr wrap="square" lIns="0" tIns="0" rIns="0" bIns="0" rtlCol="0" anchor="ctr"/>
          <a:lstStyle/>
          <a:p>
            <a:pPr marL="0" indent="0">
              <a:buNone/>
            </a:pPr>
            <a:r>
              <a:rPr lang="en-US" sz="1200" b="1" dirty="0">
                <a:solidFill>
                  <a:srgbClr val="FFB782"/>
                </a:solidFill>
              </a:rPr>
              <a:t>Neptune</a:t>
            </a:r>
            <a:endParaRPr lang="en-US" sz="1200" dirty="0"/>
          </a:p>
        </p:txBody>
      </p:sp>
      <p:sp>
        <p:nvSpPr>
          <p:cNvPr id="33" name="Text 31"/>
          <p:cNvSpPr/>
          <p:nvPr/>
        </p:nvSpPr>
        <p:spPr>
          <a:xfrm>
            <a:off x="2286000" y="4480560"/>
            <a:ext cx="1938528" cy="475488"/>
          </a:xfrm>
          <a:prstGeom prst="rect">
            <a:avLst/>
          </a:prstGeom>
          <a:noFill/>
        </p:spPr>
        <p:txBody>
          <a:bodyPr wrap="square" lIns="0" tIns="0" rIns="0" bIns="0" rtlCol="0" anchor="ctr"/>
          <a:lstStyle/>
          <a:p>
            <a:pPr marL="0" indent="0">
              <a:buNone/>
            </a:pPr>
            <a:r>
              <a:rPr lang="en-US" sz="1090" dirty="0">
                <a:solidFill>
                  <a:srgbClr val="B8C7DB"/>
                </a:solidFill>
              </a:rPr>
              <a:t>relasi antar-entitas dan traversal graf</a:t>
            </a:r>
            <a:endParaRPr lang="en-US" sz="1090" dirty="0"/>
          </a:p>
        </p:txBody>
      </p:sp>
      <p:sp>
        <p:nvSpPr>
          <p:cNvPr id="34" name="Shape 32"/>
          <p:cNvSpPr/>
          <p:nvPr/>
        </p:nvSpPr>
        <p:spPr>
          <a:xfrm>
            <a:off x="6583680" y="3657600"/>
            <a:ext cx="2331720" cy="1572768"/>
          </a:xfrm>
          <a:prstGeom prst="roundRect">
            <a:avLst>
              <a:gd name="adj" fmla="val 4651"/>
            </a:avLst>
          </a:prstGeom>
          <a:solidFill>
            <a:srgbClr val="0B1A30"/>
          </a:solidFill>
          <a:ln w="14605">
            <a:solidFill>
              <a:srgbClr val="F2994A"/>
            </a:solidFill>
            <a:prstDash val="solid"/>
          </a:ln>
        </p:spPr>
      </p:sp>
      <p:sp>
        <p:nvSpPr>
          <p:cNvPr id="35" name="Shape 33"/>
          <p:cNvSpPr/>
          <p:nvPr/>
        </p:nvSpPr>
        <p:spPr>
          <a:xfrm>
            <a:off x="6748272" y="3822192"/>
            <a:ext cx="256032" cy="256032"/>
          </a:xfrm>
          <a:prstGeom prst="ellipse">
            <a:avLst/>
          </a:prstGeom>
          <a:solidFill>
            <a:srgbClr val="F2994A"/>
          </a:solidFill>
          <a:ln w="12700">
            <a:solidFill>
              <a:srgbClr val="F2994A"/>
            </a:solidFill>
            <a:prstDash val="solid"/>
          </a:ln>
        </p:spPr>
      </p:sp>
      <p:sp>
        <p:nvSpPr>
          <p:cNvPr id="36" name="Text 34"/>
          <p:cNvSpPr/>
          <p:nvPr/>
        </p:nvSpPr>
        <p:spPr>
          <a:xfrm>
            <a:off x="7077456" y="3767328"/>
            <a:ext cx="1627632" cy="237744"/>
          </a:xfrm>
          <a:prstGeom prst="rect">
            <a:avLst/>
          </a:prstGeom>
          <a:noFill/>
        </p:spPr>
        <p:txBody>
          <a:bodyPr wrap="square" lIns="0" tIns="0" rIns="0" bIns="0" rtlCol="0" anchor="ctr"/>
          <a:lstStyle/>
          <a:p>
            <a:pPr marL="0" indent="0">
              <a:buNone/>
            </a:pPr>
            <a:r>
              <a:rPr lang="en-US" sz="1400" b="1" dirty="0">
                <a:solidFill>
                  <a:srgbClr val="F8FAFC"/>
                </a:solidFill>
              </a:rPr>
              <a:t>Time-series</a:t>
            </a:r>
            <a:endParaRPr lang="en-US" sz="1400" dirty="0"/>
          </a:p>
        </p:txBody>
      </p:sp>
      <p:sp>
        <p:nvSpPr>
          <p:cNvPr id="37" name="Text 35"/>
          <p:cNvSpPr/>
          <p:nvPr/>
        </p:nvSpPr>
        <p:spPr>
          <a:xfrm>
            <a:off x="6748272" y="4169664"/>
            <a:ext cx="1920240" cy="219456"/>
          </a:xfrm>
          <a:prstGeom prst="rect">
            <a:avLst/>
          </a:prstGeom>
          <a:noFill/>
        </p:spPr>
        <p:txBody>
          <a:bodyPr wrap="square" lIns="0" tIns="0" rIns="0" bIns="0" rtlCol="0" anchor="ctr"/>
          <a:lstStyle/>
          <a:p>
            <a:pPr marL="0" indent="0">
              <a:buNone/>
            </a:pPr>
            <a:r>
              <a:rPr lang="en-US" sz="1200" b="1" dirty="0">
                <a:solidFill>
                  <a:srgbClr val="F2994A"/>
                </a:solidFill>
              </a:rPr>
              <a:t>Prometheus / Timestream</a:t>
            </a:r>
            <a:endParaRPr lang="en-US" sz="1200" dirty="0"/>
          </a:p>
        </p:txBody>
      </p:sp>
      <p:sp>
        <p:nvSpPr>
          <p:cNvPr id="38" name="Text 36"/>
          <p:cNvSpPr/>
          <p:nvPr/>
        </p:nvSpPr>
        <p:spPr>
          <a:xfrm>
            <a:off x="6748272" y="4480560"/>
            <a:ext cx="1938528" cy="475488"/>
          </a:xfrm>
          <a:prstGeom prst="rect">
            <a:avLst/>
          </a:prstGeom>
          <a:noFill/>
        </p:spPr>
        <p:txBody>
          <a:bodyPr wrap="square" lIns="0" tIns="0" rIns="0" bIns="0" rtlCol="0" anchor="ctr"/>
          <a:lstStyle/>
          <a:p>
            <a:pPr marL="0" indent="0">
              <a:buNone/>
            </a:pPr>
            <a:r>
              <a:rPr lang="en-US" sz="1090" dirty="0">
                <a:solidFill>
                  <a:srgbClr val="B8C7DB"/>
                </a:solidFill>
              </a:rPr>
              <a:t>metrik, telemetri, query terhadap waktu</a:t>
            </a:r>
            <a:endParaRPr lang="en-US" sz="1090" dirty="0"/>
          </a:p>
        </p:txBody>
      </p:sp>
      <p:sp>
        <p:nvSpPr>
          <p:cNvPr id="39" name="Text 37"/>
          <p:cNvSpPr/>
          <p:nvPr/>
        </p:nvSpPr>
        <p:spPr>
          <a:xfrm>
            <a:off x="777240" y="5650992"/>
            <a:ext cx="10607040" cy="384048"/>
          </a:xfrm>
          <a:prstGeom prst="rect">
            <a:avLst/>
          </a:prstGeom>
          <a:noFill/>
        </p:spPr>
        <p:txBody>
          <a:bodyPr wrap="square" lIns="0" tIns="0" rIns="0" bIns="0" rtlCol="0" anchor="ctr"/>
          <a:lstStyle/>
          <a:p>
            <a:pPr marL="0" indent="0" algn="ctr">
              <a:buNone/>
            </a:pPr>
            <a:r>
              <a:rPr lang="en-US" sz="1250" dirty="0">
                <a:solidFill>
                  <a:srgbClr val="F8FAFC"/>
                </a:solidFill>
              </a:rPr>
              <a:t>Catatan kelas: Prometheus dalam konteks AWS lebih tepat dipahami sebagai basis data deret waktu untuk observability/monitoring, sedangkan DynamoDB adalah basis data operasional NoSQL untuk aplikasi.</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12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1224"/>
          </a:solidFill>
          <a:ln w="12700">
            <a:solidFill>
              <a:srgbClr val="051224"/>
            </a:solidFill>
            <a:prstDash val="solid"/>
          </a:ln>
        </p:spPr>
      </p:sp>
      <p:sp>
        <p:nvSpPr>
          <p:cNvPr id="3" name="Shape 1"/>
          <p:cNvSpPr/>
          <p:nvPr/>
        </p:nvSpPr>
        <p:spPr>
          <a:xfrm>
            <a:off x="0" y="0"/>
            <a:ext cx="12191695" cy="73152"/>
          </a:xfrm>
          <a:prstGeom prst="rect">
            <a:avLst/>
          </a:prstGeom>
          <a:solidFill>
            <a:srgbClr val="2F80ED"/>
          </a:solidFill>
          <a:ln w="12700">
            <a:solidFill>
              <a:srgbClr val="2F80ED"/>
            </a:solidFill>
            <a:prstDash val="solid"/>
          </a:ln>
        </p:spPr>
      </p:sp>
      <p:sp>
        <p:nvSpPr>
          <p:cNvPr id="4" name="Shape 2"/>
          <p:cNvSpPr/>
          <p:nvPr/>
        </p:nvSpPr>
        <p:spPr>
          <a:xfrm>
            <a:off x="9692640" y="0"/>
            <a:ext cx="2499055" cy="73152"/>
          </a:xfrm>
          <a:prstGeom prst="rect">
            <a:avLst/>
          </a:prstGeom>
          <a:solidFill>
            <a:srgbClr val="F2994A"/>
          </a:solidFill>
          <a:ln w="12700">
            <a:solidFill>
              <a:srgbClr val="F2994A"/>
            </a:solidFill>
            <a:prstDash val="solid"/>
          </a:ln>
        </p:spPr>
      </p:sp>
      <p:sp>
        <p:nvSpPr>
          <p:cNvPr id="5" name="Shape 3"/>
          <p:cNvSpPr/>
          <p:nvPr/>
        </p:nvSpPr>
        <p:spPr>
          <a:xfrm>
            <a:off x="548640" y="6236208"/>
            <a:ext cx="11155680" cy="0"/>
          </a:xfrm>
          <a:prstGeom prst="line">
            <a:avLst/>
          </a:prstGeom>
          <a:noFill/>
          <a:ln w="13970">
            <a:solidFill>
              <a:srgbClr val="21456F"/>
            </a:solidFill>
            <a:prstDash val="solid"/>
          </a:ln>
        </p:spPr>
      </p:sp>
      <p:sp>
        <p:nvSpPr>
          <p:cNvPr id="6" name="Text 4"/>
          <p:cNvSpPr/>
          <p:nvPr/>
        </p:nvSpPr>
        <p:spPr>
          <a:xfrm>
            <a:off x="658368" y="347472"/>
            <a:ext cx="8046720" cy="457200"/>
          </a:xfrm>
          <a:prstGeom prst="rect">
            <a:avLst/>
          </a:prstGeom>
          <a:noFill/>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DynamoDB: basis data NoSQL operasional di AWS</a:t>
            </a:r>
            <a:endParaRPr lang="en-US" sz="2700" dirty="0"/>
          </a:p>
        </p:txBody>
      </p:sp>
      <p:sp>
        <p:nvSpPr>
          <p:cNvPr id="7" name="Text 5"/>
          <p:cNvSpPr/>
          <p:nvPr/>
        </p:nvSpPr>
        <p:spPr>
          <a:xfrm>
            <a:off x="658368" y="822960"/>
            <a:ext cx="9966960" cy="310896"/>
          </a:xfrm>
          <a:prstGeom prst="rect">
            <a:avLst/>
          </a:prstGeom>
          <a:noFill/>
        </p:spPr>
        <p:txBody>
          <a:bodyPr wrap="square" lIns="0" tIns="0" rIns="0" bIns="0" rtlCol="0" anchor="ctr"/>
          <a:lstStyle/>
          <a:p>
            <a:pPr marL="0" indent="0">
              <a:buNone/>
            </a:pPr>
            <a:r>
              <a:rPr lang="en-US" sz="1150" dirty="0">
                <a:solidFill>
                  <a:srgbClr val="B8C7DB"/>
                </a:solidFill>
                <a:latin typeface="Aptos" pitchFamily="34" charset="0"/>
                <a:ea typeface="Aptos" pitchFamily="34" charset="-122"/>
                <a:cs typeface="Aptos" pitchFamily="34" charset="-120"/>
              </a:rPr>
              <a:t>Cocok untuk aplikasi dengan throughput tinggi, skala elastis, dan pola akses berbasis key.</a:t>
            </a:r>
            <a:endParaRPr lang="en-US" sz="1150" dirty="0"/>
          </a:p>
        </p:txBody>
      </p:sp>
      <p:sp>
        <p:nvSpPr>
          <p:cNvPr id="8" name="Text 6"/>
          <p:cNvSpPr/>
          <p:nvPr/>
        </p:nvSpPr>
        <p:spPr>
          <a:xfrm>
            <a:off x="11795760" y="6446520"/>
            <a:ext cx="182880" cy="164592"/>
          </a:xfrm>
          <a:prstGeom prst="rect">
            <a:avLst/>
          </a:prstGeom>
          <a:noFill/>
        </p:spPr>
        <p:txBody>
          <a:bodyPr wrap="square" lIns="0" tIns="0" rIns="0" bIns="0" rtlCol="0" anchor="ctr"/>
          <a:lstStyle/>
          <a:p>
            <a:pPr marL="0" indent="0" algn="r">
              <a:buNone/>
            </a:pPr>
            <a:r>
              <a:rPr lang="en-US" sz="850" dirty="0">
                <a:solidFill>
                  <a:srgbClr val="B8C7DB"/>
                </a:solidFill>
                <a:latin typeface="Aptos" pitchFamily="34" charset="0"/>
                <a:ea typeface="Aptos" pitchFamily="34" charset="-122"/>
                <a:cs typeface="Aptos" pitchFamily="34" charset="-120"/>
              </a:rPr>
              <a:t>5</a:t>
            </a:r>
            <a:endParaRPr lang="en-US" sz="850" dirty="0"/>
          </a:p>
        </p:txBody>
      </p:sp>
      <p:sp>
        <p:nvSpPr>
          <p:cNvPr id="9" name="Shape 7"/>
          <p:cNvSpPr/>
          <p:nvPr/>
        </p:nvSpPr>
        <p:spPr>
          <a:xfrm>
            <a:off x="658368" y="1353312"/>
            <a:ext cx="2926080" cy="4526280"/>
          </a:xfrm>
          <a:prstGeom prst="roundRect">
            <a:avLst>
              <a:gd name="adj" fmla="val 3125"/>
            </a:avLst>
          </a:prstGeom>
          <a:solidFill>
            <a:srgbClr val="0B1A30"/>
          </a:solidFill>
          <a:ln w="15875">
            <a:solidFill>
              <a:srgbClr val="2F80ED"/>
            </a:solidFill>
            <a:prstDash val="solid"/>
          </a:ln>
        </p:spPr>
      </p:sp>
      <p:pic>
        <p:nvPicPr>
          <p:cNvPr id="10" name="Image 0" descr="/tmp/aws_old/ppt/media/image-1-1.png"/>
          <p:cNvPicPr>
            <a:picLocks noChangeAspect="1"/>
          </p:cNvPicPr>
          <p:nvPr/>
        </p:nvPicPr>
        <p:blipFill>
          <a:blip r:embed="rId3"/>
          <a:stretch>
            <a:fillRect/>
          </a:stretch>
        </p:blipFill>
        <p:spPr>
          <a:xfrm>
            <a:off x="987552" y="1737360"/>
            <a:ext cx="1737360" cy="1737360"/>
          </a:xfrm>
          <a:prstGeom prst="rect">
            <a:avLst/>
          </a:prstGeom>
        </p:spPr>
      </p:pic>
      <p:sp>
        <p:nvSpPr>
          <p:cNvPr id="11" name="Text 8"/>
          <p:cNvSpPr/>
          <p:nvPr/>
        </p:nvSpPr>
        <p:spPr>
          <a:xfrm>
            <a:off x="896112" y="3657600"/>
            <a:ext cx="2423160" cy="310896"/>
          </a:xfrm>
          <a:prstGeom prst="rect">
            <a:avLst/>
          </a:prstGeom>
          <a:noFill/>
        </p:spPr>
        <p:txBody>
          <a:bodyPr wrap="square" lIns="0" tIns="0" rIns="0" bIns="0" rtlCol="0" anchor="ctr"/>
          <a:lstStyle/>
          <a:p>
            <a:pPr marL="0" indent="0" algn="ctr">
              <a:buNone/>
            </a:pPr>
            <a:r>
              <a:rPr lang="en-US" sz="1800" b="1" dirty="0">
                <a:solidFill>
                  <a:srgbClr val="F8FAFC"/>
                </a:solidFill>
              </a:rPr>
              <a:t>Amazon DynamoDB</a:t>
            </a:r>
            <a:endParaRPr lang="en-US" sz="1800" dirty="0"/>
          </a:p>
        </p:txBody>
      </p:sp>
      <p:sp>
        <p:nvSpPr>
          <p:cNvPr id="12" name="Text 9"/>
          <p:cNvSpPr/>
          <p:nvPr/>
        </p:nvSpPr>
        <p:spPr>
          <a:xfrm>
            <a:off x="868680" y="4041648"/>
            <a:ext cx="2468880" cy="475488"/>
          </a:xfrm>
          <a:prstGeom prst="rect">
            <a:avLst/>
          </a:prstGeom>
          <a:noFill/>
        </p:spPr>
        <p:txBody>
          <a:bodyPr wrap="square" lIns="0" tIns="0" rIns="0" bIns="0" rtlCol="0" anchor="ctr"/>
          <a:lstStyle/>
          <a:p>
            <a:pPr marL="0" indent="0" algn="ctr">
              <a:buNone/>
            </a:pPr>
            <a:r>
              <a:rPr lang="en-US" sz="1220" dirty="0">
                <a:solidFill>
                  <a:srgbClr val="7CC6FF"/>
                </a:solidFill>
              </a:rPr>
              <a:t>serverless, fully managed, distributed NoSQL database</a:t>
            </a:r>
            <a:endParaRPr lang="en-US" sz="1220" dirty="0"/>
          </a:p>
        </p:txBody>
      </p:sp>
      <p:sp>
        <p:nvSpPr>
          <p:cNvPr id="13" name="Text 10"/>
          <p:cNvSpPr/>
          <p:nvPr/>
        </p:nvSpPr>
        <p:spPr>
          <a:xfrm>
            <a:off x="868680" y="4700016"/>
            <a:ext cx="2468880" cy="658368"/>
          </a:xfrm>
          <a:prstGeom prst="rect">
            <a:avLst/>
          </a:prstGeom>
          <a:noFill/>
        </p:spPr>
        <p:txBody>
          <a:bodyPr wrap="square" lIns="0" tIns="0" rIns="0" bIns="0" rtlCol="0" anchor="ctr"/>
          <a:lstStyle/>
          <a:p>
            <a:pPr marL="0" indent="0" algn="ctr">
              <a:buNone/>
            </a:pPr>
            <a:r>
              <a:rPr lang="en-US" sz="1130" dirty="0">
                <a:solidFill>
                  <a:srgbClr val="B8C7DB"/>
                </a:solidFill>
              </a:rPr>
              <a:t>Digunakan saat aplikasi membutuhkan latensi konsisten, skalabilitas horizontal, dan overhead operasional minimal.</a:t>
            </a:r>
            <a:endParaRPr lang="en-US" sz="1130" dirty="0"/>
          </a:p>
        </p:txBody>
      </p:sp>
      <p:sp>
        <p:nvSpPr>
          <p:cNvPr id="14" name="Shape 11"/>
          <p:cNvSpPr/>
          <p:nvPr/>
        </p:nvSpPr>
        <p:spPr>
          <a:xfrm>
            <a:off x="3767328" y="1417320"/>
            <a:ext cx="3657600" cy="1298448"/>
          </a:xfrm>
          <a:prstGeom prst="roundRect">
            <a:avLst>
              <a:gd name="adj" fmla="val 5634"/>
            </a:avLst>
          </a:prstGeom>
          <a:solidFill>
            <a:srgbClr val="0D1D34"/>
          </a:solidFill>
          <a:ln w="14605">
            <a:solidFill>
              <a:srgbClr val="2F80ED"/>
            </a:solidFill>
            <a:prstDash val="solid"/>
          </a:ln>
        </p:spPr>
      </p:sp>
      <p:sp>
        <p:nvSpPr>
          <p:cNvPr id="15" name="Text 12"/>
          <p:cNvSpPr/>
          <p:nvPr/>
        </p:nvSpPr>
        <p:spPr>
          <a:xfrm>
            <a:off x="3913632" y="1563624"/>
            <a:ext cx="1645920" cy="219456"/>
          </a:xfrm>
          <a:prstGeom prst="rect">
            <a:avLst/>
          </a:prstGeom>
          <a:noFill/>
        </p:spPr>
        <p:txBody>
          <a:bodyPr wrap="square" lIns="0" tIns="0" rIns="0" bIns="0" rtlCol="0" anchor="ctr"/>
          <a:lstStyle/>
          <a:p>
            <a:pPr marL="0" indent="0">
              <a:buNone/>
            </a:pPr>
            <a:r>
              <a:rPr lang="en-US" sz="1350" b="1" dirty="0">
                <a:solidFill>
                  <a:srgbClr val="2F80ED"/>
                </a:solidFill>
              </a:rPr>
              <a:t>Model data</a:t>
            </a:r>
            <a:endParaRPr lang="en-US" sz="1350" dirty="0"/>
          </a:p>
        </p:txBody>
      </p:sp>
      <p:sp>
        <p:nvSpPr>
          <p:cNvPr id="16" name="Text 13"/>
          <p:cNvSpPr/>
          <p:nvPr/>
        </p:nvSpPr>
        <p:spPr>
          <a:xfrm>
            <a:off x="3913632" y="1892808"/>
            <a:ext cx="3273552" cy="512064"/>
          </a:xfrm>
          <a:prstGeom prst="rect">
            <a:avLst/>
          </a:prstGeom>
          <a:noFill/>
        </p:spPr>
        <p:txBody>
          <a:bodyPr wrap="square" lIns="0" tIns="0" rIns="0" bIns="0" rtlCol="0" anchor="ctr"/>
          <a:lstStyle/>
          <a:p>
            <a:pPr marL="0" indent="0">
              <a:buNone/>
            </a:pPr>
            <a:r>
              <a:rPr lang="en-US" sz="1130" dirty="0">
                <a:solidFill>
                  <a:srgbClr val="F8FAFC"/>
                </a:solidFill>
              </a:rPr>
              <a:t>key-value dan document; desain utama bertumpu pada partition key dan optional sort key</a:t>
            </a:r>
            <a:endParaRPr lang="en-US" sz="1130" dirty="0"/>
          </a:p>
        </p:txBody>
      </p:sp>
      <p:sp>
        <p:nvSpPr>
          <p:cNvPr id="17" name="Shape 14"/>
          <p:cNvSpPr/>
          <p:nvPr/>
        </p:nvSpPr>
        <p:spPr>
          <a:xfrm>
            <a:off x="7635240" y="1417320"/>
            <a:ext cx="3657600" cy="1298448"/>
          </a:xfrm>
          <a:prstGeom prst="roundRect">
            <a:avLst>
              <a:gd name="adj" fmla="val 5634"/>
            </a:avLst>
          </a:prstGeom>
          <a:solidFill>
            <a:srgbClr val="0D1D34"/>
          </a:solidFill>
          <a:ln w="14605">
            <a:solidFill>
              <a:srgbClr val="F2994A"/>
            </a:solidFill>
            <a:prstDash val="solid"/>
          </a:ln>
        </p:spPr>
      </p:sp>
      <p:sp>
        <p:nvSpPr>
          <p:cNvPr id="18" name="Text 15"/>
          <p:cNvSpPr/>
          <p:nvPr/>
        </p:nvSpPr>
        <p:spPr>
          <a:xfrm>
            <a:off x="7781544" y="1563624"/>
            <a:ext cx="1645920" cy="219456"/>
          </a:xfrm>
          <a:prstGeom prst="rect">
            <a:avLst/>
          </a:prstGeom>
          <a:noFill/>
        </p:spPr>
        <p:txBody>
          <a:bodyPr wrap="square" lIns="0" tIns="0" rIns="0" bIns="0" rtlCol="0" anchor="ctr"/>
          <a:lstStyle/>
          <a:p>
            <a:pPr marL="0" indent="0">
              <a:buNone/>
            </a:pPr>
            <a:r>
              <a:rPr lang="en-US" sz="1350" b="1" dirty="0">
                <a:solidFill>
                  <a:srgbClr val="F2994A"/>
                </a:solidFill>
              </a:rPr>
              <a:t>Kinerja</a:t>
            </a:r>
            <a:endParaRPr lang="en-US" sz="1350" dirty="0"/>
          </a:p>
        </p:txBody>
      </p:sp>
      <p:sp>
        <p:nvSpPr>
          <p:cNvPr id="19" name="Text 16"/>
          <p:cNvSpPr/>
          <p:nvPr/>
        </p:nvSpPr>
        <p:spPr>
          <a:xfrm>
            <a:off x="7781544" y="1892808"/>
            <a:ext cx="3273552" cy="512064"/>
          </a:xfrm>
          <a:prstGeom prst="rect">
            <a:avLst/>
          </a:prstGeom>
          <a:noFill/>
        </p:spPr>
        <p:txBody>
          <a:bodyPr wrap="square" lIns="0" tIns="0" rIns="0" bIns="0" rtlCol="0" anchor="ctr"/>
          <a:lstStyle/>
          <a:p>
            <a:pPr marL="0" indent="0">
              <a:buNone/>
            </a:pPr>
            <a:r>
              <a:rPr lang="en-US" sz="1130" dirty="0">
                <a:solidFill>
                  <a:srgbClr val="F8FAFC"/>
                </a:solidFill>
              </a:rPr>
              <a:t>single-digit millisecond performance at any scale; cocok untuk traffic sangat tinggi</a:t>
            </a:r>
            <a:endParaRPr lang="en-US" sz="1130" dirty="0"/>
          </a:p>
        </p:txBody>
      </p:sp>
      <p:sp>
        <p:nvSpPr>
          <p:cNvPr id="20" name="Shape 17"/>
          <p:cNvSpPr/>
          <p:nvPr/>
        </p:nvSpPr>
        <p:spPr>
          <a:xfrm>
            <a:off x="3767328" y="3063240"/>
            <a:ext cx="3657600" cy="1298448"/>
          </a:xfrm>
          <a:prstGeom prst="roundRect">
            <a:avLst>
              <a:gd name="adj" fmla="val 5634"/>
            </a:avLst>
          </a:prstGeom>
          <a:solidFill>
            <a:srgbClr val="0D1D34"/>
          </a:solidFill>
          <a:ln w="14605">
            <a:solidFill>
              <a:srgbClr val="7CC6FF"/>
            </a:solidFill>
            <a:prstDash val="solid"/>
          </a:ln>
        </p:spPr>
      </p:sp>
      <p:sp>
        <p:nvSpPr>
          <p:cNvPr id="21" name="Text 18"/>
          <p:cNvSpPr/>
          <p:nvPr/>
        </p:nvSpPr>
        <p:spPr>
          <a:xfrm>
            <a:off x="3913632" y="3209544"/>
            <a:ext cx="1645920" cy="219456"/>
          </a:xfrm>
          <a:prstGeom prst="rect">
            <a:avLst/>
          </a:prstGeom>
          <a:noFill/>
        </p:spPr>
        <p:txBody>
          <a:bodyPr wrap="square" lIns="0" tIns="0" rIns="0" bIns="0" rtlCol="0" anchor="ctr"/>
          <a:lstStyle/>
          <a:p>
            <a:pPr marL="0" indent="0">
              <a:buNone/>
            </a:pPr>
            <a:r>
              <a:rPr lang="en-US" sz="1350" b="1" dirty="0">
                <a:solidFill>
                  <a:srgbClr val="7CC6FF"/>
                </a:solidFill>
              </a:rPr>
              <a:t>Kapasitas</a:t>
            </a:r>
            <a:endParaRPr lang="en-US" sz="1350" dirty="0"/>
          </a:p>
        </p:txBody>
      </p:sp>
      <p:sp>
        <p:nvSpPr>
          <p:cNvPr id="22" name="Text 19"/>
          <p:cNvSpPr/>
          <p:nvPr/>
        </p:nvSpPr>
        <p:spPr>
          <a:xfrm>
            <a:off x="3913632" y="3538728"/>
            <a:ext cx="3273552" cy="512064"/>
          </a:xfrm>
          <a:prstGeom prst="rect">
            <a:avLst/>
          </a:prstGeom>
          <a:noFill/>
        </p:spPr>
        <p:txBody>
          <a:bodyPr wrap="square" lIns="0" tIns="0" rIns="0" bIns="0" rtlCol="0" anchor="ctr"/>
          <a:lstStyle/>
          <a:p>
            <a:pPr marL="0" indent="0">
              <a:buNone/>
            </a:pPr>
            <a:r>
              <a:rPr lang="en-US" sz="1130" dirty="0">
                <a:solidFill>
                  <a:srgbClr val="F8FAFC"/>
                </a:solidFill>
              </a:rPr>
              <a:t>dua mode kapasitas: on-demand dan provisioned</a:t>
            </a:r>
            <a:endParaRPr lang="en-US" sz="1130" dirty="0"/>
          </a:p>
        </p:txBody>
      </p:sp>
      <p:sp>
        <p:nvSpPr>
          <p:cNvPr id="23" name="Shape 20"/>
          <p:cNvSpPr/>
          <p:nvPr/>
        </p:nvSpPr>
        <p:spPr>
          <a:xfrm>
            <a:off x="7635240" y="3063240"/>
            <a:ext cx="3657600" cy="1298448"/>
          </a:xfrm>
          <a:prstGeom prst="roundRect">
            <a:avLst>
              <a:gd name="adj" fmla="val 5634"/>
            </a:avLst>
          </a:prstGeom>
          <a:solidFill>
            <a:srgbClr val="0D1D34"/>
          </a:solidFill>
          <a:ln w="14605">
            <a:solidFill>
              <a:srgbClr val="FFB782"/>
            </a:solidFill>
            <a:prstDash val="solid"/>
          </a:ln>
        </p:spPr>
      </p:sp>
      <p:sp>
        <p:nvSpPr>
          <p:cNvPr id="24" name="Text 21"/>
          <p:cNvSpPr/>
          <p:nvPr/>
        </p:nvSpPr>
        <p:spPr>
          <a:xfrm>
            <a:off x="7781544" y="3209544"/>
            <a:ext cx="1645920" cy="219456"/>
          </a:xfrm>
          <a:prstGeom prst="rect">
            <a:avLst/>
          </a:prstGeom>
          <a:noFill/>
        </p:spPr>
        <p:txBody>
          <a:bodyPr wrap="square" lIns="0" tIns="0" rIns="0" bIns="0" rtlCol="0" anchor="ctr"/>
          <a:lstStyle/>
          <a:p>
            <a:pPr marL="0" indent="0">
              <a:buNone/>
            </a:pPr>
            <a:r>
              <a:rPr lang="en-US" sz="1350" b="1" dirty="0">
                <a:solidFill>
                  <a:srgbClr val="FFB782"/>
                </a:solidFill>
              </a:rPr>
              <a:t>Resiliensi</a:t>
            </a:r>
            <a:endParaRPr lang="en-US" sz="1350" dirty="0"/>
          </a:p>
        </p:txBody>
      </p:sp>
      <p:sp>
        <p:nvSpPr>
          <p:cNvPr id="25" name="Text 22"/>
          <p:cNvSpPr/>
          <p:nvPr/>
        </p:nvSpPr>
        <p:spPr>
          <a:xfrm>
            <a:off x="7781544" y="3538728"/>
            <a:ext cx="3273552" cy="512064"/>
          </a:xfrm>
          <a:prstGeom prst="rect">
            <a:avLst/>
          </a:prstGeom>
          <a:noFill/>
        </p:spPr>
        <p:txBody>
          <a:bodyPr wrap="square" lIns="0" tIns="0" rIns="0" bIns="0" rtlCol="0" anchor="ctr"/>
          <a:lstStyle/>
          <a:p>
            <a:pPr marL="0" indent="0">
              <a:buNone/>
            </a:pPr>
            <a:r>
              <a:rPr lang="en-US" sz="1130" dirty="0">
                <a:solidFill>
                  <a:srgbClr val="F8FAFC"/>
                </a:solidFill>
              </a:rPr>
              <a:t>global tables memberi replikasi multi-Region, multi-active</a:t>
            </a:r>
            <a:endParaRPr lang="en-US" sz="1130" dirty="0"/>
          </a:p>
        </p:txBody>
      </p:sp>
      <p:sp>
        <p:nvSpPr>
          <p:cNvPr id="26" name="Shape 23"/>
          <p:cNvSpPr/>
          <p:nvPr/>
        </p:nvSpPr>
        <p:spPr>
          <a:xfrm>
            <a:off x="3913632" y="4956048"/>
            <a:ext cx="7635240" cy="731520"/>
          </a:xfrm>
          <a:prstGeom prst="roundRect">
            <a:avLst>
              <a:gd name="adj" fmla="val 10000"/>
            </a:avLst>
          </a:prstGeom>
          <a:solidFill>
            <a:srgbClr val="102038"/>
          </a:solidFill>
          <a:ln w="12700">
            <a:solidFill>
              <a:srgbClr val="21456F"/>
            </a:solidFill>
            <a:prstDash val="solid"/>
          </a:ln>
        </p:spPr>
      </p:sp>
      <p:sp>
        <p:nvSpPr>
          <p:cNvPr id="27" name="Text 24"/>
          <p:cNvSpPr/>
          <p:nvPr/>
        </p:nvSpPr>
        <p:spPr>
          <a:xfrm>
            <a:off x="4160520" y="5193792"/>
            <a:ext cx="7132320" cy="237744"/>
          </a:xfrm>
          <a:prstGeom prst="rect">
            <a:avLst/>
          </a:prstGeom>
          <a:noFill/>
        </p:spPr>
        <p:txBody>
          <a:bodyPr wrap="square" lIns="0" tIns="0" rIns="0" bIns="0" rtlCol="0" anchor="ctr"/>
          <a:lstStyle/>
          <a:p>
            <a:pPr marL="0" indent="0">
              <a:buNone/>
            </a:pPr>
            <a:r>
              <a:rPr lang="en-US" sz="1210" dirty="0">
                <a:solidFill>
                  <a:srgbClr val="F8FAFC"/>
                </a:solidFill>
              </a:rPr>
              <a:t>Contoh use case: shopping cart, session state, profile pengguna, game state, leaderboard, metadata streaming, dan device state IoT.</a:t>
            </a:r>
            <a:endParaRPr lang="en-US" sz="12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12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1224"/>
          </a:solidFill>
          <a:ln w="12700">
            <a:solidFill>
              <a:srgbClr val="051224"/>
            </a:solidFill>
            <a:prstDash val="solid"/>
          </a:ln>
        </p:spPr>
      </p:sp>
      <p:sp>
        <p:nvSpPr>
          <p:cNvPr id="3" name="Shape 1"/>
          <p:cNvSpPr/>
          <p:nvPr/>
        </p:nvSpPr>
        <p:spPr>
          <a:xfrm>
            <a:off x="0" y="0"/>
            <a:ext cx="12191695" cy="73152"/>
          </a:xfrm>
          <a:prstGeom prst="rect">
            <a:avLst/>
          </a:prstGeom>
          <a:solidFill>
            <a:srgbClr val="2F80ED"/>
          </a:solidFill>
          <a:ln w="12700">
            <a:solidFill>
              <a:srgbClr val="2F80ED"/>
            </a:solidFill>
            <a:prstDash val="solid"/>
          </a:ln>
        </p:spPr>
      </p:sp>
      <p:sp>
        <p:nvSpPr>
          <p:cNvPr id="4" name="Shape 2"/>
          <p:cNvSpPr/>
          <p:nvPr/>
        </p:nvSpPr>
        <p:spPr>
          <a:xfrm>
            <a:off x="9692640" y="0"/>
            <a:ext cx="2499055" cy="73152"/>
          </a:xfrm>
          <a:prstGeom prst="rect">
            <a:avLst/>
          </a:prstGeom>
          <a:solidFill>
            <a:srgbClr val="F2994A"/>
          </a:solidFill>
          <a:ln w="12700">
            <a:solidFill>
              <a:srgbClr val="F2994A"/>
            </a:solidFill>
            <a:prstDash val="solid"/>
          </a:ln>
        </p:spPr>
      </p:sp>
      <p:sp>
        <p:nvSpPr>
          <p:cNvPr id="5" name="Shape 3"/>
          <p:cNvSpPr/>
          <p:nvPr/>
        </p:nvSpPr>
        <p:spPr>
          <a:xfrm>
            <a:off x="548640" y="6236208"/>
            <a:ext cx="11155680" cy="0"/>
          </a:xfrm>
          <a:prstGeom prst="line">
            <a:avLst/>
          </a:prstGeom>
          <a:noFill/>
          <a:ln w="13970">
            <a:solidFill>
              <a:srgbClr val="21456F"/>
            </a:solidFill>
            <a:prstDash val="solid"/>
          </a:ln>
        </p:spPr>
      </p:sp>
      <p:sp>
        <p:nvSpPr>
          <p:cNvPr id="6" name="Text 4"/>
          <p:cNvSpPr/>
          <p:nvPr/>
        </p:nvSpPr>
        <p:spPr>
          <a:xfrm>
            <a:off x="658368" y="347472"/>
            <a:ext cx="8046720" cy="457200"/>
          </a:xfrm>
          <a:prstGeom prst="rect">
            <a:avLst/>
          </a:prstGeom>
          <a:noFill/>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Prometheus pada AWS: time-series database untuk observability</a:t>
            </a:r>
            <a:endParaRPr lang="en-US" sz="2700" dirty="0"/>
          </a:p>
        </p:txBody>
      </p:sp>
      <p:sp>
        <p:nvSpPr>
          <p:cNvPr id="7" name="Text 5"/>
          <p:cNvSpPr/>
          <p:nvPr/>
        </p:nvSpPr>
        <p:spPr>
          <a:xfrm>
            <a:off x="658368" y="822960"/>
            <a:ext cx="9966960" cy="310896"/>
          </a:xfrm>
          <a:prstGeom prst="rect">
            <a:avLst/>
          </a:prstGeom>
          <a:noFill/>
        </p:spPr>
        <p:txBody>
          <a:bodyPr wrap="square" lIns="0" tIns="0" rIns="0" bIns="0" rtlCol="0" anchor="ctr"/>
          <a:lstStyle/>
          <a:p>
            <a:pPr marL="0" indent="0">
              <a:buNone/>
            </a:pPr>
            <a:r>
              <a:rPr lang="en-US" sz="1150" dirty="0">
                <a:solidFill>
                  <a:srgbClr val="B8C7DB"/>
                </a:solidFill>
                <a:latin typeface="Aptos" pitchFamily="34" charset="0"/>
                <a:ea typeface="Aptos" pitchFamily="34" charset="-122"/>
                <a:cs typeface="Aptos" pitchFamily="34" charset="-120"/>
              </a:rPr>
              <a:t>Dalam AWS, implementasi terkelola yang umum adalah Amazon Managed Service for Prometheus (AMP).</a:t>
            </a:r>
            <a:endParaRPr lang="en-US" sz="1150" dirty="0"/>
          </a:p>
        </p:txBody>
      </p:sp>
      <p:sp>
        <p:nvSpPr>
          <p:cNvPr id="8" name="Text 6"/>
          <p:cNvSpPr/>
          <p:nvPr/>
        </p:nvSpPr>
        <p:spPr>
          <a:xfrm>
            <a:off x="11795760" y="6446520"/>
            <a:ext cx="182880" cy="164592"/>
          </a:xfrm>
          <a:prstGeom prst="rect">
            <a:avLst/>
          </a:prstGeom>
          <a:noFill/>
        </p:spPr>
        <p:txBody>
          <a:bodyPr wrap="square" lIns="0" tIns="0" rIns="0" bIns="0" rtlCol="0" anchor="ctr"/>
          <a:lstStyle/>
          <a:p>
            <a:pPr marL="0" indent="0" algn="r">
              <a:buNone/>
            </a:pPr>
            <a:r>
              <a:rPr lang="en-US" sz="850" dirty="0">
                <a:solidFill>
                  <a:srgbClr val="B8C7DB"/>
                </a:solidFill>
                <a:latin typeface="Aptos" pitchFamily="34" charset="0"/>
                <a:ea typeface="Aptos" pitchFamily="34" charset="-122"/>
                <a:cs typeface="Aptos" pitchFamily="34" charset="-120"/>
              </a:rPr>
              <a:t>6</a:t>
            </a:r>
            <a:endParaRPr lang="en-US" sz="850" dirty="0"/>
          </a:p>
        </p:txBody>
      </p:sp>
      <p:sp>
        <p:nvSpPr>
          <p:cNvPr id="9" name="Shape 7"/>
          <p:cNvSpPr/>
          <p:nvPr/>
        </p:nvSpPr>
        <p:spPr>
          <a:xfrm>
            <a:off x="658368" y="1353312"/>
            <a:ext cx="2743200" cy="4526280"/>
          </a:xfrm>
          <a:prstGeom prst="roundRect">
            <a:avLst>
              <a:gd name="adj" fmla="val 3333"/>
            </a:avLst>
          </a:prstGeom>
          <a:solidFill>
            <a:srgbClr val="141018"/>
          </a:solidFill>
          <a:ln w="15875">
            <a:solidFill>
              <a:srgbClr val="F2994A"/>
            </a:solidFill>
            <a:prstDash val="solid"/>
          </a:ln>
        </p:spPr>
      </p:sp>
      <p:pic>
        <p:nvPicPr>
          <p:cNvPr id="10" name="Image 0" descr="/tmp/aws_old/ppt/media/image-1-2.png"/>
          <p:cNvPicPr>
            <a:picLocks noChangeAspect="1"/>
          </p:cNvPicPr>
          <p:nvPr/>
        </p:nvPicPr>
        <p:blipFill>
          <a:blip r:embed="rId3"/>
          <a:stretch>
            <a:fillRect/>
          </a:stretch>
        </p:blipFill>
        <p:spPr>
          <a:xfrm>
            <a:off x="991194" y="1700784"/>
            <a:ext cx="1748363" cy="1755648"/>
          </a:xfrm>
          <a:prstGeom prst="rect">
            <a:avLst/>
          </a:prstGeom>
        </p:spPr>
      </p:pic>
      <p:sp>
        <p:nvSpPr>
          <p:cNvPr id="11" name="Text 8"/>
          <p:cNvSpPr/>
          <p:nvPr/>
        </p:nvSpPr>
        <p:spPr>
          <a:xfrm>
            <a:off x="868680" y="3657600"/>
            <a:ext cx="2331720" cy="310896"/>
          </a:xfrm>
          <a:prstGeom prst="rect">
            <a:avLst/>
          </a:prstGeom>
          <a:noFill/>
        </p:spPr>
        <p:txBody>
          <a:bodyPr wrap="square" lIns="0" tIns="0" rIns="0" bIns="0" rtlCol="0" anchor="ctr"/>
          <a:lstStyle/>
          <a:p>
            <a:pPr marL="0" indent="0" algn="ctr">
              <a:buNone/>
            </a:pPr>
            <a:r>
              <a:rPr lang="en-US" sz="1800" b="1" dirty="0">
                <a:solidFill>
                  <a:srgbClr val="F8FAFC"/>
                </a:solidFill>
              </a:rPr>
              <a:t>Prometheus / AMP</a:t>
            </a:r>
            <a:endParaRPr lang="en-US" sz="1800" dirty="0"/>
          </a:p>
        </p:txBody>
      </p:sp>
      <p:sp>
        <p:nvSpPr>
          <p:cNvPr id="12" name="Text 9"/>
          <p:cNvSpPr/>
          <p:nvPr/>
        </p:nvSpPr>
        <p:spPr>
          <a:xfrm>
            <a:off x="841248" y="4041648"/>
            <a:ext cx="2395728" cy="475488"/>
          </a:xfrm>
          <a:prstGeom prst="rect">
            <a:avLst/>
          </a:prstGeom>
          <a:noFill/>
        </p:spPr>
        <p:txBody>
          <a:bodyPr wrap="square" lIns="0" tIns="0" rIns="0" bIns="0" rtlCol="0" anchor="ctr"/>
          <a:lstStyle/>
          <a:p>
            <a:pPr marL="0" indent="0" algn="ctr">
              <a:buNone/>
            </a:pPr>
            <a:r>
              <a:rPr lang="en-US" sz="1210" dirty="0">
                <a:solidFill>
                  <a:srgbClr val="FFB782"/>
                </a:solidFill>
              </a:rPr>
              <a:t>serverless, Prometheus-compatible monitoring service</a:t>
            </a:r>
            <a:endParaRPr lang="en-US" sz="1210" dirty="0"/>
          </a:p>
        </p:txBody>
      </p:sp>
      <p:sp>
        <p:nvSpPr>
          <p:cNvPr id="13" name="Text 10"/>
          <p:cNvSpPr/>
          <p:nvPr/>
        </p:nvSpPr>
        <p:spPr>
          <a:xfrm>
            <a:off x="868680" y="4681728"/>
            <a:ext cx="2395728" cy="786384"/>
          </a:xfrm>
          <a:prstGeom prst="rect">
            <a:avLst/>
          </a:prstGeom>
          <a:noFill/>
        </p:spPr>
        <p:txBody>
          <a:bodyPr wrap="square" lIns="0" tIns="0" rIns="0" bIns="0" rtlCol="0" anchor="ctr"/>
          <a:lstStyle/>
          <a:p>
            <a:pPr marL="0" indent="0" algn="ctr">
              <a:buNone/>
            </a:pPr>
            <a:r>
              <a:rPr lang="en-US" sz="1120" dirty="0">
                <a:solidFill>
                  <a:srgbClr val="B8C7DB"/>
                </a:solidFill>
              </a:rPr>
              <a:t>Fokus utamanya adalah penyimpanan dan query metrik operasional sebagai deret waktu, bukan basis data transaksi utama aplikasi.</a:t>
            </a:r>
            <a:endParaRPr lang="en-US" sz="1120" dirty="0"/>
          </a:p>
        </p:txBody>
      </p:sp>
      <p:sp>
        <p:nvSpPr>
          <p:cNvPr id="14" name="Shape 11"/>
          <p:cNvSpPr/>
          <p:nvPr/>
        </p:nvSpPr>
        <p:spPr>
          <a:xfrm>
            <a:off x="4297680" y="2267712"/>
            <a:ext cx="960120" cy="0"/>
          </a:xfrm>
          <a:prstGeom prst="line">
            <a:avLst/>
          </a:prstGeom>
          <a:noFill/>
          <a:ln w="15240">
            <a:solidFill>
              <a:srgbClr val="6D7F98"/>
            </a:solidFill>
            <a:prstDash val="solid"/>
            <a:tailEnd type="triangle"/>
          </a:ln>
        </p:spPr>
      </p:sp>
      <p:sp>
        <p:nvSpPr>
          <p:cNvPr id="15" name="Shape 12"/>
          <p:cNvSpPr/>
          <p:nvPr/>
        </p:nvSpPr>
        <p:spPr>
          <a:xfrm>
            <a:off x="6053328" y="2267712"/>
            <a:ext cx="1078992" cy="0"/>
          </a:xfrm>
          <a:prstGeom prst="line">
            <a:avLst/>
          </a:prstGeom>
          <a:noFill/>
          <a:ln w="15240">
            <a:solidFill>
              <a:srgbClr val="6D7F98"/>
            </a:solidFill>
            <a:prstDash val="solid"/>
            <a:tailEnd type="triangle"/>
          </a:ln>
        </p:spPr>
      </p:sp>
      <p:sp>
        <p:nvSpPr>
          <p:cNvPr id="16" name="Shape 13"/>
          <p:cNvSpPr/>
          <p:nvPr/>
        </p:nvSpPr>
        <p:spPr>
          <a:xfrm>
            <a:off x="7982712" y="2267712"/>
            <a:ext cx="1170432" cy="0"/>
          </a:xfrm>
          <a:prstGeom prst="line">
            <a:avLst/>
          </a:prstGeom>
          <a:noFill/>
          <a:ln w="15240">
            <a:solidFill>
              <a:srgbClr val="6D7F98"/>
            </a:solidFill>
            <a:prstDash val="solid"/>
            <a:tailEnd type="triangle"/>
          </a:ln>
        </p:spPr>
      </p:sp>
      <p:sp>
        <p:nvSpPr>
          <p:cNvPr id="17" name="Shape 14"/>
          <p:cNvSpPr/>
          <p:nvPr/>
        </p:nvSpPr>
        <p:spPr>
          <a:xfrm>
            <a:off x="3611880" y="1691640"/>
            <a:ext cx="1417320" cy="1170432"/>
          </a:xfrm>
          <a:prstGeom prst="roundRect">
            <a:avLst>
              <a:gd name="adj" fmla="val 5469"/>
            </a:avLst>
          </a:prstGeom>
          <a:solidFill>
            <a:srgbClr val="0D1D34"/>
          </a:solidFill>
          <a:ln w="14605">
            <a:solidFill>
              <a:srgbClr val="2F80ED"/>
            </a:solidFill>
            <a:prstDash val="solid"/>
          </a:ln>
        </p:spPr>
      </p:sp>
      <p:sp>
        <p:nvSpPr>
          <p:cNvPr id="18" name="Text 15"/>
          <p:cNvSpPr/>
          <p:nvPr/>
        </p:nvSpPr>
        <p:spPr>
          <a:xfrm>
            <a:off x="3685032" y="1874520"/>
            <a:ext cx="1261872" cy="310896"/>
          </a:xfrm>
          <a:prstGeom prst="rect">
            <a:avLst/>
          </a:prstGeom>
          <a:noFill/>
        </p:spPr>
        <p:txBody>
          <a:bodyPr wrap="square" lIns="0" tIns="0" rIns="0" bIns="0" rtlCol="0" anchor="ctr"/>
          <a:lstStyle/>
          <a:p>
            <a:pPr marL="0" indent="0" algn="ctr">
              <a:buNone/>
            </a:pPr>
            <a:r>
              <a:rPr lang="en-US" sz="1130" b="1" dirty="0">
                <a:solidFill>
                  <a:srgbClr val="F8FAFC"/>
                </a:solidFill>
              </a:rPr>
              <a:t>Exporter / endpoint</a:t>
            </a:r>
            <a:endParaRPr lang="en-US" sz="1130" dirty="0"/>
          </a:p>
        </p:txBody>
      </p:sp>
      <p:sp>
        <p:nvSpPr>
          <p:cNvPr id="19" name="Text 16"/>
          <p:cNvSpPr/>
          <p:nvPr/>
        </p:nvSpPr>
        <p:spPr>
          <a:xfrm>
            <a:off x="3685032" y="2212848"/>
            <a:ext cx="1261872" cy="475488"/>
          </a:xfrm>
          <a:prstGeom prst="rect">
            <a:avLst/>
          </a:prstGeom>
          <a:noFill/>
        </p:spPr>
        <p:txBody>
          <a:bodyPr wrap="square" lIns="0" tIns="0" rIns="0" bIns="0" rtlCol="0" anchor="ctr"/>
          <a:lstStyle/>
          <a:p>
            <a:pPr marL="0" indent="0" algn="ctr">
              <a:buNone/>
            </a:pPr>
            <a:r>
              <a:rPr lang="en-US" sz="980" dirty="0">
                <a:solidFill>
                  <a:srgbClr val="B8C7DB"/>
                </a:solidFill>
              </a:rPr>
              <a:t>aplikasi, node exporter, kube-state-metrics</a:t>
            </a:r>
            <a:endParaRPr lang="en-US" sz="980" dirty="0"/>
          </a:p>
        </p:txBody>
      </p:sp>
      <p:sp>
        <p:nvSpPr>
          <p:cNvPr id="20" name="Shape 17"/>
          <p:cNvSpPr/>
          <p:nvPr/>
        </p:nvSpPr>
        <p:spPr>
          <a:xfrm>
            <a:off x="5321808" y="1691640"/>
            <a:ext cx="1417320" cy="1170432"/>
          </a:xfrm>
          <a:prstGeom prst="roundRect">
            <a:avLst>
              <a:gd name="adj" fmla="val 5469"/>
            </a:avLst>
          </a:prstGeom>
          <a:solidFill>
            <a:srgbClr val="0D1D34"/>
          </a:solidFill>
          <a:ln w="14605">
            <a:solidFill>
              <a:srgbClr val="F2994A"/>
            </a:solidFill>
            <a:prstDash val="solid"/>
          </a:ln>
        </p:spPr>
      </p:sp>
      <p:sp>
        <p:nvSpPr>
          <p:cNvPr id="21" name="Text 18"/>
          <p:cNvSpPr/>
          <p:nvPr/>
        </p:nvSpPr>
        <p:spPr>
          <a:xfrm>
            <a:off x="5394960" y="1874520"/>
            <a:ext cx="1261872" cy="310896"/>
          </a:xfrm>
          <a:prstGeom prst="rect">
            <a:avLst/>
          </a:prstGeom>
          <a:noFill/>
        </p:spPr>
        <p:txBody>
          <a:bodyPr wrap="square" lIns="0" tIns="0" rIns="0" bIns="0" rtlCol="0" anchor="ctr"/>
          <a:lstStyle/>
          <a:p>
            <a:pPr marL="0" indent="0" algn="ctr">
              <a:buNone/>
            </a:pPr>
            <a:r>
              <a:rPr lang="en-US" sz="1130" b="1" dirty="0">
                <a:solidFill>
                  <a:srgbClr val="F8FAFC"/>
                </a:solidFill>
              </a:rPr>
              <a:t>Collector / scraper</a:t>
            </a:r>
            <a:endParaRPr lang="en-US" sz="1130" dirty="0"/>
          </a:p>
        </p:txBody>
      </p:sp>
      <p:sp>
        <p:nvSpPr>
          <p:cNvPr id="22" name="Text 19"/>
          <p:cNvSpPr/>
          <p:nvPr/>
        </p:nvSpPr>
        <p:spPr>
          <a:xfrm>
            <a:off x="5394960" y="2212848"/>
            <a:ext cx="1261872" cy="475488"/>
          </a:xfrm>
          <a:prstGeom prst="rect">
            <a:avLst/>
          </a:prstGeom>
          <a:noFill/>
        </p:spPr>
        <p:txBody>
          <a:bodyPr wrap="square" lIns="0" tIns="0" rIns="0" bIns="0" rtlCol="0" anchor="ctr"/>
          <a:lstStyle/>
          <a:p>
            <a:pPr marL="0" indent="0" algn="ctr">
              <a:buNone/>
            </a:pPr>
            <a:r>
              <a:rPr lang="en-US" sz="980" dirty="0">
                <a:solidFill>
                  <a:srgbClr val="B8C7DB"/>
                </a:solidFill>
              </a:rPr>
              <a:t>AWS managed collector atau collector buatan pengguna</a:t>
            </a:r>
            <a:endParaRPr lang="en-US" sz="980" dirty="0"/>
          </a:p>
        </p:txBody>
      </p:sp>
      <p:sp>
        <p:nvSpPr>
          <p:cNvPr id="23" name="Shape 20"/>
          <p:cNvSpPr/>
          <p:nvPr/>
        </p:nvSpPr>
        <p:spPr>
          <a:xfrm>
            <a:off x="7269480" y="1691640"/>
            <a:ext cx="1417320" cy="1170432"/>
          </a:xfrm>
          <a:prstGeom prst="roundRect">
            <a:avLst>
              <a:gd name="adj" fmla="val 5469"/>
            </a:avLst>
          </a:prstGeom>
          <a:solidFill>
            <a:srgbClr val="0D1D34"/>
          </a:solidFill>
          <a:ln w="14605">
            <a:solidFill>
              <a:srgbClr val="FFB782"/>
            </a:solidFill>
            <a:prstDash val="solid"/>
          </a:ln>
        </p:spPr>
      </p:sp>
      <p:sp>
        <p:nvSpPr>
          <p:cNvPr id="24" name="Text 21"/>
          <p:cNvSpPr/>
          <p:nvPr/>
        </p:nvSpPr>
        <p:spPr>
          <a:xfrm>
            <a:off x="7342632" y="1874520"/>
            <a:ext cx="1261872" cy="310896"/>
          </a:xfrm>
          <a:prstGeom prst="rect">
            <a:avLst/>
          </a:prstGeom>
          <a:noFill/>
        </p:spPr>
        <p:txBody>
          <a:bodyPr wrap="square" lIns="0" tIns="0" rIns="0" bIns="0" rtlCol="0" anchor="ctr"/>
          <a:lstStyle/>
          <a:p>
            <a:pPr marL="0" indent="0" algn="ctr">
              <a:buNone/>
            </a:pPr>
            <a:r>
              <a:rPr lang="en-US" sz="1130" b="1" dirty="0">
                <a:solidFill>
                  <a:srgbClr val="F8FAFC"/>
                </a:solidFill>
              </a:rPr>
              <a:t>AMP workspace</a:t>
            </a:r>
            <a:endParaRPr lang="en-US" sz="1130" dirty="0"/>
          </a:p>
        </p:txBody>
      </p:sp>
      <p:sp>
        <p:nvSpPr>
          <p:cNvPr id="25" name="Text 22"/>
          <p:cNvSpPr/>
          <p:nvPr/>
        </p:nvSpPr>
        <p:spPr>
          <a:xfrm>
            <a:off x="7342632" y="2212848"/>
            <a:ext cx="1261872" cy="475488"/>
          </a:xfrm>
          <a:prstGeom prst="rect">
            <a:avLst/>
          </a:prstGeom>
          <a:noFill/>
        </p:spPr>
        <p:txBody>
          <a:bodyPr wrap="square" lIns="0" tIns="0" rIns="0" bIns="0" rtlCol="0" anchor="ctr"/>
          <a:lstStyle/>
          <a:p>
            <a:pPr marL="0" indent="0" algn="ctr">
              <a:buNone/>
            </a:pPr>
            <a:r>
              <a:rPr lang="en-US" sz="980" dirty="0">
                <a:solidFill>
                  <a:srgbClr val="B8C7DB"/>
                </a:solidFill>
              </a:rPr>
              <a:t>ingest, store, query metrik; retention default 150 hari</a:t>
            </a:r>
            <a:endParaRPr lang="en-US" sz="980" dirty="0"/>
          </a:p>
        </p:txBody>
      </p:sp>
      <p:sp>
        <p:nvSpPr>
          <p:cNvPr id="26" name="Shape 23"/>
          <p:cNvSpPr/>
          <p:nvPr/>
        </p:nvSpPr>
        <p:spPr>
          <a:xfrm>
            <a:off x="9281160" y="1691640"/>
            <a:ext cx="1417320" cy="1170432"/>
          </a:xfrm>
          <a:prstGeom prst="roundRect">
            <a:avLst>
              <a:gd name="adj" fmla="val 5469"/>
            </a:avLst>
          </a:prstGeom>
          <a:solidFill>
            <a:srgbClr val="0D1D34"/>
          </a:solidFill>
          <a:ln w="14605">
            <a:solidFill>
              <a:srgbClr val="7CC6FF"/>
            </a:solidFill>
            <a:prstDash val="solid"/>
          </a:ln>
        </p:spPr>
      </p:sp>
      <p:sp>
        <p:nvSpPr>
          <p:cNvPr id="27" name="Text 24"/>
          <p:cNvSpPr/>
          <p:nvPr/>
        </p:nvSpPr>
        <p:spPr>
          <a:xfrm>
            <a:off x="9354312" y="1874520"/>
            <a:ext cx="1261872" cy="310896"/>
          </a:xfrm>
          <a:prstGeom prst="rect">
            <a:avLst/>
          </a:prstGeom>
          <a:noFill/>
        </p:spPr>
        <p:txBody>
          <a:bodyPr wrap="square" lIns="0" tIns="0" rIns="0" bIns="0" rtlCol="0" anchor="ctr"/>
          <a:lstStyle/>
          <a:p>
            <a:pPr marL="0" indent="0" algn="ctr">
              <a:buNone/>
            </a:pPr>
            <a:r>
              <a:rPr lang="en-US" sz="1130" b="1" dirty="0">
                <a:solidFill>
                  <a:srgbClr val="F8FAFC"/>
                </a:solidFill>
              </a:rPr>
              <a:t>Grafana / alerting</a:t>
            </a:r>
            <a:endParaRPr lang="en-US" sz="1130" dirty="0"/>
          </a:p>
        </p:txBody>
      </p:sp>
      <p:sp>
        <p:nvSpPr>
          <p:cNvPr id="28" name="Text 25"/>
          <p:cNvSpPr/>
          <p:nvPr/>
        </p:nvSpPr>
        <p:spPr>
          <a:xfrm>
            <a:off x="9354312" y="2212848"/>
            <a:ext cx="1261872" cy="475488"/>
          </a:xfrm>
          <a:prstGeom prst="rect">
            <a:avLst/>
          </a:prstGeom>
          <a:noFill/>
        </p:spPr>
        <p:txBody>
          <a:bodyPr wrap="square" lIns="0" tIns="0" rIns="0" bIns="0" rtlCol="0" anchor="ctr"/>
          <a:lstStyle/>
          <a:p>
            <a:pPr marL="0" indent="0" algn="ctr">
              <a:buNone/>
            </a:pPr>
            <a:r>
              <a:rPr lang="en-US" sz="980" dirty="0">
                <a:solidFill>
                  <a:srgbClr val="B8C7DB"/>
                </a:solidFill>
              </a:rPr>
              <a:t>PromQL untuk dashboard, eksplorasi, dan alarm</a:t>
            </a:r>
            <a:endParaRPr lang="en-US" sz="980" dirty="0"/>
          </a:p>
        </p:txBody>
      </p:sp>
      <p:sp>
        <p:nvSpPr>
          <p:cNvPr id="29" name="Shape 26"/>
          <p:cNvSpPr/>
          <p:nvPr/>
        </p:nvSpPr>
        <p:spPr>
          <a:xfrm>
            <a:off x="3657600" y="3767328"/>
            <a:ext cx="137160" cy="137160"/>
          </a:xfrm>
          <a:prstGeom prst="ellipse">
            <a:avLst/>
          </a:prstGeom>
          <a:solidFill>
            <a:srgbClr val="F2994A"/>
          </a:solidFill>
          <a:ln w="12700">
            <a:solidFill>
              <a:srgbClr val="F2994A"/>
            </a:solidFill>
            <a:prstDash val="solid"/>
          </a:ln>
        </p:spPr>
      </p:sp>
      <p:sp>
        <p:nvSpPr>
          <p:cNvPr id="30" name="Text 27"/>
          <p:cNvSpPr/>
          <p:nvPr/>
        </p:nvSpPr>
        <p:spPr>
          <a:xfrm>
            <a:off x="3886200" y="3749040"/>
            <a:ext cx="7635240" cy="274320"/>
          </a:xfrm>
          <a:prstGeom prst="rect">
            <a:avLst/>
          </a:prstGeom>
          <a:noFill/>
        </p:spPr>
        <p:txBody>
          <a:bodyPr wrap="square" lIns="0" tIns="0" rIns="0" bIns="0" rtlCol="0" anchor="ctr"/>
          <a:lstStyle/>
          <a:p>
            <a:pPr marL="0" indent="0">
              <a:buNone/>
            </a:pPr>
            <a:r>
              <a:rPr lang="en-US" sz="1190" dirty="0">
                <a:solidFill>
                  <a:srgbClr val="F8FAFC"/>
                </a:solidFill>
              </a:rPr>
              <a:t>menggunakan model data Prometheus dan PromQL</a:t>
            </a:r>
            <a:endParaRPr lang="en-US" sz="1190" dirty="0"/>
          </a:p>
        </p:txBody>
      </p:sp>
      <p:sp>
        <p:nvSpPr>
          <p:cNvPr id="31" name="Shape 28"/>
          <p:cNvSpPr/>
          <p:nvPr/>
        </p:nvSpPr>
        <p:spPr>
          <a:xfrm>
            <a:off x="3657600" y="4187952"/>
            <a:ext cx="137160" cy="137160"/>
          </a:xfrm>
          <a:prstGeom prst="ellipse">
            <a:avLst/>
          </a:prstGeom>
          <a:solidFill>
            <a:srgbClr val="2F80ED"/>
          </a:solidFill>
          <a:ln w="12700">
            <a:solidFill>
              <a:srgbClr val="2F80ED"/>
            </a:solidFill>
            <a:prstDash val="solid"/>
          </a:ln>
        </p:spPr>
      </p:sp>
      <p:sp>
        <p:nvSpPr>
          <p:cNvPr id="32" name="Text 29"/>
          <p:cNvSpPr/>
          <p:nvPr/>
        </p:nvSpPr>
        <p:spPr>
          <a:xfrm>
            <a:off x="3886200" y="4169664"/>
            <a:ext cx="7635240" cy="274320"/>
          </a:xfrm>
          <a:prstGeom prst="rect">
            <a:avLst/>
          </a:prstGeom>
          <a:noFill/>
        </p:spPr>
        <p:txBody>
          <a:bodyPr wrap="square" lIns="0" tIns="0" rIns="0" bIns="0" rtlCol="0" anchor="ctr"/>
          <a:lstStyle/>
          <a:p>
            <a:pPr marL="0" indent="0">
              <a:buNone/>
            </a:pPr>
            <a:r>
              <a:rPr lang="en-US" sz="1190" dirty="0">
                <a:solidFill>
                  <a:srgbClr val="F8FAFC"/>
                </a:solidFill>
              </a:rPr>
              <a:t>otomatis menskalakan ingestion, storage, dan query</a:t>
            </a:r>
            <a:endParaRPr lang="en-US" sz="1190" dirty="0"/>
          </a:p>
        </p:txBody>
      </p:sp>
      <p:sp>
        <p:nvSpPr>
          <p:cNvPr id="33" name="Shape 30"/>
          <p:cNvSpPr/>
          <p:nvPr/>
        </p:nvSpPr>
        <p:spPr>
          <a:xfrm>
            <a:off x="3657600" y="4608576"/>
            <a:ext cx="137160" cy="137160"/>
          </a:xfrm>
          <a:prstGeom prst="ellipse">
            <a:avLst/>
          </a:prstGeom>
          <a:solidFill>
            <a:srgbClr val="F2994A"/>
          </a:solidFill>
          <a:ln w="12700">
            <a:solidFill>
              <a:srgbClr val="F2994A"/>
            </a:solidFill>
            <a:prstDash val="solid"/>
          </a:ln>
        </p:spPr>
      </p:sp>
      <p:sp>
        <p:nvSpPr>
          <p:cNvPr id="34" name="Text 31"/>
          <p:cNvSpPr/>
          <p:nvPr/>
        </p:nvSpPr>
        <p:spPr>
          <a:xfrm>
            <a:off x="3886200" y="4590288"/>
            <a:ext cx="7635240" cy="274320"/>
          </a:xfrm>
          <a:prstGeom prst="rect">
            <a:avLst/>
          </a:prstGeom>
          <a:noFill/>
        </p:spPr>
        <p:txBody>
          <a:bodyPr wrap="square" lIns="0" tIns="0" rIns="0" bIns="0" rtlCol="0" anchor="ctr"/>
          <a:lstStyle/>
          <a:p>
            <a:pPr marL="0" indent="0">
              <a:buNone/>
            </a:pPr>
            <a:r>
              <a:rPr lang="en-US" sz="1190" dirty="0">
                <a:solidFill>
                  <a:srgbClr val="F8FAFC"/>
                </a:solidFill>
              </a:rPr>
              <a:t>workspace direplikasi lintas tiga Availability Zone dalam satu Region</a:t>
            </a:r>
            <a:endParaRPr lang="en-US" sz="1190" dirty="0"/>
          </a:p>
        </p:txBody>
      </p:sp>
      <p:sp>
        <p:nvSpPr>
          <p:cNvPr id="35" name="Shape 32"/>
          <p:cNvSpPr/>
          <p:nvPr/>
        </p:nvSpPr>
        <p:spPr>
          <a:xfrm>
            <a:off x="3657600" y="5029200"/>
            <a:ext cx="137160" cy="137160"/>
          </a:xfrm>
          <a:prstGeom prst="ellipse">
            <a:avLst/>
          </a:prstGeom>
          <a:solidFill>
            <a:srgbClr val="2F80ED"/>
          </a:solidFill>
          <a:ln w="12700">
            <a:solidFill>
              <a:srgbClr val="2F80ED"/>
            </a:solidFill>
            <a:prstDash val="solid"/>
          </a:ln>
        </p:spPr>
      </p:sp>
      <p:sp>
        <p:nvSpPr>
          <p:cNvPr id="36" name="Text 33"/>
          <p:cNvSpPr/>
          <p:nvPr/>
        </p:nvSpPr>
        <p:spPr>
          <a:xfrm>
            <a:off x="3886200" y="5010912"/>
            <a:ext cx="7635240" cy="274320"/>
          </a:xfrm>
          <a:prstGeom prst="rect">
            <a:avLst/>
          </a:prstGeom>
          <a:noFill/>
        </p:spPr>
        <p:txBody>
          <a:bodyPr wrap="square" lIns="0" tIns="0" rIns="0" bIns="0" rtlCol="0" anchor="ctr"/>
          <a:lstStyle/>
          <a:p>
            <a:pPr marL="0" indent="0">
              <a:buNone/>
            </a:pPr>
            <a:r>
              <a:rPr lang="en-US" sz="1190" dirty="0">
                <a:solidFill>
                  <a:srgbClr val="F8FAFC"/>
                </a:solidFill>
              </a:rPr>
              <a:t>ingest dapat melalui AWS managed collector atau customer managed collector</a:t>
            </a:r>
            <a:endParaRPr lang="en-US" sz="11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12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1224"/>
          </a:solidFill>
          <a:ln w="12700">
            <a:solidFill>
              <a:srgbClr val="051224"/>
            </a:solidFill>
            <a:prstDash val="solid"/>
          </a:ln>
        </p:spPr>
      </p:sp>
      <p:sp>
        <p:nvSpPr>
          <p:cNvPr id="3" name="Shape 1"/>
          <p:cNvSpPr/>
          <p:nvPr/>
        </p:nvSpPr>
        <p:spPr>
          <a:xfrm>
            <a:off x="0" y="0"/>
            <a:ext cx="12191695" cy="73152"/>
          </a:xfrm>
          <a:prstGeom prst="rect">
            <a:avLst/>
          </a:prstGeom>
          <a:solidFill>
            <a:srgbClr val="2F80ED"/>
          </a:solidFill>
          <a:ln w="12700">
            <a:solidFill>
              <a:srgbClr val="2F80ED"/>
            </a:solidFill>
            <a:prstDash val="solid"/>
          </a:ln>
        </p:spPr>
      </p:sp>
      <p:sp>
        <p:nvSpPr>
          <p:cNvPr id="4" name="Shape 2"/>
          <p:cNvSpPr/>
          <p:nvPr/>
        </p:nvSpPr>
        <p:spPr>
          <a:xfrm>
            <a:off x="9692640" y="0"/>
            <a:ext cx="2499055" cy="73152"/>
          </a:xfrm>
          <a:prstGeom prst="rect">
            <a:avLst/>
          </a:prstGeom>
          <a:solidFill>
            <a:srgbClr val="F2994A"/>
          </a:solidFill>
          <a:ln w="12700">
            <a:solidFill>
              <a:srgbClr val="F2994A"/>
            </a:solidFill>
            <a:prstDash val="solid"/>
          </a:ln>
        </p:spPr>
      </p:sp>
      <p:sp>
        <p:nvSpPr>
          <p:cNvPr id="5" name="Shape 3"/>
          <p:cNvSpPr/>
          <p:nvPr/>
        </p:nvSpPr>
        <p:spPr>
          <a:xfrm>
            <a:off x="548640" y="6236208"/>
            <a:ext cx="11155680" cy="0"/>
          </a:xfrm>
          <a:prstGeom prst="line">
            <a:avLst/>
          </a:prstGeom>
          <a:noFill/>
          <a:ln w="13970">
            <a:solidFill>
              <a:srgbClr val="21456F"/>
            </a:solidFill>
            <a:prstDash val="solid"/>
          </a:ln>
        </p:spPr>
      </p:sp>
      <p:sp>
        <p:nvSpPr>
          <p:cNvPr id="6" name="Text 4"/>
          <p:cNvSpPr/>
          <p:nvPr/>
        </p:nvSpPr>
        <p:spPr>
          <a:xfrm>
            <a:off x="658368" y="347472"/>
            <a:ext cx="8046720" cy="457200"/>
          </a:xfrm>
          <a:prstGeom prst="rect">
            <a:avLst/>
          </a:prstGeom>
          <a:noFill/>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Ringkasan akhir: DynamoDB dan Prometheus melayani dua lapisan data yang berbeda</a:t>
            </a:r>
            <a:endParaRPr lang="en-US" sz="2700" dirty="0"/>
          </a:p>
        </p:txBody>
      </p:sp>
      <p:sp>
        <p:nvSpPr>
          <p:cNvPr id="7" name="Text 5"/>
          <p:cNvSpPr/>
          <p:nvPr/>
        </p:nvSpPr>
        <p:spPr>
          <a:xfrm>
            <a:off x="658368" y="822960"/>
            <a:ext cx="9966960" cy="310896"/>
          </a:xfrm>
          <a:prstGeom prst="rect">
            <a:avLst/>
          </a:prstGeom>
          <a:noFill/>
        </p:spPr>
        <p:txBody>
          <a:bodyPr wrap="square" lIns="0" tIns="0" rIns="0" bIns="0" rtlCol="0" anchor="ctr"/>
          <a:lstStyle/>
          <a:p>
            <a:pPr marL="0" indent="0">
              <a:buNone/>
            </a:pPr>
            <a:r>
              <a:rPr lang="en-US" sz="1150" dirty="0">
                <a:solidFill>
                  <a:srgbClr val="B8C7DB"/>
                </a:solidFill>
                <a:latin typeface="Aptos" pitchFamily="34" charset="0"/>
                <a:ea typeface="Aptos" pitchFamily="34" charset="-122"/>
                <a:cs typeface="Aptos" pitchFamily="34" charset="-120"/>
              </a:rPr>
              <a:t>Keduanya sama-sama menyimpan data, tetapi tujuan, skema, dan pola query-nya berbeda.</a:t>
            </a:r>
            <a:endParaRPr lang="en-US" sz="1150" dirty="0"/>
          </a:p>
        </p:txBody>
      </p:sp>
      <p:sp>
        <p:nvSpPr>
          <p:cNvPr id="8" name="Text 6"/>
          <p:cNvSpPr/>
          <p:nvPr/>
        </p:nvSpPr>
        <p:spPr>
          <a:xfrm>
            <a:off x="11795760" y="6446520"/>
            <a:ext cx="182880" cy="164592"/>
          </a:xfrm>
          <a:prstGeom prst="rect">
            <a:avLst/>
          </a:prstGeom>
          <a:noFill/>
        </p:spPr>
        <p:txBody>
          <a:bodyPr wrap="square" lIns="0" tIns="0" rIns="0" bIns="0" rtlCol="0" anchor="ctr"/>
          <a:lstStyle/>
          <a:p>
            <a:pPr marL="0" indent="0" algn="r">
              <a:buNone/>
            </a:pPr>
            <a:r>
              <a:rPr lang="en-US" sz="850" dirty="0">
                <a:solidFill>
                  <a:srgbClr val="B8C7DB"/>
                </a:solidFill>
                <a:latin typeface="Aptos" pitchFamily="34" charset="0"/>
                <a:ea typeface="Aptos" pitchFamily="34" charset="-122"/>
                <a:cs typeface="Aptos" pitchFamily="34" charset="-120"/>
              </a:rPr>
              <a:t>7</a:t>
            </a:r>
            <a:endParaRPr lang="en-US" sz="850" dirty="0"/>
          </a:p>
        </p:txBody>
      </p:sp>
      <p:sp>
        <p:nvSpPr>
          <p:cNvPr id="9" name="Shape 7"/>
          <p:cNvSpPr/>
          <p:nvPr/>
        </p:nvSpPr>
        <p:spPr>
          <a:xfrm>
            <a:off x="713232" y="1298448"/>
            <a:ext cx="5349240" cy="4462272"/>
          </a:xfrm>
          <a:prstGeom prst="roundRect">
            <a:avLst>
              <a:gd name="adj" fmla="val 2049"/>
            </a:avLst>
          </a:prstGeom>
          <a:solidFill>
            <a:srgbClr val="0A1930"/>
          </a:solidFill>
          <a:ln w="15875">
            <a:solidFill>
              <a:srgbClr val="2F80ED"/>
            </a:solidFill>
            <a:prstDash val="solid"/>
          </a:ln>
        </p:spPr>
      </p:sp>
      <p:sp>
        <p:nvSpPr>
          <p:cNvPr id="10" name="Shape 8"/>
          <p:cNvSpPr/>
          <p:nvPr/>
        </p:nvSpPr>
        <p:spPr>
          <a:xfrm>
            <a:off x="6144768" y="1298448"/>
            <a:ext cx="5349240" cy="4462272"/>
          </a:xfrm>
          <a:prstGeom prst="roundRect">
            <a:avLst>
              <a:gd name="adj" fmla="val 2049"/>
            </a:avLst>
          </a:prstGeom>
          <a:solidFill>
            <a:srgbClr val="161118"/>
          </a:solidFill>
          <a:ln w="15875">
            <a:solidFill>
              <a:srgbClr val="F2994A"/>
            </a:solidFill>
            <a:prstDash val="solid"/>
          </a:ln>
        </p:spPr>
      </p:sp>
      <p:sp>
        <p:nvSpPr>
          <p:cNvPr id="11" name="Shape 9"/>
          <p:cNvSpPr/>
          <p:nvPr/>
        </p:nvSpPr>
        <p:spPr>
          <a:xfrm>
            <a:off x="932688" y="1508760"/>
            <a:ext cx="1783080" cy="310896"/>
          </a:xfrm>
          <a:prstGeom prst="roundRect">
            <a:avLst>
              <a:gd name="adj" fmla="val 23529"/>
            </a:avLst>
          </a:prstGeom>
          <a:solidFill>
            <a:srgbClr val="113257">
              <a:alpha val="92000"/>
            </a:srgbClr>
          </a:solidFill>
          <a:ln w="13970">
            <a:solidFill>
              <a:srgbClr val="2F80ED"/>
            </a:solidFill>
            <a:prstDash val="solid"/>
          </a:ln>
        </p:spPr>
      </p:sp>
      <p:sp>
        <p:nvSpPr>
          <p:cNvPr id="12" name="Text 10"/>
          <p:cNvSpPr/>
          <p:nvPr/>
        </p:nvSpPr>
        <p:spPr>
          <a:xfrm>
            <a:off x="932688" y="1531620"/>
            <a:ext cx="1783080" cy="228600"/>
          </a:xfrm>
          <a:prstGeom prst="rect">
            <a:avLst/>
          </a:prstGeom>
          <a:noFill/>
        </p:spPr>
        <p:txBody>
          <a:bodyPr wrap="square" lIns="0" tIns="0" rIns="0" bIns="0" rtlCol="0" anchor="ctr"/>
          <a:lstStyle/>
          <a:p>
            <a:pPr marL="0" indent="0" algn="ctr">
              <a:buNone/>
            </a:pPr>
            <a:r>
              <a:rPr lang="en-US" sz="1100" b="1" dirty="0">
                <a:solidFill>
                  <a:srgbClr val="2F80ED"/>
                </a:solidFill>
              </a:rPr>
              <a:t>Data operasional utama</a:t>
            </a:r>
            <a:endParaRPr lang="en-US" sz="1100" dirty="0"/>
          </a:p>
        </p:txBody>
      </p:sp>
      <p:sp>
        <p:nvSpPr>
          <p:cNvPr id="13" name="Shape 11"/>
          <p:cNvSpPr/>
          <p:nvPr/>
        </p:nvSpPr>
        <p:spPr>
          <a:xfrm>
            <a:off x="6382512" y="1508760"/>
            <a:ext cx="1965960" cy="310896"/>
          </a:xfrm>
          <a:prstGeom prst="roundRect">
            <a:avLst>
              <a:gd name="adj" fmla="val 23529"/>
            </a:avLst>
          </a:prstGeom>
          <a:solidFill>
            <a:srgbClr val="3A2215">
              <a:alpha val="92000"/>
            </a:srgbClr>
          </a:solidFill>
          <a:ln w="13970">
            <a:solidFill>
              <a:srgbClr val="F2994A"/>
            </a:solidFill>
            <a:prstDash val="solid"/>
          </a:ln>
        </p:spPr>
      </p:sp>
      <p:sp>
        <p:nvSpPr>
          <p:cNvPr id="14" name="Text 12"/>
          <p:cNvSpPr/>
          <p:nvPr/>
        </p:nvSpPr>
        <p:spPr>
          <a:xfrm>
            <a:off x="6382512" y="1531620"/>
            <a:ext cx="1965960" cy="228600"/>
          </a:xfrm>
          <a:prstGeom prst="rect">
            <a:avLst/>
          </a:prstGeom>
          <a:noFill/>
        </p:spPr>
        <p:txBody>
          <a:bodyPr wrap="square" lIns="0" tIns="0" rIns="0" bIns="0" rtlCol="0" anchor="ctr"/>
          <a:lstStyle/>
          <a:p>
            <a:pPr marL="0" indent="0" algn="ctr">
              <a:buNone/>
            </a:pPr>
            <a:r>
              <a:rPr lang="en-US" sz="1100" b="1" dirty="0">
                <a:solidFill>
                  <a:srgbClr val="F2994A"/>
                </a:solidFill>
              </a:rPr>
              <a:t>Observability &amp; monitoring</a:t>
            </a:r>
            <a:endParaRPr lang="en-US" sz="1100" dirty="0"/>
          </a:p>
        </p:txBody>
      </p:sp>
      <p:pic>
        <p:nvPicPr>
          <p:cNvPr id="15" name="Image 0" descr="/tmp/aws_old/ppt/media/image-1-1.png"/>
          <p:cNvPicPr>
            <a:picLocks noChangeAspect="1"/>
          </p:cNvPicPr>
          <p:nvPr/>
        </p:nvPicPr>
        <p:blipFill>
          <a:blip r:embed="rId3"/>
          <a:stretch>
            <a:fillRect/>
          </a:stretch>
        </p:blipFill>
        <p:spPr>
          <a:xfrm>
            <a:off x="987552" y="1828800"/>
            <a:ext cx="1115568" cy="1115568"/>
          </a:xfrm>
          <a:prstGeom prst="rect">
            <a:avLst/>
          </a:prstGeom>
        </p:spPr>
      </p:pic>
      <p:pic>
        <p:nvPicPr>
          <p:cNvPr id="16" name="Image 1" descr="/tmp/aws_old/ppt/media/image-1-2.png"/>
          <p:cNvPicPr>
            <a:picLocks noChangeAspect="1"/>
          </p:cNvPicPr>
          <p:nvPr/>
        </p:nvPicPr>
        <p:blipFill>
          <a:blip r:embed="rId4"/>
          <a:stretch>
            <a:fillRect/>
          </a:stretch>
        </p:blipFill>
        <p:spPr>
          <a:xfrm>
            <a:off x="6421402" y="1828800"/>
            <a:ext cx="1110939" cy="1115568"/>
          </a:xfrm>
          <a:prstGeom prst="rect">
            <a:avLst/>
          </a:prstGeom>
        </p:spPr>
      </p:pic>
      <p:sp>
        <p:nvSpPr>
          <p:cNvPr id="17" name="Text 13"/>
          <p:cNvSpPr/>
          <p:nvPr/>
        </p:nvSpPr>
        <p:spPr>
          <a:xfrm>
            <a:off x="2286000" y="1965960"/>
            <a:ext cx="2103120" cy="274320"/>
          </a:xfrm>
          <a:prstGeom prst="rect">
            <a:avLst/>
          </a:prstGeom>
          <a:noFill/>
        </p:spPr>
        <p:txBody>
          <a:bodyPr wrap="square" lIns="0" tIns="0" rIns="0" bIns="0" rtlCol="0" anchor="ctr"/>
          <a:lstStyle/>
          <a:p>
            <a:pPr marL="0" indent="0">
              <a:buNone/>
            </a:pPr>
            <a:r>
              <a:rPr lang="en-US" sz="2200" b="1" dirty="0">
                <a:solidFill>
                  <a:srgbClr val="F8FAFC"/>
                </a:solidFill>
              </a:rPr>
              <a:t>DynamoDB</a:t>
            </a:r>
            <a:endParaRPr lang="en-US" sz="2200" dirty="0"/>
          </a:p>
        </p:txBody>
      </p:sp>
      <p:sp>
        <p:nvSpPr>
          <p:cNvPr id="18" name="Text 14"/>
          <p:cNvSpPr/>
          <p:nvPr/>
        </p:nvSpPr>
        <p:spPr>
          <a:xfrm>
            <a:off x="7662672" y="1965960"/>
            <a:ext cx="2697480" cy="274320"/>
          </a:xfrm>
          <a:prstGeom prst="rect">
            <a:avLst/>
          </a:prstGeom>
          <a:noFill/>
        </p:spPr>
        <p:txBody>
          <a:bodyPr wrap="square" lIns="0" tIns="0" rIns="0" bIns="0" rtlCol="0" anchor="ctr"/>
          <a:lstStyle/>
          <a:p>
            <a:pPr marL="0" indent="0">
              <a:buNone/>
            </a:pPr>
            <a:r>
              <a:rPr lang="en-US" sz="2200" b="1" dirty="0">
                <a:solidFill>
                  <a:srgbClr val="F8FAFC"/>
                </a:solidFill>
              </a:rPr>
              <a:t>Prometheus / AMP</a:t>
            </a:r>
            <a:endParaRPr lang="en-US" sz="2200" dirty="0"/>
          </a:p>
        </p:txBody>
      </p:sp>
      <p:sp>
        <p:nvSpPr>
          <p:cNvPr id="19" name="Text 15"/>
          <p:cNvSpPr/>
          <p:nvPr/>
        </p:nvSpPr>
        <p:spPr>
          <a:xfrm>
            <a:off x="932688" y="3017520"/>
            <a:ext cx="1417320" cy="219456"/>
          </a:xfrm>
          <a:prstGeom prst="rect">
            <a:avLst/>
          </a:prstGeom>
          <a:noFill/>
        </p:spPr>
        <p:txBody>
          <a:bodyPr wrap="square" lIns="0" tIns="0" rIns="0" bIns="0" rtlCol="0" anchor="ctr"/>
          <a:lstStyle/>
          <a:p>
            <a:pPr marL="0" indent="0">
              <a:buNone/>
            </a:pPr>
            <a:r>
              <a:rPr lang="en-US" sz="1170" b="1" dirty="0">
                <a:solidFill>
                  <a:srgbClr val="7CC6FF"/>
                </a:solidFill>
              </a:rPr>
              <a:t>Data yang disimpan</a:t>
            </a:r>
            <a:endParaRPr lang="en-US" sz="1170" dirty="0"/>
          </a:p>
        </p:txBody>
      </p:sp>
      <p:sp>
        <p:nvSpPr>
          <p:cNvPr id="20" name="Text 16"/>
          <p:cNvSpPr/>
          <p:nvPr/>
        </p:nvSpPr>
        <p:spPr>
          <a:xfrm>
            <a:off x="2468880" y="3017520"/>
            <a:ext cx="2971800" cy="310896"/>
          </a:xfrm>
          <a:prstGeom prst="rect">
            <a:avLst/>
          </a:prstGeom>
          <a:noFill/>
        </p:spPr>
        <p:txBody>
          <a:bodyPr wrap="square" lIns="0" tIns="0" rIns="0" bIns="0" rtlCol="0" anchor="ctr"/>
          <a:lstStyle/>
          <a:p>
            <a:pPr marL="0" indent="0">
              <a:buNone/>
            </a:pPr>
            <a:r>
              <a:rPr lang="en-US" sz="1170" dirty="0">
                <a:solidFill>
                  <a:srgbClr val="F8FAFC"/>
                </a:solidFill>
              </a:rPr>
              <a:t>record bisnis, state aplikasi, item NoSQL</a:t>
            </a:r>
            <a:endParaRPr lang="en-US" sz="1170" dirty="0"/>
          </a:p>
        </p:txBody>
      </p:sp>
      <p:sp>
        <p:nvSpPr>
          <p:cNvPr id="21" name="Text 17"/>
          <p:cNvSpPr/>
          <p:nvPr/>
        </p:nvSpPr>
        <p:spPr>
          <a:xfrm>
            <a:off x="932688" y="3675888"/>
            <a:ext cx="1417320" cy="219456"/>
          </a:xfrm>
          <a:prstGeom prst="rect">
            <a:avLst/>
          </a:prstGeom>
          <a:noFill/>
        </p:spPr>
        <p:txBody>
          <a:bodyPr wrap="square" lIns="0" tIns="0" rIns="0" bIns="0" rtlCol="0" anchor="ctr"/>
          <a:lstStyle/>
          <a:p>
            <a:pPr marL="0" indent="0">
              <a:buNone/>
            </a:pPr>
            <a:r>
              <a:rPr lang="en-US" sz="1170" b="1" dirty="0">
                <a:solidFill>
                  <a:srgbClr val="7CC6FF"/>
                </a:solidFill>
              </a:rPr>
              <a:t>Pola query</a:t>
            </a:r>
            <a:endParaRPr lang="en-US" sz="1170" dirty="0"/>
          </a:p>
        </p:txBody>
      </p:sp>
      <p:sp>
        <p:nvSpPr>
          <p:cNvPr id="22" name="Text 18"/>
          <p:cNvSpPr/>
          <p:nvPr/>
        </p:nvSpPr>
        <p:spPr>
          <a:xfrm>
            <a:off x="2468880" y="3675888"/>
            <a:ext cx="2971800" cy="310896"/>
          </a:xfrm>
          <a:prstGeom prst="rect">
            <a:avLst/>
          </a:prstGeom>
          <a:noFill/>
        </p:spPr>
        <p:txBody>
          <a:bodyPr wrap="square" lIns="0" tIns="0" rIns="0" bIns="0" rtlCol="0" anchor="ctr"/>
          <a:lstStyle/>
          <a:p>
            <a:pPr marL="0" indent="0">
              <a:buNone/>
            </a:pPr>
            <a:r>
              <a:rPr lang="en-US" sz="1170" dirty="0">
                <a:solidFill>
                  <a:srgbClr val="F8FAFC"/>
                </a:solidFill>
              </a:rPr>
              <a:t>get/put/query berdasarkan key dan index</a:t>
            </a:r>
            <a:endParaRPr lang="en-US" sz="1170" dirty="0"/>
          </a:p>
        </p:txBody>
      </p:sp>
      <p:sp>
        <p:nvSpPr>
          <p:cNvPr id="23" name="Text 19"/>
          <p:cNvSpPr/>
          <p:nvPr/>
        </p:nvSpPr>
        <p:spPr>
          <a:xfrm>
            <a:off x="932688" y="4334256"/>
            <a:ext cx="1417320" cy="219456"/>
          </a:xfrm>
          <a:prstGeom prst="rect">
            <a:avLst/>
          </a:prstGeom>
          <a:noFill/>
        </p:spPr>
        <p:txBody>
          <a:bodyPr wrap="square" lIns="0" tIns="0" rIns="0" bIns="0" rtlCol="0" anchor="ctr"/>
          <a:lstStyle/>
          <a:p>
            <a:pPr marL="0" indent="0">
              <a:buNone/>
            </a:pPr>
            <a:r>
              <a:rPr lang="en-US" sz="1170" b="1" dirty="0">
                <a:solidFill>
                  <a:srgbClr val="7CC6FF"/>
                </a:solidFill>
              </a:rPr>
              <a:t>Kekuatan utama</a:t>
            </a:r>
            <a:endParaRPr lang="en-US" sz="1170" dirty="0"/>
          </a:p>
        </p:txBody>
      </p:sp>
      <p:sp>
        <p:nvSpPr>
          <p:cNvPr id="24" name="Text 20"/>
          <p:cNvSpPr/>
          <p:nvPr/>
        </p:nvSpPr>
        <p:spPr>
          <a:xfrm>
            <a:off x="2468880" y="4334256"/>
            <a:ext cx="2971800" cy="310896"/>
          </a:xfrm>
          <a:prstGeom prst="rect">
            <a:avLst/>
          </a:prstGeom>
          <a:noFill/>
        </p:spPr>
        <p:txBody>
          <a:bodyPr wrap="square" lIns="0" tIns="0" rIns="0" bIns="0" rtlCol="0" anchor="ctr"/>
          <a:lstStyle/>
          <a:p>
            <a:pPr marL="0" indent="0">
              <a:buNone/>
            </a:pPr>
            <a:r>
              <a:rPr lang="en-US" sz="1170" dirty="0">
                <a:solidFill>
                  <a:srgbClr val="F8FAFC"/>
                </a:solidFill>
              </a:rPr>
              <a:t>latensi rendah, scale-out, serverless</a:t>
            </a:r>
            <a:endParaRPr lang="en-US" sz="1170" dirty="0"/>
          </a:p>
        </p:txBody>
      </p:sp>
      <p:sp>
        <p:nvSpPr>
          <p:cNvPr id="25" name="Text 21"/>
          <p:cNvSpPr/>
          <p:nvPr/>
        </p:nvSpPr>
        <p:spPr>
          <a:xfrm>
            <a:off x="932688" y="4992624"/>
            <a:ext cx="1417320" cy="219456"/>
          </a:xfrm>
          <a:prstGeom prst="rect">
            <a:avLst/>
          </a:prstGeom>
          <a:noFill/>
        </p:spPr>
        <p:txBody>
          <a:bodyPr wrap="square" lIns="0" tIns="0" rIns="0" bIns="0" rtlCol="0" anchor="ctr"/>
          <a:lstStyle/>
          <a:p>
            <a:pPr marL="0" indent="0">
              <a:buNone/>
            </a:pPr>
            <a:r>
              <a:rPr lang="en-US" sz="1170" b="1" dirty="0">
                <a:solidFill>
                  <a:srgbClr val="7CC6FF"/>
                </a:solidFill>
              </a:rPr>
              <a:t>Contoh</a:t>
            </a:r>
            <a:endParaRPr lang="en-US" sz="1170" dirty="0"/>
          </a:p>
        </p:txBody>
      </p:sp>
      <p:sp>
        <p:nvSpPr>
          <p:cNvPr id="26" name="Text 22"/>
          <p:cNvSpPr/>
          <p:nvPr/>
        </p:nvSpPr>
        <p:spPr>
          <a:xfrm>
            <a:off x="2468880" y="4992624"/>
            <a:ext cx="2971800" cy="310896"/>
          </a:xfrm>
          <a:prstGeom prst="rect">
            <a:avLst/>
          </a:prstGeom>
          <a:noFill/>
        </p:spPr>
        <p:txBody>
          <a:bodyPr wrap="square" lIns="0" tIns="0" rIns="0" bIns="0" rtlCol="0" anchor="ctr"/>
          <a:lstStyle/>
          <a:p>
            <a:pPr marL="0" indent="0">
              <a:buNone/>
            </a:pPr>
            <a:r>
              <a:rPr lang="en-US" sz="1170" dirty="0">
                <a:solidFill>
                  <a:srgbClr val="F8FAFC"/>
                </a:solidFill>
              </a:rPr>
              <a:t>cart, session, profile, IoT state</a:t>
            </a:r>
            <a:endParaRPr lang="en-US" sz="1170" dirty="0"/>
          </a:p>
        </p:txBody>
      </p:sp>
      <p:sp>
        <p:nvSpPr>
          <p:cNvPr id="27" name="Text 23"/>
          <p:cNvSpPr/>
          <p:nvPr/>
        </p:nvSpPr>
        <p:spPr>
          <a:xfrm>
            <a:off x="6364224" y="3017520"/>
            <a:ext cx="1417320" cy="219456"/>
          </a:xfrm>
          <a:prstGeom prst="rect">
            <a:avLst/>
          </a:prstGeom>
          <a:noFill/>
        </p:spPr>
        <p:txBody>
          <a:bodyPr wrap="square" lIns="0" tIns="0" rIns="0" bIns="0" rtlCol="0" anchor="ctr"/>
          <a:lstStyle/>
          <a:p>
            <a:pPr marL="0" indent="0">
              <a:buNone/>
            </a:pPr>
            <a:r>
              <a:rPr lang="en-US" sz="1170" b="1" dirty="0">
                <a:solidFill>
                  <a:srgbClr val="FFB782"/>
                </a:solidFill>
              </a:rPr>
              <a:t>Data yang disimpan</a:t>
            </a:r>
            <a:endParaRPr lang="en-US" sz="1170" dirty="0"/>
          </a:p>
        </p:txBody>
      </p:sp>
      <p:sp>
        <p:nvSpPr>
          <p:cNvPr id="28" name="Text 24"/>
          <p:cNvSpPr/>
          <p:nvPr/>
        </p:nvSpPr>
        <p:spPr>
          <a:xfrm>
            <a:off x="7900416" y="3017520"/>
            <a:ext cx="2971800" cy="310896"/>
          </a:xfrm>
          <a:prstGeom prst="rect">
            <a:avLst/>
          </a:prstGeom>
          <a:noFill/>
        </p:spPr>
        <p:txBody>
          <a:bodyPr wrap="square" lIns="0" tIns="0" rIns="0" bIns="0" rtlCol="0" anchor="ctr"/>
          <a:lstStyle/>
          <a:p>
            <a:pPr marL="0" indent="0">
              <a:buNone/>
            </a:pPr>
            <a:r>
              <a:rPr lang="en-US" sz="1170" dirty="0">
                <a:solidFill>
                  <a:srgbClr val="F8FAFC"/>
                </a:solidFill>
              </a:rPr>
              <a:t>metrik waktu: CPU, memori, latency, error</a:t>
            </a:r>
            <a:endParaRPr lang="en-US" sz="1170" dirty="0"/>
          </a:p>
        </p:txBody>
      </p:sp>
      <p:sp>
        <p:nvSpPr>
          <p:cNvPr id="29" name="Text 25"/>
          <p:cNvSpPr/>
          <p:nvPr/>
        </p:nvSpPr>
        <p:spPr>
          <a:xfrm>
            <a:off x="6364224" y="3675888"/>
            <a:ext cx="1417320" cy="219456"/>
          </a:xfrm>
          <a:prstGeom prst="rect">
            <a:avLst/>
          </a:prstGeom>
          <a:noFill/>
        </p:spPr>
        <p:txBody>
          <a:bodyPr wrap="square" lIns="0" tIns="0" rIns="0" bIns="0" rtlCol="0" anchor="ctr"/>
          <a:lstStyle/>
          <a:p>
            <a:pPr marL="0" indent="0">
              <a:buNone/>
            </a:pPr>
            <a:r>
              <a:rPr lang="en-US" sz="1170" b="1" dirty="0">
                <a:solidFill>
                  <a:srgbClr val="FFB782"/>
                </a:solidFill>
              </a:rPr>
              <a:t>Pola query</a:t>
            </a:r>
            <a:endParaRPr lang="en-US" sz="1170" dirty="0"/>
          </a:p>
        </p:txBody>
      </p:sp>
      <p:sp>
        <p:nvSpPr>
          <p:cNvPr id="30" name="Text 26"/>
          <p:cNvSpPr/>
          <p:nvPr/>
        </p:nvSpPr>
        <p:spPr>
          <a:xfrm>
            <a:off x="7900416" y="3675888"/>
            <a:ext cx="2971800" cy="310896"/>
          </a:xfrm>
          <a:prstGeom prst="rect">
            <a:avLst/>
          </a:prstGeom>
          <a:noFill/>
        </p:spPr>
        <p:txBody>
          <a:bodyPr wrap="square" lIns="0" tIns="0" rIns="0" bIns="0" rtlCol="0" anchor="ctr"/>
          <a:lstStyle/>
          <a:p>
            <a:pPr marL="0" indent="0">
              <a:buNone/>
            </a:pPr>
            <a:r>
              <a:rPr lang="en-US" sz="1170" dirty="0">
                <a:solidFill>
                  <a:srgbClr val="F8FAFC"/>
                </a:solidFill>
              </a:rPr>
              <a:t>PromQL, agregasi, rate, alerting</a:t>
            </a:r>
            <a:endParaRPr lang="en-US" sz="1170" dirty="0"/>
          </a:p>
        </p:txBody>
      </p:sp>
      <p:sp>
        <p:nvSpPr>
          <p:cNvPr id="31" name="Text 27"/>
          <p:cNvSpPr/>
          <p:nvPr/>
        </p:nvSpPr>
        <p:spPr>
          <a:xfrm>
            <a:off x="6364224" y="4334256"/>
            <a:ext cx="1417320" cy="219456"/>
          </a:xfrm>
          <a:prstGeom prst="rect">
            <a:avLst/>
          </a:prstGeom>
          <a:noFill/>
        </p:spPr>
        <p:txBody>
          <a:bodyPr wrap="square" lIns="0" tIns="0" rIns="0" bIns="0" rtlCol="0" anchor="ctr"/>
          <a:lstStyle/>
          <a:p>
            <a:pPr marL="0" indent="0">
              <a:buNone/>
            </a:pPr>
            <a:r>
              <a:rPr lang="en-US" sz="1170" b="1" dirty="0">
                <a:solidFill>
                  <a:srgbClr val="FFB782"/>
                </a:solidFill>
              </a:rPr>
              <a:t>Kekuatan utama</a:t>
            </a:r>
            <a:endParaRPr lang="en-US" sz="1170" dirty="0"/>
          </a:p>
        </p:txBody>
      </p:sp>
      <p:sp>
        <p:nvSpPr>
          <p:cNvPr id="32" name="Text 28"/>
          <p:cNvSpPr/>
          <p:nvPr/>
        </p:nvSpPr>
        <p:spPr>
          <a:xfrm>
            <a:off x="7900416" y="4334256"/>
            <a:ext cx="2971800" cy="310896"/>
          </a:xfrm>
          <a:prstGeom prst="rect">
            <a:avLst/>
          </a:prstGeom>
          <a:noFill/>
        </p:spPr>
        <p:txBody>
          <a:bodyPr wrap="square" lIns="0" tIns="0" rIns="0" bIns="0" rtlCol="0" anchor="ctr"/>
          <a:lstStyle/>
          <a:p>
            <a:pPr marL="0" indent="0">
              <a:buNone/>
            </a:pPr>
            <a:r>
              <a:rPr lang="en-US" sz="1170" dirty="0">
                <a:solidFill>
                  <a:srgbClr val="F8FAFC"/>
                </a:solidFill>
              </a:rPr>
              <a:t>telemetri, dashboard, monitoring, SLO</a:t>
            </a:r>
            <a:endParaRPr lang="en-US" sz="1170" dirty="0"/>
          </a:p>
        </p:txBody>
      </p:sp>
      <p:sp>
        <p:nvSpPr>
          <p:cNvPr id="33" name="Text 29"/>
          <p:cNvSpPr/>
          <p:nvPr/>
        </p:nvSpPr>
        <p:spPr>
          <a:xfrm>
            <a:off x="6364224" y="4992624"/>
            <a:ext cx="1417320" cy="219456"/>
          </a:xfrm>
          <a:prstGeom prst="rect">
            <a:avLst/>
          </a:prstGeom>
          <a:noFill/>
        </p:spPr>
        <p:txBody>
          <a:bodyPr wrap="square" lIns="0" tIns="0" rIns="0" bIns="0" rtlCol="0" anchor="ctr"/>
          <a:lstStyle/>
          <a:p>
            <a:pPr marL="0" indent="0">
              <a:buNone/>
            </a:pPr>
            <a:r>
              <a:rPr lang="en-US" sz="1170" b="1" dirty="0">
                <a:solidFill>
                  <a:srgbClr val="FFB782"/>
                </a:solidFill>
              </a:rPr>
              <a:t>Contoh</a:t>
            </a:r>
            <a:endParaRPr lang="en-US" sz="1170" dirty="0"/>
          </a:p>
        </p:txBody>
      </p:sp>
      <p:sp>
        <p:nvSpPr>
          <p:cNvPr id="34" name="Text 30"/>
          <p:cNvSpPr/>
          <p:nvPr/>
        </p:nvSpPr>
        <p:spPr>
          <a:xfrm>
            <a:off x="7900416" y="4992624"/>
            <a:ext cx="2971800" cy="310896"/>
          </a:xfrm>
          <a:prstGeom prst="rect">
            <a:avLst/>
          </a:prstGeom>
          <a:noFill/>
        </p:spPr>
        <p:txBody>
          <a:bodyPr wrap="square" lIns="0" tIns="0" rIns="0" bIns="0" rtlCol="0" anchor="ctr"/>
          <a:lstStyle/>
          <a:p>
            <a:pPr marL="0" indent="0">
              <a:buNone/>
            </a:pPr>
            <a:r>
              <a:rPr lang="en-US" sz="1170" dirty="0">
                <a:solidFill>
                  <a:srgbClr val="F8FAFC"/>
                </a:solidFill>
              </a:rPr>
              <a:t>cluster EKS, microservice, exporter metrics</a:t>
            </a:r>
            <a:endParaRPr lang="en-US" sz="1170" dirty="0"/>
          </a:p>
        </p:txBody>
      </p:sp>
      <p:sp>
        <p:nvSpPr>
          <p:cNvPr id="35" name="Shape 31"/>
          <p:cNvSpPr/>
          <p:nvPr/>
        </p:nvSpPr>
        <p:spPr>
          <a:xfrm>
            <a:off x="1828800" y="5925312"/>
            <a:ext cx="8503920" cy="438912"/>
          </a:xfrm>
          <a:prstGeom prst="roundRect">
            <a:avLst>
              <a:gd name="adj" fmla="val 16667"/>
            </a:avLst>
          </a:prstGeom>
          <a:solidFill>
            <a:srgbClr val="10294A"/>
          </a:solidFill>
          <a:ln w="12700">
            <a:solidFill>
              <a:srgbClr val="21456F"/>
            </a:solidFill>
            <a:prstDash val="solid"/>
          </a:ln>
        </p:spPr>
      </p:sp>
      <p:sp>
        <p:nvSpPr>
          <p:cNvPr id="36" name="Text 32"/>
          <p:cNvSpPr/>
          <p:nvPr/>
        </p:nvSpPr>
        <p:spPr>
          <a:xfrm>
            <a:off x="1993392" y="6062472"/>
            <a:ext cx="8183880" cy="182880"/>
          </a:xfrm>
          <a:prstGeom prst="rect">
            <a:avLst/>
          </a:prstGeom>
          <a:noFill/>
        </p:spPr>
        <p:txBody>
          <a:bodyPr wrap="square" lIns="0" tIns="0" rIns="0" bIns="0" rtlCol="0" anchor="ctr"/>
          <a:lstStyle/>
          <a:p>
            <a:pPr marL="0" indent="0" algn="ctr">
              <a:buNone/>
            </a:pPr>
            <a:r>
              <a:rPr lang="en-US" sz="1280" b="1" dirty="0">
                <a:solidFill>
                  <a:srgbClr val="F8FAFC"/>
                </a:solidFill>
              </a:rPr>
              <a:t>Takeaway: pilih database dari pola akses data dan kebutuhan sistem; DynamoDB untuk state aplikasi, Prometheus untuk metrik observability.</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1123</Words>
  <Application>Microsoft Office PowerPoint</Application>
  <PresentationFormat>Widescreen</PresentationFormat>
  <Paragraphs>169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di AWS: konsep, perbedaan, DynamoDB, dan Prometheus</dc:title>
  <dc:subject>Kuliah database AWS: pengantar, perbedaan model database, DynamoDB, dan Prometheus</dc:subject>
  <dc:creator>OpenAI</dc:creator>
  <cp:lastModifiedBy>PDS</cp:lastModifiedBy>
  <cp:revision>4</cp:revision>
  <dcterms:created xsi:type="dcterms:W3CDTF">2026-04-13T04:01:00Z</dcterms:created>
  <dcterms:modified xsi:type="dcterms:W3CDTF">2026-09-17T09:24:57Z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DA8B4F576D704F448645250DFFEFB576_13</vt:lpwstr>
  </property>
</Properties>
</file>